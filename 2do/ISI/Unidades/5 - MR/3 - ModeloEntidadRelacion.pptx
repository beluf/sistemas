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70"/>
  </p:notesMasterIdLst>
  <p:sldIdLst>
    <p:sldId id="317"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319" r:id="rId18"/>
    <p:sldId id="271" r:id="rId19"/>
    <p:sldId id="272" r:id="rId20"/>
    <p:sldId id="273" r:id="rId21"/>
    <p:sldId id="274" r:id="rId22"/>
    <p:sldId id="275" r:id="rId23"/>
    <p:sldId id="318"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4" r:id="rId41"/>
    <p:sldId id="295" r:id="rId42"/>
    <p:sldId id="296" r:id="rId43"/>
    <p:sldId id="297" r:id="rId44"/>
    <p:sldId id="321" r:id="rId45"/>
    <p:sldId id="322" r:id="rId46"/>
    <p:sldId id="323" r:id="rId47"/>
    <p:sldId id="324" r:id="rId48"/>
    <p:sldId id="325" r:id="rId49"/>
    <p:sldId id="320"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Lst>
  <p:sldSz cx="10693400" cy="7556500"/>
  <p:notesSz cx="10693400" cy="7556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223" autoAdjust="0"/>
  </p:normalViewPr>
  <p:slideViewPr>
    <p:cSldViewPr>
      <p:cViewPr varScale="1">
        <p:scale>
          <a:sx n="62" d="100"/>
          <a:sy n="62" d="100"/>
        </p:scale>
        <p:origin x="1314"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BD23919D-A561-41FA-B88B-7E676C23197C}" type="datetimeFigureOut">
              <a:rPr lang="en-US" smtClean="0"/>
              <a:t>8/7/2026</a:t>
            </a:fld>
            <a:endParaRPr lang="en-US"/>
          </a:p>
        </p:txBody>
      </p:sp>
      <p:sp>
        <p:nvSpPr>
          <p:cNvPr id="4" name="Marcador de imagen de diapositiva 3"/>
          <p:cNvSpPr>
            <a:spLocks noGrp="1" noRot="1" noChangeAspect="1"/>
          </p:cNvSpPr>
          <p:nvPr>
            <p:ph type="sldImg" idx="2"/>
          </p:nvPr>
        </p:nvSpPr>
        <p:spPr>
          <a:xfrm>
            <a:off x="3541713" y="944563"/>
            <a:ext cx="3609975" cy="2551112"/>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1069975" y="3636963"/>
            <a:ext cx="8553450" cy="2974975"/>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6" name="Marcador de pie de página 5"/>
          <p:cNvSpPr>
            <a:spLocks noGrp="1"/>
          </p:cNvSpPr>
          <p:nvPr>
            <p:ph type="ftr" sz="quarter" idx="4"/>
          </p:nvPr>
        </p:nvSpPr>
        <p:spPr>
          <a:xfrm>
            <a:off x="0" y="7177088"/>
            <a:ext cx="4633913" cy="379412"/>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6057900" y="7177088"/>
            <a:ext cx="4632325" cy="379412"/>
          </a:xfrm>
          <a:prstGeom prst="rect">
            <a:avLst/>
          </a:prstGeom>
        </p:spPr>
        <p:txBody>
          <a:bodyPr vert="horz" lIns="91440" tIns="45720" rIns="91440" bIns="45720" rtlCol="0" anchor="b"/>
          <a:lstStyle>
            <a:lvl1pPr algn="r">
              <a:defRPr sz="1200"/>
            </a:lvl1pPr>
          </a:lstStyle>
          <a:p>
            <a:fld id="{61CE2D8C-0E0B-4CF4-B677-0F7DF8947214}" type="slidenum">
              <a:rPr lang="en-US" smtClean="0"/>
              <a:t>‹Nº›</a:t>
            </a:fld>
            <a:endParaRPr lang="en-US"/>
          </a:p>
        </p:txBody>
      </p:sp>
    </p:spTree>
    <p:extLst>
      <p:ext uri="{BB962C8B-B14F-4D97-AF65-F5344CB8AC3E}">
        <p14:creationId xmlns:p14="http://schemas.microsoft.com/office/powerpoint/2010/main" val="1809396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smtClean="0"/>
              <a:t>Semántica: Idea o concepto mental que se asocia a una palabra.</a:t>
            </a:r>
            <a:endParaRPr lang="en-US" dirty="0"/>
          </a:p>
        </p:txBody>
      </p:sp>
      <p:sp>
        <p:nvSpPr>
          <p:cNvPr id="4" name="Marcador de número de diapositiva 3"/>
          <p:cNvSpPr>
            <a:spLocks noGrp="1"/>
          </p:cNvSpPr>
          <p:nvPr>
            <p:ph type="sldNum" sz="quarter" idx="10"/>
          </p:nvPr>
        </p:nvSpPr>
        <p:spPr/>
        <p:txBody>
          <a:bodyPr/>
          <a:lstStyle/>
          <a:p>
            <a:fld id="{61CE2D8C-0E0B-4CF4-B677-0F7DF8947214}" type="slidenum">
              <a:rPr lang="en-US" smtClean="0"/>
              <a:t>13</a:t>
            </a:fld>
            <a:endParaRPr lang="en-US"/>
          </a:p>
        </p:txBody>
      </p:sp>
    </p:spTree>
    <p:extLst>
      <p:ext uri="{BB962C8B-B14F-4D97-AF65-F5344CB8AC3E}">
        <p14:creationId xmlns:p14="http://schemas.microsoft.com/office/powerpoint/2010/main" val="32400657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err="1" smtClean="0"/>
              <a:t>Mapping</a:t>
            </a:r>
            <a:r>
              <a:rPr lang="es-ES" dirty="0" smtClean="0"/>
              <a:t>:</a:t>
            </a:r>
            <a:r>
              <a:rPr lang="es-ES" baseline="0" dirty="0" smtClean="0"/>
              <a:t> mapeo o correspondencia</a:t>
            </a:r>
            <a:endParaRPr lang="en-US" dirty="0"/>
          </a:p>
        </p:txBody>
      </p:sp>
      <p:sp>
        <p:nvSpPr>
          <p:cNvPr id="4" name="Marcador de número de diapositiva 3"/>
          <p:cNvSpPr>
            <a:spLocks noGrp="1"/>
          </p:cNvSpPr>
          <p:nvPr>
            <p:ph type="sldNum" sz="quarter" idx="10"/>
          </p:nvPr>
        </p:nvSpPr>
        <p:spPr/>
        <p:txBody>
          <a:bodyPr/>
          <a:lstStyle/>
          <a:p>
            <a:fld id="{61CE2D8C-0E0B-4CF4-B677-0F7DF8947214}" type="slidenum">
              <a:rPr lang="en-US" smtClean="0"/>
              <a:t>22</a:t>
            </a:fld>
            <a:endParaRPr lang="en-US"/>
          </a:p>
        </p:txBody>
      </p:sp>
    </p:spTree>
    <p:extLst>
      <p:ext uri="{BB962C8B-B14F-4D97-AF65-F5344CB8AC3E}">
        <p14:creationId xmlns:p14="http://schemas.microsoft.com/office/powerpoint/2010/main" val="2270912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smtClean="0"/>
              <a:t>Autor - Libro: Un autor puede haber escrito varios libros. Esta es una relación entre las entidades autor y libro.</a:t>
            </a:r>
          </a:p>
          <a:p>
            <a:r>
              <a:rPr lang="es-ES" dirty="0" smtClean="0"/>
              <a:t>Libro - Ejemplar: Un libro puede tener varios ejemplares. Esta relación conecta las entidades libro y ejemplar.</a:t>
            </a:r>
          </a:p>
          <a:p>
            <a:r>
              <a:rPr lang="es-ES" dirty="0" smtClean="0"/>
              <a:t>Usuario - Ejemplar: Un usuario puede tener varios ejemplares prestados. Esta es la relación entre las entidades usuario y ejemplar.</a:t>
            </a:r>
          </a:p>
          <a:p>
            <a:endParaRPr lang="en-US" dirty="0"/>
          </a:p>
        </p:txBody>
      </p:sp>
      <p:sp>
        <p:nvSpPr>
          <p:cNvPr id="4" name="Marcador de número de diapositiva 3"/>
          <p:cNvSpPr>
            <a:spLocks noGrp="1"/>
          </p:cNvSpPr>
          <p:nvPr>
            <p:ph type="sldNum" sz="quarter" idx="10"/>
          </p:nvPr>
        </p:nvSpPr>
        <p:spPr/>
        <p:txBody>
          <a:bodyPr/>
          <a:lstStyle/>
          <a:p>
            <a:fld id="{61CE2D8C-0E0B-4CF4-B677-0F7DF8947214}" type="slidenum">
              <a:rPr lang="en-US" smtClean="0"/>
              <a:t>23</a:t>
            </a:fld>
            <a:endParaRPr lang="en-US"/>
          </a:p>
        </p:txBody>
      </p:sp>
    </p:spTree>
    <p:extLst>
      <p:ext uri="{BB962C8B-B14F-4D97-AF65-F5344CB8AC3E}">
        <p14:creationId xmlns:p14="http://schemas.microsoft.com/office/powerpoint/2010/main" val="2437383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271548" y="2770719"/>
            <a:ext cx="7718861" cy="2493249"/>
          </a:xfrm>
        </p:spPr>
        <p:txBody>
          <a:bodyPr anchor="b">
            <a:normAutofit/>
          </a:bodyPr>
          <a:lstStyle>
            <a:lvl1pPr>
              <a:defRPr sz="595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2271548" y="5263966"/>
            <a:ext cx="7718861" cy="1240997"/>
          </a:xfrm>
        </p:spPr>
        <p:txBody>
          <a:bodyPr anchor="t"/>
          <a:lstStyle>
            <a:lvl1pPr marL="0" indent="0" algn="l">
              <a:buNone/>
              <a:defRPr>
                <a:solidFill>
                  <a:schemeClr val="tx1">
                    <a:lumMod val="65000"/>
                    <a:lumOff val="35000"/>
                  </a:schemeClr>
                </a:solidFill>
              </a:defRPr>
            </a:lvl1pPr>
            <a:lvl2pPr marL="503789" indent="0" algn="ctr">
              <a:buNone/>
              <a:defRPr>
                <a:solidFill>
                  <a:schemeClr val="tx1">
                    <a:tint val="75000"/>
                  </a:schemeClr>
                </a:solidFill>
              </a:defRPr>
            </a:lvl2pPr>
            <a:lvl3pPr marL="1007577" indent="0" algn="ctr">
              <a:buNone/>
              <a:defRPr>
                <a:solidFill>
                  <a:schemeClr val="tx1">
                    <a:tint val="75000"/>
                  </a:schemeClr>
                </a:solidFill>
              </a:defRPr>
            </a:lvl3pPr>
            <a:lvl4pPr marL="1511366" indent="0" algn="ctr">
              <a:buNone/>
              <a:defRPr>
                <a:solidFill>
                  <a:schemeClr val="tx1">
                    <a:tint val="75000"/>
                  </a:schemeClr>
                </a:solidFill>
              </a:defRPr>
            </a:lvl4pPr>
            <a:lvl5pPr marL="2015155" indent="0" algn="ctr">
              <a:buNone/>
              <a:defRPr>
                <a:solidFill>
                  <a:schemeClr val="tx1">
                    <a:tint val="75000"/>
                  </a:schemeClr>
                </a:solidFill>
              </a:defRPr>
            </a:lvl5pPr>
            <a:lvl6pPr marL="2518943" indent="0" algn="ctr">
              <a:buNone/>
              <a:defRPr>
                <a:solidFill>
                  <a:schemeClr val="tx1">
                    <a:tint val="75000"/>
                  </a:schemeClr>
                </a:solidFill>
              </a:defRPr>
            </a:lvl6pPr>
            <a:lvl7pPr marL="3022732" indent="0" algn="ctr">
              <a:buNone/>
              <a:defRPr>
                <a:solidFill>
                  <a:schemeClr val="tx1">
                    <a:tint val="75000"/>
                  </a:schemeClr>
                </a:solidFill>
              </a:defRPr>
            </a:lvl7pPr>
            <a:lvl8pPr marL="3526521" indent="0" algn="ctr">
              <a:buNone/>
              <a:defRPr>
                <a:solidFill>
                  <a:schemeClr val="tx1">
                    <a:tint val="75000"/>
                  </a:schemeClr>
                </a:solidFill>
              </a:defRPr>
            </a:lvl8pPr>
            <a:lvl9pPr marL="4030309"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7093" y="4761276"/>
            <a:ext cx="1631928" cy="861407"/>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95066" y="4990884"/>
            <a:ext cx="684099" cy="402314"/>
          </a:xfrm>
        </p:spPr>
        <p:txBody>
          <a:bodyPr/>
          <a:lstStyle/>
          <a:p>
            <a:fld id="{B6F15528-21DE-4FAA-801E-634DDDAF4B2B}" type="slidenum">
              <a:rPr lang="en-US" smtClean="0"/>
              <a:t>‹Nº›</a:t>
            </a:fld>
            <a:endParaRPr lang="en-US"/>
          </a:p>
        </p:txBody>
      </p:sp>
    </p:spTree>
    <p:extLst>
      <p:ext uri="{BB962C8B-B14F-4D97-AF65-F5344CB8AC3E}">
        <p14:creationId xmlns:p14="http://schemas.microsoft.com/office/powerpoint/2010/main" val="3197428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274805" y="687677"/>
            <a:ext cx="7705702" cy="1411351"/>
          </a:xfrm>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2271547" y="2350911"/>
            <a:ext cx="7708960" cy="416238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68" y="783631"/>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t>‹Nº›</a:t>
            </a:fld>
            <a:endParaRPr lang="en-US"/>
          </a:p>
        </p:txBody>
      </p:sp>
    </p:spTree>
    <p:extLst>
      <p:ext uri="{BB962C8B-B14F-4D97-AF65-F5344CB8AC3E}">
        <p14:creationId xmlns:p14="http://schemas.microsoft.com/office/powerpoint/2010/main" val="346923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271547" y="2285860"/>
            <a:ext cx="7708960" cy="1618400"/>
          </a:xfrm>
        </p:spPr>
        <p:txBody>
          <a:bodyPr anchor="b"/>
          <a:lstStyle>
            <a:lvl1pPr algn="l">
              <a:defRPr sz="4408"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271547" y="3946172"/>
            <a:ext cx="7708960" cy="948033"/>
          </a:xfrm>
        </p:spPr>
        <p:txBody>
          <a:bodyPr anchor="t"/>
          <a:lstStyle>
            <a:lvl1pPr marL="0" indent="0" algn="l">
              <a:buNone/>
              <a:defRPr sz="2204">
                <a:solidFill>
                  <a:schemeClr val="tx1">
                    <a:lumMod val="65000"/>
                    <a:lumOff val="35000"/>
                  </a:schemeClr>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68" y="3489044"/>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97853" y="3574562"/>
            <a:ext cx="684099" cy="402314"/>
          </a:xfrm>
        </p:spPr>
        <p:txBody>
          <a:bodyPr/>
          <a:lstStyle/>
          <a:p>
            <a:fld id="{B6F15528-21DE-4FAA-801E-634DDDAF4B2B}" type="slidenum">
              <a:rPr lang="en-US" smtClean="0"/>
              <a:t>‹Nº›</a:t>
            </a:fld>
            <a:endParaRPr lang="en-US"/>
          </a:p>
        </p:txBody>
      </p:sp>
    </p:spTree>
    <p:extLst>
      <p:ext uri="{BB962C8B-B14F-4D97-AF65-F5344CB8AC3E}">
        <p14:creationId xmlns:p14="http://schemas.microsoft.com/office/powerpoint/2010/main" val="4191122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2271548" y="2354334"/>
            <a:ext cx="3739335" cy="4151113"/>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241684" y="2354334"/>
            <a:ext cx="3738823" cy="4151113"/>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68" y="783631"/>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97853" y="868021"/>
            <a:ext cx="684099" cy="402314"/>
          </a:xfrm>
        </p:spPr>
        <p:txBody>
          <a:bodyPr/>
          <a:lstStyle/>
          <a:p>
            <a:fld id="{B6F15528-21DE-4FAA-801E-634DDDAF4B2B}" type="slidenum">
              <a:rPr lang="en-US" smtClean="0"/>
              <a:t>‹Nº›</a:t>
            </a:fld>
            <a:endParaRPr lang="en-US"/>
          </a:p>
        </p:txBody>
      </p:sp>
    </p:spTree>
    <p:extLst>
      <p:ext uri="{BB962C8B-B14F-4D97-AF65-F5344CB8AC3E}">
        <p14:creationId xmlns:p14="http://schemas.microsoft.com/office/powerpoint/2010/main" val="2979339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649203" y="2453412"/>
            <a:ext cx="3361680" cy="634955"/>
          </a:xfrm>
        </p:spPr>
        <p:txBody>
          <a:bodyPr anchor="b">
            <a:noAutofit/>
          </a:bodyPr>
          <a:lstStyle>
            <a:lvl1pPr marL="0" indent="0">
              <a:buNone/>
              <a:defRPr sz="2645" b="0"/>
            </a:lvl1pPr>
            <a:lvl2pPr marL="503789" indent="0">
              <a:buNone/>
              <a:defRPr sz="2204" b="1"/>
            </a:lvl2pPr>
            <a:lvl3pPr marL="1007577" indent="0">
              <a:buNone/>
              <a:defRPr sz="1983" b="1"/>
            </a:lvl3pPr>
            <a:lvl4pPr marL="1511366" indent="0">
              <a:buNone/>
              <a:defRPr sz="1763" b="1"/>
            </a:lvl4pPr>
            <a:lvl5pPr marL="2015155" indent="0">
              <a:buNone/>
              <a:defRPr sz="1763" b="1"/>
            </a:lvl5pPr>
            <a:lvl6pPr marL="2518943" indent="0">
              <a:buNone/>
              <a:defRPr sz="1763" b="1"/>
            </a:lvl6pPr>
            <a:lvl7pPr marL="3022732" indent="0">
              <a:buNone/>
              <a:defRPr sz="1763" b="1"/>
            </a:lvl7pPr>
            <a:lvl8pPr marL="3526521" indent="0">
              <a:buNone/>
              <a:defRPr sz="1763" b="1"/>
            </a:lvl8pPr>
            <a:lvl9pPr marL="4030309" indent="0">
              <a:buNone/>
              <a:defRPr sz="1763" b="1"/>
            </a:lvl9pPr>
          </a:lstStyle>
          <a:p>
            <a:pPr lvl="0"/>
            <a:r>
              <a:rPr lang="es-ES" smtClean="0"/>
              <a:t>Editar el estilo de texto del patrón</a:t>
            </a:r>
          </a:p>
        </p:txBody>
      </p:sp>
      <p:sp>
        <p:nvSpPr>
          <p:cNvPr id="4" name="Content Placeholder 3"/>
          <p:cNvSpPr>
            <a:spLocks noGrp="1"/>
          </p:cNvSpPr>
          <p:nvPr>
            <p:ph sz="half" idx="2"/>
          </p:nvPr>
        </p:nvSpPr>
        <p:spPr>
          <a:xfrm>
            <a:off x="2271546" y="3088368"/>
            <a:ext cx="3739336" cy="3422025"/>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614559" y="2449855"/>
            <a:ext cx="3360093" cy="634955"/>
          </a:xfrm>
        </p:spPr>
        <p:txBody>
          <a:bodyPr anchor="b">
            <a:noAutofit/>
          </a:bodyPr>
          <a:lstStyle>
            <a:lvl1pPr marL="0" indent="0">
              <a:buNone/>
              <a:defRPr sz="2645" b="0"/>
            </a:lvl1pPr>
            <a:lvl2pPr marL="503789" indent="0">
              <a:buNone/>
              <a:defRPr sz="2204" b="1"/>
            </a:lvl2pPr>
            <a:lvl3pPr marL="1007577" indent="0">
              <a:buNone/>
              <a:defRPr sz="1983" b="1"/>
            </a:lvl3pPr>
            <a:lvl4pPr marL="1511366" indent="0">
              <a:buNone/>
              <a:defRPr sz="1763" b="1"/>
            </a:lvl4pPr>
            <a:lvl5pPr marL="2015155" indent="0">
              <a:buNone/>
              <a:defRPr sz="1763" b="1"/>
            </a:lvl5pPr>
            <a:lvl6pPr marL="2518943" indent="0">
              <a:buNone/>
              <a:defRPr sz="1763" b="1"/>
            </a:lvl6pPr>
            <a:lvl7pPr marL="3022732" indent="0">
              <a:buNone/>
              <a:defRPr sz="1763" b="1"/>
            </a:lvl7pPr>
            <a:lvl8pPr marL="3526521" indent="0">
              <a:buNone/>
              <a:defRPr sz="1763" b="1"/>
            </a:lvl8pPr>
            <a:lvl9pPr marL="4030309" indent="0">
              <a:buNone/>
              <a:defRPr sz="1763" b="1"/>
            </a:lvl9pPr>
          </a:lstStyle>
          <a:p>
            <a:pPr lvl="0"/>
            <a:r>
              <a:rPr lang="es-ES" smtClean="0"/>
              <a:t>Editar el estilo de texto del patrón</a:t>
            </a:r>
          </a:p>
        </p:txBody>
      </p:sp>
      <p:sp>
        <p:nvSpPr>
          <p:cNvPr id="6" name="Content Placeholder 5"/>
          <p:cNvSpPr>
            <a:spLocks noGrp="1"/>
          </p:cNvSpPr>
          <p:nvPr>
            <p:ph sz="quarter" idx="4"/>
          </p:nvPr>
        </p:nvSpPr>
        <p:spPr>
          <a:xfrm>
            <a:off x="6237483" y="3084811"/>
            <a:ext cx="3737170" cy="3422025"/>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8/7/2026</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68" y="783631"/>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97853" y="868021"/>
            <a:ext cx="684099" cy="402314"/>
          </a:xfrm>
        </p:spPr>
        <p:txBody>
          <a:bodyPr/>
          <a:lstStyle/>
          <a:p>
            <a:fld id="{B6F15528-21DE-4FAA-801E-634DDDAF4B2B}" type="slidenum">
              <a:rPr lang="en-US" smtClean="0"/>
              <a:t>‹Nº›</a:t>
            </a:fld>
            <a:endParaRPr lang="en-US"/>
          </a:p>
        </p:txBody>
      </p:sp>
    </p:spTree>
    <p:extLst>
      <p:ext uri="{BB962C8B-B14F-4D97-AF65-F5344CB8AC3E}">
        <p14:creationId xmlns:p14="http://schemas.microsoft.com/office/powerpoint/2010/main" val="2800225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2274804" y="687677"/>
            <a:ext cx="7705703" cy="1411351"/>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8/7/2026</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68" y="783631"/>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6F15528-21DE-4FAA-801E-634DDDAF4B2B}" type="slidenum">
              <a:rPr lang="en-US" smtClean="0"/>
              <a:t>‹Nº›</a:t>
            </a:fld>
            <a:endParaRPr lang="en-US"/>
          </a:p>
        </p:txBody>
      </p:sp>
    </p:spTree>
    <p:extLst>
      <p:ext uri="{BB962C8B-B14F-4D97-AF65-F5344CB8AC3E}">
        <p14:creationId xmlns:p14="http://schemas.microsoft.com/office/powerpoint/2010/main" val="237938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8/7/2026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68" y="783631"/>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6F15528-21DE-4FAA-801E-634DDDAF4B2B}" type="slidenum">
              <a:rPr lang="en-US" smtClean="0"/>
              <a:t>‹Nº›</a:t>
            </a:fld>
            <a:endParaRPr lang="en-US"/>
          </a:p>
        </p:txBody>
      </p:sp>
    </p:spTree>
    <p:extLst>
      <p:ext uri="{BB962C8B-B14F-4D97-AF65-F5344CB8AC3E}">
        <p14:creationId xmlns:p14="http://schemas.microsoft.com/office/powerpoint/2010/main" val="1317563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71547" y="491523"/>
            <a:ext cx="3075152" cy="1075751"/>
          </a:xfrm>
        </p:spPr>
        <p:txBody>
          <a:bodyPr anchor="b"/>
          <a:lstStyle>
            <a:lvl1pPr algn="l">
              <a:defRPr sz="2204"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5547253" y="491525"/>
            <a:ext cx="4433254" cy="5966487"/>
          </a:xfrm>
        </p:spPr>
        <p:txBody>
          <a:bodyPr anchor="ct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2271547" y="1761435"/>
            <a:ext cx="3075152" cy="4696573"/>
          </a:xfrm>
        </p:spPr>
        <p:txBody>
          <a:bodyPr/>
          <a:lstStyle>
            <a:lvl1pPr marL="0" indent="0">
              <a:buNone/>
              <a:defRPr sz="1543"/>
            </a:lvl1pPr>
            <a:lvl2pPr marL="503789" indent="0">
              <a:buNone/>
              <a:defRPr sz="1322"/>
            </a:lvl2pPr>
            <a:lvl3pPr marL="1007577" indent="0">
              <a:buNone/>
              <a:defRPr sz="1102"/>
            </a:lvl3pPr>
            <a:lvl4pPr marL="1511366" indent="0">
              <a:buNone/>
              <a:defRPr sz="992"/>
            </a:lvl4pPr>
            <a:lvl5pPr marL="2015155" indent="0">
              <a:buNone/>
              <a:defRPr sz="992"/>
            </a:lvl5pPr>
            <a:lvl6pPr marL="2518943" indent="0">
              <a:buNone/>
              <a:defRPr sz="992"/>
            </a:lvl6pPr>
            <a:lvl7pPr marL="3022732" indent="0">
              <a:buNone/>
              <a:defRPr sz="992"/>
            </a:lvl7pPr>
            <a:lvl8pPr marL="3526521" indent="0">
              <a:buNone/>
              <a:defRPr sz="992"/>
            </a:lvl8pPr>
            <a:lvl9pPr marL="4030309" indent="0">
              <a:buNone/>
              <a:defRPr sz="992"/>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68" y="783631"/>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6F15528-21DE-4FAA-801E-634DDDAF4B2B}" type="slidenum">
              <a:rPr lang="en-US" smtClean="0"/>
              <a:t>‹Nº›</a:t>
            </a:fld>
            <a:endParaRPr lang="en-US"/>
          </a:p>
        </p:txBody>
      </p:sp>
    </p:spTree>
    <p:extLst>
      <p:ext uri="{BB962C8B-B14F-4D97-AF65-F5344CB8AC3E}">
        <p14:creationId xmlns:p14="http://schemas.microsoft.com/office/powerpoint/2010/main" val="1884648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71547" y="5289550"/>
            <a:ext cx="7708960" cy="624461"/>
          </a:xfrm>
        </p:spPr>
        <p:txBody>
          <a:bodyPr anchor="b">
            <a:normAutofit/>
          </a:bodyPr>
          <a:lstStyle>
            <a:lvl1pPr algn="l">
              <a:defRPr sz="2645"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2271547" y="699637"/>
            <a:ext cx="7708960" cy="4247606"/>
          </a:xfrm>
        </p:spPr>
        <p:txBody>
          <a:bodyPr anchor="t">
            <a:normAutofit/>
          </a:bodyPr>
          <a:lstStyle>
            <a:lvl1pPr marL="0" indent="0" algn="ctr">
              <a:buNone/>
              <a:defRPr sz="1763"/>
            </a:lvl1pPr>
            <a:lvl2pPr marL="503789" indent="0">
              <a:buNone/>
              <a:defRPr sz="1763"/>
            </a:lvl2pPr>
            <a:lvl3pPr marL="1007577" indent="0">
              <a:buNone/>
              <a:defRPr sz="1763"/>
            </a:lvl3pPr>
            <a:lvl4pPr marL="1511366" indent="0">
              <a:buNone/>
              <a:defRPr sz="1763"/>
            </a:lvl4pPr>
            <a:lvl5pPr marL="2015155" indent="0">
              <a:buNone/>
              <a:defRPr sz="1763"/>
            </a:lvl5pPr>
            <a:lvl6pPr marL="2518943" indent="0">
              <a:buNone/>
              <a:defRPr sz="1763"/>
            </a:lvl6pPr>
            <a:lvl7pPr marL="3022732" indent="0">
              <a:buNone/>
              <a:defRPr sz="1763"/>
            </a:lvl7pPr>
            <a:lvl8pPr marL="3526521" indent="0">
              <a:buNone/>
              <a:defRPr sz="1763"/>
            </a:lvl8pPr>
            <a:lvl9pPr marL="4030309" indent="0">
              <a:buNone/>
              <a:defRPr sz="1763"/>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2271547" y="5914012"/>
            <a:ext cx="7708960" cy="543997"/>
          </a:xfrm>
        </p:spPr>
        <p:txBody>
          <a:bodyPr>
            <a:normAutofit/>
          </a:bodyPr>
          <a:lstStyle>
            <a:lvl1pPr marL="0" indent="0">
              <a:buNone/>
              <a:defRPr sz="1322"/>
            </a:lvl1pPr>
            <a:lvl2pPr marL="503789" indent="0">
              <a:buNone/>
              <a:defRPr sz="1322"/>
            </a:lvl2pPr>
            <a:lvl3pPr marL="1007577" indent="0">
              <a:buNone/>
              <a:defRPr sz="1102"/>
            </a:lvl3pPr>
            <a:lvl4pPr marL="1511366" indent="0">
              <a:buNone/>
              <a:defRPr sz="992"/>
            </a:lvl4pPr>
            <a:lvl5pPr marL="2015155" indent="0">
              <a:buNone/>
              <a:defRPr sz="992"/>
            </a:lvl5pPr>
            <a:lvl6pPr marL="2518943" indent="0">
              <a:buNone/>
              <a:defRPr sz="992"/>
            </a:lvl6pPr>
            <a:lvl7pPr marL="3022732" indent="0">
              <a:buNone/>
              <a:defRPr sz="992"/>
            </a:lvl7pPr>
            <a:lvl8pPr marL="3526521" indent="0">
              <a:buNone/>
              <a:defRPr sz="992"/>
            </a:lvl8pPr>
            <a:lvl9pPr marL="4030309" indent="0">
              <a:buNone/>
              <a:defRPr sz="992"/>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68" y="5410820"/>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97853" y="5490625"/>
            <a:ext cx="684099" cy="402314"/>
          </a:xfrm>
        </p:spPr>
        <p:txBody>
          <a:bodyPr/>
          <a:lstStyle/>
          <a:p>
            <a:fld id="{B6F15528-21DE-4FAA-801E-634DDDAF4B2B}" type="slidenum">
              <a:rPr lang="en-US" smtClean="0"/>
              <a:t>‹Nº›</a:t>
            </a:fld>
            <a:endParaRPr lang="en-US"/>
          </a:p>
        </p:txBody>
      </p:sp>
    </p:spTree>
    <p:extLst>
      <p:ext uri="{BB962C8B-B14F-4D97-AF65-F5344CB8AC3E}">
        <p14:creationId xmlns:p14="http://schemas.microsoft.com/office/powerpoint/2010/main" val="271148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271547" y="671689"/>
            <a:ext cx="7708960" cy="3434516"/>
          </a:xfrm>
        </p:spPr>
        <p:txBody>
          <a:bodyPr anchor="ctr">
            <a:normAutofit/>
          </a:bodyPr>
          <a:lstStyle>
            <a:lvl1pPr algn="l">
              <a:defRPr sz="5289"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271547" y="4797513"/>
            <a:ext cx="7708960" cy="1714332"/>
          </a:xfrm>
        </p:spPr>
        <p:txBody>
          <a:bodyPr anchor="ctr">
            <a:normAutofit/>
          </a:bodyPr>
          <a:lstStyle>
            <a:lvl1pPr marL="0" indent="0" algn="l">
              <a:buNone/>
              <a:defRPr sz="1983">
                <a:solidFill>
                  <a:schemeClr val="tx1">
                    <a:lumMod val="65000"/>
                    <a:lumOff val="35000"/>
                  </a:schemeClr>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68" y="3489044"/>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97853" y="3574562"/>
            <a:ext cx="684099" cy="402314"/>
          </a:xfrm>
        </p:spPr>
        <p:txBody>
          <a:bodyPr/>
          <a:lstStyle/>
          <a:p>
            <a:fld id="{B6F15528-21DE-4FAA-801E-634DDDAF4B2B}" type="slidenum">
              <a:rPr lang="en-US" smtClean="0"/>
              <a:t>‹Nº›</a:t>
            </a:fld>
            <a:endParaRPr lang="en-US"/>
          </a:p>
        </p:txBody>
      </p:sp>
    </p:spTree>
    <p:extLst>
      <p:ext uri="{BB962C8B-B14F-4D97-AF65-F5344CB8AC3E}">
        <p14:creationId xmlns:p14="http://schemas.microsoft.com/office/powerpoint/2010/main" val="830460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58889" y="671689"/>
            <a:ext cx="7144823" cy="3190522"/>
          </a:xfrm>
        </p:spPr>
        <p:txBody>
          <a:bodyPr anchor="ctr">
            <a:normAutofit/>
          </a:bodyPr>
          <a:lstStyle>
            <a:lvl1pPr algn="l">
              <a:defRPr sz="5289" b="0" cap="none"/>
            </a:lvl1pPr>
          </a:lstStyle>
          <a:p>
            <a:r>
              <a:rPr lang="es-ES" smtClean="0"/>
              <a:t>Haga clic para modificar el estilo de título del patrón</a:t>
            </a:r>
            <a:endParaRPr lang="en-US" dirty="0"/>
          </a:p>
        </p:txBody>
      </p:sp>
      <p:sp>
        <p:nvSpPr>
          <p:cNvPr id="13" name="Text Placeholder 9"/>
          <p:cNvSpPr>
            <a:spLocks noGrp="1"/>
          </p:cNvSpPr>
          <p:nvPr>
            <p:ph type="body" sz="quarter" idx="13"/>
          </p:nvPr>
        </p:nvSpPr>
        <p:spPr>
          <a:xfrm>
            <a:off x="2825345" y="3862211"/>
            <a:ext cx="6611908" cy="419806"/>
          </a:xfrm>
        </p:spPr>
        <p:txBody>
          <a:bodyPr anchor="ctr">
            <a:noAutofit/>
          </a:bodyPr>
          <a:lstStyle>
            <a:lvl1pPr marL="0" indent="0">
              <a:buFontTx/>
              <a:buNone/>
              <a:defRPr sz="1763">
                <a:solidFill>
                  <a:schemeClr val="tx1">
                    <a:lumMod val="50000"/>
                    <a:lumOff val="50000"/>
                  </a:schemeClr>
                </a:solidFill>
              </a:defRPr>
            </a:lvl1pPr>
            <a:lvl2pPr marL="503789" indent="0">
              <a:buFontTx/>
              <a:buNone/>
              <a:defRPr/>
            </a:lvl2pPr>
            <a:lvl3pPr marL="1007577" indent="0">
              <a:buFontTx/>
              <a:buNone/>
              <a:defRPr/>
            </a:lvl3pPr>
            <a:lvl4pPr marL="1511366" indent="0">
              <a:buFontTx/>
              <a:buNone/>
              <a:defRPr/>
            </a:lvl4pPr>
            <a:lvl5pPr marL="2015155"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2271547" y="4797513"/>
            <a:ext cx="7708960" cy="1714332"/>
          </a:xfrm>
        </p:spPr>
        <p:txBody>
          <a:bodyPr anchor="ctr">
            <a:normAutofit/>
          </a:bodyPr>
          <a:lstStyle>
            <a:lvl1pPr marL="0" indent="0" algn="l">
              <a:buNone/>
              <a:defRPr sz="1983">
                <a:solidFill>
                  <a:schemeClr val="tx1">
                    <a:lumMod val="65000"/>
                    <a:lumOff val="35000"/>
                  </a:schemeClr>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68" y="3489044"/>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97853" y="3574562"/>
            <a:ext cx="684099" cy="402314"/>
          </a:xfrm>
        </p:spPr>
        <p:txBody>
          <a:bodyPr/>
          <a:lstStyle/>
          <a:p>
            <a:fld id="{B6F15528-21DE-4FAA-801E-634DDDAF4B2B}" type="slidenum">
              <a:rPr lang="en-US" smtClean="0"/>
              <a:t>‹Nº›</a:t>
            </a:fld>
            <a:endParaRPr lang="en-US"/>
          </a:p>
        </p:txBody>
      </p:sp>
      <p:sp>
        <p:nvSpPr>
          <p:cNvPr id="14" name="TextBox 13"/>
          <p:cNvSpPr txBox="1"/>
          <p:nvPr/>
        </p:nvSpPr>
        <p:spPr>
          <a:xfrm>
            <a:off x="2114726" y="714005"/>
            <a:ext cx="534809" cy="644337"/>
          </a:xfrm>
          <a:prstGeom prst="rect">
            <a:avLst/>
          </a:prstGeom>
        </p:spPr>
        <p:txBody>
          <a:bodyPr vert="horz" lIns="100753" tIns="50377" rIns="100753" bIns="50377" rtlCol="0" anchor="ctr">
            <a:noAutofit/>
          </a:bodyPr>
          <a:lstStyle/>
          <a:p>
            <a:pPr lvl="0"/>
            <a:r>
              <a:rPr lang="en-US" sz="8815" baseline="0" dirty="0">
                <a:ln w="3175" cmpd="sng">
                  <a:noFill/>
                </a:ln>
                <a:solidFill>
                  <a:schemeClr val="accent1"/>
                </a:solidFill>
                <a:effectLst/>
                <a:latin typeface="Arial"/>
              </a:rPr>
              <a:t>“</a:t>
            </a:r>
          </a:p>
        </p:txBody>
      </p:sp>
      <p:sp>
        <p:nvSpPr>
          <p:cNvPr id="15" name="TextBox 14"/>
          <p:cNvSpPr txBox="1"/>
          <p:nvPr/>
        </p:nvSpPr>
        <p:spPr>
          <a:xfrm>
            <a:off x="9553816" y="3201217"/>
            <a:ext cx="534809" cy="644337"/>
          </a:xfrm>
          <a:prstGeom prst="rect">
            <a:avLst/>
          </a:prstGeom>
        </p:spPr>
        <p:txBody>
          <a:bodyPr vert="horz" lIns="100753" tIns="50377" rIns="100753" bIns="50377" rtlCol="0" anchor="ctr">
            <a:noAutofit/>
          </a:bodyPr>
          <a:lstStyle/>
          <a:p>
            <a:pPr lvl="0"/>
            <a:r>
              <a:rPr lang="en-US" sz="8815"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64971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271547" y="2686757"/>
            <a:ext cx="7708960" cy="3002376"/>
          </a:xfrm>
        </p:spPr>
        <p:txBody>
          <a:bodyPr anchor="b">
            <a:normAutofit/>
          </a:bodyPr>
          <a:lstStyle>
            <a:lvl1pPr algn="l">
              <a:defRPr sz="5289" b="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2271547" y="5709356"/>
            <a:ext cx="7708960" cy="803935"/>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Editar el estilo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68" y="5410820"/>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97853" y="5490625"/>
            <a:ext cx="684099" cy="402314"/>
          </a:xfrm>
        </p:spPr>
        <p:txBody>
          <a:bodyPr/>
          <a:lstStyle/>
          <a:p>
            <a:fld id="{B6F15528-21DE-4FAA-801E-634DDDAF4B2B}" type="slidenum">
              <a:rPr lang="en-US" smtClean="0"/>
              <a:t>‹Nº›</a:t>
            </a:fld>
            <a:endParaRPr lang="en-US"/>
          </a:p>
        </p:txBody>
      </p:sp>
    </p:spTree>
    <p:extLst>
      <p:ext uri="{BB962C8B-B14F-4D97-AF65-F5344CB8AC3E}">
        <p14:creationId xmlns:p14="http://schemas.microsoft.com/office/powerpoint/2010/main" val="40065678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3" name="Title 1"/>
          <p:cNvSpPr>
            <a:spLocks noGrp="1"/>
          </p:cNvSpPr>
          <p:nvPr>
            <p:ph type="title"/>
          </p:nvPr>
        </p:nvSpPr>
        <p:spPr>
          <a:xfrm>
            <a:off x="2558889" y="671689"/>
            <a:ext cx="7144823" cy="3190522"/>
          </a:xfrm>
        </p:spPr>
        <p:txBody>
          <a:bodyPr anchor="ctr">
            <a:normAutofit/>
          </a:bodyPr>
          <a:lstStyle>
            <a:lvl1pPr algn="l">
              <a:defRPr sz="5289" b="0" cap="none"/>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271546" y="4785783"/>
            <a:ext cx="7821586" cy="923572"/>
          </a:xfrm>
        </p:spPr>
        <p:txBody>
          <a:bodyPr anchor="b">
            <a:noAutofit/>
          </a:bodyPr>
          <a:lstStyle>
            <a:lvl1pPr marL="0" indent="0">
              <a:buFontTx/>
              <a:buNone/>
              <a:defRPr sz="2645">
                <a:solidFill>
                  <a:schemeClr val="accent1"/>
                </a:solidFill>
              </a:defRPr>
            </a:lvl1pPr>
            <a:lvl2pPr marL="503789" indent="0">
              <a:buFontTx/>
              <a:buNone/>
              <a:defRPr/>
            </a:lvl2pPr>
            <a:lvl3pPr marL="1007577" indent="0">
              <a:buFontTx/>
              <a:buNone/>
              <a:defRPr/>
            </a:lvl3pPr>
            <a:lvl4pPr marL="1511366" indent="0">
              <a:buFontTx/>
              <a:buNone/>
              <a:defRPr/>
            </a:lvl4pPr>
            <a:lvl5pPr marL="2015155" indent="0">
              <a:buFontTx/>
              <a:buNone/>
              <a:defRPr/>
            </a:lvl5pPr>
          </a:lstStyle>
          <a:p>
            <a:pPr lvl="0"/>
            <a:r>
              <a:rPr lang="es-ES" smtClean="0"/>
              <a:t>Editar el estilo de texto del patrón</a:t>
            </a:r>
          </a:p>
        </p:txBody>
      </p:sp>
      <p:sp>
        <p:nvSpPr>
          <p:cNvPr id="4" name="Text Placeholder 3"/>
          <p:cNvSpPr>
            <a:spLocks noGrp="1"/>
          </p:cNvSpPr>
          <p:nvPr>
            <p:ph type="body" sz="half" idx="2"/>
          </p:nvPr>
        </p:nvSpPr>
        <p:spPr>
          <a:xfrm>
            <a:off x="2271546" y="5709356"/>
            <a:ext cx="7821586" cy="803935"/>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Editar el estilo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68" y="5410820"/>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97853" y="5490625"/>
            <a:ext cx="684099" cy="402314"/>
          </a:xfrm>
        </p:spPr>
        <p:txBody>
          <a:bodyPr/>
          <a:lstStyle/>
          <a:p>
            <a:fld id="{B6F15528-21DE-4FAA-801E-634DDDAF4B2B}" type="slidenum">
              <a:rPr lang="en-US" smtClean="0"/>
              <a:t>‹Nº›</a:t>
            </a:fld>
            <a:endParaRPr lang="en-US"/>
          </a:p>
        </p:txBody>
      </p:sp>
      <p:sp>
        <p:nvSpPr>
          <p:cNvPr id="11" name="TextBox 10"/>
          <p:cNvSpPr txBox="1"/>
          <p:nvPr/>
        </p:nvSpPr>
        <p:spPr>
          <a:xfrm>
            <a:off x="2114726" y="714005"/>
            <a:ext cx="534809" cy="644337"/>
          </a:xfrm>
          <a:prstGeom prst="rect">
            <a:avLst/>
          </a:prstGeom>
        </p:spPr>
        <p:txBody>
          <a:bodyPr vert="horz" lIns="100753" tIns="50377" rIns="100753" bIns="50377" rtlCol="0" anchor="ctr">
            <a:noAutofit/>
          </a:bodyPr>
          <a:lstStyle/>
          <a:p>
            <a:pPr lvl="0"/>
            <a:r>
              <a:rPr lang="en-US" sz="8815" baseline="0" dirty="0">
                <a:ln w="3175" cmpd="sng">
                  <a:noFill/>
                </a:ln>
                <a:solidFill>
                  <a:schemeClr val="accent1"/>
                </a:solidFill>
                <a:effectLst/>
                <a:latin typeface="Arial"/>
              </a:rPr>
              <a:t>“</a:t>
            </a:r>
          </a:p>
        </p:txBody>
      </p:sp>
      <p:sp>
        <p:nvSpPr>
          <p:cNvPr id="12" name="TextBox 11"/>
          <p:cNvSpPr txBox="1"/>
          <p:nvPr/>
        </p:nvSpPr>
        <p:spPr>
          <a:xfrm>
            <a:off x="9553816" y="3201217"/>
            <a:ext cx="534809" cy="644337"/>
          </a:xfrm>
          <a:prstGeom prst="rect">
            <a:avLst/>
          </a:prstGeom>
        </p:spPr>
        <p:txBody>
          <a:bodyPr vert="horz" lIns="100753" tIns="50377" rIns="100753" bIns="50377" rtlCol="0" anchor="ctr">
            <a:noAutofit/>
          </a:bodyPr>
          <a:lstStyle/>
          <a:p>
            <a:pPr lvl="0"/>
            <a:r>
              <a:rPr lang="en-US" sz="8815"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76656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271548" y="691310"/>
            <a:ext cx="7708959" cy="3173355"/>
          </a:xfrm>
        </p:spPr>
        <p:txBody>
          <a:bodyPr anchor="ctr">
            <a:normAutofit/>
          </a:bodyPr>
          <a:lstStyle>
            <a:lvl1pPr algn="l">
              <a:defRPr sz="5289" b="0"/>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271547" y="4785783"/>
            <a:ext cx="7708960" cy="923572"/>
          </a:xfrm>
        </p:spPr>
        <p:txBody>
          <a:bodyPr anchor="b">
            <a:noAutofit/>
          </a:bodyPr>
          <a:lstStyle>
            <a:lvl1pPr marL="0" indent="0">
              <a:buFontTx/>
              <a:buNone/>
              <a:defRPr sz="2645">
                <a:solidFill>
                  <a:schemeClr val="accent1"/>
                </a:solidFill>
              </a:defRPr>
            </a:lvl1pPr>
            <a:lvl2pPr marL="503789" indent="0">
              <a:buFontTx/>
              <a:buNone/>
              <a:defRPr/>
            </a:lvl2pPr>
            <a:lvl3pPr marL="1007577" indent="0">
              <a:buFontTx/>
              <a:buNone/>
              <a:defRPr/>
            </a:lvl3pPr>
            <a:lvl4pPr marL="1511366" indent="0">
              <a:buFontTx/>
              <a:buNone/>
              <a:defRPr/>
            </a:lvl4pPr>
            <a:lvl5pPr marL="2015155" indent="0">
              <a:buFontTx/>
              <a:buNone/>
              <a:defRPr/>
            </a:lvl5pPr>
          </a:lstStyle>
          <a:p>
            <a:pPr lvl="0"/>
            <a:r>
              <a:rPr lang="es-ES" smtClean="0"/>
              <a:t>Editar el estilo de texto del patrón</a:t>
            </a:r>
          </a:p>
        </p:txBody>
      </p:sp>
      <p:sp>
        <p:nvSpPr>
          <p:cNvPr id="4" name="Text Placeholder 3"/>
          <p:cNvSpPr>
            <a:spLocks noGrp="1"/>
          </p:cNvSpPr>
          <p:nvPr>
            <p:ph type="body" sz="half" idx="2"/>
          </p:nvPr>
        </p:nvSpPr>
        <p:spPr>
          <a:xfrm>
            <a:off x="2271547" y="5709356"/>
            <a:ext cx="7708960" cy="803935"/>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Editar el estilo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68" y="5410820"/>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97853" y="5490625"/>
            <a:ext cx="684099" cy="402314"/>
          </a:xfrm>
        </p:spPr>
        <p:txBody>
          <a:bodyPr/>
          <a:lstStyle/>
          <a:p>
            <a:fld id="{B6F15528-21DE-4FAA-801E-634DDDAF4B2B}" type="slidenum">
              <a:rPr lang="en-US" smtClean="0"/>
              <a:t>‹Nº›</a:t>
            </a:fld>
            <a:endParaRPr lang="en-US"/>
          </a:p>
        </p:txBody>
      </p:sp>
    </p:spTree>
    <p:extLst>
      <p:ext uri="{BB962C8B-B14F-4D97-AF65-F5344CB8AC3E}">
        <p14:creationId xmlns:p14="http://schemas.microsoft.com/office/powerpoint/2010/main" val="1171142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68" y="783631"/>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t>‹Nº›</a:t>
            </a:fld>
            <a:endParaRPr lang="en-US"/>
          </a:p>
        </p:txBody>
      </p:sp>
    </p:spTree>
    <p:extLst>
      <p:ext uri="{BB962C8B-B14F-4D97-AF65-F5344CB8AC3E}">
        <p14:creationId xmlns:p14="http://schemas.microsoft.com/office/powerpoint/2010/main" val="2602771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044065" y="691309"/>
            <a:ext cx="1936754" cy="5821984"/>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2271548" y="691309"/>
            <a:ext cx="5515507" cy="5821984"/>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68" y="783631"/>
            <a:ext cx="1588522"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t>‹Nº›</a:t>
            </a:fld>
            <a:endParaRPr lang="en-US"/>
          </a:p>
        </p:txBody>
      </p:sp>
    </p:spTree>
    <p:extLst>
      <p:ext uri="{BB962C8B-B14F-4D97-AF65-F5344CB8AC3E}">
        <p14:creationId xmlns:p14="http://schemas.microsoft.com/office/powerpoint/2010/main" val="11594793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2010350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4442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51883"/>
            <a:ext cx="2316903" cy="7314785"/>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3881" y="314"/>
            <a:ext cx="2283074" cy="7550955"/>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213868" cy="7556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274804" y="687677"/>
            <a:ext cx="7705703" cy="1411351"/>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271547" y="2350911"/>
            <a:ext cx="7708960" cy="4282017"/>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9089390" y="6759960"/>
            <a:ext cx="896239" cy="407874"/>
          </a:xfrm>
          <a:prstGeom prst="rect">
            <a:avLst/>
          </a:prstGeom>
        </p:spPr>
        <p:txBody>
          <a:bodyPr vert="horz" lIns="91440" tIns="45720" rIns="91440" bIns="45720" rtlCol="0" anchor="ctr"/>
          <a:lstStyle>
            <a:lvl1pPr algn="r">
              <a:defRPr sz="992">
                <a:solidFill>
                  <a:schemeClr val="tx1">
                    <a:tint val="75000"/>
                  </a:schemeClr>
                </a:solidFill>
              </a:defRPr>
            </a:lvl1pPr>
          </a:lstStyle>
          <a:p>
            <a:fld id="{1D8BD707-D9CF-40AE-B4C6-C98DA3205C09}" type="datetimeFigureOut">
              <a:rPr lang="en-US" smtClean="0"/>
              <a:t>8/7/2026</a:t>
            </a:fld>
            <a:endParaRPr lang="en-US"/>
          </a:p>
        </p:txBody>
      </p:sp>
      <p:sp>
        <p:nvSpPr>
          <p:cNvPr id="5" name="Footer Placeholder 4"/>
          <p:cNvSpPr>
            <a:spLocks noGrp="1"/>
          </p:cNvSpPr>
          <p:nvPr>
            <p:ph type="ftr" sz="quarter" idx="3"/>
          </p:nvPr>
        </p:nvSpPr>
        <p:spPr>
          <a:xfrm>
            <a:off x="2271546" y="6760753"/>
            <a:ext cx="6685115" cy="402314"/>
          </a:xfrm>
          <a:prstGeom prst="rect">
            <a:avLst/>
          </a:prstGeom>
        </p:spPr>
        <p:txBody>
          <a:bodyPr vert="horz" lIns="91440" tIns="45720" rIns="91440" bIns="45720" rtlCol="0" anchor="ctr"/>
          <a:lstStyle>
            <a:lvl1pPr algn="l">
              <a:defRPr sz="992">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97853" y="868021"/>
            <a:ext cx="684099" cy="402314"/>
          </a:xfrm>
          <a:prstGeom prst="rect">
            <a:avLst/>
          </a:prstGeom>
        </p:spPr>
        <p:txBody>
          <a:bodyPr vert="horz" lIns="91440" tIns="45720" rIns="91440" bIns="45720" rtlCol="0" anchor="ctr"/>
          <a:lstStyle>
            <a:lvl1pPr algn="r">
              <a:defRPr sz="2204">
                <a:solidFill>
                  <a:srgbClr val="FEFFFF"/>
                </a:solidFill>
              </a:defRPr>
            </a:lvl1pPr>
          </a:lstStyle>
          <a:p>
            <a:fld id="{B6F15528-21DE-4FAA-801E-634DDDAF4B2B}" type="slidenum">
              <a:rPr lang="en-US" smtClean="0"/>
              <a:t>‹Nº›</a:t>
            </a:fld>
            <a:endParaRPr lang="en-US"/>
          </a:p>
        </p:txBody>
      </p:sp>
    </p:spTree>
    <p:extLst>
      <p:ext uri="{BB962C8B-B14F-4D97-AF65-F5344CB8AC3E}">
        <p14:creationId xmlns:p14="http://schemas.microsoft.com/office/powerpoint/2010/main" val="379564319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Lst>
  <p:txStyles>
    <p:titleStyle>
      <a:lvl1pPr algn="l" defTabSz="503789" rtl="0" eaLnBrk="1" latinLnBrk="0" hangingPunct="1">
        <a:spcBef>
          <a:spcPct val="0"/>
        </a:spcBef>
        <a:buNone/>
        <a:defRPr sz="3967"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42" indent="-377842" algn="l" defTabSz="503789" rtl="0" eaLnBrk="1" latinLnBrk="0" hangingPunct="1">
        <a:spcBef>
          <a:spcPts val="1102"/>
        </a:spcBef>
        <a:spcAft>
          <a:spcPts val="0"/>
        </a:spcAft>
        <a:buClr>
          <a:schemeClr val="accent1"/>
        </a:buClr>
        <a:buFont typeface="Wingdings 3" charset="2"/>
        <a:buChar char=""/>
        <a:defRPr sz="1983" kern="1200">
          <a:solidFill>
            <a:schemeClr val="tx1">
              <a:lumMod val="75000"/>
              <a:lumOff val="25000"/>
            </a:schemeClr>
          </a:solidFill>
          <a:latin typeface="+mn-lt"/>
          <a:ea typeface="+mn-ea"/>
          <a:cs typeface="+mn-cs"/>
        </a:defRPr>
      </a:lvl1pPr>
      <a:lvl2pPr marL="818657" indent="-314868" algn="l" defTabSz="503789" rtl="0" eaLnBrk="1" latinLnBrk="0" hangingPunct="1">
        <a:spcBef>
          <a:spcPts val="1102"/>
        </a:spcBef>
        <a:spcAft>
          <a:spcPts val="0"/>
        </a:spcAft>
        <a:buClr>
          <a:schemeClr val="accent1"/>
        </a:buClr>
        <a:buFont typeface="Wingdings 3" charset="2"/>
        <a:buChar char=""/>
        <a:defRPr sz="1763" kern="1200">
          <a:solidFill>
            <a:schemeClr val="tx1">
              <a:lumMod val="75000"/>
              <a:lumOff val="25000"/>
            </a:schemeClr>
          </a:solidFill>
          <a:latin typeface="+mn-lt"/>
          <a:ea typeface="+mn-ea"/>
          <a:cs typeface="+mn-cs"/>
        </a:defRPr>
      </a:lvl2pPr>
      <a:lvl3pPr marL="1259472" indent="-251894" algn="l" defTabSz="503789" rtl="0" eaLnBrk="1" latinLnBrk="0" hangingPunct="1">
        <a:spcBef>
          <a:spcPts val="1102"/>
        </a:spcBef>
        <a:spcAft>
          <a:spcPts val="0"/>
        </a:spcAft>
        <a:buClr>
          <a:schemeClr val="accent1"/>
        </a:buClr>
        <a:buFont typeface="Wingdings 3" charset="2"/>
        <a:buChar char=""/>
        <a:defRPr sz="1543" kern="1200">
          <a:solidFill>
            <a:schemeClr val="tx1">
              <a:lumMod val="75000"/>
              <a:lumOff val="25000"/>
            </a:schemeClr>
          </a:solidFill>
          <a:latin typeface="+mn-lt"/>
          <a:ea typeface="+mn-ea"/>
          <a:cs typeface="+mn-cs"/>
        </a:defRPr>
      </a:lvl3pPr>
      <a:lvl4pPr marL="1763260" indent="-251894" algn="l" defTabSz="503789" rtl="0" eaLnBrk="1" latinLnBrk="0" hangingPunct="1">
        <a:spcBef>
          <a:spcPts val="1102"/>
        </a:spcBef>
        <a:spcAft>
          <a:spcPts val="0"/>
        </a:spcAft>
        <a:buClr>
          <a:schemeClr val="accent1"/>
        </a:buClr>
        <a:buFont typeface="Wingdings 3" charset="2"/>
        <a:buChar char=""/>
        <a:defRPr sz="1322" kern="1200">
          <a:solidFill>
            <a:schemeClr val="tx1">
              <a:lumMod val="75000"/>
              <a:lumOff val="25000"/>
            </a:schemeClr>
          </a:solidFill>
          <a:latin typeface="+mn-lt"/>
          <a:ea typeface="+mn-ea"/>
          <a:cs typeface="+mn-cs"/>
        </a:defRPr>
      </a:lvl4pPr>
      <a:lvl5pPr marL="2267049" indent="-251894" algn="l" defTabSz="503789" rtl="0" eaLnBrk="1" latinLnBrk="0" hangingPunct="1">
        <a:spcBef>
          <a:spcPts val="1102"/>
        </a:spcBef>
        <a:spcAft>
          <a:spcPts val="0"/>
        </a:spcAft>
        <a:buClr>
          <a:schemeClr val="accent1"/>
        </a:buClr>
        <a:buFont typeface="Wingdings 3" charset="2"/>
        <a:buChar char=""/>
        <a:defRPr sz="1322" kern="1200">
          <a:solidFill>
            <a:schemeClr val="tx1">
              <a:lumMod val="75000"/>
              <a:lumOff val="25000"/>
            </a:schemeClr>
          </a:solidFill>
          <a:latin typeface="+mn-lt"/>
          <a:ea typeface="+mn-ea"/>
          <a:cs typeface="+mn-cs"/>
        </a:defRPr>
      </a:lvl5pPr>
      <a:lvl6pPr marL="2770838" indent="-251894" algn="l" defTabSz="503789" rtl="0" eaLnBrk="1" latinLnBrk="0" hangingPunct="1">
        <a:spcBef>
          <a:spcPts val="1102"/>
        </a:spcBef>
        <a:spcAft>
          <a:spcPts val="0"/>
        </a:spcAft>
        <a:buClr>
          <a:schemeClr val="accent1"/>
        </a:buClr>
        <a:buFont typeface="Wingdings 3" charset="2"/>
        <a:buChar char=""/>
        <a:defRPr sz="1322" kern="1200">
          <a:solidFill>
            <a:schemeClr val="tx1">
              <a:lumMod val="75000"/>
              <a:lumOff val="25000"/>
            </a:schemeClr>
          </a:solidFill>
          <a:latin typeface="+mn-lt"/>
          <a:ea typeface="+mn-ea"/>
          <a:cs typeface="+mn-cs"/>
        </a:defRPr>
      </a:lvl6pPr>
      <a:lvl7pPr marL="3274626" indent="-251894" algn="l" defTabSz="503789" rtl="0" eaLnBrk="1" latinLnBrk="0" hangingPunct="1">
        <a:spcBef>
          <a:spcPts val="1102"/>
        </a:spcBef>
        <a:spcAft>
          <a:spcPts val="0"/>
        </a:spcAft>
        <a:buClr>
          <a:schemeClr val="accent1"/>
        </a:buClr>
        <a:buFont typeface="Wingdings 3" charset="2"/>
        <a:buChar char=""/>
        <a:defRPr sz="1322" kern="1200">
          <a:solidFill>
            <a:schemeClr val="tx1">
              <a:lumMod val="75000"/>
              <a:lumOff val="25000"/>
            </a:schemeClr>
          </a:solidFill>
          <a:latin typeface="+mn-lt"/>
          <a:ea typeface="+mn-ea"/>
          <a:cs typeface="+mn-cs"/>
        </a:defRPr>
      </a:lvl7pPr>
      <a:lvl8pPr marL="3778415" indent="-251894" algn="l" defTabSz="503789" rtl="0" eaLnBrk="1" latinLnBrk="0" hangingPunct="1">
        <a:spcBef>
          <a:spcPts val="1102"/>
        </a:spcBef>
        <a:spcAft>
          <a:spcPts val="0"/>
        </a:spcAft>
        <a:buClr>
          <a:schemeClr val="accent1"/>
        </a:buClr>
        <a:buFont typeface="Wingdings 3" charset="2"/>
        <a:buChar char=""/>
        <a:defRPr sz="1322" kern="1200">
          <a:solidFill>
            <a:schemeClr val="tx1">
              <a:lumMod val="75000"/>
              <a:lumOff val="25000"/>
            </a:schemeClr>
          </a:solidFill>
          <a:latin typeface="+mn-lt"/>
          <a:ea typeface="+mn-ea"/>
          <a:cs typeface="+mn-cs"/>
        </a:defRPr>
      </a:lvl8pPr>
      <a:lvl9pPr marL="4282204" indent="-251894" algn="l" defTabSz="503789" rtl="0" eaLnBrk="1" latinLnBrk="0" hangingPunct="1">
        <a:spcBef>
          <a:spcPts val="1102"/>
        </a:spcBef>
        <a:spcAft>
          <a:spcPts val="0"/>
        </a:spcAft>
        <a:buClr>
          <a:schemeClr val="accent1"/>
        </a:buClr>
        <a:buFont typeface="Wingdings 3" charset="2"/>
        <a:buChar char=""/>
        <a:defRPr sz="1322" kern="1200">
          <a:solidFill>
            <a:schemeClr val="tx1">
              <a:lumMod val="75000"/>
              <a:lumOff val="25000"/>
            </a:schemeClr>
          </a:solidFill>
          <a:latin typeface="+mn-lt"/>
          <a:ea typeface="+mn-ea"/>
          <a:cs typeface="+mn-cs"/>
        </a:defRPr>
      </a:lvl9pPr>
    </p:bodyStyle>
    <p:otherStyle>
      <a:defPPr>
        <a:defRPr lang="en-US"/>
      </a:defPPr>
      <a:lvl1pPr marL="0" algn="l" defTabSz="503789" rtl="0" eaLnBrk="1" latinLnBrk="0" hangingPunct="1">
        <a:defRPr sz="1983" kern="1200">
          <a:solidFill>
            <a:schemeClr val="tx1"/>
          </a:solidFill>
          <a:latin typeface="+mn-lt"/>
          <a:ea typeface="+mn-ea"/>
          <a:cs typeface="+mn-cs"/>
        </a:defRPr>
      </a:lvl1pPr>
      <a:lvl2pPr marL="503789" algn="l" defTabSz="503789" rtl="0" eaLnBrk="1" latinLnBrk="0" hangingPunct="1">
        <a:defRPr sz="1983" kern="1200">
          <a:solidFill>
            <a:schemeClr val="tx1"/>
          </a:solidFill>
          <a:latin typeface="+mn-lt"/>
          <a:ea typeface="+mn-ea"/>
          <a:cs typeface="+mn-cs"/>
        </a:defRPr>
      </a:lvl2pPr>
      <a:lvl3pPr marL="1007577" algn="l" defTabSz="503789" rtl="0" eaLnBrk="1" latinLnBrk="0" hangingPunct="1">
        <a:defRPr sz="1983" kern="1200">
          <a:solidFill>
            <a:schemeClr val="tx1"/>
          </a:solidFill>
          <a:latin typeface="+mn-lt"/>
          <a:ea typeface="+mn-ea"/>
          <a:cs typeface="+mn-cs"/>
        </a:defRPr>
      </a:lvl3pPr>
      <a:lvl4pPr marL="1511366" algn="l" defTabSz="503789" rtl="0" eaLnBrk="1" latinLnBrk="0" hangingPunct="1">
        <a:defRPr sz="1983" kern="1200">
          <a:solidFill>
            <a:schemeClr val="tx1"/>
          </a:solidFill>
          <a:latin typeface="+mn-lt"/>
          <a:ea typeface="+mn-ea"/>
          <a:cs typeface="+mn-cs"/>
        </a:defRPr>
      </a:lvl4pPr>
      <a:lvl5pPr marL="2015155" algn="l" defTabSz="503789" rtl="0" eaLnBrk="1" latinLnBrk="0" hangingPunct="1">
        <a:defRPr sz="1983" kern="1200">
          <a:solidFill>
            <a:schemeClr val="tx1"/>
          </a:solidFill>
          <a:latin typeface="+mn-lt"/>
          <a:ea typeface="+mn-ea"/>
          <a:cs typeface="+mn-cs"/>
        </a:defRPr>
      </a:lvl5pPr>
      <a:lvl6pPr marL="2518943" algn="l" defTabSz="503789" rtl="0" eaLnBrk="1" latinLnBrk="0" hangingPunct="1">
        <a:defRPr sz="1983" kern="1200">
          <a:solidFill>
            <a:schemeClr val="tx1"/>
          </a:solidFill>
          <a:latin typeface="+mn-lt"/>
          <a:ea typeface="+mn-ea"/>
          <a:cs typeface="+mn-cs"/>
        </a:defRPr>
      </a:lvl6pPr>
      <a:lvl7pPr marL="3022732" algn="l" defTabSz="503789" rtl="0" eaLnBrk="1" latinLnBrk="0" hangingPunct="1">
        <a:defRPr sz="1983" kern="1200">
          <a:solidFill>
            <a:schemeClr val="tx1"/>
          </a:solidFill>
          <a:latin typeface="+mn-lt"/>
          <a:ea typeface="+mn-ea"/>
          <a:cs typeface="+mn-cs"/>
        </a:defRPr>
      </a:lvl7pPr>
      <a:lvl8pPr marL="3526521" algn="l" defTabSz="503789" rtl="0" eaLnBrk="1" latinLnBrk="0" hangingPunct="1">
        <a:defRPr sz="1983" kern="1200">
          <a:solidFill>
            <a:schemeClr val="tx1"/>
          </a:solidFill>
          <a:latin typeface="+mn-lt"/>
          <a:ea typeface="+mn-ea"/>
          <a:cs typeface="+mn-cs"/>
        </a:defRPr>
      </a:lvl8pPr>
      <a:lvl9pPr marL="4030309" algn="l" defTabSz="503789" rtl="0" eaLnBrk="1" latinLnBrk="0" hangingPunct="1">
        <a:defRPr sz="198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fontScale="90000"/>
          </a:bodyPr>
          <a:lstStyle/>
          <a:p>
            <a:r>
              <a:rPr lang="es-ES" dirty="0" smtClean="0"/>
              <a:t/>
            </a:r>
            <a:br>
              <a:rPr lang="es-ES" dirty="0" smtClean="0"/>
            </a:br>
            <a:r>
              <a:rPr lang="es-ES" dirty="0"/>
              <a:t/>
            </a:r>
            <a:br>
              <a:rPr lang="es-ES" dirty="0"/>
            </a:br>
            <a:r>
              <a:rPr lang="es-ES" dirty="0" smtClean="0"/>
              <a:t>Diagrama Entidad Relación/</a:t>
            </a:r>
            <a:br>
              <a:rPr lang="es-ES" dirty="0" smtClean="0"/>
            </a:br>
            <a:r>
              <a:rPr lang="es-ES" dirty="0" smtClean="0"/>
              <a:t>Modelo Entidad Relación</a:t>
            </a:r>
            <a:endParaRPr lang="en-US" dirty="0"/>
          </a:p>
        </p:txBody>
      </p:sp>
      <p:sp>
        <p:nvSpPr>
          <p:cNvPr id="4" name="Subtítulo 3"/>
          <p:cNvSpPr>
            <a:spLocks noGrp="1"/>
          </p:cNvSpPr>
          <p:nvPr>
            <p:ph type="subTitle" idx="1"/>
          </p:nvPr>
        </p:nvSpPr>
        <p:spPr/>
        <p:txBody>
          <a:bodyPr>
            <a:normAutofit lnSpcReduction="10000"/>
          </a:bodyPr>
          <a:lstStyle/>
          <a:p>
            <a:endParaRPr lang="es-ES" dirty="0" smtClean="0"/>
          </a:p>
          <a:p>
            <a:endParaRPr lang="es-ES" dirty="0"/>
          </a:p>
          <a:p>
            <a:r>
              <a:rPr lang="es-ES" dirty="0" smtClean="0"/>
              <a:t>Cátedra: Ingeniería de Software I - 2026</a:t>
            </a:r>
            <a:endParaRPr lang="en-US" dirty="0"/>
          </a:p>
        </p:txBody>
      </p:sp>
    </p:spTree>
    <p:extLst>
      <p:ext uri="{BB962C8B-B14F-4D97-AF65-F5344CB8AC3E}">
        <p14:creationId xmlns:p14="http://schemas.microsoft.com/office/powerpoint/2010/main" val="20783661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079500" y="577850"/>
            <a:ext cx="7705702" cy="1411351"/>
          </a:xfrm>
          <a:prstGeom prst="rect">
            <a:avLst/>
          </a:prstGeom>
        </p:spPr>
        <p:txBody>
          <a:bodyPr vert="horz" wrap="square" lIns="0" tIns="285496" rIns="0" bIns="0" rtlCol="0">
            <a:spAutoFit/>
          </a:bodyPr>
          <a:lstStyle/>
          <a:p>
            <a:pPr marL="1675130">
              <a:lnSpc>
                <a:spcPct val="100000"/>
              </a:lnSpc>
              <a:spcBef>
                <a:spcPts val="100"/>
              </a:spcBef>
            </a:pPr>
            <a:r>
              <a:rPr sz="4400" b="1" dirty="0">
                <a:latin typeface="Arial"/>
                <a:cs typeface="Arial"/>
              </a:rPr>
              <a:t>Modelos</a:t>
            </a:r>
            <a:r>
              <a:rPr sz="4400" b="1" spc="-35" dirty="0">
                <a:latin typeface="Arial"/>
                <a:cs typeface="Arial"/>
              </a:rPr>
              <a:t> </a:t>
            </a:r>
            <a:r>
              <a:rPr sz="4400" b="1" dirty="0">
                <a:latin typeface="Arial"/>
                <a:cs typeface="Arial"/>
              </a:rPr>
              <a:t>de</a:t>
            </a:r>
            <a:r>
              <a:rPr sz="4400" b="1" spc="-30" dirty="0">
                <a:latin typeface="Arial"/>
                <a:cs typeface="Arial"/>
              </a:rPr>
              <a:t> </a:t>
            </a:r>
            <a:r>
              <a:rPr sz="4400" b="1" spc="-10" dirty="0">
                <a:latin typeface="Arial"/>
                <a:cs typeface="Arial"/>
              </a:rPr>
              <a:t>datos</a:t>
            </a:r>
            <a:endParaRPr sz="4400" dirty="0">
              <a:latin typeface="Arial"/>
              <a:cs typeface="Arial"/>
            </a:endParaRPr>
          </a:p>
        </p:txBody>
      </p:sp>
      <p:sp>
        <p:nvSpPr>
          <p:cNvPr id="3" name="object 3"/>
          <p:cNvSpPr txBox="1"/>
          <p:nvPr/>
        </p:nvSpPr>
        <p:spPr>
          <a:xfrm>
            <a:off x="1887612" y="2319933"/>
            <a:ext cx="6796405" cy="4172681"/>
          </a:xfrm>
          <a:prstGeom prst="rect">
            <a:avLst/>
          </a:prstGeom>
        </p:spPr>
        <p:txBody>
          <a:bodyPr vert="horz" wrap="square" lIns="0" tIns="97790" rIns="0" bIns="0" rtlCol="0">
            <a:spAutoFit/>
          </a:bodyPr>
          <a:lstStyle/>
          <a:p>
            <a:pPr marL="12700">
              <a:lnSpc>
                <a:spcPct val="100000"/>
              </a:lnSpc>
              <a:spcBef>
                <a:spcPts val="770"/>
              </a:spcBef>
            </a:pPr>
            <a:r>
              <a:rPr sz="2800" dirty="0">
                <a:latin typeface="Arial MT"/>
                <a:cs typeface="Arial MT"/>
              </a:rPr>
              <a:t>Colección</a:t>
            </a:r>
            <a:r>
              <a:rPr sz="2800" spc="-95" dirty="0">
                <a:latin typeface="Arial MT"/>
                <a:cs typeface="Arial MT"/>
              </a:rPr>
              <a:t> </a:t>
            </a:r>
            <a:r>
              <a:rPr sz="2800" dirty="0">
                <a:latin typeface="Arial MT"/>
                <a:cs typeface="Arial MT"/>
              </a:rPr>
              <a:t>de</a:t>
            </a:r>
            <a:r>
              <a:rPr sz="2800" spc="-95" dirty="0">
                <a:latin typeface="Arial MT"/>
                <a:cs typeface="Arial MT"/>
              </a:rPr>
              <a:t> </a:t>
            </a:r>
            <a:r>
              <a:rPr sz="2800" b="1" dirty="0">
                <a:latin typeface="Arial"/>
                <a:cs typeface="Arial"/>
              </a:rPr>
              <a:t>herramientas</a:t>
            </a:r>
            <a:r>
              <a:rPr sz="2800" b="1" spc="-85" dirty="0">
                <a:latin typeface="Arial"/>
                <a:cs typeface="Arial"/>
              </a:rPr>
              <a:t> </a:t>
            </a:r>
            <a:r>
              <a:rPr sz="2800" b="1" spc="-10" dirty="0">
                <a:latin typeface="Arial"/>
                <a:cs typeface="Arial"/>
              </a:rPr>
              <a:t>conceptuales</a:t>
            </a:r>
            <a:endParaRPr sz="2800" dirty="0">
              <a:latin typeface="Arial"/>
              <a:cs typeface="Arial"/>
            </a:endParaRPr>
          </a:p>
          <a:p>
            <a:pPr marL="12700">
              <a:lnSpc>
                <a:spcPct val="100000"/>
              </a:lnSpc>
              <a:spcBef>
                <a:spcPts val="675"/>
              </a:spcBef>
            </a:pPr>
            <a:r>
              <a:rPr sz="2800" dirty="0">
                <a:latin typeface="Arial MT"/>
                <a:cs typeface="Arial MT"/>
              </a:rPr>
              <a:t>para</a:t>
            </a:r>
            <a:r>
              <a:rPr sz="2800" spc="-55" dirty="0">
                <a:latin typeface="Arial MT"/>
                <a:cs typeface="Arial MT"/>
              </a:rPr>
              <a:t> </a:t>
            </a:r>
            <a:r>
              <a:rPr sz="2800" spc="-10" dirty="0">
                <a:latin typeface="Arial MT"/>
                <a:cs typeface="Arial MT"/>
              </a:rPr>
              <a:t>describir</a:t>
            </a:r>
            <a:endParaRPr sz="2800" dirty="0">
              <a:latin typeface="Arial MT"/>
              <a:cs typeface="Arial MT"/>
            </a:endParaRPr>
          </a:p>
          <a:p>
            <a:pPr>
              <a:lnSpc>
                <a:spcPct val="100000"/>
              </a:lnSpc>
              <a:spcBef>
                <a:spcPts val="1495"/>
              </a:spcBef>
            </a:pPr>
            <a:endParaRPr sz="2800" dirty="0">
              <a:latin typeface="Arial MT"/>
              <a:cs typeface="Arial MT"/>
            </a:endParaRPr>
          </a:p>
          <a:p>
            <a:pPr marL="926465">
              <a:lnSpc>
                <a:spcPct val="100000"/>
              </a:lnSpc>
            </a:pPr>
            <a:r>
              <a:rPr sz="2800" b="1" spc="-10" dirty="0">
                <a:latin typeface="Arial"/>
                <a:cs typeface="Arial"/>
              </a:rPr>
              <a:t>datos</a:t>
            </a:r>
            <a:r>
              <a:rPr sz="2800" spc="-10" dirty="0">
                <a:latin typeface="Arial MT"/>
                <a:cs typeface="Arial MT"/>
              </a:rPr>
              <a:t>,</a:t>
            </a:r>
            <a:endParaRPr sz="2800" dirty="0">
              <a:latin typeface="Arial MT"/>
              <a:cs typeface="Arial MT"/>
            </a:endParaRPr>
          </a:p>
          <a:p>
            <a:pPr marL="926465" marR="492125">
              <a:lnSpc>
                <a:spcPct val="120200"/>
              </a:lnSpc>
              <a:spcBef>
                <a:spcPts val="5"/>
              </a:spcBef>
            </a:pPr>
            <a:r>
              <a:rPr sz="2800" b="1" dirty="0">
                <a:latin typeface="Arial"/>
                <a:cs typeface="Arial"/>
              </a:rPr>
              <a:t>relaciones</a:t>
            </a:r>
            <a:r>
              <a:rPr sz="2800" b="1" spc="-85" dirty="0">
                <a:latin typeface="Arial"/>
                <a:cs typeface="Arial"/>
              </a:rPr>
              <a:t> </a:t>
            </a:r>
            <a:r>
              <a:rPr sz="2800" dirty="0">
                <a:latin typeface="Arial MT"/>
                <a:cs typeface="Arial MT"/>
              </a:rPr>
              <a:t>entre</a:t>
            </a:r>
            <a:r>
              <a:rPr sz="2800" spc="-80" dirty="0">
                <a:latin typeface="Arial MT"/>
                <a:cs typeface="Arial MT"/>
              </a:rPr>
              <a:t> </a:t>
            </a:r>
            <a:r>
              <a:rPr sz="2800" spc="-10" dirty="0">
                <a:latin typeface="Arial MT"/>
                <a:cs typeface="Arial MT"/>
              </a:rPr>
              <a:t>ellos, </a:t>
            </a:r>
            <a:r>
              <a:rPr sz="2800" b="1" dirty="0" err="1" smtClean="0">
                <a:latin typeface="Arial"/>
                <a:cs typeface="Arial"/>
              </a:rPr>
              <a:t>semántica</a:t>
            </a:r>
            <a:r>
              <a:rPr lang="es-ES" sz="2800" b="1" dirty="0" smtClean="0">
                <a:latin typeface="Arial"/>
                <a:cs typeface="Arial"/>
              </a:rPr>
              <a:t>(concepto)</a:t>
            </a:r>
            <a:r>
              <a:rPr sz="2800" b="1" spc="-65" dirty="0" smtClean="0">
                <a:latin typeface="Arial"/>
                <a:cs typeface="Arial"/>
              </a:rPr>
              <a:t> </a:t>
            </a:r>
            <a:r>
              <a:rPr sz="2800" dirty="0">
                <a:latin typeface="Arial MT"/>
                <a:cs typeface="Arial MT"/>
              </a:rPr>
              <a:t>asociada</a:t>
            </a:r>
            <a:r>
              <a:rPr sz="2800" spc="-60" dirty="0">
                <a:latin typeface="Arial MT"/>
                <a:cs typeface="Arial MT"/>
              </a:rPr>
              <a:t> </a:t>
            </a:r>
            <a:r>
              <a:rPr sz="2800" dirty="0">
                <a:latin typeface="Arial MT"/>
                <a:cs typeface="Arial MT"/>
              </a:rPr>
              <a:t>a</a:t>
            </a:r>
            <a:r>
              <a:rPr sz="2800" spc="-60" dirty="0">
                <a:latin typeface="Arial MT"/>
                <a:cs typeface="Arial MT"/>
              </a:rPr>
              <a:t> </a:t>
            </a:r>
            <a:r>
              <a:rPr sz="2800" dirty="0">
                <a:latin typeface="Arial MT"/>
                <a:cs typeface="Arial MT"/>
              </a:rPr>
              <a:t>los</a:t>
            </a:r>
            <a:r>
              <a:rPr sz="2800" spc="-60" dirty="0">
                <a:latin typeface="Arial MT"/>
                <a:cs typeface="Arial MT"/>
              </a:rPr>
              <a:t> </a:t>
            </a:r>
            <a:r>
              <a:rPr sz="2800" dirty="0">
                <a:latin typeface="Arial MT"/>
                <a:cs typeface="Arial MT"/>
              </a:rPr>
              <a:t>datos</a:t>
            </a:r>
            <a:r>
              <a:rPr sz="2800" spc="-60" dirty="0">
                <a:latin typeface="Arial MT"/>
                <a:cs typeface="Arial MT"/>
              </a:rPr>
              <a:t> </a:t>
            </a:r>
            <a:r>
              <a:rPr sz="2800" spc="-50" dirty="0">
                <a:latin typeface="Arial MT"/>
                <a:cs typeface="Arial MT"/>
              </a:rPr>
              <a:t>y </a:t>
            </a:r>
            <a:r>
              <a:rPr sz="2800" b="1" dirty="0">
                <a:latin typeface="Arial"/>
                <a:cs typeface="Arial"/>
              </a:rPr>
              <a:t>restricciones</a:t>
            </a:r>
            <a:r>
              <a:rPr sz="2800" b="1" spc="-90" dirty="0">
                <a:latin typeface="Arial"/>
                <a:cs typeface="Arial"/>
              </a:rPr>
              <a:t> </a:t>
            </a:r>
            <a:r>
              <a:rPr sz="2800" dirty="0">
                <a:latin typeface="Arial MT"/>
                <a:cs typeface="Arial MT"/>
              </a:rPr>
              <a:t>de</a:t>
            </a:r>
            <a:r>
              <a:rPr sz="2800" spc="-85" dirty="0">
                <a:latin typeface="Arial MT"/>
                <a:cs typeface="Arial MT"/>
              </a:rPr>
              <a:t> </a:t>
            </a:r>
            <a:r>
              <a:rPr sz="2800" spc="-10" dirty="0">
                <a:latin typeface="Arial MT"/>
                <a:cs typeface="Arial MT"/>
              </a:rPr>
              <a:t>consistencia.</a:t>
            </a:r>
            <a:endParaRPr sz="2800" dirty="0">
              <a:latin typeface="Arial MT"/>
              <a:cs typeface="Arial M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408" y="561720"/>
            <a:ext cx="7705702" cy="1411351"/>
          </a:xfrm>
          <a:prstGeom prst="rect">
            <a:avLst/>
          </a:prstGeom>
        </p:spPr>
        <p:txBody>
          <a:bodyPr vert="horz" wrap="square" lIns="0" tIns="285496" rIns="0" bIns="0" rtlCol="0">
            <a:spAutoFit/>
          </a:bodyPr>
          <a:lstStyle/>
          <a:p>
            <a:pPr marL="1675130">
              <a:lnSpc>
                <a:spcPct val="100000"/>
              </a:lnSpc>
              <a:spcBef>
                <a:spcPts val="100"/>
              </a:spcBef>
            </a:pPr>
            <a:r>
              <a:rPr sz="4400" b="1" dirty="0">
                <a:latin typeface="Arial"/>
                <a:cs typeface="Arial"/>
              </a:rPr>
              <a:t>Modelos</a:t>
            </a:r>
            <a:r>
              <a:rPr sz="4400" b="1" spc="-35" dirty="0">
                <a:latin typeface="Arial"/>
                <a:cs typeface="Arial"/>
              </a:rPr>
              <a:t> </a:t>
            </a:r>
            <a:r>
              <a:rPr sz="4400" b="1" dirty="0">
                <a:latin typeface="Arial"/>
                <a:cs typeface="Arial"/>
              </a:rPr>
              <a:t>de</a:t>
            </a:r>
            <a:r>
              <a:rPr sz="4400" b="1" spc="-30" dirty="0">
                <a:latin typeface="Arial"/>
                <a:cs typeface="Arial"/>
              </a:rPr>
              <a:t> </a:t>
            </a:r>
            <a:r>
              <a:rPr sz="4400" b="1" spc="-10" dirty="0">
                <a:latin typeface="Arial"/>
                <a:cs typeface="Arial"/>
              </a:rPr>
              <a:t>datos</a:t>
            </a:r>
            <a:endParaRPr sz="4400" dirty="0">
              <a:latin typeface="Arial"/>
              <a:cs typeface="Arial"/>
            </a:endParaRPr>
          </a:p>
        </p:txBody>
      </p:sp>
      <p:sp>
        <p:nvSpPr>
          <p:cNvPr id="3" name="object 3"/>
          <p:cNvSpPr txBox="1"/>
          <p:nvPr/>
        </p:nvSpPr>
        <p:spPr>
          <a:xfrm>
            <a:off x="1969908" y="1973071"/>
            <a:ext cx="6449060" cy="5045075"/>
          </a:xfrm>
          <a:prstGeom prst="rect">
            <a:avLst/>
          </a:prstGeom>
        </p:spPr>
        <p:txBody>
          <a:bodyPr vert="horz" wrap="square" lIns="0" tIns="12065" rIns="0" bIns="0" rtlCol="0">
            <a:spAutoFit/>
          </a:bodyPr>
          <a:lstStyle/>
          <a:p>
            <a:pPr marL="12700">
              <a:lnSpc>
                <a:spcPct val="100000"/>
              </a:lnSpc>
              <a:spcBef>
                <a:spcPts val="95"/>
              </a:spcBef>
            </a:pPr>
            <a:r>
              <a:rPr sz="2800" b="1" dirty="0">
                <a:latin typeface="Arial"/>
                <a:cs typeface="Arial"/>
              </a:rPr>
              <a:t>Modelos</a:t>
            </a:r>
            <a:r>
              <a:rPr sz="2800" b="1" spc="-85" dirty="0">
                <a:latin typeface="Arial"/>
                <a:cs typeface="Arial"/>
              </a:rPr>
              <a:t> </a:t>
            </a:r>
            <a:r>
              <a:rPr sz="2800" b="1" dirty="0">
                <a:latin typeface="Arial"/>
                <a:cs typeface="Arial"/>
              </a:rPr>
              <a:t>basados</a:t>
            </a:r>
            <a:r>
              <a:rPr sz="2800" b="1" spc="-75" dirty="0">
                <a:latin typeface="Arial"/>
                <a:cs typeface="Arial"/>
              </a:rPr>
              <a:t> </a:t>
            </a:r>
            <a:r>
              <a:rPr sz="2800" b="1" dirty="0">
                <a:latin typeface="Arial"/>
                <a:cs typeface="Arial"/>
              </a:rPr>
              <a:t>en</a:t>
            </a:r>
            <a:r>
              <a:rPr sz="2800" b="1" spc="-90" dirty="0">
                <a:latin typeface="Arial"/>
                <a:cs typeface="Arial"/>
              </a:rPr>
              <a:t> </a:t>
            </a:r>
            <a:r>
              <a:rPr sz="2800" b="1" spc="-10" dirty="0">
                <a:latin typeface="Arial"/>
                <a:cs typeface="Arial"/>
              </a:rPr>
              <a:t>objetos</a:t>
            </a:r>
            <a:endParaRPr sz="2800" dirty="0">
              <a:latin typeface="Arial"/>
              <a:cs typeface="Arial"/>
            </a:endParaRPr>
          </a:p>
          <a:p>
            <a:pPr marL="353695" marR="342900" indent="-341630">
              <a:lnSpc>
                <a:spcPct val="100000"/>
              </a:lnSpc>
              <a:spcBef>
                <a:spcPts val="3000"/>
              </a:spcBef>
              <a:buChar char="•"/>
              <a:tabLst>
                <a:tab pos="354965" algn="l"/>
              </a:tabLst>
            </a:pPr>
            <a:r>
              <a:rPr sz="2800" dirty="0">
                <a:latin typeface="Arial MT"/>
                <a:cs typeface="Arial MT"/>
              </a:rPr>
              <a:t>Se</a:t>
            </a:r>
            <a:r>
              <a:rPr sz="2800" spc="-50" dirty="0">
                <a:latin typeface="Arial MT"/>
                <a:cs typeface="Arial MT"/>
              </a:rPr>
              <a:t> </a:t>
            </a:r>
            <a:r>
              <a:rPr sz="2800" dirty="0">
                <a:latin typeface="Arial MT"/>
                <a:cs typeface="Arial MT"/>
              </a:rPr>
              <a:t>usan</a:t>
            </a:r>
            <a:r>
              <a:rPr sz="2800" spc="-45" dirty="0">
                <a:latin typeface="Arial MT"/>
                <a:cs typeface="Arial MT"/>
              </a:rPr>
              <a:t> </a:t>
            </a:r>
            <a:r>
              <a:rPr sz="2800" dirty="0">
                <a:latin typeface="Arial MT"/>
                <a:cs typeface="Arial MT"/>
              </a:rPr>
              <a:t>para</a:t>
            </a:r>
            <a:r>
              <a:rPr sz="2800" spc="-50" dirty="0">
                <a:latin typeface="Arial MT"/>
                <a:cs typeface="Arial MT"/>
              </a:rPr>
              <a:t> </a:t>
            </a:r>
            <a:r>
              <a:rPr sz="2800" dirty="0">
                <a:latin typeface="Arial MT"/>
                <a:cs typeface="Arial MT"/>
              </a:rPr>
              <a:t>describir</a:t>
            </a:r>
            <a:r>
              <a:rPr sz="2800" spc="-45" dirty="0">
                <a:latin typeface="Arial MT"/>
                <a:cs typeface="Arial MT"/>
              </a:rPr>
              <a:t> </a:t>
            </a:r>
            <a:r>
              <a:rPr sz="2800" dirty="0">
                <a:latin typeface="Arial MT"/>
                <a:cs typeface="Arial MT"/>
              </a:rPr>
              <a:t>datos</a:t>
            </a:r>
            <a:r>
              <a:rPr sz="2800" spc="-45" dirty="0">
                <a:latin typeface="Arial MT"/>
                <a:cs typeface="Arial MT"/>
              </a:rPr>
              <a:t> </a:t>
            </a:r>
            <a:r>
              <a:rPr sz="2800" dirty="0">
                <a:latin typeface="Arial MT"/>
                <a:cs typeface="Arial MT"/>
              </a:rPr>
              <a:t>a</a:t>
            </a:r>
            <a:r>
              <a:rPr sz="2800" spc="-55" dirty="0">
                <a:latin typeface="Arial MT"/>
                <a:cs typeface="Arial MT"/>
              </a:rPr>
              <a:t> </a:t>
            </a:r>
            <a:r>
              <a:rPr sz="2800" b="1" spc="-10" dirty="0">
                <a:latin typeface="Arial"/>
                <a:cs typeface="Arial"/>
              </a:rPr>
              <a:t>nivel 	conceptual</a:t>
            </a:r>
            <a:r>
              <a:rPr sz="2800" spc="-10" dirty="0">
                <a:latin typeface="Arial MT"/>
                <a:cs typeface="Arial MT"/>
              </a:rPr>
              <a:t>.</a:t>
            </a:r>
            <a:endParaRPr sz="2800" dirty="0">
              <a:latin typeface="Arial MT"/>
              <a:cs typeface="Arial MT"/>
            </a:endParaRPr>
          </a:p>
          <a:p>
            <a:pPr marL="962660" algn="ctr">
              <a:lnSpc>
                <a:spcPct val="100000"/>
              </a:lnSpc>
              <a:spcBef>
                <a:spcPts val="670"/>
              </a:spcBef>
            </a:pPr>
            <a:r>
              <a:rPr sz="2800" b="1" i="1" dirty="0">
                <a:solidFill>
                  <a:srgbClr val="16365D"/>
                </a:solidFill>
                <a:latin typeface="Arial"/>
                <a:cs typeface="Arial"/>
              </a:rPr>
              <a:t>Modelo</a:t>
            </a:r>
            <a:r>
              <a:rPr sz="2800" b="1" i="1" spc="-45" dirty="0">
                <a:solidFill>
                  <a:srgbClr val="16365D"/>
                </a:solidFill>
                <a:latin typeface="Arial"/>
                <a:cs typeface="Arial"/>
              </a:rPr>
              <a:t> </a:t>
            </a:r>
            <a:r>
              <a:rPr sz="2800" b="1" i="1" spc="-20" dirty="0">
                <a:solidFill>
                  <a:srgbClr val="16365D"/>
                </a:solidFill>
                <a:latin typeface="Arial"/>
                <a:cs typeface="Arial"/>
              </a:rPr>
              <a:t>entidad-</a:t>
            </a:r>
            <a:r>
              <a:rPr sz="2800" b="1" i="1" spc="-10" dirty="0">
                <a:solidFill>
                  <a:srgbClr val="16365D"/>
                </a:solidFill>
                <a:latin typeface="Arial"/>
                <a:cs typeface="Arial"/>
              </a:rPr>
              <a:t>relación</a:t>
            </a:r>
            <a:endParaRPr sz="2800" dirty="0">
              <a:latin typeface="Arial"/>
              <a:cs typeface="Arial"/>
            </a:endParaRPr>
          </a:p>
          <a:p>
            <a:pPr>
              <a:lnSpc>
                <a:spcPct val="100000"/>
              </a:lnSpc>
              <a:spcBef>
                <a:spcPts val="2085"/>
              </a:spcBef>
            </a:pPr>
            <a:endParaRPr sz="2800" dirty="0">
              <a:latin typeface="Arial"/>
              <a:cs typeface="Arial"/>
            </a:endParaRPr>
          </a:p>
          <a:p>
            <a:pPr marL="12700">
              <a:lnSpc>
                <a:spcPct val="100000"/>
              </a:lnSpc>
            </a:pPr>
            <a:r>
              <a:rPr sz="2800" b="1" dirty="0">
                <a:latin typeface="Arial"/>
                <a:cs typeface="Arial"/>
              </a:rPr>
              <a:t>Modelos</a:t>
            </a:r>
            <a:r>
              <a:rPr sz="2800" b="1" spc="-85" dirty="0">
                <a:latin typeface="Arial"/>
                <a:cs typeface="Arial"/>
              </a:rPr>
              <a:t> </a:t>
            </a:r>
            <a:r>
              <a:rPr sz="2800" b="1" dirty="0">
                <a:latin typeface="Arial"/>
                <a:cs typeface="Arial"/>
              </a:rPr>
              <a:t>basados</a:t>
            </a:r>
            <a:r>
              <a:rPr sz="2800" b="1" spc="-75" dirty="0">
                <a:latin typeface="Arial"/>
                <a:cs typeface="Arial"/>
              </a:rPr>
              <a:t> </a:t>
            </a:r>
            <a:r>
              <a:rPr sz="2800" b="1" dirty="0">
                <a:latin typeface="Arial"/>
                <a:cs typeface="Arial"/>
              </a:rPr>
              <a:t>en</a:t>
            </a:r>
            <a:r>
              <a:rPr sz="2800" b="1" spc="-90" dirty="0">
                <a:latin typeface="Arial"/>
                <a:cs typeface="Arial"/>
              </a:rPr>
              <a:t> </a:t>
            </a:r>
            <a:r>
              <a:rPr sz="2800" b="1" spc="-10" dirty="0">
                <a:latin typeface="Arial"/>
                <a:cs typeface="Arial"/>
              </a:rPr>
              <a:t>registros</a:t>
            </a:r>
            <a:endParaRPr sz="2800" dirty="0">
              <a:latin typeface="Arial"/>
              <a:cs typeface="Arial"/>
            </a:endParaRPr>
          </a:p>
          <a:p>
            <a:pPr marL="353695" marR="5080" indent="-341630">
              <a:lnSpc>
                <a:spcPct val="100400"/>
              </a:lnSpc>
              <a:spcBef>
                <a:spcPts val="2975"/>
              </a:spcBef>
              <a:buChar char="•"/>
              <a:tabLst>
                <a:tab pos="354965" algn="l"/>
              </a:tabLst>
            </a:pPr>
            <a:r>
              <a:rPr sz="2800" dirty="0">
                <a:latin typeface="Arial MT"/>
                <a:cs typeface="Arial MT"/>
              </a:rPr>
              <a:t>Se</a:t>
            </a:r>
            <a:r>
              <a:rPr sz="2800" spc="-50" dirty="0">
                <a:latin typeface="Arial MT"/>
                <a:cs typeface="Arial MT"/>
              </a:rPr>
              <a:t> </a:t>
            </a:r>
            <a:r>
              <a:rPr sz="2800" dirty="0">
                <a:latin typeface="Arial MT"/>
                <a:cs typeface="Arial MT"/>
              </a:rPr>
              <a:t>utilizan</a:t>
            </a:r>
            <a:r>
              <a:rPr sz="2800" spc="-45" dirty="0">
                <a:latin typeface="Arial MT"/>
                <a:cs typeface="Arial MT"/>
              </a:rPr>
              <a:t> </a:t>
            </a:r>
            <a:r>
              <a:rPr sz="2800" dirty="0">
                <a:latin typeface="Arial MT"/>
                <a:cs typeface="Arial MT"/>
              </a:rPr>
              <a:t>para</a:t>
            </a:r>
            <a:r>
              <a:rPr sz="2800" spc="-50" dirty="0">
                <a:latin typeface="Arial MT"/>
                <a:cs typeface="Arial MT"/>
              </a:rPr>
              <a:t> </a:t>
            </a:r>
            <a:r>
              <a:rPr sz="2800" dirty="0">
                <a:latin typeface="Arial MT"/>
                <a:cs typeface="Arial MT"/>
              </a:rPr>
              <a:t>describir</a:t>
            </a:r>
            <a:r>
              <a:rPr sz="2800" spc="-45" dirty="0">
                <a:latin typeface="Arial MT"/>
                <a:cs typeface="Arial MT"/>
              </a:rPr>
              <a:t> </a:t>
            </a:r>
            <a:r>
              <a:rPr sz="2800" dirty="0">
                <a:latin typeface="Arial MT"/>
                <a:cs typeface="Arial MT"/>
              </a:rPr>
              <a:t>datos</a:t>
            </a:r>
            <a:r>
              <a:rPr sz="2800" spc="-50" dirty="0">
                <a:latin typeface="Arial MT"/>
                <a:cs typeface="Arial MT"/>
              </a:rPr>
              <a:t> </a:t>
            </a:r>
            <a:r>
              <a:rPr sz="2800" dirty="0">
                <a:latin typeface="Arial MT"/>
                <a:cs typeface="Arial MT"/>
              </a:rPr>
              <a:t>a</a:t>
            </a:r>
            <a:r>
              <a:rPr sz="2800" spc="-50" dirty="0">
                <a:latin typeface="Arial MT"/>
                <a:cs typeface="Arial MT"/>
              </a:rPr>
              <a:t> </a:t>
            </a:r>
            <a:r>
              <a:rPr sz="2800" b="1" spc="-10" dirty="0">
                <a:latin typeface="Arial"/>
                <a:cs typeface="Arial"/>
              </a:rPr>
              <a:t>nivel 	físico.</a:t>
            </a:r>
            <a:endParaRPr sz="2800" dirty="0">
              <a:latin typeface="Arial"/>
              <a:cs typeface="Arial"/>
            </a:endParaRPr>
          </a:p>
          <a:p>
            <a:pPr marL="961390" algn="ctr">
              <a:lnSpc>
                <a:spcPct val="100000"/>
              </a:lnSpc>
              <a:spcBef>
                <a:spcPts val="670"/>
              </a:spcBef>
            </a:pPr>
            <a:r>
              <a:rPr sz="2800" b="1" i="1" dirty="0">
                <a:latin typeface="Arial"/>
                <a:cs typeface="Arial"/>
              </a:rPr>
              <a:t>Modelo</a:t>
            </a:r>
            <a:r>
              <a:rPr sz="2800" b="1" i="1" spc="-95" dirty="0">
                <a:latin typeface="Arial"/>
                <a:cs typeface="Arial"/>
              </a:rPr>
              <a:t> </a:t>
            </a:r>
            <a:r>
              <a:rPr sz="2800" b="1" i="1" spc="-10" dirty="0">
                <a:latin typeface="Arial"/>
                <a:cs typeface="Arial"/>
              </a:rPr>
              <a:t>relacional</a:t>
            </a:r>
            <a:endParaRPr sz="2800" dirty="0">
              <a:latin typeface="Arial"/>
              <a:cs typeface="Aria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875915" y="273050"/>
            <a:ext cx="2927985" cy="1586230"/>
            <a:chOff x="2529718" y="541781"/>
            <a:chExt cx="2927985" cy="1586230"/>
          </a:xfrm>
        </p:grpSpPr>
        <p:pic>
          <p:nvPicPr>
            <p:cNvPr id="3" name="object 3"/>
            <p:cNvPicPr/>
            <p:nvPr/>
          </p:nvPicPr>
          <p:blipFill>
            <a:blip r:embed="rId2" cstate="print"/>
            <a:stretch>
              <a:fillRect/>
            </a:stretch>
          </p:blipFill>
          <p:spPr>
            <a:xfrm>
              <a:off x="2529718" y="557784"/>
              <a:ext cx="2927604" cy="1569719"/>
            </a:xfrm>
            <a:prstGeom prst="rect">
              <a:avLst/>
            </a:prstGeom>
          </p:spPr>
        </p:pic>
        <p:sp>
          <p:nvSpPr>
            <p:cNvPr id="4" name="object 4"/>
            <p:cNvSpPr/>
            <p:nvPr/>
          </p:nvSpPr>
          <p:spPr>
            <a:xfrm>
              <a:off x="2741554" y="560831"/>
              <a:ext cx="2432685" cy="1430020"/>
            </a:xfrm>
            <a:custGeom>
              <a:avLst/>
              <a:gdLst/>
              <a:ahLst/>
              <a:cxnLst/>
              <a:rect l="l" t="t" r="r" b="b"/>
              <a:pathLst>
                <a:path w="2432685" h="1430020">
                  <a:moveTo>
                    <a:pt x="222503" y="470915"/>
                  </a:moveTo>
                  <a:lnTo>
                    <a:pt x="220503" y="460628"/>
                  </a:lnTo>
                  <a:lnTo>
                    <a:pt x="219074" y="450341"/>
                  </a:lnTo>
                  <a:lnTo>
                    <a:pt x="218217" y="440054"/>
                  </a:lnTo>
                  <a:lnTo>
                    <a:pt x="217931" y="429767"/>
                  </a:lnTo>
                  <a:lnTo>
                    <a:pt x="221411" y="388584"/>
                  </a:lnTo>
                  <a:lnTo>
                    <a:pt x="231542" y="349094"/>
                  </a:lnTo>
                  <a:lnTo>
                    <a:pt x="247864" y="311657"/>
                  </a:lnTo>
                  <a:lnTo>
                    <a:pt x="269917" y="276634"/>
                  </a:lnTo>
                  <a:lnTo>
                    <a:pt x="297240" y="244383"/>
                  </a:lnTo>
                  <a:lnTo>
                    <a:pt x="329374" y="215264"/>
                  </a:lnTo>
                  <a:lnTo>
                    <a:pt x="365857" y="189639"/>
                  </a:lnTo>
                  <a:lnTo>
                    <a:pt x="406230" y="167865"/>
                  </a:lnTo>
                  <a:lnTo>
                    <a:pt x="450032" y="150304"/>
                  </a:lnTo>
                  <a:lnTo>
                    <a:pt x="496802" y="137315"/>
                  </a:lnTo>
                  <a:lnTo>
                    <a:pt x="546081" y="129257"/>
                  </a:lnTo>
                  <a:lnTo>
                    <a:pt x="597407" y="126491"/>
                  </a:lnTo>
                  <a:lnTo>
                    <a:pt x="648200" y="129063"/>
                  </a:lnTo>
                  <a:lnTo>
                    <a:pt x="697420" y="136778"/>
                  </a:lnTo>
                  <a:lnTo>
                    <a:pt x="744640" y="149637"/>
                  </a:lnTo>
                  <a:lnTo>
                    <a:pt x="789431" y="167639"/>
                  </a:lnTo>
                  <a:lnTo>
                    <a:pt x="819340" y="131282"/>
                  </a:lnTo>
                  <a:lnTo>
                    <a:pt x="856487" y="100301"/>
                  </a:lnTo>
                  <a:lnTo>
                    <a:pt x="899731" y="75247"/>
                  </a:lnTo>
                  <a:lnTo>
                    <a:pt x="947927" y="56670"/>
                  </a:lnTo>
                  <a:lnTo>
                    <a:pt x="999934" y="45120"/>
                  </a:lnTo>
                  <a:lnTo>
                    <a:pt x="1054607" y="41147"/>
                  </a:lnTo>
                  <a:lnTo>
                    <a:pt x="1101498" y="44037"/>
                  </a:lnTo>
                  <a:lnTo>
                    <a:pt x="1146633" y="52559"/>
                  </a:lnTo>
                  <a:lnTo>
                    <a:pt x="1189353" y="66495"/>
                  </a:lnTo>
                  <a:lnTo>
                    <a:pt x="1229002" y="85624"/>
                  </a:lnTo>
                  <a:lnTo>
                    <a:pt x="1264919" y="109727"/>
                  </a:lnTo>
                  <a:lnTo>
                    <a:pt x="1294619" y="72566"/>
                  </a:lnTo>
                  <a:lnTo>
                    <a:pt x="1333170" y="42135"/>
                  </a:lnTo>
                  <a:lnTo>
                    <a:pt x="1378817" y="19312"/>
                  </a:lnTo>
                  <a:lnTo>
                    <a:pt x="1429804" y="4974"/>
                  </a:lnTo>
                  <a:lnTo>
                    <a:pt x="1484375" y="0"/>
                  </a:lnTo>
                  <a:lnTo>
                    <a:pt x="1540573" y="5286"/>
                  </a:lnTo>
                  <a:lnTo>
                    <a:pt x="1593341" y="20573"/>
                  </a:lnTo>
                  <a:lnTo>
                    <a:pt x="1640395" y="45005"/>
                  </a:lnTo>
                  <a:lnTo>
                    <a:pt x="1679447" y="77723"/>
                  </a:lnTo>
                  <a:lnTo>
                    <a:pt x="1713305" y="51072"/>
                  </a:lnTo>
                  <a:lnTo>
                    <a:pt x="1752063" y="29833"/>
                  </a:lnTo>
                  <a:lnTo>
                    <a:pt x="1794772" y="14301"/>
                  </a:lnTo>
                  <a:lnTo>
                    <a:pt x="1840479" y="4767"/>
                  </a:lnTo>
                  <a:lnTo>
                    <a:pt x="1888235" y="1523"/>
                  </a:lnTo>
                  <a:lnTo>
                    <a:pt x="1943642" y="5962"/>
                  </a:lnTo>
                  <a:lnTo>
                    <a:pt x="1995395" y="18745"/>
                  </a:lnTo>
                  <a:lnTo>
                    <a:pt x="2042271" y="39073"/>
                  </a:lnTo>
                  <a:lnTo>
                    <a:pt x="2083041" y="66145"/>
                  </a:lnTo>
                  <a:lnTo>
                    <a:pt x="2116480" y="99162"/>
                  </a:lnTo>
                  <a:lnTo>
                    <a:pt x="2141362" y="137324"/>
                  </a:lnTo>
                  <a:lnTo>
                    <a:pt x="2156459" y="179831"/>
                  </a:lnTo>
                  <a:lnTo>
                    <a:pt x="2209968" y="196187"/>
                  </a:lnTo>
                  <a:lnTo>
                    <a:pt x="2257586" y="219793"/>
                  </a:lnTo>
                  <a:lnTo>
                    <a:pt x="2298458" y="249691"/>
                  </a:lnTo>
                  <a:lnTo>
                    <a:pt x="2331733" y="284921"/>
                  </a:lnTo>
                  <a:lnTo>
                    <a:pt x="2356557" y="324523"/>
                  </a:lnTo>
                  <a:lnTo>
                    <a:pt x="2372077" y="367537"/>
                  </a:lnTo>
                  <a:lnTo>
                    <a:pt x="2377439" y="413003"/>
                  </a:lnTo>
                  <a:lnTo>
                    <a:pt x="2375987" y="436983"/>
                  </a:lnTo>
                  <a:lnTo>
                    <a:pt x="2371534" y="460819"/>
                  </a:lnTo>
                  <a:lnTo>
                    <a:pt x="2363938" y="484370"/>
                  </a:lnTo>
                  <a:lnTo>
                    <a:pt x="2353055" y="507491"/>
                  </a:lnTo>
                  <a:lnTo>
                    <a:pt x="2387298" y="549616"/>
                  </a:lnTo>
                  <a:lnTo>
                    <a:pt x="2412110" y="595312"/>
                  </a:lnTo>
                  <a:lnTo>
                    <a:pt x="2427208" y="643580"/>
                  </a:lnTo>
                  <a:lnTo>
                    <a:pt x="2432303" y="693419"/>
                  </a:lnTo>
                  <a:lnTo>
                    <a:pt x="2428233" y="737955"/>
                  </a:lnTo>
                  <a:lnTo>
                    <a:pt x="2416381" y="780690"/>
                  </a:lnTo>
                  <a:lnTo>
                    <a:pt x="2397286" y="821102"/>
                  </a:lnTo>
                  <a:lnTo>
                    <a:pt x="2371490" y="858670"/>
                  </a:lnTo>
                  <a:lnTo>
                    <a:pt x="2339530" y="892873"/>
                  </a:lnTo>
                  <a:lnTo>
                    <a:pt x="2301947" y="923190"/>
                  </a:lnTo>
                  <a:lnTo>
                    <a:pt x="2259279" y="949099"/>
                  </a:lnTo>
                  <a:lnTo>
                    <a:pt x="2212067" y="970080"/>
                  </a:lnTo>
                  <a:lnTo>
                    <a:pt x="2160850" y="985611"/>
                  </a:lnTo>
                  <a:lnTo>
                    <a:pt x="2106167" y="995171"/>
                  </a:lnTo>
                  <a:lnTo>
                    <a:pt x="2101480" y="1037194"/>
                  </a:lnTo>
                  <a:lnTo>
                    <a:pt x="2088782" y="1076968"/>
                  </a:lnTo>
                  <a:lnTo>
                    <a:pt x="2068750" y="1113979"/>
                  </a:lnTo>
                  <a:lnTo>
                    <a:pt x="2042062" y="1147718"/>
                  </a:lnTo>
                  <a:lnTo>
                    <a:pt x="2009393" y="1177670"/>
                  </a:lnTo>
                  <a:lnTo>
                    <a:pt x="1971421" y="1203325"/>
                  </a:lnTo>
                  <a:lnTo>
                    <a:pt x="1928823" y="1224171"/>
                  </a:lnTo>
                  <a:lnTo>
                    <a:pt x="1882274" y="1239694"/>
                  </a:lnTo>
                  <a:lnTo>
                    <a:pt x="1832451" y="1249384"/>
                  </a:lnTo>
                  <a:lnTo>
                    <a:pt x="1780031" y="1252727"/>
                  </a:lnTo>
                  <a:lnTo>
                    <a:pt x="1734692" y="1250180"/>
                  </a:lnTo>
                  <a:lnTo>
                    <a:pt x="1690496" y="1242631"/>
                  </a:lnTo>
                  <a:lnTo>
                    <a:pt x="1648015" y="1230225"/>
                  </a:lnTo>
                  <a:lnTo>
                    <a:pt x="1607819" y="1213103"/>
                  </a:lnTo>
                  <a:lnTo>
                    <a:pt x="1588056" y="1254642"/>
                  </a:lnTo>
                  <a:lnTo>
                    <a:pt x="1561694" y="1292657"/>
                  </a:lnTo>
                  <a:lnTo>
                    <a:pt x="1529362" y="1326783"/>
                  </a:lnTo>
                  <a:lnTo>
                    <a:pt x="1491686" y="1356656"/>
                  </a:lnTo>
                  <a:lnTo>
                    <a:pt x="1449294" y="1381914"/>
                  </a:lnTo>
                  <a:lnTo>
                    <a:pt x="1402813" y="1402192"/>
                  </a:lnTo>
                  <a:lnTo>
                    <a:pt x="1352870" y="1417127"/>
                  </a:lnTo>
                  <a:lnTo>
                    <a:pt x="1300093" y="1426355"/>
                  </a:lnTo>
                  <a:lnTo>
                    <a:pt x="1245107" y="1429511"/>
                  </a:lnTo>
                  <a:lnTo>
                    <a:pt x="1191483" y="1426477"/>
                  </a:lnTo>
                  <a:lnTo>
                    <a:pt x="1139512" y="1417551"/>
                  </a:lnTo>
                  <a:lnTo>
                    <a:pt x="1089913" y="1402999"/>
                  </a:lnTo>
                  <a:lnTo>
                    <a:pt x="1043406" y="1383089"/>
                  </a:lnTo>
                  <a:lnTo>
                    <a:pt x="1000712" y="1358088"/>
                  </a:lnTo>
                  <a:lnTo>
                    <a:pt x="962550" y="1328261"/>
                  </a:lnTo>
                  <a:lnTo>
                    <a:pt x="929639" y="1293875"/>
                  </a:lnTo>
                  <a:lnTo>
                    <a:pt x="929639" y="1295399"/>
                  </a:lnTo>
                  <a:lnTo>
                    <a:pt x="887614" y="1312761"/>
                  </a:lnTo>
                  <a:lnTo>
                    <a:pt x="843978" y="1326392"/>
                  </a:lnTo>
                  <a:lnTo>
                    <a:pt x="798953" y="1336218"/>
                  </a:lnTo>
                  <a:lnTo>
                    <a:pt x="752758" y="1342168"/>
                  </a:lnTo>
                  <a:lnTo>
                    <a:pt x="705611" y="1344167"/>
                  </a:lnTo>
                  <a:lnTo>
                    <a:pt x="654320" y="1341719"/>
                  </a:lnTo>
                  <a:lnTo>
                    <a:pt x="604371" y="1334518"/>
                  </a:lnTo>
                  <a:lnTo>
                    <a:pt x="556203" y="1322775"/>
                  </a:lnTo>
                  <a:lnTo>
                    <a:pt x="510255" y="1306705"/>
                  </a:lnTo>
                  <a:lnTo>
                    <a:pt x="466966" y="1286521"/>
                  </a:lnTo>
                  <a:lnTo>
                    <a:pt x="426776" y="1262436"/>
                  </a:lnTo>
                  <a:lnTo>
                    <a:pt x="390123" y="1234663"/>
                  </a:lnTo>
                  <a:lnTo>
                    <a:pt x="357445" y="1203416"/>
                  </a:lnTo>
                  <a:lnTo>
                    <a:pt x="329183" y="1168907"/>
                  </a:lnTo>
                  <a:lnTo>
                    <a:pt x="322087" y="1169789"/>
                  </a:lnTo>
                  <a:lnTo>
                    <a:pt x="314705" y="1170241"/>
                  </a:lnTo>
                  <a:lnTo>
                    <a:pt x="307324" y="1170408"/>
                  </a:lnTo>
                  <a:lnTo>
                    <a:pt x="300227" y="1170431"/>
                  </a:lnTo>
                  <a:lnTo>
                    <a:pt x="250742" y="1166488"/>
                  </a:lnTo>
                  <a:lnTo>
                    <a:pt x="204668" y="1155168"/>
                  </a:lnTo>
                  <a:lnTo>
                    <a:pt x="162987" y="1137240"/>
                  </a:lnTo>
                  <a:lnTo>
                    <a:pt x="126682" y="1113472"/>
                  </a:lnTo>
                  <a:lnTo>
                    <a:pt x="96735" y="1084632"/>
                  </a:lnTo>
                  <a:lnTo>
                    <a:pt x="74128" y="1051488"/>
                  </a:lnTo>
                  <a:lnTo>
                    <a:pt x="59843" y="1014808"/>
                  </a:lnTo>
                  <a:lnTo>
                    <a:pt x="54863" y="975359"/>
                  </a:lnTo>
                  <a:lnTo>
                    <a:pt x="59340" y="938331"/>
                  </a:lnTo>
                  <a:lnTo>
                    <a:pt x="72389" y="903160"/>
                  </a:lnTo>
                  <a:lnTo>
                    <a:pt x="93440" y="870561"/>
                  </a:lnTo>
                  <a:lnTo>
                    <a:pt x="121919" y="841247"/>
                  </a:lnTo>
                  <a:lnTo>
                    <a:pt x="79979" y="816778"/>
                  </a:lnTo>
                  <a:lnTo>
                    <a:pt x="46085" y="786310"/>
                  </a:lnTo>
                  <a:lnTo>
                    <a:pt x="20970" y="751161"/>
                  </a:lnTo>
                  <a:lnTo>
                    <a:pt x="5364" y="712646"/>
                  </a:lnTo>
                  <a:lnTo>
                    <a:pt x="0" y="672083"/>
                  </a:lnTo>
                  <a:lnTo>
                    <a:pt x="5598" y="629603"/>
                  </a:lnTo>
                  <a:lnTo>
                    <a:pt x="21647" y="590321"/>
                  </a:lnTo>
                  <a:lnTo>
                    <a:pt x="47026" y="555198"/>
                  </a:lnTo>
                  <a:lnTo>
                    <a:pt x="80616" y="525193"/>
                  </a:lnTo>
                  <a:lnTo>
                    <a:pt x="121297" y="501267"/>
                  </a:lnTo>
                  <a:lnTo>
                    <a:pt x="167951" y="484378"/>
                  </a:lnTo>
                  <a:lnTo>
                    <a:pt x="219455" y="475487"/>
                  </a:lnTo>
                  <a:lnTo>
                    <a:pt x="222503" y="470915"/>
                  </a:lnTo>
                  <a:close/>
                </a:path>
              </a:pathLst>
            </a:custGeom>
            <a:ln w="38099">
              <a:solidFill>
                <a:srgbClr val="548DD5"/>
              </a:solidFill>
            </a:ln>
          </p:spPr>
          <p:txBody>
            <a:bodyPr wrap="square" lIns="0" tIns="0" rIns="0" bIns="0" rtlCol="0"/>
            <a:lstStyle/>
            <a:p>
              <a:endParaRPr/>
            </a:p>
          </p:txBody>
        </p:sp>
        <p:pic>
          <p:nvPicPr>
            <p:cNvPr id="5" name="object 5"/>
            <p:cNvPicPr/>
            <p:nvPr/>
          </p:nvPicPr>
          <p:blipFill>
            <a:blip r:embed="rId3" cstate="print"/>
            <a:stretch>
              <a:fillRect/>
            </a:stretch>
          </p:blipFill>
          <p:spPr>
            <a:xfrm>
              <a:off x="2855493" y="1376934"/>
              <a:ext cx="157493" cy="65531"/>
            </a:xfrm>
            <a:prstGeom prst="rect">
              <a:avLst/>
            </a:prstGeom>
          </p:spPr>
        </p:pic>
        <p:sp>
          <p:nvSpPr>
            <p:cNvPr id="6" name="object 6"/>
            <p:cNvSpPr/>
            <p:nvPr/>
          </p:nvSpPr>
          <p:spPr>
            <a:xfrm>
              <a:off x="2964057" y="633983"/>
              <a:ext cx="2131060" cy="1216660"/>
            </a:xfrm>
            <a:custGeom>
              <a:avLst/>
              <a:gdLst/>
              <a:ahLst/>
              <a:cxnLst/>
              <a:rect l="l" t="t" r="r" b="b"/>
              <a:pathLst>
                <a:path w="2131060" h="1216660">
                  <a:moveTo>
                    <a:pt x="169163" y="1077467"/>
                  </a:moveTo>
                  <a:lnTo>
                    <a:pt x="154043" y="1081730"/>
                  </a:lnTo>
                  <a:lnTo>
                    <a:pt x="138493" y="1085278"/>
                  </a:lnTo>
                  <a:lnTo>
                    <a:pt x="122658" y="1087969"/>
                  </a:lnTo>
                  <a:lnTo>
                    <a:pt x="106679" y="1089659"/>
                  </a:lnTo>
                </a:path>
                <a:path w="2131060" h="1216660">
                  <a:moveTo>
                    <a:pt x="707135" y="1216151"/>
                  </a:moveTo>
                  <a:lnTo>
                    <a:pt x="696039" y="1202174"/>
                  </a:lnTo>
                  <a:lnTo>
                    <a:pt x="685799" y="1187767"/>
                  </a:lnTo>
                  <a:lnTo>
                    <a:pt x="676703" y="1173075"/>
                  </a:lnTo>
                  <a:lnTo>
                    <a:pt x="669035" y="1158239"/>
                  </a:lnTo>
                </a:path>
                <a:path w="2131060" h="1216660">
                  <a:moveTo>
                    <a:pt x="1400555" y="1072895"/>
                  </a:moveTo>
                  <a:lnTo>
                    <a:pt x="1398603" y="1088874"/>
                  </a:lnTo>
                  <a:lnTo>
                    <a:pt x="1395221" y="1104709"/>
                  </a:lnTo>
                  <a:lnTo>
                    <a:pt x="1390697" y="1120259"/>
                  </a:lnTo>
                  <a:lnTo>
                    <a:pt x="1385315" y="1135379"/>
                  </a:lnTo>
                </a:path>
                <a:path w="2131060" h="1216660">
                  <a:moveTo>
                    <a:pt x="1699259" y="682751"/>
                  </a:moveTo>
                  <a:lnTo>
                    <a:pt x="1744420" y="703905"/>
                  </a:lnTo>
                  <a:lnTo>
                    <a:pt x="1784168" y="730311"/>
                  </a:lnTo>
                  <a:lnTo>
                    <a:pt x="1817945" y="761249"/>
                  </a:lnTo>
                  <a:lnTo>
                    <a:pt x="1845190" y="795998"/>
                  </a:lnTo>
                  <a:lnTo>
                    <a:pt x="1865344" y="833841"/>
                  </a:lnTo>
                  <a:lnTo>
                    <a:pt x="1877847" y="874056"/>
                  </a:lnTo>
                  <a:lnTo>
                    <a:pt x="1882139" y="915923"/>
                  </a:lnTo>
                  <a:lnTo>
                    <a:pt x="1882139" y="917447"/>
                  </a:lnTo>
                </a:path>
                <a:path w="2131060" h="1216660">
                  <a:moveTo>
                    <a:pt x="2130551" y="431291"/>
                  </a:moveTo>
                  <a:lnTo>
                    <a:pt x="2114907" y="455818"/>
                  </a:lnTo>
                  <a:lnTo>
                    <a:pt x="2095690" y="478916"/>
                  </a:lnTo>
                  <a:lnTo>
                    <a:pt x="2073330" y="500300"/>
                  </a:lnTo>
                  <a:lnTo>
                    <a:pt x="2048255" y="519683"/>
                  </a:lnTo>
                </a:path>
                <a:path w="2131060" h="1216660">
                  <a:moveTo>
                    <a:pt x="1935479" y="102107"/>
                  </a:moveTo>
                  <a:lnTo>
                    <a:pt x="1936599" y="112156"/>
                  </a:lnTo>
                  <a:lnTo>
                    <a:pt x="1937575" y="121919"/>
                  </a:lnTo>
                  <a:lnTo>
                    <a:pt x="1938266" y="131683"/>
                  </a:lnTo>
                  <a:lnTo>
                    <a:pt x="1938527" y="141731"/>
                  </a:lnTo>
                  <a:lnTo>
                    <a:pt x="1938527" y="143255"/>
                  </a:lnTo>
                  <a:lnTo>
                    <a:pt x="1938527" y="144779"/>
                  </a:lnTo>
                </a:path>
                <a:path w="2131060" h="1216660">
                  <a:moveTo>
                    <a:pt x="1414271" y="53339"/>
                  </a:moveTo>
                  <a:lnTo>
                    <a:pt x="1423082" y="39647"/>
                  </a:lnTo>
                  <a:lnTo>
                    <a:pt x="1433321" y="26098"/>
                  </a:lnTo>
                  <a:lnTo>
                    <a:pt x="1444704" y="12834"/>
                  </a:lnTo>
                  <a:lnTo>
                    <a:pt x="1456943" y="0"/>
                  </a:lnTo>
                </a:path>
                <a:path w="2131060" h="1216660">
                  <a:moveTo>
                    <a:pt x="1025651" y="79247"/>
                  </a:moveTo>
                  <a:lnTo>
                    <a:pt x="1024127" y="79247"/>
                  </a:lnTo>
                  <a:lnTo>
                    <a:pt x="1028104" y="66960"/>
                  </a:lnTo>
                  <a:lnTo>
                    <a:pt x="1033081" y="55244"/>
                  </a:lnTo>
                  <a:lnTo>
                    <a:pt x="1038915" y="44100"/>
                  </a:lnTo>
                  <a:lnTo>
                    <a:pt x="1045463" y="33527"/>
                  </a:lnTo>
                </a:path>
                <a:path w="2131060" h="1216660">
                  <a:moveTo>
                    <a:pt x="566927" y="94487"/>
                  </a:moveTo>
                  <a:lnTo>
                    <a:pt x="586930" y="104179"/>
                  </a:lnTo>
                  <a:lnTo>
                    <a:pt x="605789" y="114871"/>
                  </a:lnTo>
                  <a:lnTo>
                    <a:pt x="623506" y="126420"/>
                  </a:lnTo>
                  <a:lnTo>
                    <a:pt x="640079" y="138683"/>
                  </a:lnTo>
                </a:path>
                <a:path w="2131060" h="1216660">
                  <a:moveTo>
                    <a:pt x="12191" y="445007"/>
                  </a:moveTo>
                  <a:lnTo>
                    <a:pt x="7929" y="433554"/>
                  </a:lnTo>
                  <a:lnTo>
                    <a:pt x="4381" y="421957"/>
                  </a:lnTo>
                  <a:lnTo>
                    <a:pt x="1690" y="410075"/>
                  </a:lnTo>
                  <a:lnTo>
                    <a:pt x="0" y="397763"/>
                  </a:lnTo>
                </a:path>
              </a:pathLst>
            </a:custGeom>
            <a:ln w="38099">
              <a:solidFill>
                <a:srgbClr val="548DD5"/>
              </a:solidFill>
            </a:ln>
          </p:spPr>
          <p:txBody>
            <a:bodyPr wrap="square" lIns="0" tIns="0" rIns="0" bIns="0" rtlCol="0"/>
            <a:lstStyle/>
            <a:p>
              <a:endParaRPr/>
            </a:p>
          </p:txBody>
        </p:sp>
      </p:grpSp>
      <p:sp>
        <p:nvSpPr>
          <p:cNvPr id="7" name="object 7"/>
          <p:cNvSpPr txBox="1"/>
          <p:nvPr/>
        </p:nvSpPr>
        <p:spPr>
          <a:xfrm>
            <a:off x="3693867" y="685609"/>
            <a:ext cx="1169670" cy="575945"/>
          </a:xfrm>
          <a:prstGeom prst="rect">
            <a:avLst/>
          </a:prstGeom>
        </p:spPr>
        <p:txBody>
          <a:bodyPr vert="horz" wrap="square" lIns="0" tIns="10795" rIns="0" bIns="0" rtlCol="0">
            <a:spAutoFit/>
          </a:bodyPr>
          <a:lstStyle/>
          <a:p>
            <a:pPr marL="139065" marR="5080" indent="-127000">
              <a:lnSpc>
                <a:spcPct val="100600"/>
              </a:lnSpc>
              <a:spcBef>
                <a:spcPts val="85"/>
              </a:spcBef>
            </a:pPr>
            <a:r>
              <a:rPr sz="1800" b="1" dirty="0">
                <a:latin typeface="Arial"/>
                <a:cs typeface="Arial"/>
              </a:rPr>
              <a:t>Realidad</a:t>
            </a:r>
            <a:r>
              <a:rPr sz="1800" b="1" spc="-30" dirty="0">
                <a:latin typeface="Arial"/>
                <a:cs typeface="Arial"/>
              </a:rPr>
              <a:t> </a:t>
            </a:r>
            <a:r>
              <a:rPr sz="1800" b="1" spc="-50" dirty="0">
                <a:latin typeface="Arial"/>
                <a:cs typeface="Arial"/>
              </a:rPr>
              <a:t>a </a:t>
            </a:r>
            <a:r>
              <a:rPr sz="1800" b="1" spc="-10" dirty="0">
                <a:latin typeface="Arial"/>
                <a:cs typeface="Arial"/>
              </a:rPr>
              <a:t>modelar</a:t>
            </a:r>
            <a:endParaRPr sz="1800" dirty="0">
              <a:latin typeface="Arial"/>
              <a:cs typeface="Arial"/>
            </a:endParaRPr>
          </a:p>
        </p:txBody>
      </p:sp>
      <p:grpSp>
        <p:nvGrpSpPr>
          <p:cNvPr id="8" name="object 8"/>
          <p:cNvGrpSpPr/>
          <p:nvPr/>
        </p:nvGrpSpPr>
        <p:grpSpPr>
          <a:xfrm>
            <a:off x="1958218" y="1984248"/>
            <a:ext cx="5000625" cy="4645659"/>
            <a:chOff x="1958218" y="1984248"/>
            <a:chExt cx="5000625" cy="4645659"/>
          </a:xfrm>
        </p:grpSpPr>
        <p:sp>
          <p:nvSpPr>
            <p:cNvPr id="9" name="object 9"/>
            <p:cNvSpPr/>
            <p:nvPr/>
          </p:nvSpPr>
          <p:spPr>
            <a:xfrm>
              <a:off x="1958218" y="2913887"/>
              <a:ext cx="5000625" cy="1714500"/>
            </a:xfrm>
            <a:custGeom>
              <a:avLst/>
              <a:gdLst/>
              <a:ahLst/>
              <a:cxnLst/>
              <a:rect l="l" t="t" r="r" b="b"/>
              <a:pathLst>
                <a:path w="5000625" h="1714500">
                  <a:moveTo>
                    <a:pt x="286511" y="0"/>
                  </a:moveTo>
                  <a:lnTo>
                    <a:pt x="239975" y="3742"/>
                  </a:lnTo>
                  <a:lnTo>
                    <a:pt x="195852" y="14581"/>
                  </a:lnTo>
                  <a:lnTo>
                    <a:pt x="154728" y="31930"/>
                  </a:lnTo>
                  <a:lnTo>
                    <a:pt x="117189" y="55205"/>
                  </a:lnTo>
                  <a:lnTo>
                    <a:pt x="83819" y="83819"/>
                  </a:lnTo>
                  <a:lnTo>
                    <a:pt x="55205" y="117189"/>
                  </a:lnTo>
                  <a:lnTo>
                    <a:pt x="31930" y="154728"/>
                  </a:lnTo>
                  <a:lnTo>
                    <a:pt x="14581" y="195852"/>
                  </a:lnTo>
                  <a:lnTo>
                    <a:pt x="3742" y="239975"/>
                  </a:lnTo>
                  <a:lnTo>
                    <a:pt x="0" y="286511"/>
                  </a:lnTo>
                  <a:lnTo>
                    <a:pt x="0" y="1429511"/>
                  </a:lnTo>
                  <a:lnTo>
                    <a:pt x="3742" y="1475635"/>
                  </a:lnTo>
                  <a:lnTo>
                    <a:pt x="14581" y="1519427"/>
                  </a:lnTo>
                  <a:lnTo>
                    <a:pt x="31930" y="1560294"/>
                  </a:lnTo>
                  <a:lnTo>
                    <a:pt x="55205" y="1597639"/>
                  </a:lnTo>
                  <a:lnTo>
                    <a:pt x="83819" y="1630870"/>
                  </a:lnTo>
                  <a:lnTo>
                    <a:pt x="117189" y="1659392"/>
                  </a:lnTo>
                  <a:lnTo>
                    <a:pt x="154728" y="1682610"/>
                  </a:lnTo>
                  <a:lnTo>
                    <a:pt x="195852" y="1699930"/>
                  </a:lnTo>
                  <a:lnTo>
                    <a:pt x="239975" y="1710758"/>
                  </a:lnTo>
                  <a:lnTo>
                    <a:pt x="286511" y="1714499"/>
                  </a:lnTo>
                  <a:lnTo>
                    <a:pt x="4715255" y="1714499"/>
                  </a:lnTo>
                  <a:lnTo>
                    <a:pt x="4761379" y="1710758"/>
                  </a:lnTo>
                  <a:lnTo>
                    <a:pt x="4805171" y="1699930"/>
                  </a:lnTo>
                  <a:lnTo>
                    <a:pt x="4846037" y="1682610"/>
                  </a:lnTo>
                  <a:lnTo>
                    <a:pt x="4883383" y="1659392"/>
                  </a:lnTo>
                  <a:lnTo>
                    <a:pt x="4916614" y="1630870"/>
                  </a:lnTo>
                  <a:lnTo>
                    <a:pt x="4945136" y="1597639"/>
                  </a:lnTo>
                  <a:lnTo>
                    <a:pt x="4968354" y="1560294"/>
                  </a:lnTo>
                  <a:lnTo>
                    <a:pt x="4985674" y="1519427"/>
                  </a:lnTo>
                  <a:lnTo>
                    <a:pt x="4996502" y="1475635"/>
                  </a:lnTo>
                  <a:lnTo>
                    <a:pt x="5000243" y="1429511"/>
                  </a:lnTo>
                  <a:lnTo>
                    <a:pt x="5000243" y="286511"/>
                  </a:lnTo>
                  <a:lnTo>
                    <a:pt x="4996502" y="239975"/>
                  </a:lnTo>
                  <a:lnTo>
                    <a:pt x="4985674" y="195852"/>
                  </a:lnTo>
                  <a:lnTo>
                    <a:pt x="4968354" y="154728"/>
                  </a:lnTo>
                  <a:lnTo>
                    <a:pt x="4945136" y="117189"/>
                  </a:lnTo>
                  <a:lnTo>
                    <a:pt x="4916614" y="83819"/>
                  </a:lnTo>
                  <a:lnTo>
                    <a:pt x="4883383" y="55205"/>
                  </a:lnTo>
                  <a:lnTo>
                    <a:pt x="4846037" y="31930"/>
                  </a:lnTo>
                  <a:lnTo>
                    <a:pt x="4805171" y="14581"/>
                  </a:lnTo>
                  <a:lnTo>
                    <a:pt x="4761379" y="3742"/>
                  </a:lnTo>
                  <a:lnTo>
                    <a:pt x="4715255" y="0"/>
                  </a:lnTo>
                  <a:lnTo>
                    <a:pt x="286511" y="0"/>
                  </a:lnTo>
                  <a:close/>
                </a:path>
              </a:pathLst>
            </a:custGeom>
            <a:ln w="38099">
              <a:solidFill>
                <a:srgbClr val="548DD5"/>
              </a:solidFill>
            </a:ln>
          </p:spPr>
          <p:txBody>
            <a:bodyPr wrap="square" lIns="0" tIns="0" rIns="0" bIns="0" rtlCol="0"/>
            <a:lstStyle/>
            <a:p>
              <a:endParaRPr/>
            </a:p>
          </p:txBody>
        </p:sp>
        <p:pic>
          <p:nvPicPr>
            <p:cNvPr id="10" name="object 10"/>
            <p:cNvPicPr/>
            <p:nvPr/>
          </p:nvPicPr>
          <p:blipFill>
            <a:blip r:embed="rId4" cstate="print"/>
            <a:stretch>
              <a:fillRect/>
            </a:stretch>
          </p:blipFill>
          <p:spPr>
            <a:xfrm>
              <a:off x="2275396" y="3187734"/>
              <a:ext cx="4412598" cy="1213314"/>
            </a:xfrm>
            <a:prstGeom prst="rect">
              <a:avLst/>
            </a:prstGeom>
          </p:spPr>
        </p:pic>
        <p:sp>
          <p:nvSpPr>
            <p:cNvPr id="11" name="object 11"/>
            <p:cNvSpPr/>
            <p:nvPr/>
          </p:nvSpPr>
          <p:spPr>
            <a:xfrm>
              <a:off x="4175760" y="1984248"/>
              <a:ext cx="256540" cy="929640"/>
            </a:xfrm>
            <a:custGeom>
              <a:avLst/>
              <a:gdLst/>
              <a:ahLst/>
              <a:cxnLst/>
              <a:rect l="l" t="t" r="r" b="b"/>
              <a:pathLst>
                <a:path w="256539" h="929639">
                  <a:moveTo>
                    <a:pt x="127706" y="815340"/>
                  </a:moveTo>
                  <a:lnTo>
                    <a:pt x="52268" y="687324"/>
                  </a:lnTo>
                  <a:lnTo>
                    <a:pt x="44791" y="678799"/>
                  </a:lnTo>
                  <a:lnTo>
                    <a:pt x="34742" y="673989"/>
                  </a:lnTo>
                  <a:lnTo>
                    <a:pt x="23550" y="673179"/>
                  </a:lnTo>
                  <a:lnTo>
                    <a:pt x="12644" y="676656"/>
                  </a:lnTo>
                  <a:lnTo>
                    <a:pt x="5000" y="684133"/>
                  </a:lnTo>
                  <a:lnTo>
                    <a:pt x="642" y="694182"/>
                  </a:lnTo>
                  <a:lnTo>
                    <a:pt x="0" y="705373"/>
                  </a:lnTo>
                  <a:lnTo>
                    <a:pt x="3500" y="716280"/>
                  </a:lnTo>
                  <a:lnTo>
                    <a:pt x="99512" y="880202"/>
                  </a:lnTo>
                  <a:lnTo>
                    <a:pt x="99512" y="873252"/>
                  </a:lnTo>
                  <a:lnTo>
                    <a:pt x="102560" y="873252"/>
                  </a:lnTo>
                  <a:lnTo>
                    <a:pt x="102560" y="858012"/>
                  </a:lnTo>
                  <a:lnTo>
                    <a:pt x="127706" y="815340"/>
                  </a:lnTo>
                  <a:close/>
                </a:path>
                <a:path w="256539" h="929639">
                  <a:moveTo>
                    <a:pt x="155900" y="767495"/>
                  </a:moveTo>
                  <a:lnTo>
                    <a:pt x="155900" y="0"/>
                  </a:lnTo>
                  <a:lnTo>
                    <a:pt x="99512" y="0"/>
                  </a:lnTo>
                  <a:lnTo>
                    <a:pt x="99512" y="767495"/>
                  </a:lnTo>
                  <a:lnTo>
                    <a:pt x="127706" y="815340"/>
                  </a:lnTo>
                  <a:lnTo>
                    <a:pt x="155900" y="767495"/>
                  </a:lnTo>
                  <a:close/>
                </a:path>
                <a:path w="256539" h="929639">
                  <a:moveTo>
                    <a:pt x="155900" y="882226"/>
                  </a:moveTo>
                  <a:lnTo>
                    <a:pt x="155900" y="873252"/>
                  </a:lnTo>
                  <a:lnTo>
                    <a:pt x="99512" y="873252"/>
                  </a:lnTo>
                  <a:lnTo>
                    <a:pt x="99512" y="880202"/>
                  </a:lnTo>
                  <a:lnTo>
                    <a:pt x="128468" y="929640"/>
                  </a:lnTo>
                  <a:lnTo>
                    <a:pt x="155900" y="882226"/>
                  </a:lnTo>
                  <a:close/>
                </a:path>
                <a:path w="256539" h="929639">
                  <a:moveTo>
                    <a:pt x="152852" y="858012"/>
                  </a:moveTo>
                  <a:lnTo>
                    <a:pt x="127706" y="815340"/>
                  </a:lnTo>
                  <a:lnTo>
                    <a:pt x="102560" y="858012"/>
                  </a:lnTo>
                  <a:lnTo>
                    <a:pt x="152852" y="858012"/>
                  </a:lnTo>
                  <a:close/>
                </a:path>
                <a:path w="256539" h="929639">
                  <a:moveTo>
                    <a:pt x="152852" y="873252"/>
                  </a:moveTo>
                  <a:lnTo>
                    <a:pt x="152852" y="858012"/>
                  </a:lnTo>
                  <a:lnTo>
                    <a:pt x="102560" y="858012"/>
                  </a:lnTo>
                  <a:lnTo>
                    <a:pt x="102560" y="873252"/>
                  </a:lnTo>
                  <a:lnTo>
                    <a:pt x="152852" y="873252"/>
                  </a:lnTo>
                  <a:close/>
                </a:path>
                <a:path w="256539" h="929639">
                  <a:moveTo>
                    <a:pt x="256270" y="705373"/>
                  </a:moveTo>
                  <a:lnTo>
                    <a:pt x="255912" y="694182"/>
                  </a:lnTo>
                  <a:lnTo>
                    <a:pt x="251269" y="684133"/>
                  </a:lnTo>
                  <a:lnTo>
                    <a:pt x="242768" y="676656"/>
                  </a:lnTo>
                  <a:lnTo>
                    <a:pt x="231862" y="673179"/>
                  </a:lnTo>
                  <a:lnTo>
                    <a:pt x="220670" y="673989"/>
                  </a:lnTo>
                  <a:lnTo>
                    <a:pt x="210621" y="678799"/>
                  </a:lnTo>
                  <a:lnTo>
                    <a:pt x="203144" y="687324"/>
                  </a:lnTo>
                  <a:lnTo>
                    <a:pt x="127706" y="815340"/>
                  </a:lnTo>
                  <a:lnTo>
                    <a:pt x="152852" y="858012"/>
                  </a:lnTo>
                  <a:lnTo>
                    <a:pt x="152852" y="873252"/>
                  </a:lnTo>
                  <a:lnTo>
                    <a:pt x="155900" y="873252"/>
                  </a:lnTo>
                  <a:lnTo>
                    <a:pt x="155900" y="882226"/>
                  </a:lnTo>
                  <a:lnTo>
                    <a:pt x="251912" y="716280"/>
                  </a:lnTo>
                  <a:lnTo>
                    <a:pt x="256270" y="705373"/>
                  </a:lnTo>
                  <a:close/>
                </a:path>
              </a:pathLst>
            </a:custGeom>
            <a:solidFill>
              <a:srgbClr val="4A7EBA"/>
            </a:solidFill>
          </p:spPr>
          <p:txBody>
            <a:bodyPr wrap="square" lIns="0" tIns="0" rIns="0" bIns="0" rtlCol="0"/>
            <a:lstStyle/>
            <a:p>
              <a:endParaRPr/>
            </a:p>
          </p:txBody>
        </p:sp>
        <p:sp>
          <p:nvSpPr>
            <p:cNvPr id="12" name="object 12"/>
            <p:cNvSpPr/>
            <p:nvPr/>
          </p:nvSpPr>
          <p:spPr>
            <a:xfrm>
              <a:off x="1958218" y="5558027"/>
              <a:ext cx="5000625" cy="1071880"/>
            </a:xfrm>
            <a:custGeom>
              <a:avLst/>
              <a:gdLst/>
              <a:ahLst/>
              <a:cxnLst/>
              <a:rect l="l" t="t" r="r" b="b"/>
              <a:pathLst>
                <a:path w="5000625" h="1071879">
                  <a:moveTo>
                    <a:pt x="178307" y="0"/>
                  </a:moveTo>
                  <a:lnTo>
                    <a:pt x="131233" y="6328"/>
                  </a:lnTo>
                  <a:lnTo>
                    <a:pt x="88730" y="24214"/>
                  </a:lnTo>
                  <a:lnTo>
                    <a:pt x="52577" y="52006"/>
                  </a:lnTo>
                  <a:lnTo>
                    <a:pt x="24553" y="88053"/>
                  </a:lnTo>
                  <a:lnTo>
                    <a:pt x="6434" y="130704"/>
                  </a:lnTo>
                  <a:lnTo>
                    <a:pt x="0" y="178307"/>
                  </a:lnTo>
                  <a:lnTo>
                    <a:pt x="0" y="893063"/>
                  </a:lnTo>
                  <a:lnTo>
                    <a:pt x="6434" y="940138"/>
                  </a:lnTo>
                  <a:lnTo>
                    <a:pt x="24553" y="982641"/>
                  </a:lnTo>
                  <a:lnTo>
                    <a:pt x="52577" y="1018793"/>
                  </a:lnTo>
                  <a:lnTo>
                    <a:pt x="88730" y="1046818"/>
                  </a:lnTo>
                  <a:lnTo>
                    <a:pt x="131233" y="1064937"/>
                  </a:lnTo>
                  <a:lnTo>
                    <a:pt x="178307" y="1071371"/>
                  </a:lnTo>
                  <a:lnTo>
                    <a:pt x="4821935" y="1071371"/>
                  </a:lnTo>
                  <a:lnTo>
                    <a:pt x="4869539" y="1064937"/>
                  </a:lnTo>
                  <a:lnTo>
                    <a:pt x="4912190" y="1046818"/>
                  </a:lnTo>
                  <a:lnTo>
                    <a:pt x="4948237" y="1018793"/>
                  </a:lnTo>
                  <a:lnTo>
                    <a:pt x="4976029" y="982641"/>
                  </a:lnTo>
                  <a:lnTo>
                    <a:pt x="4993915" y="940138"/>
                  </a:lnTo>
                  <a:lnTo>
                    <a:pt x="5000243" y="893063"/>
                  </a:lnTo>
                  <a:lnTo>
                    <a:pt x="5000243" y="178307"/>
                  </a:lnTo>
                  <a:lnTo>
                    <a:pt x="4993915" y="130704"/>
                  </a:lnTo>
                  <a:lnTo>
                    <a:pt x="4976029" y="88053"/>
                  </a:lnTo>
                  <a:lnTo>
                    <a:pt x="4948237" y="52006"/>
                  </a:lnTo>
                  <a:lnTo>
                    <a:pt x="4912190" y="24214"/>
                  </a:lnTo>
                  <a:lnTo>
                    <a:pt x="4869539" y="6328"/>
                  </a:lnTo>
                  <a:lnTo>
                    <a:pt x="4821935" y="0"/>
                  </a:lnTo>
                  <a:lnTo>
                    <a:pt x="178307" y="0"/>
                  </a:lnTo>
                  <a:close/>
                </a:path>
              </a:pathLst>
            </a:custGeom>
            <a:ln w="38099">
              <a:solidFill>
                <a:srgbClr val="548DD5"/>
              </a:solidFill>
            </a:ln>
          </p:spPr>
          <p:txBody>
            <a:bodyPr wrap="square" lIns="0" tIns="0" rIns="0" bIns="0" rtlCol="0"/>
            <a:lstStyle/>
            <a:p>
              <a:endParaRPr/>
            </a:p>
          </p:txBody>
        </p:sp>
      </p:grpSp>
      <p:sp>
        <p:nvSpPr>
          <p:cNvPr id="13" name="object 13"/>
          <p:cNvSpPr txBox="1"/>
          <p:nvPr/>
        </p:nvSpPr>
        <p:spPr>
          <a:xfrm>
            <a:off x="4394591" y="2370835"/>
            <a:ext cx="224726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Modelado</a:t>
            </a:r>
            <a:r>
              <a:rPr sz="1800" spc="-55" dirty="0">
                <a:latin typeface="Arial MT"/>
                <a:cs typeface="Arial MT"/>
              </a:rPr>
              <a:t> </a:t>
            </a:r>
            <a:r>
              <a:rPr sz="1800" spc="-10" dirty="0">
                <a:latin typeface="Arial MT"/>
                <a:cs typeface="Arial MT"/>
              </a:rPr>
              <a:t>Conceptual</a:t>
            </a:r>
            <a:endParaRPr sz="1800">
              <a:latin typeface="Arial MT"/>
              <a:cs typeface="Arial MT"/>
            </a:endParaRPr>
          </a:p>
        </p:txBody>
      </p:sp>
      <p:sp>
        <p:nvSpPr>
          <p:cNvPr id="14" name="object 14"/>
          <p:cNvSpPr txBox="1"/>
          <p:nvPr/>
        </p:nvSpPr>
        <p:spPr>
          <a:xfrm>
            <a:off x="2559696" y="5542277"/>
            <a:ext cx="4140200" cy="1091565"/>
          </a:xfrm>
          <a:prstGeom prst="rect">
            <a:avLst/>
          </a:prstGeom>
        </p:spPr>
        <p:txBody>
          <a:bodyPr vert="horz" wrap="square" lIns="0" tIns="12700" rIns="0" bIns="0" rtlCol="0">
            <a:spAutoFit/>
          </a:bodyPr>
          <a:lstStyle/>
          <a:p>
            <a:pPr marL="12700" marR="5080">
              <a:lnSpc>
                <a:spcPct val="100000"/>
              </a:lnSpc>
              <a:spcBef>
                <a:spcPts val="100"/>
              </a:spcBef>
            </a:pPr>
            <a:r>
              <a:rPr sz="1400" b="1" dirty="0">
                <a:latin typeface="Arial"/>
                <a:cs typeface="Arial"/>
              </a:rPr>
              <a:t>CREATE</a:t>
            </a:r>
            <a:r>
              <a:rPr sz="1400" b="1" spc="-25" dirty="0">
                <a:latin typeface="Arial"/>
                <a:cs typeface="Arial"/>
              </a:rPr>
              <a:t> </a:t>
            </a:r>
            <a:r>
              <a:rPr sz="1400" b="1" dirty="0">
                <a:latin typeface="Arial"/>
                <a:cs typeface="Arial"/>
              </a:rPr>
              <a:t>TABLE</a:t>
            </a:r>
            <a:r>
              <a:rPr sz="1400" b="1" spc="-20" dirty="0">
                <a:latin typeface="Arial"/>
                <a:cs typeface="Arial"/>
              </a:rPr>
              <a:t> </a:t>
            </a:r>
            <a:r>
              <a:rPr sz="1400" b="1" dirty="0">
                <a:latin typeface="Arial"/>
                <a:cs typeface="Arial"/>
              </a:rPr>
              <a:t>cliente</a:t>
            </a:r>
            <a:r>
              <a:rPr sz="1400" b="1" spc="-35" dirty="0">
                <a:latin typeface="Arial"/>
                <a:cs typeface="Arial"/>
              </a:rPr>
              <a:t> </a:t>
            </a:r>
            <a:r>
              <a:rPr sz="1400" b="1" spc="-10" dirty="0">
                <a:latin typeface="Arial"/>
                <a:cs typeface="Arial"/>
              </a:rPr>
              <a:t>(id-</a:t>
            </a:r>
            <a:r>
              <a:rPr sz="1400" b="1" dirty="0">
                <a:latin typeface="Arial"/>
                <a:cs typeface="Arial"/>
              </a:rPr>
              <a:t>cliente</a:t>
            </a:r>
            <a:r>
              <a:rPr sz="1400" b="1" spc="-40" dirty="0">
                <a:latin typeface="Arial"/>
                <a:cs typeface="Arial"/>
              </a:rPr>
              <a:t> </a:t>
            </a:r>
            <a:r>
              <a:rPr sz="1400" b="1" dirty="0">
                <a:latin typeface="Arial"/>
                <a:cs typeface="Arial"/>
              </a:rPr>
              <a:t>…,</a:t>
            </a:r>
            <a:r>
              <a:rPr sz="1400" b="1" spc="-25" dirty="0">
                <a:latin typeface="Arial"/>
                <a:cs typeface="Arial"/>
              </a:rPr>
              <a:t> </a:t>
            </a:r>
            <a:r>
              <a:rPr sz="1400" b="1" dirty="0">
                <a:latin typeface="Arial"/>
                <a:cs typeface="Arial"/>
              </a:rPr>
              <a:t>…</a:t>
            </a:r>
            <a:r>
              <a:rPr sz="1400" b="1" spc="-45" dirty="0">
                <a:latin typeface="Arial"/>
                <a:cs typeface="Arial"/>
              </a:rPr>
              <a:t> </a:t>
            </a:r>
            <a:r>
              <a:rPr sz="1400" b="1" dirty="0">
                <a:latin typeface="Arial"/>
                <a:cs typeface="Arial"/>
              </a:rPr>
              <a:t>,</a:t>
            </a:r>
            <a:r>
              <a:rPr sz="1400" b="1" spc="-25" dirty="0">
                <a:latin typeface="Arial"/>
                <a:cs typeface="Arial"/>
              </a:rPr>
              <a:t> …) </a:t>
            </a:r>
            <a:r>
              <a:rPr sz="1400" b="1" dirty="0">
                <a:latin typeface="Arial"/>
                <a:cs typeface="Arial"/>
              </a:rPr>
              <a:t>CREATE</a:t>
            </a:r>
            <a:r>
              <a:rPr sz="1400" b="1" spc="-50" dirty="0">
                <a:latin typeface="Arial"/>
                <a:cs typeface="Arial"/>
              </a:rPr>
              <a:t> </a:t>
            </a:r>
            <a:r>
              <a:rPr sz="1400" b="1" dirty="0">
                <a:latin typeface="Arial"/>
                <a:cs typeface="Arial"/>
              </a:rPr>
              <a:t>TABLE</a:t>
            </a:r>
            <a:r>
              <a:rPr sz="1400" b="1" spc="-45" dirty="0">
                <a:latin typeface="Arial"/>
                <a:cs typeface="Arial"/>
              </a:rPr>
              <a:t> </a:t>
            </a:r>
            <a:r>
              <a:rPr sz="1400" b="1" dirty="0">
                <a:latin typeface="Arial"/>
                <a:cs typeface="Arial"/>
              </a:rPr>
              <a:t>préstamo</a:t>
            </a:r>
            <a:r>
              <a:rPr sz="1400" b="1" spc="-65" dirty="0">
                <a:latin typeface="Arial"/>
                <a:cs typeface="Arial"/>
              </a:rPr>
              <a:t> </a:t>
            </a:r>
            <a:r>
              <a:rPr sz="1400" b="1" spc="-10" dirty="0">
                <a:latin typeface="Arial"/>
                <a:cs typeface="Arial"/>
              </a:rPr>
              <a:t>(número-</a:t>
            </a:r>
            <a:r>
              <a:rPr sz="1400" b="1" dirty="0">
                <a:latin typeface="Arial"/>
                <a:cs typeface="Arial"/>
              </a:rPr>
              <a:t>préstamo</a:t>
            </a:r>
            <a:r>
              <a:rPr sz="1400" b="1" spc="-65" dirty="0">
                <a:latin typeface="Arial"/>
                <a:cs typeface="Arial"/>
              </a:rPr>
              <a:t> </a:t>
            </a:r>
            <a:r>
              <a:rPr sz="1400" b="1" spc="-25" dirty="0">
                <a:latin typeface="Arial"/>
                <a:cs typeface="Arial"/>
              </a:rPr>
              <a:t>…,</a:t>
            </a:r>
            <a:endParaRPr sz="1400">
              <a:latin typeface="Arial"/>
              <a:cs typeface="Arial"/>
            </a:endParaRPr>
          </a:p>
          <a:p>
            <a:pPr marL="12700">
              <a:lnSpc>
                <a:spcPts val="1675"/>
              </a:lnSpc>
            </a:pPr>
            <a:r>
              <a:rPr sz="1400" b="1" dirty="0">
                <a:latin typeface="Arial"/>
                <a:cs typeface="Arial"/>
              </a:rPr>
              <a:t>…</a:t>
            </a:r>
            <a:r>
              <a:rPr sz="1400" b="1" spc="-10" dirty="0">
                <a:latin typeface="Arial"/>
                <a:cs typeface="Arial"/>
              </a:rPr>
              <a:t> </a:t>
            </a:r>
            <a:r>
              <a:rPr sz="1400" b="1" dirty="0">
                <a:latin typeface="Arial"/>
                <a:cs typeface="Arial"/>
              </a:rPr>
              <a:t>, </a:t>
            </a:r>
            <a:r>
              <a:rPr sz="1400" b="1" spc="-25" dirty="0">
                <a:latin typeface="Arial"/>
                <a:cs typeface="Arial"/>
              </a:rPr>
              <a:t>…)</a:t>
            </a:r>
            <a:endParaRPr sz="1400">
              <a:latin typeface="Arial"/>
              <a:cs typeface="Arial"/>
            </a:endParaRPr>
          </a:p>
          <a:p>
            <a:pPr marL="12700" marR="88265">
              <a:lnSpc>
                <a:spcPts val="1680"/>
              </a:lnSpc>
              <a:spcBef>
                <a:spcPts val="50"/>
              </a:spcBef>
            </a:pPr>
            <a:r>
              <a:rPr sz="1400" b="1" dirty="0">
                <a:latin typeface="Arial"/>
                <a:cs typeface="Arial"/>
              </a:rPr>
              <a:t>CREATE</a:t>
            </a:r>
            <a:r>
              <a:rPr sz="1400" b="1" spc="-55" dirty="0">
                <a:latin typeface="Arial"/>
                <a:cs typeface="Arial"/>
              </a:rPr>
              <a:t> </a:t>
            </a:r>
            <a:r>
              <a:rPr sz="1400" b="1" dirty="0">
                <a:latin typeface="Arial"/>
                <a:cs typeface="Arial"/>
              </a:rPr>
              <a:t>TABLE</a:t>
            </a:r>
            <a:r>
              <a:rPr sz="1400" b="1" spc="-55" dirty="0">
                <a:latin typeface="Arial"/>
                <a:cs typeface="Arial"/>
              </a:rPr>
              <a:t> </a:t>
            </a:r>
            <a:r>
              <a:rPr sz="1400" b="1" dirty="0">
                <a:latin typeface="Arial"/>
                <a:cs typeface="Arial"/>
              </a:rPr>
              <a:t>prestatario</a:t>
            </a:r>
            <a:r>
              <a:rPr sz="1400" b="1" spc="-70" dirty="0">
                <a:latin typeface="Arial"/>
                <a:cs typeface="Arial"/>
              </a:rPr>
              <a:t> </a:t>
            </a:r>
            <a:r>
              <a:rPr sz="1400" b="1" spc="-10" dirty="0">
                <a:latin typeface="Arial"/>
                <a:cs typeface="Arial"/>
              </a:rPr>
              <a:t>(id-</a:t>
            </a:r>
            <a:r>
              <a:rPr sz="1400" b="1" dirty="0">
                <a:latin typeface="Arial"/>
                <a:cs typeface="Arial"/>
              </a:rPr>
              <a:t>cliente,</a:t>
            </a:r>
            <a:r>
              <a:rPr sz="1400" b="1" spc="-50" dirty="0">
                <a:latin typeface="Arial"/>
                <a:cs typeface="Arial"/>
              </a:rPr>
              <a:t> </a:t>
            </a:r>
            <a:r>
              <a:rPr sz="1400" b="1" spc="-10" dirty="0">
                <a:latin typeface="Arial"/>
                <a:cs typeface="Arial"/>
              </a:rPr>
              <a:t>número-préstamo)</a:t>
            </a:r>
            <a:endParaRPr sz="1400">
              <a:latin typeface="Arial"/>
              <a:cs typeface="Arial"/>
            </a:endParaRPr>
          </a:p>
        </p:txBody>
      </p:sp>
      <p:sp>
        <p:nvSpPr>
          <p:cNvPr id="15" name="object 15"/>
          <p:cNvSpPr/>
          <p:nvPr/>
        </p:nvSpPr>
        <p:spPr>
          <a:xfrm>
            <a:off x="3830761" y="4626864"/>
            <a:ext cx="256540" cy="929640"/>
          </a:xfrm>
          <a:custGeom>
            <a:avLst/>
            <a:gdLst/>
            <a:ahLst/>
            <a:cxnLst/>
            <a:rect l="l" t="t" r="r" b="b"/>
            <a:pathLst>
              <a:path w="256539" h="929639">
                <a:moveTo>
                  <a:pt x="127706" y="816483"/>
                </a:moveTo>
                <a:lnTo>
                  <a:pt x="52268" y="687324"/>
                </a:lnTo>
                <a:lnTo>
                  <a:pt x="44791" y="678799"/>
                </a:lnTo>
                <a:lnTo>
                  <a:pt x="34742" y="673989"/>
                </a:lnTo>
                <a:lnTo>
                  <a:pt x="23550" y="673179"/>
                </a:lnTo>
                <a:lnTo>
                  <a:pt x="12644" y="676656"/>
                </a:lnTo>
                <a:lnTo>
                  <a:pt x="5000" y="684776"/>
                </a:lnTo>
                <a:lnTo>
                  <a:pt x="642" y="694753"/>
                </a:lnTo>
                <a:lnTo>
                  <a:pt x="0" y="705588"/>
                </a:lnTo>
                <a:lnTo>
                  <a:pt x="3500" y="716280"/>
                </a:lnTo>
                <a:lnTo>
                  <a:pt x="99512" y="880202"/>
                </a:lnTo>
                <a:lnTo>
                  <a:pt x="99512" y="873252"/>
                </a:lnTo>
                <a:lnTo>
                  <a:pt x="102560" y="873252"/>
                </a:lnTo>
                <a:lnTo>
                  <a:pt x="102560" y="859536"/>
                </a:lnTo>
                <a:lnTo>
                  <a:pt x="127706" y="816483"/>
                </a:lnTo>
                <a:close/>
              </a:path>
              <a:path w="256539" h="929639">
                <a:moveTo>
                  <a:pt x="155900" y="768211"/>
                </a:moveTo>
                <a:lnTo>
                  <a:pt x="155900" y="0"/>
                </a:lnTo>
                <a:lnTo>
                  <a:pt x="99512" y="0"/>
                </a:lnTo>
                <a:lnTo>
                  <a:pt x="99512" y="768211"/>
                </a:lnTo>
                <a:lnTo>
                  <a:pt x="127706" y="816483"/>
                </a:lnTo>
                <a:lnTo>
                  <a:pt x="155900" y="768211"/>
                </a:lnTo>
                <a:close/>
              </a:path>
              <a:path w="256539" h="929639">
                <a:moveTo>
                  <a:pt x="155900" y="882226"/>
                </a:moveTo>
                <a:lnTo>
                  <a:pt x="155900" y="873252"/>
                </a:lnTo>
                <a:lnTo>
                  <a:pt x="99512" y="873252"/>
                </a:lnTo>
                <a:lnTo>
                  <a:pt x="99512" y="880202"/>
                </a:lnTo>
                <a:lnTo>
                  <a:pt x="128468" y="929640"/>
                </a:lnTo>
                <a:lnTo>
                  <a:pt x="155900" y="882226"/>
                </a:lnTo>
                <a:close/>
              </a:path>
              <a:path w="256539" h="929639">
                <a:moveTo>
                  <a:pt x="152852" y="859536"/>
                </a:moveTo>
                <a:lnTo>
                  <a:pt x="127706" y="816483"/>
                </a:lnTo>
                <a:lnTo>
                  <a:pt x="102560" y="859536"/>
                </a:lnTo>
                <a:lnTo>
                  <a:pt x="152852" y="859536"/>
                </a:lnTo>
                <a:close/>
              </a:path>
              <a:path w="256539" h="929639">
                <a:moveTo>
                  <a:pt x="152852" y="873252"/>
                </a:moveTo>
                <a:lnTo>
                  <a:pt x="152852" y="859536"/>
                </a:lnTo>
                <a:lnTo>
                  <a:pt x="102560" y="859536"/>
                </a:lnTo>
                <a:lnTo>
                  <a:pt x="102560" y="873252"/>
                </a:lnTo>
                <a:lnTo>
                  <a:pt x="152852" y="873252"/>
                </a:lnTo>
                <a:close/>
              </a:path>
              <a:path w="256539" h="929639">
                <a:moveTo>
                  <a:pt x="256270" y="705588"/>
                </a:moveTo>
                <a:lnTo>
                  <a:pt x="255912" y="694753"/>
                </a:lnTo>
                <a:lnTo>
                  <a:pt x="251269" y="684776"/>
                </a:lnTo>
                <a:lnTo>
                  <a:pt x="242768" y="676656"/>
                </a:lnTo>
                <a:lnTo>
                  <a:pt x="231862" y="673179"/>
                </a:lnTo>
                <a:lnTo>
                  <a:pt x="220670" y="673989"/>
                </a:lnTo>
                <a:lnTo>
                  <a:pt x="210621" y="678799"/>
                </a:lnTo>
                <a:lnTo>
                  <a:pt x="203144" y="687324"/>
                </a:lnTo>
                <a:lnTo>
                  <a:pt x="127706" y="816483"/>
                </a:lnTo>
                <a:lnTo>
                  <a:pt x="152852" y="859536"/>
                </a:lnTo>
                <a:lnTo>
                  <a:pt x="152852" y="873252"/>
                </a:lnTo>
                <a:lnTo>
                  <a:pt x="155900" y="873252"/>
                </a:lnTo>
                <a:lnTo>
                  <a:pt x="155900" y="882226"/>
                </a:lnTo>
                <a:lnTo>
                  <a:pt x="251912" y="716280"/>
                </a:lnTo>
                <a:lnTo>
                  <a:pt x="256270" y="705588"/>
                </a:lnTo>
                <a:close/>
              </a:path>
            </a:pathLst>
          </a:custGeom>
          <a:solidFill>
            <a:srgbClr val="4A7EBA"/>
          </a:solidFill>
        </p:spPr>
        <p:txBody>
          <a:bodyPr wrap="square" lIns="0" tIns="0" rIns="0" bIns="0" rtlCol="0"/>
          <a:lstStyle/>
          <a:p>
            <a:endParaRPr/>
          </a:p>
        </p:txBody>
      </p:sp>
      <p:sp>
        <p:nvSpPr>
          <p:cNvPr id="16" name="object 16"/>
          <p:cNvSpPr txBox="1"/>
          <p:nvPr/>
        </p:nvSpPr>
        <p:spPr>
          <a:xfrm>
            <a:off x="4394591" y="4929630"/>
            <a:ext cx="19939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Diseño</a:t>
            </a:r>
            <a:r>
              <a:rPr sz="1800" spc="-25" dirty="0">
                <a:latin typeface="Arial MT"/>
                <a:cs typeface="Arial MT"/>
              </a:rPr>
              <a:t> </a:t>
            </a:r>
            <a:r>
              <a:rPr sz="1800" dirty="0">
                <a:latin typeface="Arial MT"/>
                <a:cs typeface="Arial MT"/>
              </a:rPr>
              <a:t>del</a:t>
            </a:r>
            <a:r>
              <a:rPr sz="1800" spc="-25" dirty="0">
                <a:latin typeface="Arial MT"/>
                <a:cs typeface="Arial MT"/>
              </a:rPr>
              <a:t> </a:t>
            </a:r>
            <a:r>
              <a:rPr sz="1800" spc="-10" dirty="0">
                <a:latin typeface="Arial MT"/>
                <a:cs typeface="Arial MT"/>
              </a:rPr>
              <a:t>Sistema</a:t>
            </a:r>
            <a:endParaRPr sz="1800">
              <a:latin typeface="Arial MT"/>
              <a:cs typeface="Arial MT"/>
            </a:endParaRPr>
          </a:p>
        </p:txBody>
      </p:sp>
      <p:sp>
        <p:nvSpPr>
          <p:cNvPr id="17" name="object 17"/>
          <p:cNvSpPr txBox="1"/>
          <p:nvPr/>
        </p:nvSpPr>
        <p:spPr>
          <a:xfrm>
            <a:off x="7252090" y="3442206"/>
            <a:ext cx="2158365" cy="54483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Esquema</a:t>
            </a:r>
            <a:r>
              <a:rPr sz="1800" spc="-50" dirty="0">
                <a:latin typeface="Arial MT"/>
                <a:cs typeface="Arial MT"/>
              </a:rPr>
              <a:t> </a:t>
            </a:r>
            <a:r>
              <a:rPr sz="1800" spc="-10" dirty="0">
                <a:latin typeface="Arial MT"/>
                <a:cs typeface="Arial MT"/>
              </a:rPr>
              <a:t>conceptual</a:t>
            </a:r>
            <a:endParaRPr sz="1800">
              <a:latin typeface="Arial MT"/>
              <a:cs typeface="Arial MT"/>
            </a:endParaRPr>
          </a:p>
          <a:p>
            <a:pPr marL="12700">
              <a:lnSpc>
                <a:spcPct val="100000"/>
              </a:lnSpc>
              <a:spcBef>
                <a:spcPts val="5"/>
              </a:spcBef>
            </a:pPr>
            <a:r>
              <a:rPr sz="1600" dirty="0">
                <a:latin typeface="Arial MT"/>
                <a:cs typeface="Arial MT"/>
              </a:rPr>
              <a:t>Ej.:</a:t>
            </a:r>
            <a:r>
              <a:rPr sz="1600" spc="-15" dirty="0">
                <a:latin typeface="Arial MT"/>
                <a:cs typeface="Arial MT"/>
              </a:rPr>
              <a:t> </a:t>
            </a:r>
            <a:r>
              <a:rPr sz="1600" b="1" dirty="0">
                <a:latin typeface="Arial"/>
                <a:cs typeface="Arial"/>
              </a:rPr>
              <a:t>Modelo</a:t>
            </a:r>
            <a:r>
              <a:rPr sz="1600" b="1" spc="-15" dirty="0">
                <a:latin typeface="Arial"/>
                <a:cs typeface="Arial"/>
              </a:rPr>
              <a:t> </a:t>
            </a:r>
            <a:r>
              <a:rPr sz="1600" b="1" spc="-10" dirty="0">
                <a:latin typeface="Arial"/>
                <a:cs typeface="Arial"/>
              </a:rPr>
              <a:t>E-</a:t>
            </a:r>
            <a:r>
              <a:rPr sz="1600" b="1" spc="-50" dirty="0">
                <a:latin typeface="Arial"/>
                <a:cs typeface="Arial"/>
              </a:rPr>
              <a:t>R</a:t>
            </a:r>
            <a:endParaRPr sz="1600">
              <a:latin typeface="Arial"/>
              <a:cs typeface="Arial"/>
            </a:endParaRPr>
          </a:p>
        </p:txBody>
      </p:sp>
      <p:sp>
        <p:nvSpPr>
          <p:cNvPr id="18" name="object 18"/>
          <p:cNvSpPr txBox="1"/>
          <p:nvPr/>
        </p:nvSpPr>
        <p:spPr>
          <a:xfrm>
            <a:off x="7323718" y="5943089"/>
            <a:ext cx="2159000" cy="54483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Esquema</a:t>
            </a:r>
            <a:r>
              <a:rPr sz="1800" spc="-50" dirty="0">
                <a:latin typeface="Arial MT"/>
                <a:cs typeface="Arial MT"/>
              </a:rPr>
              <a:t> </a:t>
            </a:r>
            <a:r>
              <a:rPr sz="1800" spc="-10" dirty="0">
                <a:latin typeface="Arial MT"/>
                <a:cs typeface="Arial MT"/>
              </a:rPr>
              <a:t>lógico</a:t>
            </a:r>
            <a:endParaRPr sz="1800">
              <a:latin typeface="Arial MT"/>
              <a:cs typeface="Arial MT"/>
            </a:endParaRPr>
          </a:p>
          <a:p>
            <a:pPr marL="12700">
              <a:lnSpc>
                <a:spcPct val="100000"/>
              </a:lnSpc>
              <a:spcBef>
                <a:spcPts val="5"/>
              </a:spcBef>
            </a:pPr>
            <a:r>
              <a:rPr sz="1600" dirty="0">
                <a:latin typeface="Arial MT"/>
                <a:cs typeface="Arial MT"/>
              </a:rPr>
              <a:t>Ej.:</a:t>
            </a:r>
            <a:r>
              <a:rPr sz="1600" spc="-25" dirty="0">
                <a:latin typeface="Arial MT"/>
                <a:cs typeface="Arial MT"/>
              </a:rPr>
              <a:t> </a:t>
            </a:r>
            <a:r>
              <a:rPr sz="1600" b="1" dirty="0">
                <a:latin typeface="Arial"/>
                <a:cs typeface="Arial"/>
              </a:rPr>
              <a:t>Modelo</a:t>
            </a:r>
            <a:r>
              <a:rPr sz="1600" b="1" spc="-20" dirty="0">
                <a:latin typeface="Arial"/>
                <a:cs typeface="Arial"/>
              </a:rPr>
              <a:t> </a:t>
            </a:r>
            <a:r>
              <a:rPr sz="1600" b="1" spc="-10" dirty="0">
                <a:latin typeface="Arial"/>
                <a:cs typeface="Arial"/>
              </a:rPr>
              <a:t>Relacional</a:t>
            </a:r>
            <a:endParaRPr sz="16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idx="1"/>
          </p:nvPr>
        </p:nvSpPr>
        <p:spPr>
          <a:xfrm>
            <a:off x="927100" y="1339850"/>
            <a:ext cx="7708960" cy="2465289"/>
          </a:xfrm>
          <a:prstGeom prst="rect">
            <a:avLst/>
          </a:prstGeom>
        </p:spPr>
        <p:txBody>
          <a:bodyPr vert="horz" wrap="square" lIns="0" tIns="290067" rIns="0" bIns="0" rtlCol="0">
            <a:spAutoFit/>
          </a:bodyPr>
          <a:lstStyle/>
          <a:p>
            <a:pPr marL="589263" marR="813435" indent="0">
              <a:lnSpc>
                <a:spcPct val="100000"/>
              </a:lnSpc>
              <a:spcBef>
                <a:spcPts val="100"/>
              </a:spcBef>
              <a:buNone/>
            </a:pPr>
            <a:r>
              <a:rPr sz="4400" dirty="0"/>
              <a:t>Modelado</a:t>
            </a:r>
            <a:r>
              <a:rPr sz="4400" spc="-35" dirty="0"/>
              <a:t> </a:t>
            </a:r>
            <a:r>
              <a:rPr sz="4400" dirty="0"/>
              <a:t>de</a:t>
            </a:r>
            <a:r>
              <a:rPr sz="4400" spc="-35" dirty="0"/>
              <a:t> </a:t>
            </a:r>
            <a:r>
              <a:rPr sz="4400" spc="-10" dirty="0"/>
              <a:t>datos </a:t>
            </a:r>
            <a:r>
              <a:rPr sz="4400" dirty="0"/>
              <a:t>utilizando</a:t>
            </a:r>
            <a:r>
              <a:rPr sz="4400" spc="-95" dirty="0"/>
              <a:t> </a:t>
            </a:r>
            <a:r>
              <a:rPr sz="4400" spc="-35" dirty="0"/>
              <a:t>el</a:t>
            </a:r>
            <a:endParaRPr sz="4400" dirty="0"/>
          </a:p>
          <a:p>
            <a:pPr marL="0" indent="0" algn="ctr">
              <a:lnSpc>
                <a:spcPct val="100000"/>
              </a:lnSpc>
              <a:buNone/>
            </a:pPr>
            <a:r>
              <a:rPr sz="4400" dirty="0"/>
              <a:t>Modelo</a:t>
            </a:r>
            <a:r>
              <a:rPr sz="4400" spc="-10" dirty="0"/>
              <a:t> Entidad-Relación</a:t>
            </a:r>
            <a:endParaRPr sz="4400" dirty="0"/>
          </a:p>
        </p:txBody>
      </p:sp>
      <p:sp>
        <p:nvSpPr>
          <p:cNvPr id="3" name="object 3"/>
          <p:cNvSpPr txBox="1"/>
          <p:nvPr/>
        </p:nvSpPr>
        <p:spPr>
          <a:xfrm>
            <a:off x="2402724" y="6162545"/>
            <a:ext cx="5956935" cy="575945"/>
          </a:xfrm>
          <a:prstGeom prst="rect">
            <a:avLst/>
          </a:prstGeom>
        </p:spPr>
        <p:txBody>
          <a:bodyPr vert="horz" wrap="square" lIns="0" tIns="10795" rIns="0" bIns="0" rtlCol="0">
            <a:spAutoFit/>
          </a:bodyPr>
          <a:lstStyle/>
          <a:p>
            <a:pPr marL="2304415" marR="5080" indent="-2292350">
              <a:lnSpc>
                <a:spcPct val="100600"/>
              </a:lnSpc>
              <a:spcBef>
                <a:spcPts val="85"/>
              </a:spcBef>
            </a:pPr>
            <a:r>
              <a:rPr sz="1800" b="1" dirty="0">
                <a:solidFill>
                  <a:srgbClr val="001F5F"/>
                </a:solidFill>
                <a:latin typeface="Arial"/>
                <a:cs typeface="Arial"/>
              </a:rPr>
              <a:t>Bibliografía:</a:t>
            </a:r>
            <a:r>
              <a:rPr sz="1800" b="1" spc="-35" dirty="0">
                <a:solidFill>
                  <a:srgbClr val="001F5F"/>
                </a:solidFill>
                <a:latin typeface="Arial"/>
                <a:cs typeface="Arial"/>
              </a:rPr>
              <a:t> </a:t>
            </a:r>
            <a:r>
              <a:rPr sz="1800" b="1" dirty="0">
                <a:solidFill>
                  <a:srgbClr val="001F5F"/>
                </a:solidFill>
                <a:latin typeface="Arial"/>
                <a:cs typeface="Arial"/>
              </a:rPr>
              <a:t>Fundamentos</a:t>
            </a:r>
            <a:r>
              <a:rPr sz="1800" b="1" spc="-30" dirty="0">
                <a:solidFill>
                  <a:srgbClr val="001F5F"/>
                </a:solidFill>
                <a:latin typeface="Arial"/>
                <a:cs typeface="Arial"/>
              </a:rPr>
              <a:t> </a:t>
            </a:r>
            <a:r>
              <a:rPr sz="1800" b="1" dirty="0">
                <a:solidFill>
                  <a:srgbClr val="001F5F"/>
                </a:solidFill>
                <a:latin typeface="Arial"/>
                <a:cs typeface="Arial"/>
              </a:rPr>
              <a:t>de</a:t>
            </a:r>
            <a:r>
              <a:rPr sz="1800" b="1" spc="-25" dirty="0">
                <a:solidFill>
                  <a:srgbClr val="001F5F"/>
                </a:solidFill>
                <a:latin typeface="Arial"/>
                <a:cs typeface="Arial"/>
              </a:rPr>
              <a:t> </a:t>
            </a:r>
            <a:r>
              <a:rPr sz="1800" b="1" dirty="0">
                <a:solidFill>
                  <a:srgbClr val="001F5F"/>
                </a:solidFill>
                <a:latin typeface="Arial"/>
                <a:cs typeface="Arial"/>
              </a:rPr>
              <a:t>bases</a:t>
            </a:r>
            <a:r>
              <a:rPr sz="1800" b="1" spc="-25" dirty="0">
                <a:solidFill>
                  <a:srgbClr val="001F5F"/>
                </a:solidFill>
                <a:latin typeface="Arial"/>
                <a:cs typeface="Arial"/>
              </a:rPr>
              <a:t> </a:t>
            </a:r>
            <a:r>
              <a:rPr sz="1800" b="1" dirty="0">
                <a:solidFill>
                  <a:srgbClr val="001F5F"/>
                </a:solidFill>
                <a:latin typeface="Arial"/>
                <a:cs typeface="Arial"/>
              </a:rPr>
              <a:t>de</a:t>
            </a:r>
            <a:r>
              <a:rPr sz="1800" b="1" spc="-25" dirty="0">
                <a:solidFill>
                  <a:srgbClr val="001F5F"/>
                </a:solidFill>
                <a:latin typeface="Arial"/>
                <a:cs typeface="Arial"/>
              </a:rPr>
              <a:t> </a:t>
            </a:r>
            <a:r>
              <a:rPr sz="1800" b="1" dirty="0">
                <a:solidFill>
                  <a:srgbClr val="001F5F"/>
                </a:solidFill>
                <a:latin typeface="Arial"/>
                <a:cs typeface="Arial"/>
              </a:rPr>
              <a:t>datos</a:t>
            </a:r>
            <a:r>
              <a:rPr sz="1800" b="1" spc="-25" dirty="0">
                <a:solidFill>
                  <a:srgbClr val="001F5F"/>
                </a:solidFill>
                <a:latin typeface="Arial"/>
                <a:cs typeface="Arial"/>
              </a:rPr>
              <a:t> </a:t>
            </a:r>
            <a:r>
              <a:rPr sz="1800" b="1" dirty="0">
                <a:solidFill>
                  <a:srgbClr val="001F5F"/>
                </a:solidFill>
                <a:latin typeface="Arial"/>
                <a:cs typeface="Arial"/>
              </a:rPr>
              <a:t>–</a:t>
            </a:r>
            <a:r>
              <a:rPr sz="1800" b="1" spc="-25" dirty="0">
                <a:solidFill>
                  <a:srgbClr val="001F5F"/>
                </a:solidFill>
                <a:latin typeface="Arial"/>
                <a:cs typeface="Arial"/>
              </a:rPr>
              <a:t> </a:t>
            </a:r>
            <a:r>
              <a:rPr sz="1800" b="1" dirty="0">
                <a:solidFill>
                  <a:srgbClr val="001F5F"/>
                </a:solidFill>
                <a:latin typeface="Arial"/>
                <a:cs typeface="Arial"/>
              </a:rPr>
              <a:t>Korth</a:t>
            </a:r>
            <a:r>
              <a:rPr sz="1800" b="1" spc="-15" dirty="0">
                <a:solidFill>
                  <a:srgbClr val="001F5F"/>
                </a:solidFill>
                <a:latin typeface="Arial"/>
                <a:cs typeface="Arial"/>
              </a:rPr>
              <a:t> </a:t>
            </a:r>
            <a:r>
              <a:rPr sz="1800" b="1" spc="-50" dirty="0">
                <a:solidFill>
                  <a:srgbClr val="001F5F"/>
                </a:solidFill>
                <a:latin typeface="Arial"/>
                <a:cs typeface="Arial"/>
              </a:rPr>
              <a:t>, </a:t>
            </a:r>
            <a:r>
              <a:rPr sz="1800" b="1" spc="-10" dirty="0">
                <a:solidFill>
                  <a:srgbClr val="001F5F"/>
                </a:solidFill>
                <a:latin typeface="Arial"/>
                <a:cs typeface="Arial"/>
              </a:rPr>
              <a:t>Silberschatz</a:t>
            </a:r>
            <a:endParaRPr sz="1800" dirty="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587500" y="565935"/>
            <a:ext cx="7705702" cy="935513"/>
          </a:xfrm>
          <a:prstGeom prst="rect">
            <a:avLst/>
          </a:prstGeom>
        </p:spPr>
        <p:txBody>
          <a:bodyPr vert="horz" wrap="square" lIns="0" tIns="316865" rIns="0" bIns="0" rtlCol="0">
            <a:spAutoFit/>
          </a:bodyPr>
          <a:lstStyle/>
          <a:p>
            <a:pPr marL="2822575" algn="ctr">
              <a:lnSpc>
                <a:spcPct val="100000"/>
              </a:lnSpc>
              <a:spcBef>
                <a:spcPts val="95"/>
              </a:spcBef>
            </a:pPr>
            <a:r>
              <a:rPr sz="4000" b="1" spc="-10" dirty="0">
                <a:latin typeface="Arial"/>
                <a:cs typeface="Arial"/>
              </a:rPr>
              <a:t>Entidades</a:t>
            </a:r>
            <a:endParaRPr sz="4000" dirty="0">
              <a:latin typeface="Arial"/>
              <a:cs typeface="Arial"/>
            </a:endParaRPr>
          </a:p>
        </p:txBody>
      </p:sp>
      <p:sp>
        <p:nvSpPr>
          <p:cNvPr id="3" name="object 3"/>
          <p:cNvSpPr txBox="1"/>
          <p:nvPr/>
        </p:nvSpPr>
        <p:spPr>
          <a:xfrm>
            <a:off x="850900" y="1501448"/>
            <a:ext cx="9129607" cy="5840701"/>
          </a:xfrm>
          <a:prstGeom prst="rect">
            <a:avLst/>
          </a:prstGeom>
        </p:spPr>
        <p:txBody>
          <a:bodyPr vert="horz" wrap="square" lIns="0" tIns="56515" rIns="0" bIns="0" rtlCol="0">
            <a:spAutoFit/>
          </a:bodyPr>
          <a:lstStyle/>
          <a:p>
            <a:pPr marL="12700">
              <a:spcBef>
                <a:spcPts val="445"/>
              </a:spcBef>
            </a:pPr>
            <a:r>
              <a:rPr sz="2800" b="1" spc="-10" dirty="0" smtClean="0">
                <a:latin typeface="Arial"/>
                <a:cs typeface="Arial"/>
              </a:rPr>
              <a:t>ENTIDAD</a:t>
            </a:r>
            <a:r>
              <a:rPr sz="2800" spc="-10" dirty="0" smtClean="0">
                <a:latin typeface="Arial MT"/>
                <a:cs typeface="Arial MT"/>
              </a:rPr>
              <a:t>:</a:t>
            </a:r>
            <a:r>
              <a:rPr lang="es-ES" sz="2800" spc="-10" dirty="0" smtClean="0">
                <a:latin typeface="Arial MT"/>
                <a:cs typeface="Arial MT"/>
              </a:rPr>
              <a:t> </a:t>
            </a:r>
            <a:r>
              <a:rPr lang="es-ES" sz="2800" dirty="0" smtClean="0"/>
              <a:t>Un </a:t>
            </a:r>
            <a:r>
              <a:rPr lang="es-ES" sz="2800" dirty="0"/>
              <a:t>objeto del mundo real que se distingue de otros </a:t>
            </a:r>
            <a:r>
              <a:rPr lang="es-ES" sz="2800" dirty="0" smtClean="0"/>
              <a:t>objetos.</a:t>
            </a:r>
          </a:p>
          <a:p>
            <a:pPr marL="12700">
              <a:spcBef>
                <a:spcPts val="445"/>
              </a:spcBef>
            </a:pPr>
            <a:r>
              <a:rPr lang="es-ES" sz="2800" dirty="0" smtClean="0">
                <a:latin typeface="Arial MT"/>
                <a:cs typeface="Arial MT"/>
              </a:rPr>
              <a:t>Es</a:t>
            </a:r>
            <a:r>
              <a:rPr lang="es-ES" sz="2800" spc="-55" dirty="0" smtClean="0">
                <a:latin typeface="Arial MT"/>
                <a:cs typeface="Arial MT"/>
              </a:rPr>
              <a:t> </a:t>
            </a:r>
            <a:r>
              <a:rPr lang="es-ES" sz="2800" dirty="0" smtClean="0">
                <a:latin typeface="Arial MT"/>
                <a:cs typeface="Arial MT"/>
              </a:rPr>
              <a:t>un</a:t>
            </a:r>
            <a:r>
              <a:rPr lang="es-ES" sz="2800" spc="-50" dirty="0" smtClean="0">
                <a:latin typeface="Arial MT"/>
                <a:cs typeface="Arial MT"/>
              </a:rPr>
              <a:t> </a:t>
            </a:r>
            <a:r>
              <a:rPr lang="es-ES" sz="2800" b="1" dirty="0" smtClean="0">
                <a:latin typeface="Arial"/>
                <a:cs typeface="Arial"/>
              </a:rPr>
              <a:t>objeto</a:t>
            </a:r>
            <a:r>
              <a:rPr lang="es-ES" sz="2800" b="1" spc="-60" dirty="0" smtClean="0">
                <a:latin typeface="Arial"/>
                <a:cs typeface="Arial"/>
              </a:rPr>
              <a:t> </a:t>
            </a:r>
            <a:r>
              <a:rPr lang="es-ES" sz="2800" dirty="0" smtClean="0">
                <a:latin typeface="Arial MT"/>
                <a:cs typeface="Arial MT"/>
              </a:rPr>
              <a:t>que</a:t>
            </a:r>
            <a:r>
              <a:rPr lang="es-ES" sz="2800" spc="-50" dirty="0" smtClean="0">
                <a:latin typeface="Arial MT"/>
                <a:cs typeface="Arial MT"/>
              </a:rPr>
              <a:t> </a:t>
            </a:r>
            <a:r>
              <a:rPr lang="es-ES" sz="2800" b="1" dirty="0" smtClean="0">
                <a:latin typeface="Arial"/>
                <a:cs typeface="Arial"/>
              </a:rPr>
              <a:t>existe</a:t>
            </a:r>
            <a:r>
              <a:rPr lang="es-ES" sz="2800" b="1" spc="-55" dirty="0" smtClean="0">
                <a:latin typeface="Arial"/>
                <a:cs typeface="Arial"/>
              </a:rPr>
              <a:t> </a:t>
            </a:r>
            <a:r>
              <a:rPr lang="es-ES" sz="2800" dirty="0" smtClean="0">
                <a:latin typeface="Arial MT"/>
                <a:cs typeface="Arial MT"/>
              </a:rPr>
              <a:t>y</a:t>
            </a:r>
            <a:r>
              <a:rPr lang="es-ES" sz="2800" spc="-50" dirty="0" smtClean="0">
                <a:latin typeface="Arial MT"/>
                <a:cs typeface="Arial MT"/>
              </a:rPr>
              <a:t> </a:t>
            </a:r>
            <a:r>
              <a:rPr lang="es-ES" sz="2800" dirty="0" smtClean="0">
                <a:latin typeface="Arial MT"/>
                <a:cs typeface="Arial MT"/>
              </a:rPr>
              <a:t>es</a:t>
            </a:r>
            <a:r>
              <a:rPr lang="es-ES" sz="2800" spc="-50" dirty="0" smtClean="0">
                <a:latin typeface="Arial MT"/>
                <a:cs typeface="Arial MT"/>
              </a:rPr>
              <a:t> </a:t>
            </a:r>
            <a:r>
              <a:rPr lang="es-ES" sz="2800" b="1" dirty="0" smtClean="0">
                <a:latin typeface="Arial"/>
                <a:cs typeface="Arial"/>
              </a:rPr>
              <a:t>distinguible</a:t>
            </a:r>
            <a:r>
              <a:rPr lang="es-ES" sz="2800" b="1" spc="-55" dirty="0" smtClean="0">
                <a:latin typeface="Arial"/>
                <a:cs typeface="Arial"/>
              </a:rPr>
              <a:t> </a:t>
            </a:r>
            <a:r>
              <a:rPr lang="es-ES" sz="2800" dirty="0" smtClean="0">
                <a:latin typeface="Arial MT"/>
                <a:cs typeface="Arial MT"/>
              </a:rPr>
              <a:t>de</a:t>
            </a:r>
            <a:r>
              <a:rPr lang="es-ES" sz="2800" spc="-50" dirty="0" smtClean="0">
                <a:latin typeface="Arial MT"/>
                <a:cs typeface="Arial MT"/>
              </a:rPr>
              <a:t> </a:t>
            </a:r>
            <a:r>
              <a:rPr lang="es-ES" sz="2800" spc="-10" dirty="0" smtClean="0">
                <a:latin typeface="Arial MT"/>
                <a:cs typeface="Arial MT"/>
              </a:rPr>
              <a:t>otros objetos.</a:t>
            </a:r>
          </a:p>
          <a:p>
            <a:pPr>
              <a:lnSpc>
                <a:spcPct val="100000"/>
              </a:lnSpc>
              <a:spcBef>
                <a:spcPts val="770"/>
              </a:spcBef>
            </a:pPr>
            <a:r>
              <a:rPr lang="es-ES" sz="2800" dirty="0" smtClean="0">
                <a:latin typeface="Arial MT"/>
                <a:cs typeface="Arial MT"/>
              </a:rPr>
              <a:t>En el diagrama no puede aparecer repetido.</a:t>
            </a:r>
          </a:p>
          <a:p>
            <a:pPr>
              <a:lnSpc>
                <a:spcPct val="100000"/>
              </a:lnSpc>
              <a:spcBef>
                <a:spcPts val="770"/>
              </a:spcBef>
            </a:pPr>
            <a:endParaRPr sz="2800" dirty="0">
              <a:latin typeface="Arial MT"/>
              <a:cs typeface="Arial MT"/>
            </a:endParaRPr>
          </a:p>
          <a:p>
            <a:pPr marL="12700">
              <a:lnSpc>
                <a:spcPct val="100000"/>
              </a:lnSpc>
            </a:pPr>
            <a:r>
              <a:rPr sz="2800" dirty="0">
                <a:latin typeface="Arial MT"/>
                <a:cs typeface="Arial MT"/>
              </a:rPr>
              <a:t>Puede</a:t>
            </a:r>
            <a:r>
              <a:rPr sz="2800" spc="-70" dirty="0">
                <a:latin typeface="Arial MT"/>
                <a:cs typeface="Arial MT"/>
              </a:rPr>
              <a:t> </a:t>
            </a:r>
            <a:r>
              <a:rPr sz="2800" spc="-20" dirty="0">
                <a:latin typeface="Arial MT"/>
                <a:cs typeface="Arial MT"/>
              </a:rPr>
              <a:t>ser:</a:t>
            </a:r>
            <a:endParaRPr sz="2800" dirty="0">
              <a:latin typeface="Arial MT"/>
              <a:cs typeface="Arial MT"/>
            </a:endParaRPr>
          </a:p>
          <a:p>
            <a:pPr marL="755650" indent="-285750">
              <a:lnSpc>
                <a:spcPct val="100000"/>
              </a:lnSpc>
              <a:spcBef>
                <a:spcPts val="350"/>
              </a:spcBef>
              <a:buFont typeface="Arial MT"/>
              <a:buChar char="–"/>
              <a:tabLst>
                <a:tab pos="755650" algn="l"/>
              </a:tabLst>
            </a:pPr>
            <a:r>
              <a:rPr sz="2800" b="1" dirty="0">
                <a:latin typeface="Arial"/>
                <a:cs typeface="Arial"/>
              </a:rPr>
              <a:t>concreta</a:t>
            </a:r>
            <a:r>
              <a:rPr sz="2800" dirty="0">
                <a:latin typeface="Arial MT"/>
                <a:cs typeface="Arial MT"/>
              </a:rPr>
              <a:t>:</a:t>
            </a:r>
            <a:r>
              <a:rPr sz="2800" spc="-85" dirty="0">
                <a:latin typeface="Arial MT"/>
                <a:cs typeface="Arial MT"/>
              </a:rPr>
              <a:t> </a:t>
            </a:r>
            <a:r>
              <a:rPr sz="2800" dirty="0">
                <a:latin typeface="Arial MT"/>
                <a:cs typeface="Arial MT"/>
              </a:rPr>
              <a:t>persona,</a:t>
            </a:r>
            <a:r>
              <a:rPr sz="2800" spc="-80" dirty="0">
                <a:latin typeface="Arial MT"/>
                <a:cs typeface="Arial MT"/>
              </a:rPr>
              <a:t> </a:t>
            </a:r>
            <a:r>
              <a:rPr sz="2800" dirty="0">
                <a:latin typeface="Arial MT"/>
                <a:cs typeface="Arial MT"/>
              </a:rPr>
              <a:t>empleado,</a:t>
            </a:r>
            <a:r>
              <a:rPr sz="2800" spc="-80" dirty="0">
                <a:latin typeface="Arial MT"/>
                <a:cs typeface="Arial MT"/>
              </a:rPr>
              <a:t> </a:t>
            </a:r>
            <a:r>
              <a:rPr sz="2800" dirty="0">
                <a:latin typeface="Arial MT"/>
                <a:cs typeface="Arial MT"/>
              </a:rPr>
              <a:t>casa,</a:t>
            </a:r>
            <a:r>
              <a:rPr sz="2800" spc="-105" dirty="0">
                <a:latin typeface="Arial MT"/>
                <a:cs typeface="Arial MT"/>
              </a:rPr>
              <a:t> </a:t>
            </a:r>
            <a:r>
              <a:rPr sz="2800" dirty="0">
                <a:latin typeface="Arial MT"/>
                <a:cs typeface="Arial MT"/>
              </a:rPr>
              <a:t>auto,</a:t>
            </a:r>
            <a:r>
              <a:rPr sz="2800" spc="-80" dirty="0">
                <a:latin typeface="Arial MT"/>
                <a:cs typeface="Arial MT"/>
              </a:rPr>
              <a:t> </a:t>
            </a:r>
            <a:r>
              <a:rPr sz="2800" spc="-25" dirty="0">
                <a:latin typeface="Arial MT"/>
                <a:cs typeface="Arial MT"/>
              </a:rPr>
              <a:t>…..</a:t>
            </a:r>
            <a:endParaRPr sz="2800" dirty="0">
              <a:latin typeface="Arial MT"/>
              <a:cs typeface="Arial MT"/>
            </a:endParaRPr>
          </a:p>
          <a:p>
            <a:pPr marL="755650" indent="-285750">
              <a:lnSpc>
                <a:spcPct val="100000"/>
              </a:lnSpc>
              <a:spcBef>
                <a:spcPts val="335"/>
              </a:spcBef>
              <a:buFont typeface="Arial MT"/>
              <a:buChar char="–"/>
              <a:tabLst>
                <a:tab pos="755650" algn="l"/>
              </a:tabLst>
            </a:pPr>
            <a:r>
              <a:rPr sz="2800" b="1" dirty="0">
                <a:latin typeface="Arial"/>
                <a:cs typeface="Arial"/>
              </a:rPr>
              <a:t>abstracta</a:t>
            </a:r>
            <a:r>
              <a:rPr sz="2800" dirty="0">
                <a:latin typeface="Arial MT"/>
                <a:cs typeface="Arial MT"/>
              </a:rPr>
              <a:t>:</a:t>
            </a:r>
            <a:r>
              <a:rPr sz="2800" spc="-95" dirty="0">
                <a:latin typeface="Arial MT"/>
                <a:cs typeface="Arial MT"/>
              </a:rPr>
              <a:t> </a:t>
            </a:r>
            <a:r>
              <a:rPr sz="2800" dirty="0">
                <a:latin typeface="Arial MT"/>
                <a:cs typeface="Arial MT"/>
              </a:rPr>
              <a:t>cuenta</a:t>
            </a:r>
            <a:r>
              <a:rPr sz="2800" spc="-100" dirty="0">
                <a:latin typeface="Arial MT"/>
                <a:cs typeface="Arial MT"/>
              </a:rPr>
              <a:t> </a:t>
            </a:r>
            <a:r>
              <a:rPr sz="2800" dirty="0">
                <a:latin typeface="Arial MT"/>
                <a:cs typeface="Arial MT"/>
              </a:rPr>
              <a:t>bancaria,</a:t>
            </a:r>
            <a:r>
              <a:rPr sz="2800" spc="-90" dirty="0">
                <a:latin typeface="Arial MT"/>
                <a:cs typeface="Arial MT"/>
              </a:rPr>
              <a:t> </a:t>
            </a:r>
            <a:r>
              <a:rPr sz="2800" dirty="0">
                <a:latin typeface="Arial MT"/>
                <a:cs typeface="Arial MT"/>
              </a:rPr>
              <a:t>empresa,</a:t>
            </a:r>
            <a:r>
              <a:rPr sz="2800" spc="-90" dirty="0">
                <a:latin typeface="Arial MT"/>
                <a:cs typeface="Arial MT"/>
              </a:rPr>
              <a:t> </a:t>
            </a:r>
            <a:r>
              <a:rPr sz="2800" dirty="0">
                <a:latin typeface="Arial MT"/>
                <a:cs typeface="Arial MT"/>
              </a:rPr>
              <a:t>curso,</a:t>
            </a:r>
            <a:r>
              <a:rPr sz="2800" spc="-114" dirty="0">
                <a:latin typeface="Arial MT"/>
                <a:cs typeface="Arial MT"/>
              </a:rPr>
              <a:t> </a:t>
            </a:r>
            <a:r>
              <a:rPr sz="2800" spc="-25" dirty="0">
                <a:latin typeface="Arial MT"/>
                <a:cs typeface="Arial MT"/>
              </a:rPr>
              <a:t>….</a:t>
            </a:r>
            <a:endParaRPr sz="2800" dirty="0">
              <a:latin typeface="Arial MT"/>
              <a:cs typeface="Arial MT"/>
            </a:endParaRPr>
          </a:p>
          <a:p>
            <a:pPr>
              <a:lnSpc>
                <a:spcPct val="100000"/>
              </a:lnSpc>
              <a:spcBef>
                <a:spcPts val="2780"/>
              </a:spcBef>
            </a:pPr>
            <a:endParaRPr sz="2800" dirty="0">
              <a:latin typeface="Arial MT"/>
              <a:cs typeface="Arial MT"/>
            </a:endParaRPr>
          </a:p>
          <a:p>
            <a:pPr marL="354330" marR="188595" indent="-341630">
              <a:lnSpc>
                <a:spcPts val="3020"/>
              </a:lnSpc>
              <a:buChar char="•"/>
              <a:tabLst>
                <a:tab pos="355600" algn="l"/>
              </a:tabLst>
            </a:pPr>
            <a:r>
              <a:rPr sz="2800" dirty="0">
                <a:latin typeface="Arial MT"/>
                <a:cs typeface="Arial MT"/>
              </a:rPr>
              <a:t>Una</a:t>
            </a:r>
            <a:r>
              <a:rPr sz="2800" spc="-70" dirty="0">
                <a:latin typeface="Arial MT"/>
                <a:cs typeface="Arial MT"/>
              </a:rPr>
              <a:t> </a:t>
            </a:r>
            <a:r>
              <a:rPr sz="2800" b="1" dirty="0">
                <a:latin typeface="Arial"/>
                <a:cs typeface="Arial"/>
              </a:rPr>
              <a:t>entidad</a:t>
            </a:r>
            <a:r>
              <a:rPr sz="2800" b="1" spc="-70" dirty="0">
                <a:latin typeface="Arial"/>
                <a:cs typeface="Arial"/>
              </a:rPr>
              <a:t> </a:t>
            </a:r>
            <a:r>
              <a:rPr sz="2800" dirty="0">
                <a:latin typeface="Arial MT"/>
                <a:cs typeface="Arial MT"/>
              </a:rPr>
              <a:t>está</a:t>
            </a:r>
            <a:r>
              <a:rPr sz="2800" spc="-80" dirty="0">
                <a:latin typeface="Arial MT"/>
                <a:cs typeface="Arial MT"/>
              </a:rPr>
              <a:t> </a:t>
            </a:r>
            <a:r>
              <a:rPr sz="2800" b="1" dirty="0">
                <a:latin typeface="Arial"/>
                <a:cs typeface="Arial"/>
              </a:rPr>
              <a:t>representada</a:t>
            </a:r>
            <a:r>
              <a:rPr sz="2800" b="1" spc="-70" dirty="0">
                <a:latin typeface="Arial"/>
                <a:cs typeface="Arial"/>
              </a:rPr>
              <a:t> </a:t>
            </a:r>
            <a:r>
              <a:rPr sz="2800" dirty="0">
                <a:latin typeface="Arial MT"/>
                <a:cs typeface="Arial MT"/>
              </a:rPr>
              <a:t>por</a:t>
            </a:r>
            <a:r>
              <a:rPr sz="2800" spc="-55" dirty="0">
                <a:latin typeface="Arial MT"/>
                <a:cs typeface="Arial MT"/>
              </a:rPr>
              <a:t> </a:t>
            </a:r>
            <a:r>
              <a:rPr sz="2800" dirty="0">
                <a:latin typeface="Arial MT"/>
                <a:cs typeface="Arial MT"/>
              </a:rPr>
              <a:t>un</a:t>
            </a:r>
            <a:r>
              <a:rPr sz="2800" spc="-70" dirty="0">
                <a:latin typeface="Arial MT"/>
                <a:cs typeface="Arial MT"/>
              </a:rPr>
              <a:t> </a:t>
            </a:r>
            <a:r>
              <a:rPr sz="2800" b="1" spc="-10" dirty="0">
                <a:latin typeface="Arial"/>
                <a:cs typeface="Arial"/>
              </a:rPr>
              <a:t>conjunto 	</a:t>
            </a:r>
            <a:r>
              <a:rPr sz="2800" b="1" dirty="0">
                <a:latin typeface="Arial"/>
                <a:cs typeface="Arial"/>
              </a:rPr>
              <a:t>de</a:t>
            </a:r>
            <a:r>
              <a:rPr sz="2800" b="1" spc="-40" dirty="0">
                <a:latin typeface="Arial"/>
                <a:cs typeface="Arial"/>
              </a:rPr>
              <a:t> </a:t>
            </a:r>
            <a:r>
              <a:rPr sz="2800" b="1" spc="-10" dirty="0">
                <a:latin typeface="Arial"/>
                <a:cs typeface="Arial"/>
              </a:rPr>
              <a:t>atributos</a:t>
            </a:r>
            <a:r>
              <a:rPr sz="2800" spc="-10" dirty="0">
                <a:latin typeface="Arial MT"/>
                <a:cs typeface="Arial MT"/>
              </a:rPr>
              <a:t>.</a:t>
            </a:r>
            <a:endParaRPr sz="2800" dirty="0">
              <a:latin typeface="Arial MT"/>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50900" y="29210"/>
            <a:ext cx="7705702" cy="1411351"/>
          </a:xfrm>
          <a:prstGeom prst="rect">
            <a:avLst/>
          </a:prstGeom>
        </p:spPr>
        <p:txBody>
          <a:bodyPr vert="horz" wrap="square" lIns="0" tIns="316865" rIns="0" bIns="0" rtlCol="0">
            <a:spAutoFit/>
          </a:bodyPr>
          <a:lstStyle/>
          <a:p>
            <a:pPr marL="2906395">
              <a:lnSpc>
                <a:spcPct val="100000"/>
              </a:lnSpc>
              <a:spcBef>
                <a:spcPts val="95"/>
              </a:spcBef>
            </a:pPr>
            <a:r>
              <a:rPr sz="4000" b="1" spc="-10" dirty="0">
                <a:latin typeface="Arial"/>
                <a:cs typeface="Arial"/>
              </a:rPr>
              <a:t>Atributos</a:t>
            </a:r>
            <a:endParaRPr sz="4000" dirty="0">
              <a:latin typeface="Arial"/>
              <a:cs typeface="Arial"/>
            </a:endParaRPr>
          </a:p>
        </p:txBody>
      </p:sp>
      <p:sp>
        <p:nvSpPr>
          <p:cNvPr id="3" name="object 3"/>
          <p:cNvSpPr txBox="1"/>
          <p:nvPr/>
        </p:nvSpPr>
        <p:spPr>
          <a:xfrm>
            <a:off x="1155700" y="1424051"/>
            <a:ext cx="8841183" cy="6253635"/>
          </a:xfrm>
          <a:prstGeom prst="rect">
            <a:avLst/>
          </a:prstGeom>
        </p:spPr>
        <p:txBody>
          <a:bodyPr vert="horz" wrap="square" lIns="0" tIns="56515" rIns="0" bIns="0" rtlCol="0">
            <a:spAutoFit/>
          </a:bodyPr>
          <a:lstStyle/>
          <a:p>
            <a:pPr marL="12700">
              <a:lnSpc>
                <a:spcPct val="100000"/>
              </a:lnSpc>
              <a:spcBef>
                <a:spcPts val="445"/>
              </a:spcBef>
            </a:pPr>
            <a:r>
              <a:rPr lang="es-ES" sz="2800" b="1" spc="-10" dirty="0">
                <a:latin typeface="Arial"/>
                <a:cs typeface="Arial"/>
              </a:rPr>
              <a:t>Atributos</a:t>
            </a:r>
            <a:r>
              <a:rPr lang="es-ES" sz="2800" dirty="0" smtClean="0">
                <a:latin typeface="Arial MT"/>
                <a:cs typeface="Arial MT"/>
              </a:rPr>
              <a:t>: S</a:t>
            </a:r>
            <a:r>
              <a:rPr sz="2800" dirty="0" smtClean="0">
                <a:latin typeface="Arial MT"/>
                <a:cs typeface="Arial MT"/>
              </a:rPr>
              <a:t>on</a:t>
            </a:r>
            <a:r>
              <a:rPr sz="2800" spc="-90" dirty="0" smtClean="0">
                <a:latin typeface="Arial MT"/>
                <a:cs typeface="Arial MT"/>
              </a:rPr>
              <a:t> </a:t>
            </a:r>
            <a:r>
              <a:rPr sz="2800" dirty="0">
                <a:latin typeface="Arial MT"/>
                <a:cs typeface="Arial MT"/>
              </a:rPr>
              <a:t>propiedades</a:t>
            </a:r>
            <a:r>
              <a:rPr sz="2800" spc="-90" dirty="0">
                <a:latin typeface="Arial MT"/>
                <a:cs typeface="Arial MT"/>
              </a:rPr>
              <a:t> </a:t>
            </a:r>
            <a:r>
              <a:rPr sz="2800" dirty="0">
                <a:latin typeface="Arial MT"/>
                <a:cs typeface="Arial MT"/>
              </a:rPr>
              <a:t>específicas</a:t>
            </a:r>
            <a:r>
              <a:rPr sz="2800" spc="-90" dirty="0">
                <a:latin typeface="Arial MT"/>
                <a:cs typeface="Arial MT"/>
              </a:rPr>
              <a:t> </a:t>
            </a:r>
            <a:r>
              <a:rPr sz="2800" dirty="0">
                <a:latin typeface="Arial MT"/>
                <a:cs typeface="Arial MT"/>
              </a:rPr>
              <a:t>que</a:t>
            </a:r>
            <a:r>
              <a:rPr sz="2800" spc="-90" dirty="0">
                <a:latin typeface="Arial MT"/>
                <a:cs typeface="Arial MT"/>
              </a:rPr>
              <a:t> </a:t>
            </a:r>
            <a:r>
              <a:rPr sz="2800" dirty="0" err="1" smtClean="0">
                <a:latin typeface="Arial MT"/>
                <a:cs typeface="Arial MT"/>
              </a:rPr>
              <a:t>describen</a:t>
            </a:r>
            <a:r>
              <a:rPr lang="es-ES" sz="2800" dirty="0" smtClean="0">
                <a:latin typeface="Arial MT"/>
                <a:cs typeface="Arial MT"/>
              </a:rPr>
              <a:t> a una </a:t>
            </a:r>
            <a:r>
              <a:rPr sz="2800" spc="-10" dirty="0" err="1" smtClean="0">
                <a:latin typeface="Arial MT"/>
                <a:cs typeface="Arial MT"/>
              </a:rPr>
              <a:t>entidad</a:t>
            </a:r>
            <a:r>
              <a:rPr sz="2800" spc="-10" dirty="0">
                <a:latin typeface="Arial MT"/>
                <a:cs typeface="Arial MT"/>
              </a:rPr>
              <a:t>.</a:t>
            </a:r>
            <a:endParaRPr sz="2800" dirty="0">
              <a:latin typeface="Arial MT"/>
              <a:cs typeface="Arial MT"/>
            </a:endParaRPr>
          </a:p>
          <a:p>
            <a:pPr>
              <a:lnSpc>
                <a:spcPct val="100000"/>
              </a:lnSpc>
              <a:spcBef>
                <a:spcPts val="1180"/>
              </a:spcBef>
            </a:pPr>
            <a:endParaRPr sz="2800" dirty="0">
              <a:latin typeface="Arial MT"/>
              <a:cs typeface="Arial MT"/>
            </a:endParaRPr>
          </a:p>
          <a:p>
            <a:pPr marL="756285" marR="27940" indent="-287020">
              <a:lnSpc>
                <a:spcPts val="3040"/>
              </a:lnSpc>
            </a:pPr>
            <a:r>
              <a:rPr sz="2800" dirty="0">
                <a:latin typeface="Arial MT"/>
                <a:cs typeface="Arial MT"/>
              </a:rPr>
              <a:t>–</a:t>
            </a:r>
            <a:r>
              <a:rPr sz="2800" spc="-145" dirty="0">
                <a:latin typeface="Arial MT"/>
                <a:cs typeface="Arial MT"/>
              </a:rPr>
              <a:t> </a:t>
            </a:r>
            <a:r>
              <a:rPr sz="2800" dirty="0">
                <a:latin typeface="Arial MT"/>
                <a:cs typeface="Arial MT"/>
              </a:rPr>
              <a:t>Ejemplo:</a:t>
            </a:r>
            <a:r>
              <a:rPr sz="2800" spc="-70" dirty="0">
                <a:latin typeface="Arial MT"/>
                <a:cs typeface="Arial MT"/>
              </a:rPr>
              <a:t> </a:t>
            </a:r>
            <a:r>
              <a:rPr sz="2800" dirty="0">
                <a:solidFill>
                  <a:srgbClr val="001F5F"/>
                </a:solidFill>
                <a:latin typeface="Arial MT"/>
                <a:cs typeface="Arial MT"/>
              </a:rPr>
              <a:t>persona</a:t>
            </a:r>
            <a:r>
              <a:rPr sz="2800" spc="-75" dirty="0">
                <a:solidFill>
                  <a:srgbClr val="001F5F"/>
                </a:solidFill>
                <a:latin typeface="Arial MT"/>
                <a:cs typeface="Arial MT"/>
              </a:rPr>
              <a:t> </a:t>
            </a:r>
            <a:r>
              <a:rPr sz="2800" dirty="0">
                <a:latin typeface="Arial MT"/>
                <a:cs typeface="Arial MT"/>
              </a:rPr>
              <a:t>puede</a:t>
            </a:r>
            <a:r>
              <a:rPr sz="2800" spc="-65" dirty="0">
                <a:latin typeface="Arial MT"/>
                <a:cs typeface="Arial MT"/>
              </a:rPr>
              <a:t> </a:t>
            </a:r>
            <a:r>
              <a:rPr sz="2800" dirty="0">
                <a:latin typeface="Arial MT"/>
                <a:cs typeface="Arial MT"/>
              </a:rPr>
              <a:t>describirse</a:t>
            </a:r>
            <a:r>
              <a:rPr sz="2800" spc="-80" dirty="0">
                <a:latin typeface="Arial MT"/>
                <a:cs typeface="Arial MT"/>
              </a:rPr>
              <a:t> </a:t>
            </a:r>
            <a:r>
              <a:rPr sz="2800" dirty="0">
                <a:latin typeface="Arial MT"/>
                <a:cs typeface="Arial MT"/>
              </a:rPr>
              <a:t>con</a:t>
            </a:r>
            <a:r>
              <a:rPr sz="2800" spc="-65" dirty="0">
                <a:latin typeface="Arial MT"/>
                <a:cs typeface="Arial MT"/>
              </a:rPr>
              <a:t> </a:t>
            </a:r>
            <a:r>
              <a:rPr sz="2800" spc="-10" dirty="0">
                <a:latin typeface="Arial MT"/>
                <a:cs typeface="Arial MT"/>
              </a:rPr>
              <a:t>nombre, </a:t>
            </a:r>
            <a:r>
              <a:rPr sz="2800" dirty="0">
                <a:latin typeface="Arial MT"/>
                <a:cs typeface="Arial MT"/>
              </a:rPr>
              <a:t>edad,</a:t>
            </a:r>
            <a:r>
              <a:rPr sz="2800" spc="-85" dirty="0">
                <a:latin typeface="Arial MT"/>
                <a:cs typeface="Arial MT"/>
              </a:rPr>
              <a:t> </a:t>
            </a:r>
            <a:r>
              <a:rPr sz="2800" dirty="0">
                <a:latin typeface="Arial MT"/>
                <a:cs typeface="Arial MT"/>
              </a:rPr>
              <a:t>dirección,</a:t>
            </a:r>
            <a:r>
              <a:rPr sz="2800" spc="-90" dirty="0">
                <a:latin typeface="Arial MT"/>
                <a:cs typeface="Arial MT"/>
              </a:rPr>
              <a:t> </a:t>
            </a:r>
            <a:r>
              <a:rPr sz="2800" spc="-60" dirty="0">
                <a:latin typeface="Arial MT"/>
                <a:cs typeface="Arial MT"/>
              </a:rPr>
              <a:t>…</a:t>
            </a:r>
            <a:endParaRPr sz="2800" dirty="0">
              <a:latin typeface="Arial MT"/>
              <a:cs typeface="Arial MT"/>
            </a:endParaRPr>
          </a:p>
          <a:p>
            <a:pPr>
              <a:lnSpc>
                <a:spcPct val="100000"/>
              </a:lnSpc>
              <a:spcBef>
                <a:spcPts val="760"/>
              </a:spcBef>
            </a:pPr>
            <a:endParaRPr sz="2800" dirty="0">
              <a:latin typeface="Arial MT"/>
              <a:cs typeface="Arial MT"/>
            </a:endParaRPr>
          </a:p>
          <a:p>
            <a:pPr marL="12700">
              <a:lnSpc>
                <a:spcPct val="100000"/>
              </a:lnSpc>
            </a:pPr>
            <a:r>
              <a:rPr lang="es-ES" sz="2800" b="1" spc="-10" dirty="0" smtClean="0">
                <a:latin typeface="Arial"/>
                <a:cs typeface="Arial"/>
              </a:rPr>
              <a:t>Dominio</a:t>
            </a:r>
            <a:r>
              <a:rPr sz="2800" spc="-10" dirty="0" smtClean="0">
                <a:latin typeface="Arial MT"/>
                <a:cs typeface="Arial MT"/>
              </a:rPr>
              <a:t>:</a:t>
            </a:r>
            <a:r>
              <a:rPr lang="es-ES" sz="2800" spc="-10" dirty="0" smtClean="0">
                <a:latin typeface="Arial MT"/>
                <a:cs typeface="Arial MT"/>
              </a:rPr>
              <a:t> </a:t>
            </a:r>
            <a:r>
              <a:rPr sz="2800" dirty="0" err="1" smtClean="0">
                <a:latin typeface="Arial MT"/>
                <a:cs typeface="Arial MT"/>
              </a:rPr>
              <a:t>es</a:t>
            </a:r>
            <a:r>
              <a:rPr sz="2800" spc="-60" dirty="0" smtClean="0">
                <a:latin typeface="Arial MT"/>
                <a:cs typeface="Arial MT"/>
              </a:rPr>
              <a:t> </a:t>
            </a:r>
            <a:r>
              <a:rPr sz="2800" dirty="0">
                <a:latin typeface="Arial MT"/>
                <a:cs typeface="Arial MT"/>
              </a:rPr>
              <a:t>el</a:t>
            </a:r>
            <a:r>
              <a:rPr sz="2800" spc="-65" dirty="0">
                <a:latin typeface="Arial MT"/>
                <a:cs typeface="Arial MT"/>
              </a:rPr>
              <a:t> </a:t>
            </a:r>
            <a:r>
              <a:rPr sz="2800" dirty="0">
                <a:latin typeface="Arial MT"/>
                <a:cs typeface="Arial MT"/>
              </a:rPr>
              <a:t>conjunto</a:t>
            </a:r>
            <a:r>
              <a:rPr sz="2800" spc="-60" dirty="0">
                <a:latin typeface="Arial MT"/>
                <a:cs typeface="Arial MT"/>
              </a:rPr>
              <a:t> </a:t>
            </a:r>
            <a:r>
              <a:rPr sz="2800" dirty="0">
                <a:latin typeface="Arial MT"/>
                <a:cs typeface="Arial MT"/>
              </a:rPr>
              <a:t>de</a:t>
            </a:r>
            <a:r>
              <a:rPr sz="2800" spc="-65" dirty="0">
                <a:latin typeface="Arial MT"/>
                <a:cs typeface="Arial MT"/>
              </a:rPr>
              <a:t> </a:t>
            </a:r>
            <a:r>
              <a:rPr sz="2800" b="1" dirty="0">
                <a:latin typeface="Arial"/>
                <a:cs typeface="Arial"/>
              </a:rPr>
              <a:t>valores</a:t>
            </a:r>
            <a:r>
              <a:rPr sz="2800" b="1" spc="-60" dirty="0">
                <a:latin typeface="Arial"/>
                <a:cs typeface="Arial"/>
              </a:rPr>
              <a:t> </a:t>
            </a:r>
            <a:r>
              <a:rPr sz="2800" b="1" dirty="0">
                <a:latin typeface="Arial"/>
                <a:cs typeface="Arial"/>
              </a:rPr>
              <a:t>permitidos</a:t>
            </a:r>
            <a:r>
              <a:rPr sz="2800" b="1" spc="-60" dirty="0">
                <a:latin typeface="Arial"/>
                <a:cs typeface="Arial"/>
              </a:rPr>
              <a:t> </a:t>
            </a:r>
            <a:r>
              <a:rPr sz="2800" dirty="0">
                <a:latin typeface="Arial MT"/>
                <a:cs typeface="Arial MT"/>
              </a:rPr>
              <a:t>para</a:t>
            </a:r>
            <a:r>
              <a:rPr sz="2800" spc="-60" dirty="0">
                <a:latin typeface="Arial MT"/>
                <a:cs typeface="Arial MT"/>
              </a:rPr>
              <a:t> </a:t>
            </a:r>
            <a:r>
              <a:rPr sz="2800" spc="-25" dirty="0" smtClean="0">
                <a:latin typeface="Arial MT"/>
                <a:cs typeface="Arial MT"/>
              </a:rPr>
              <a:t>un</a:t>
            </a:r>
            <a:r>
              <a:rPr lang="es-ES" sz="2800" spc="-25" dirty="0" smtClean="0">
                <a:latin typeface="Arial MT"/>
                <a:cs typeface="Arial MT"/>
              </a:rPr>
              <a:t> </a:t>
            </a:r>
            <a:r>
              <a:rPr sz="2800" spc="-10" dirty="0" err="1" smtClean="0">
                <a:latin typeface="Arial MT"/>
                <a:cs typeface="Arial MT"/>
              </a:rPr>
              <a:t>atributo</a:t>
            </a:r>
            <a:r>
              <a:rPr sz="2800" spc="-10" dirty="0" smtClean="0">
                <a:latin typeface="Arial MT"/>
                <a:cs typeface="Arial MT"/>
              </a:rPr>
              <a:t>.</a:t>
            </a:r>
            <a:endParaRPr lang="es-ES" sz="2800" spc="-10" dirty="0" smtClean="0">
              <a:latin typeface="Arial MT"/>
              <a:cs typeface="Arial MT"/>
            </a:endParaRPr>
          </a:p>
          <a:p>
            <a:pPr marL="12700">
              <a:lnSpc>
                <a:spcPct val="100000"/>
              </a:lnSpc>
            </a:pPr>
            <a:endParaRPr lang="es-ES" sz="2800" spc="-10" dirty="0" smtClean="0">
              <a:latin typeface="Arial MT"/>
              <a:cs typeface="Arial MT"/>
            </a:endParaRPr>
          </a:p>
          <a:p>
            <a:pPr marL="12700">
              <a:lnSpc>
                <a:spcPct val="100000"/>
              </a:lnSpc>
            </a:pPr>
            <a:r>
              <a:rPr lang="es-ES" sz="2800" dirty="0" smtClean="0">
                <a:latin typeface="Arial MT"/>
                <a:cs typeface="Arial MT"/>
              </a:rPr>
              <a:t>Para cada atributo existe un rango de valores permitidos, llamado dominio del atributo. El dominio del atributo nombre podría ser el conjunto de todas los nombres de personas de cierta longitud.</a:t>
            </a:r>
          </a:p>
          <a:p>
            <a:pPr marL="12700">
              <a:lnSpc>
                <a:spcPct val="100000"/>
              </a:lnSpc>
            </a:pPr>
            <a:endParaRPr sz="2800" dirty="0">
              <a:latin typeface="Arial MT"/>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204091" y="863599"/>
            <a:ext cx="2281555" cy="635000"/>
          </a:xfrm>
          <a:prstGeom prst="rect">
            <a:avLst/>
          </a:prstGeom>
        </p:spPr>
        <p:txBody>
          <a:bodyPr vert="horz" wrap="square" lIns="0" tIns="12065" rIns="0" bIns="0" rtlCol="0">
            <a:spAutoFit/>
          </a:bodyPr>
          <a:lstStyle/>
          <a:p>
            <a:pPr marL="12700">
              <a:lnSpc>
                <a:spcPct val="100000"/>
              </a:lnSpc>
              <a:spcBef>
                <a:spcPts val="95"/>
              </a:spcBef>
            </a:pPr>
            <a:r>
              <a:rPr sz="4000" b="1" spc="-10" dirty="0">
                <a:latin typeface="Arial"/>
                <a:cs typeface="Arial"/>
              </a:rPr>
              <a:t>Atributos</a:t>
            </a:r>
            <a:endParaRPr sz="4000">
              <a:latin typeface="Arial"/>
              <a:cs typeface="Arial"/>
            </a:endParaRPr>
          </a:p>
        </p:txBody>
      </p:sp>
      <p:sp>
        <p:nvSpPr>
          <p:cNvPr id="3" name="object 3"/>
          <p:cNvSpPr txBox="1"/>
          <p:nvPr/>
        </p:nvSpPr>
        <p:spPr>
          <a:xfrm>
            <a:off x="1310017" y="1712362"/>
            <a:ext cx="7814945" cy="5598327"/>
          </a:xfrm>
          <a:prstGeom prst="rect">
            <a:avLst/>
          </a:prstGeom>
        </p:spPr>
        <p:txBody>
          <a:bodyPr vert="horz" wrap="square" lIns="0" tIns="85725" rIns="0" bIns="0" rtlCol="0">
            <a:spAutoFit/>
          </a:bodyPr>
          <a:lstStyle/>
          <a:p>
            <a:pPr marL="12700">
              <a:lnSpc>
                <a:spcPct val="100000"/>
              </a:lnSpc>
              <a:spcBef>
                <a:spcPts val="675"/>
              </a:spcBef>
            </a:pPr>
            <a:r>
              <a:rPr sz="2400" spc="-10" dirty="0">
                <a:latin typeface="Arial MT"/>
                <a:cs typeface="Arial MT"/>
              </a:rPr>
              <a:t>Formalmente:</a:t>
            </a:r>
            <a:endParaRPr sz="2400" dirty="0">
              <a:latin typeface="Arial MT"/>
              <a:cs typeface="Arial MT"/>
            </a:endParaRPr>
          </a:p>
          <a:p>
            <a:pPr marL="1132840" marR="733425" indent="-139065">
              <a:lnSpc>
                <a:spcPts val="4040"/>
              </a:lnSpc>
              <a:spcBef>
                <a:spcPts val="235"/>
              </a:spcBef>
            </a:pPr>
            <a:r>
              <a:rPr sz="2800" dirty="0">
                <a:latin typeface="Arial MT"/>
                <a:cs typeface="Arial MT"/>
              </a:rPr>
              <a:t>un</a:t>
            </a:r>
            <a:r>
              <a:rPr sz="2800" spc="-50" dirty="0">
                <a:latin typeface="Arial MT"/>
                <a:cs typeface="Arial MT"/>
              </a:rPr>
              <a:t> </a:t>
            </a:r>
            <a:r>
              <a:rPr sz="2800" b="1" dirty="0">
                <a:latin typeface="Arial"/>
                <a:cs typeface="Arial"/>
              </a:rPr>
              <a:t>atributo</a:t>
            </a:r>
            <a:r>
              <a:rPr sz="2800" b="1" spc="-60" dirty="0">
                <a:latin typeface="Arial"/>
                <a:cs typeface="Arial"/>
              </a:rPr>
              <a:t> </a:t>
            </a:r>
            <a:r>
              <a:rPr sz="2800" dirty="0">
                <a:latin typeface="Arial MT"/>
                <a:cs typeface="Arial MT"/>
              </a:rPr>
              <a:t>es</a:t>
            </a:r>
            <a:r>
              <a:rPr sz="2800" spc="-50" dirty="0">
                <a:latin typeface="Arial MT"/>
                <a:cs typeface="Arial MT"/>
              </a:rPr>
              <a:t> </a:t>
            </a:r>
            <a:r>
              <a:rPr sz="2800" dirty="0">
                <a:latin typeface="Arial MT"/>
                <a:cs typeface="Arial MT"/>
              </a:rPr>
              <a:t>una</a:t>
            </a:r>
            <a:r>
              <a:rPr sz="2800" spc="-50" dirty="0">
                <a:latin typeface="Arial MT"/>
                <a:cs typeface="Arial MT"/>
              </a:rPr>
              <a:t> </a:t>
            </a:r>
            <a:r>
              <a:rPr sz="2800" dirty="0">
                <a:latin typeface="Arial MT"/>
                <a:cs typeface="Arial MT"/>
              </a:rPr>
              <a:t>función</a:t>
            </a:r>
            <a:r>
              <a:rPr sz="2800" spc="-45" dirty="0">
                <a:latin typeface="Arial MT"/>
                <a:cs typeface="Arial MT"/>
              </a:rPr>
              <a:t> </a:t>
            </a:r>
            <a:r>
              <a:rPr sz="2800" dirty="0">
                <a:latin typeface="Arial MT"/>
                <a:cs typeface="Arial MT"/>
              </a:rPr>
              <a:t>que</a:t>
            </a:r>
            <a:r>
              <a:rPr sz="2800" spc="-50" dirty="0">
                <a:latin typeface="Arial MT"/>
                <a:cs typeface="Arial MT"/>
              </a:rPr>
              <a:t> </a:t>
            </a:r>
            <a:r>
              <a:rPr sz="2800" spc="-10" dirty="0">
                <a:latin typeface="Arial MT"/>
                <a:cs typeface="Arial MT"/>
              </a:rPr>
              <a:t>asigna </a:t>
            </a:r>
            <a:r>
              <a:rPr sz="2800" dirty="0">
                <a:latin typeface="Arial MT"/>
                <a:cs typeface="Arial MT"/>
              </a:rPr>
              <a:t>al</a:t>
            </a:r>
            <a:r>
              <a:rPr sz="2800" spc="-60" dirty="0">
                <a:latin typeface="Arial MT"/>
                <a:cs typeface="Arial MT"/>
              </a:rPr>
              <a:t> </a:t>
            </a:r>
            <a:r>
              <a:rPr sz="2800" dirty="0">
                <a:latin typeface="Arial MT"/>
                <a:cs typeface="Arial MT"/>
              </a:rPr>
              <a:t>conjunto</a:t>
            </a:r>
            <a:r>
              <a:rPr sz="2800" spc="-55" dirty="0">
                <a:latin typeface="Arial MT"/>
                <a:cs typeface="Arial MT"/>
              </a:rPr>
              <a:t> </a:t>
            </a:r>
            <a:r>
              <a:rPr sz="2800" dirty="0">
                <a:latin typeface="Arial MT"/>
                <a:cs typeface="Arial MT"/>
              </a:rPr>
              <a:t>de</a:t>
            </a:r>
            <a:r>
              <a:rPr sz="2800" spc="-50" dirty="0">
                <a:latin typeface="Arial MT"/>
                <a:cs typeface="Arial MT"/>
              </a:rPr>
              <a:t> </a:t>
            </a:r>
            <a:r>
              <a:rPr sz="2800" dirty="0">
                <a:latin typeface="Arial MT"/>
                <a:cs typeface="Arial MT"/>
              </a:rPr>
              <a:t>entidades</a:t>
            </a:r>
            <a:r>
              <a:rPr sz="2800" spc="-55" dirty="0">
                <a:latin typeface="Arial MT"/>
                <a:cs typeface="Arial MT"/>
              </a:rPr>
              <a:t> </a:t>
            </a:r>
            <a:r>
              <a:rPr sz="2800" dirty="0">
                <a:latin typeface="Arial MT"/>
                <a:cs typeface="Arial MT"/>
              </a:rPr>
              <a:t>un</a:t>
            </a:r>
            <a:r>
              <a:rPr sz="2800" spc="-55" dirty="0">
                <a:latin typeface="Arial MT"/>
                <a:cs typeface="Arial MT"/>
              </a:rPr>
              <a:t> </a:t>
            </a:r>
            <a:r>
              <a:rPr sz="2800" spc="-10" dirty="0">
                <a:latin typeface="Arial MT"/>
                <a:cs typeface="Arial MT"/>
              </a:rPr>
              <a:t>dominio.</a:t>
            </a:r>
            <a:endParaRPr sz="2800" dirty="0">
              <a:latin typeface="Arial MT"/>
              <a:cs typeface="Arial MT"/>
            </a:endParaRPr>
          </a:p>
          <a:p>
            <a:pPr>
              <a:lnSpc>
                <a:spcPct val="100000"/>
              </a:lnSpc>
              <a:spcBef>
                <a:spcPts val="565"/>
              </a:spcBef>
            </a:pPr>
            <a:endParaRPr sz="2800" dirty="0">
              <a:latin typeface="Arial MT"/>
              <a:cs typeface="Arial MT"/>
            </a:endParaRPr>
          </a:p>
          <a:p>
            <a:pPr marL="355600" marR="5080" indent="-343535">
              <a:lnSpc>
                <a:spcPct val="99800"/>
              </a:lnSpc>
              <a:buChar char="•"/>
              <a:tabLst>
                <a:tab pos="355600" algn="l"/>
              </a:tabLst>
            </a:pPr>
            <a:r>
              <a:rPr sz="2400" dirty="0">
                <a:latin typeface="Arial MT"/>
                <a:cs typeface="Arial MT"/>
              </a:rPr>
              <a:t>Como</a:t>
            </a:r>
            <a:r>
              <a:rPr sz="2400" spc="-65" dirty="0">
                <a:latin typeface="Arial MT"/>
                <a:cs typeface="Arial MT"/>
              </a:rPr>
              <a:t> </a:t>
            </a:r>
            <a:r>
              <a:rPr sz="2400" dirty="0">
                <a:latin typeface="Arial MT"/>
                <a:cs typeface="Arial MT"/>
              </a:rPr>
              <a:t>un</a:t>
            </a:r>
            <a:r>
              <a:rPr sz="2400" spc="-60" dirty="0">
                <a:latin typeface="Arial MT"/>
                <a:cs typeface="Arial MT"/>
              </a:rPr>
              <a:t> </a:t>
            </a:r>
            <a:r>
              <a:rPr sz="2400" dirty="0">
                <a:latin typeface="Arial MT"/>
                <a:cs typeface="Arial MT"/>
              </a:rPr>
              <a:t>conjunto</a:t>
            </a:r>
            <a:r>
              <a:rPr sz="2400" spc="-60" dirty="0">
                <a:latin typeface="Arial MT"/>
                <a:cs typeface="Arial MT"/>
              </a:rPr>
              <a:t> </a:t>
            </a:r>
            <a:r>
              <a:rPr sz="2400" dirty="0">
                <a:latin typeface="Arial MT"/>
                <a:cs typeface="Arial MT"/>
              </a:rPr>
              <a:t>de</a:t>
            </a:r>
            <a:r>
              <a:rPr sz="2400" spc="-60" dirty="0">
                <a:latin typeface="Arial MT"/>
                <a:cs typeface="Arial MT"/>
              </a:rPr>
              <a:t> </a:t>
            </a:r>
            <a:r>
              <a:rPr sz="2400" dirty="0">
                <a:latin typeface="Arial MT"/>
                <a:cs typeface="Arial MT"/>
              </a:rPr>
              <a:t>entidades</a:t>
            </a:r>
            <a:r>
              <a:rPr sz="2400" spc="-60" dirty="0">
                <a:latin typeface="Arial MT"/>
                <a:cs typeface="Arial MT"/>
              </a:rPr>
              <a:t> </a:t>
            </a:r>
            <a:r>
              <a:rPr sz="2400" dirty="0">
                <a:latin typeface="Arial MT"/>
                <a:cs typeface="Arial MT"/>
              </a:rPr>
              <a:t>puede</a:t>
            </a:r>
            <a:r>
              <a:rPr sz="2400" spc="-60" dirty="0">
                <a:latin typeface="Arial MT"/>
                <a:cs typeface="Arial MT"/>
              </a:rPr>
              <a:t> </a:t>
            </a:r>
            <a:r>
              <a:rPr sz="2400" dirty="0">
                <a:latin typeface="Arial MT"/>
                <a:cs typeface="Arial MT"/>
              </a:rPr>
              <a:t>tener</a:t>
            </a:r>
            <a:r>
              <a:rPr sz="2400" spc="-60" dirty="0">
                <a:latin typeface="Arial MT"/>
                <a:cs typeface="Arial MT"/>
              </a:rPr>
              <a:t> </a:t>
            </a:r>
            <a:r>
              <a:rPr sz="2400" spc="-10" dirty="0">
                <a:latin typeface="Arial MT"/>
                <a:cs typeface="Arial MT"/>
              </a:rPr>
              <a:t>diferentes </a:t>
            </a:r>
            <a:r>
              <a:rPr sz="2400" dirty="0">
                <a:latin typeface="Arial MT"/>
                <a:cs typeface="Arial MT"/>
              </a:rPr>
              <a:t>atributos,</a:t>
            </a:r>
            <a:r>
              <a:rPr sz="2400" spc="-65" dirty="0">
                <a:latin typeface="Arial MT"/>
                <a:cs typeface="Arial MT"/>
              </a:rPr>
              <a:t> </a:t>
            </a:r>
            <a:r>
              <a:rPr sz="2400" dirty="0">
                <a:latin typeface="Arial MT"/>
                <a:cs typeface="Arial MT"/>
              </a:rPr>
              <a:t>cada</a:t>
            </a:r>
            <a:r>
              <a:rPr sz="2400" spc="-70" dirty="0">
                <a:latin typeface="Arial MT"/>
                <a:cs typeface="Arial MT"/>
              </a:rPr>
              <a:t> </a:t>
            </a:r>
            <a:r>
              <a:rPr sz="2400" dirty="0">
                <a:latin typeface="Arial MT"/>
                <a:cs typeface="Arial MT"/>
              </a:rPr>
              <a:t>entidad</a:t>
            </a:r>
            <a:r>
              <a:rPr sz="2400" spc="-65" dirty="0">
                <a:latin typeface="Arial MT"/>
                <a:cs typeface="Arial MT"/>
              </a:rPr>
              <a:t> </a:t>
            </a:r>
            <a:r>
              <a:rPr sz="2400" dirty="0">
                <a:latin typeface="Arial MT"/>
                <a:cs typeface="Arial MT"/>
              </a:rPr>
              <a:t>se</a:t>
            </a:r>
            <a:r>
              <a:rPr sz="2400" spc="-70" dirty="0">
                <a:latin typeface="Arial MT"/>
                <a:cs typeface="Arial MT"/>
              </a:rPr>
              <a:t> </a:t>
            </a:r>
            <a:r>
              <a:rPr sz="2400" dirty="0">
                <a:latin typeface="Arial MT"/>
                <a:cs typeface="Arial MT"/>
              </a:rPr>
              <a:t>puede</a:t>
            </a:r>
            <a:r>
              <a:rPr sz="2400" spc="-60" dirty="0">
                <a:latin typeface="Arial MT"/>
                <a:cs typeface="Arial MT"/>
              </a:rPr>
              <a:t> </a:t>
            </a:r>
            <a:r>
              <a:rPr sz="2400" dirty="0">
                <a:latin typeface="Arial MT"/>
                <a:cs typeface="Arial MT"/>
              </a:rPr>
              <a:t>describir</a:t>
            </a:r>
            <a:r>
              <a:rPr sz="2400" spc="-65" dirty="0">
                <a:latin typeface="Arial MT"/>
                <a:cs typeface="Arial MT"/>
              </a:rPr>
              <a:t> </a:t>
            </a:r>
            <a:r>
              <a:rPr sz="2400" dirty="0">
                <a:latin typeface="Arial MT"/>
                <a:cs typeface="Arial MT"/>
              </a:rPr>
              <a:t>como</a:t>
            </a:r>
            <a:r>
              <a:rPr sz="2400" spc="-65" dirty="0">
                <a:latin typeface="Arial MT"/>
                <a:cs typeface="Arial MT"/>
              </a:rPr>
              <a:t> </a:t>
            </a:r>
            <a:r>
              <a:rPr sz="2400" spc="-25" dirty="0">
                <a:latin typeface="Arial MT"/>
                <a:cs typeface="Arial MT"/>
              </a:rPr>
              <a:t>un </a:t>
            </a:r>
            <a:r>
              <a:rPr sz="2400" dirty="0">
                <a:latin typeface="Arial MT"/>
                <a:cs typeface="Arial MT"/>
              </a:rPr>
              <a:t>conjunto</a:t>
            </a:r>
            <a:r>
              <a:rPr sz="2400" spc="-60" dirty="0">
                <a:latin typeface="Arial MT"/>
                <a:cs typeface="Arial MT"/>
              </a:rPr>
              <a:t> </a:t>
            </a:r>
            <a:r>
              <a:rPr sz="2400" dirty="0">
                <a:latin typeface="Arial MT"/>
                <a:cs typeface="Arial MT"/>
              </a:rPr>
              <a:t>de</a:t>
            </a:r>
            <a:r>
              <a:rPr sz="2400" spc="-60" dirty="0">
                <a:latin typeface="Arial MT"/>
                <a:cs typeface="Arial MT"/>
              </a:rPr>
              <a:t> </a:t>
            </a:r>
            <a:r>
              <a:rPr sz="2400" dirty="0">
                <a:latin typeface="Arial MT"/>
                <a:cs typeface="Arial MT"/>
              </a:rPr>
              <a:t>pares</a:t>
            </a:r>
            <a:r>
              <a:rPr sz="2400" spc="-60" dirty="0">
                <a:latin typeface="Arial MT"/>
                <a:cs typeface="Arial MT"/>
              </a:rPr>
              <a:t> </a:t>
            </a:r>
            <a:r>
              <a:rPr sz="2400" b="1" spc="-10" dirty="0">
                <a:solidFill>
                  <a:srgbClr val="001F5F"/>
                </a:solidFill>
                <a:latin typeface="Arial"/>
                <a:cs typeface="Arial"/>
              </a:rPr>
              <a:t>(atributo,valor)</a:t>
            </a:r>
            <a:endParaRPr sz="2400" dirty="0">
              <a:latin typeface="Arial"/>
              <a:cs typeface="Arial"/>
            </a:endParaRPr>
          </a:p>
          <a:p>
            <a:pPr marL="469265">
              <a:lnSpc>
                <a:spcPct val="100000"/>
              </a:lnSpc>
              <a:spcBef>
                <a:spcPts val="500"/>
              </a:spcBef>
            </a:pPr>
            <a:r>
              <a:rPr sz="2000" dirty="0">
                <a:latin typeface="Arial MT"/>
                <a:cs typeface="Arial MT"/>
              </a:rPr>
              <a:t>–</a:t>
            </a:r>
            <a:r>
              <a:rPr sz="2000" spc="-5" dirty="0">
                <a:latin typeface="Arial MT"/>
                <a:cs typeface="Arial MT"/>
              </a:rPr>
              <a:t>  </a:t>
            </a:r>
            <a:r>
              <a:rPr sz="2000" dirty="0">
                <a:latin typeface="Arial MT"/>
                <a:cs typeface="Arial MT"/>
              </a:rPr>
              <a:t>un</a:t>
            </a:r>
            <a:r>
              <a:rPr sz="2000" spc="-20" dirty="0">
                <a:latin typeface="Arial MT"/>
                <a:cs typeface="Arial MT"/>
              </a:rPr>
              <a:t> </a:t>
            </a:r>
            <a:r>
              <a:rPr sz="2000" dirty="0">
                <a:latin typeface="Arial MT"/>
                <a:cs typeface="Arial MT"/>
              </a:rPr>
              <a:t>par</a:t>
            </a:r>
            <a:r>
              <a:rPr sz="2000" spc="-30" dirty="0">
                <a:latin typeface="Arial MT"/>
                <a:cs typeface="Arial MT"/>
              </a:rPr>
              <a:t> </a:t>
            </a:r>
            <a:r>
              <a:rPr sz="2000" dirty="0">
                <a:latin typeface="Arial MT"/>
                <a:cs typeface="Arial MT"/>
              </a:rPr>
              <a:t>para</a:t>
            </a:r>
            <a:r>
              <a:rPr sz="2000" spc="-30" dirty="0">
                <a:latin typeface="Arial MT"/>
                <a:cs typeface="Arial MT"/>
              </a:rPr>
              <a:t> </a:t>
            </a:r>
            <a:r>
              <a:rPr sz="2000" dirty="0">
                <a:latin typeface="Arial MT"/>
                <a:cs typeface="Arial MT"/>
              </a:rPr>
              <a:t>cada</a:t>
            </a:r>
            <a:r>
              <a:rPr sz="2000" spc="-20" dirty="0">
                <a:latin typeface="Arial MT"/>
                <a:cs typeface="Arial MT"/>
              </a:rPr>
              <a:t> </a:t>
            </a:r>
            <a:r>
              <a:rPr sz="2000" dirty="0">
                <a:latin typeface="Arial MT"/>
                <a:cs typeface="Arial MT"/>
              </a:rPr>
              <a:t>atributo</a:t>
            </a:r>
            <a:r>
              <a:rPr sz="2000" spc="-20" dirty="0">
                <a:latin typeface="Arial MT"/>
                <a:cs typeface="Arial MT"/>
              </a:rPr>
              <a:t> </a:t>
            </a:r>
            <a:r>
              <a:rPr sz="2000" dirty="0">
                <a:latin typeface="Arial MT"/>
                <a:cs typeface="Arial MT"/>
              </a:rPr>
              <a:t>del</a:t>
            </a:r>
            <a:r>
              <a:rPr sz="2000" spc="-25" dirty="0">
                <a:latin typeface="Arial MT"/>
                <a:cs typeface="Arial MT"/>
              </a:rPr>
              <a:t> </a:t>
            </a:r>
            <a:r>
              <a:rPr sz="2000" dirty="0">
                <a:latin typeface="Arial MT"/>
                <a:cs typeface="Arial MT"/>
              </a:rPr>
              <a:t>conjunto</a:t>
            </a:r>
            <a:r>
              <a:rPr sz="2000" spc="-20" dirty="0">
                <a:latin typeface="Arial MT"/>
                <a:cs typeface="Arial MT"/>
              </a:rPr>
              <a:t> </a:t>
            </a:r>
            <a:r>
              <a:rPr sz="2000" dirty="0">
                <a:latin typeface="Arial MT"/>
                <a:cs typeface="Arial MT"/>
              </a:rPr>
              <a:t>de</a:t>
            </a:r>
            <a:r>
              <a:rPr sz="2000" spc="-25" dirty="0">
                <a:latin typeface="Arial MT"/>
                <a:cs typeface="Arial MT"/>
              </a:rPr>
              <a:t> </a:t>
            </a:r>
            <a:r>
              <a:rPr sz="2000" spc="-10" dirty="0">
                <a:latin typeface="Arial MT"/>
                <a:cs typeface="Arial MT"/>
              </a:rPr>
              <a:t>entidades.</a:t>
            </a:r>
            <a:endParaRPr sz="2000" dirty="0">
              <a:latin typeface="Arial MT"/>
              <a:cs typeface="Arial MT"/>
            </a:endParaRPr>
          </a:p>
          <a:p>
            <a:pPr>
              <a:lnSpc>
                <a:spcPct val="100000"/>
              </a:lnSpc>
              <a:spcBef>
                <a:spcPts val="1805"/>
              </a:spcBef>
            </a:pPr>
            <a:endParaRPr sz="2000" dirty="0">
              <a:latin typeface="Arial MT"/>
              <a:cs typeface="Arial MT"/>
            </a:endParaRPr>
          </a:p>
          <a:p>
            <a:pPr marL="354965" marR="514350" indent="-342900">
              <a:lnSpc>
                <a:spcPts val="2870"/>
              </a:lnSpc>
              <a:buChar char="•"/>
              <a:tabLst>
                <a:tab pos="354965" algn="l"/>
              </a:tabLst>
            </a:pPr>
            <a:r>
              <a:rPr sz="2400" dirty="0">
                <a:latin typeface="Arial MT"/>
                <a:cs typeface="Arial MT"/>
              </a:rPr>
              <a:t>Ejemplo:</a:t>
            </a:r>
            <a:r>
              <a:rPr sz="2400" spc="535" dirty="0">
                <a:latin typeface="Arial MT"/>
                <a:cs typeface="Arial MT"/>
              </a:rPr>
              <a:t> </a:t>
            </a:r>
            <a:r>
              <a:rPr sz="2400" i="1" dirty="0">
                <a:latin typeface="Arial"/>
                <a:cs typeface="Arial"/>
              </a:rPr>
              <a:t>empleado</a:t>
            </a:r>
            <a:r>
              <a:rPr sz="2400" i="1" spc="-70" dirty="0">
                <a:latin typeface="Arial"/>
                <a:cs typeface="Arial"/>
              </a:rPr>
              <a:t> </a:t>
            </a:r>
            <a:r>
              <a:rPr sz="2400" dirty="0">
                <a:latin typeface="Arial MT"/>
                <a:cs typeface="Arial MT"/>
              </a:rPr>
              <a:t>se</a:t>
            </a:r>
            <a:r>
              <a:rPr sz="2400" spc="-65" dirty="0">
                <a:latin typeface="Arial MT"/>
                <a:cs typeface="Arial MT"/>
              </a:rPr>
              <a:t> </a:t>
            </a:r>
            <a:r>
              <a:rPr sz="2400" dirty="0">
                <a:latin typeface="Arial MT"/>
                <a:cs typeface="Arial MT"/>
              </a:rPr>
              <a:t>puede</a:t>
            </a:r>
            <a:r>
              <a:rPr sz="2400" spc="-65" dirty="0">
                <a:latin typeface="Arial MT"/>
                <a:cs typeface="Arial MT"/>
              </a:rPr>
              <a:t> </a:t>
            </a:r>
            <a:r>
              <a:rPr sz="2400" dirty="0">
                <a:latin typeface="Arial MT"/>
                <a:cs typeface="Arial MT"/>
              </a:rPr>
              <a:t>describir</a:t>
            </a:r>
            <a:r>
              <a:rPr sz="2400" spc="-65" dirty="0">
                <a:latin typeface="Arial MT"/>
                <a:cs typeface="Arial MT"/>
              </a:rPr>
              <a:t> </a:t>
            </a:r>
            <a:r>
              <a:rPr sz="2400" dirty="0">
                <a:latin typeface="Arial MT"/>
                <a:cs typeface="Arial MT"/>
              </a:rPr>
              <a:t>mediante</a:t>
            </a:r>
            <a:r>
              <a:rPr sz="2400" spc="-65" dirty="0">
                <a:latin typeface="Arial MT"/>
                <a:cs typeface="Arial MT"/>
              </a:rPr>
              <a:t> </a:t>
            </a:r>
            <a:r>
              <a:rPr sz="2400" spc="-25" dirty="0">
                <a:latin typeface="Arial MT"/>
                <a:cs typeface="Arial MT"/>
              </a:rPr>
              <a:t>el </a:t>
            </a:r>
            <a:r>
              <a:rPr sz="2400" spc="-10" dirty="0">
                <a:latin typeface="Arial MT"/>
                <a:cs typeface="Arial MT"/>
              </a:rPr>
              <a:t>conjunto</a:t>
            </a:r>
            <a:endParaRPr sz="2400" dirty="0">
              <a:latin typeface="Arial MT"/>
              <a:cs typeface="Arial MT"/>
            </a:endParaRPr>
          </a:p>
          <a:p>
            <a:pPr marL="554990">
              <a:lnSpc>
                <a:spcPct val="100000"/>
              </a:lnSpc>
              <a:spcBef>
                <a:spcPts val="1555"/>
              </a:spcBef>
            </a:pPr>
            <a:r>
              <a:rPr sz="2000" b="1" dirty="0">
                <a:latin typeface="Arial"/>
                <a:cs typeface="Arial"/>
              </a:rPr>
              <a:t>{(</a:t>
            </a:r>
            <a:r>
              <a:rPr sz="2000" b="1" i="1" dirty="0">
                <a:latin typeface="Arial"/>
                <a:cs typeface="Arial"/>
              </a:rPr>
              <a:t>DNI,</a:t>
            </a:r>
            <a:r>
              <a:rPr sz="2000" b="1" i="1" spc="-60" dirty="0">
                <a:latin typeface="Arial"/>
                <a:cs typeface="Arial"/>
              </a:rPr>
              <a:t> </a:t>
            </a:r>
            <a:r>
              <a:rPr lang="es-ES" sz="2000" b="1" i="1" dirty="0" smtClean="0">
                <a:latin typeface="Arial"/>
                <a:cs typeface="Arial"/>
              </a:rPr>
              <a:t>12.345.678</a:t>
            </a:r>
            <a:r>
              <a:rPr sz="2000" b="1" i="1" dirty="0" smtClean="0">
                <a:latin typeface="Arial"/>
                <a:cs typeface="Arial"/>
              </a:rPr>
              <a:t>),</a:t>
            </a:r>
            <a:r>
              <a:rPr sz="2000" b="1" i="1" spc="-75" dirty="0" smtClean="0">
                <a:latin typeface="Arial"/>
                <a:cs typeface="Arial"/>
              </a:rPr>
              <a:t> </a:t>
            </a:r>
            <a:r>
              <a:rPr sz="2000" b="1" dirty="0">
                <a:latin typeface="Arial"/>
                <a:cs typeface="Arial"/>
              </a:rPr>
              <a:t>(</a:t>
            </a:r>
            <a:r>
              <a:rPr sz="2000" b="1" i="1" dirty="0">
                <a:latin typeface="Arial"/>
                <a:cs typeface="Arial"/>
              </a:rPr>
              <a:t>nombre,</a:t>
            </a:r>
            <a:r>
              <a:rPr sz="2000" b="1" i="1" spc="-60" dirty="0">
                <a:latin typeface="Arial"/>
                <a:cs typeface="Arial"/>
              </a:rPr>
              <a:t> </a:t>
            </a:r>
            <a:r>
              <a:rPr sz="2000" b="1" i="1" dirty="0">
                <a:latin typeface="Arial"/>
                <a:cs typeface="Arial"/>
              </a:rPr>
              <a:t>López),</a:t>
            </a:r>
            <a:r>
              <a:rPr sz="2000" b="1" i="1" spc="-75" dirty="0">
                <a:latin typeface="Arial"/>
                <a:cs typeface="Arial"/>
              </a:rPr>
              <a:t> </a:t>
            </a:r>
            <a:r>
              <a:rPr sz="2000" b="1" i="1" dirty="0">
                <a:latin typeface="Arial"/>
                <a:cs typeface="Arial"/>
              </a:rPr>
              <a:t>(calle,</a:t>
            </a:r>
            <a:r>
              <a:rPr sz="2000" b="1" i="1" spc="-60" dirty="0">
                <a:latin typeface="Arial"/>
                <a:cs typeface="Arial"/>
              </a:rPr>
              <a:t> </a:t>
            </a:r>
            <a:r>
              <a:rPr sz="2000" b="1" i="1" dirty="0">
                <a:latin typeface="Arial"/>
                <a:cs typeface="Arial"/>
              </a:rPr>
              <a:t>Mayor),</a:t>
            </a:r>
            <a:r>
              <a:rPr sz="2000" b="1" i="1" spc="-75" dirty="0">
                <a:latin typeface="Arial"/>
                <a:cs typeface="Arial"/>
              </a:rPr>
              <a:t> </a:t>
            </a:r>
            <a:r>
              <a:rPr sz="2000" b="1" i="1" spc="-10" dirty="0">
                <a:latin typeface="Arial"/>
                <a:cs typeface="Arial"/>
              </a:rPr>
              <a:t>(ciudad,</a:t>
            </a:r>
            <a:endParaRPr sz="2000" dirty="0">
              <a:latin typeface="Arial"/>
              <a:cs typeface="Arial"/>
            </a:endParaRPr>
          </a:p>
          <a:p>
            <a:pPr marL="598805" algn="ctr">
              <a:lnSpc>
                <a:spcPct val="100000"/>
              </a:lnSpc>
            </a:pPr>
            <a:r>
              <a:rPr sz="2000" b="1" i="1" spc="-10" dirty="0">
                <a:latin typeface="Arial"/>
                <a:cs typeface="Arial"/>
              </a:rPr>
              <a:t>Rosario)}</a:t>
            </a:r>
            <a:endParaRPr sz="2000" dirty="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65100" y="196850"/>
            <a:ext cx="7705702" cy="1411351"/>
          </a:xfrm>
          <a:prstGeom prst="rect">
            <a:avLst/>
          </a:prstGeom>
        </p:spPr>
        <p:txBody>
          <a:bodyPr vert="horz" wrap="square" lIns="0" tIns="347980" rIns="0" bIns="0" rtlCol="0">
            <a:spAutoFit/>
          </a:bodyPr>
          <a:lstStyle/>
          <a:p>
            <a:pPr marL="2054225">
              <a:lnSpc>
                <a:spcPct val="100000"/>
              </a:lnSpc>
              <a:spcBef>
                <a:spcPts val="100"/>
              </a:spcBef>
            </a:pPr>
            <a:r>
              <a:rPr b="1" dirty="0">
                <a:latin typeface="Arial"/>
                <a:cs typeface="Arial"/>
              </a:rPr>
              <a:t>Tipos</a:t>
            </a:r>
            <a:r>
              <a:rPr b="1" spc="-15" dirty="0">
                <a:latin typeface="Arial"/>
                <a:cs typeface="Arial"/>
              </a:rPr>
              <a:t> </a:t>
            </a:r>
            <a:r>
              <a:rPr b="1" dirty="0">
                <a:latin typeface="Arial"/>
                <a:cs typeface="Arial"/>
              </a:rPr>
              <a:t>de</a:t>
            </a:r>
            <a:r>
              <a:rPr b="1" spc="-15" dirty="0">
                <a:latin typeface="Arial"/>
                <a:cs typeface="Arial"/>
              </a:rPr>
              <a:t> </a:t>
            </a:r>
            <a:r>
              <a:rPr b="1" spc="-10" dirty="0">
                <a:latin typeface="Arial"/>
                <a:cs typeface="Arial"/>
              </a:rPr>
              <a:t>atributos</a:t>
            </a:r>
          </a:p>
        </p:txBody>
      </p:sp>
      <p:sp>
        <p:nvSpPr>
          <p:cNvPr id="3" name="object 3"/>
          <p:cNvSpPr txBox="1"/>
          <p:nvPr/>
        </p:nvSpPr>
        <p:spPr>
          <a:xfrm>
            <a:off x="1308100" y="1576451"/>
            <a:ext cx="7854950" cy="4977645"/>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001F5F"/>
                </a:solidFill>
                <a:latin typeface="Arial MT"/>
                <a:cs typeface="Arial MT"/>
              </a:rPr>
              <a:t>Atributos</a:t>
            </a:r>
            <a:r>
              <a:rPr sz="2800" spc="-80" dirty="0">
                <a:solidFill>
                  <a:srgbClr val="001F5F"/>
                </a:solidFill>
                <a:latin typeface="Arial MT"/>
                <a:cs typeface="Arial MT"/>
              </a:rPr>
              <a:t> </a:t>
            </a:r>
            <a:r>
              <a:rPr sz="2800" b="1" dirty="0">
                <a:solidFill>
                  <a:srgbClr val="001F5F"/>
                </a:solidFill>
                <a:latin typeface="Arial"/>
                <a:cs typeface="Arial"/>
              </a:rPr>
              <a:t>simples</a:t>
            </a:r>
            <a:r>
              <a:rPr sz="2800" b="1" spc="-65" dirty="0">
                <a:solidFill>
                  <a:srgbClr val="001F5F"/>
                </a:solidFill>
                <a:latin typeface="Arial"/>
                <a:cs typeface="Arial"/>
              </a:rPr>
              <a:t> </a:t>
            </a:r>
            <a:r>
              <a:rPr sz="2800" b="1" dirty="0">
                <a:solidFill>
                  <a:srgbClr val="001F5F"/>
                </a:solidFill>
                <a:latin typeface="Arial"/>
                <a:cs typeface="Arial"/>
              </a:rPr>
              <a:t>y</a:t>
            </a:r>
            <a:r>
              <a:rPr sz="2800" b="1" spc="-80" dirty="0">
                <a:solidFill>
                  <a:srgbClr val="001F5F"/>
                </a:solidFill>
                <a:latin typeface="Arial"/>
                <a:cs typeface="Arial"/>
              </a:rPr>
              <a:t> </a:t>
            </a:r>
            <a:r>
              <a:rPr sz="2800" b="1" spc="-10" dirty="0">
                <a:solidFill>
                  <a:srgbClr val="001F5F"/>
                </a:solidFill>
                <a:latin typeface="Arial"/>
                <a:cs typeface="Arial"/>
              </a:rPr>
              <a:t>compuestos.</a:t>
            </a:r>
            <a:endParaRPr sz="2800" dirty="0">
              <a:latin typeface="Arial"/>
              <a:cs typeface="Arial"/>
            </a:endParaRPr>
          </a:p>
          <a:p>
            <a:pPr>
              <a:lnSpc>
                <a:spcPct val="100000"/>
              </a:lnSpc>
              <a:spcBef>
                <a:spcPts val="905"/>
              </a:spcBef>
            </a:pPr>
            <a:endParaRPr sz="2800" dirty="0">
              <a:latin typeface="Arial"/>
              <a:cs typeface="Arial"/>
            </a:endParaRPr>
          </a:p>
          <a:p>
            <a:pPr marL="353695" indent="-340995">
              <a:lnSpc>
                <a:spcPct val="100000"/>
              </a:lnSpc>
              <a:spcBef>
                <a:spcPts val="5"/>
              </a:spcBef>
              <a:buFont typeface="Arial MT"/>
              <a:buChar char="•"/>
              <a:tabLst>
                <a:tab pos="353695" algn="l"/>
              </a:tabLst>
            </a:pPr>
            <a:r>
              <a:rPr sz="2800" b="1" dirty="0">
                <a:latin typeface="Arial"/>
                <a:cs typeface="Arial"/>
              </a:rPr>
              <a:t>Simples</a:t>
            </a:r>
            <a:r>
              <a:rPr sz="2800" dirty="0">
                <a:latin typeface="Arial MT"/>
                <a:cs typeface="Arial MT"/>
              </a:rPr>
              <a:t>:</a:t>
            </a:r>
            <a:r>
              <a:rPr sz="2800" spc="-65" dirty="0">
                <a:latin typeface="Arial MT"/>
                <a:cs typeface="Arial MT"/>
              </a:rPr>
              <a:t> </a:t>
            </a:r>
            <a:r>
              <a:rPr sz="2800" dirty="0">
                <a:latin typeface="Arial MT"/>
                <a:cs typeface="Arial MT"/>
              </a:rPr>
              <a:t>no</a:t>
            </a:r>
            <a:r>
              <a:rPr sz="2800" spc="-60" dirty="0">
                <a:latin typeface="Arial MT"/>
                <a:cs typeface="Arial MT"/>
              </a:rPr>
              <a:t> </a:t>
            </a:r>
            <a:r>
              <a:rPr sz="2800" dirty="0">
                <a:latin typeface="Arial MT"/>
                <a:cs typeface="Arial MT"/>
              </a:rPr>
              <a:t>están</a:t>
            </a:r>
            <a:r>
              <a:rPr sz="2800" spc="-75" dirty="0">
                <a:latin typeface="Arial MT"/>
                <a:cs typeface="Arial MT"/>
              </a:rPr>
              <a:t> </a:t>
            </a:r>
            <a:r>
              <a:rPr sz="2800" dirty="0">
                <a:latin typeface="Arial MT"/>
                <a:cs typeface="Arial MT"/>
              </a:rPr>
              <a:t>divididos</a:t>
            </a:r>
            <a:r>
              <a:rPr sz="2800" spc="-60" dirty="0">
                <a:latin typeface="Arial MT"/>
                <a:cs typeface="Arial MT"/>
              </a:rPr>
              <a:t> </a:t>
            </a:r>
            <a:r>
              <a:rPr sz="2800" dirty="0">
                <a:latin typeface="Arial MT"/>
                <a:cs typeface="Arial MT"/>
              </a:rPr>
              <a:t>en</a:t>
            </a:r>
            <a:r>
              <a:rPr sz="2800" spc="-60" dirty="0">
                <a:latin typeface="Arial MT"/>
                <a:cs typeface="Arial MT"/>
              </a:rPr>
              <a:t> </a:t>
            </a:r>
            <a:r>
              <a:rPr sz="2800" spc="-10" dirty="0">
                <a:latin typeface="Arial MT"/>
                <a:cs typeface="Arial MT"/>
              </a:rPr>
              <a:t>subpartes.</a:t>
            </a:r>
            <a:endParaRPr sz="2800" dirty="0">
              <a:latin typeface="Arial MT"/>
              <a:cs typeface="Arial MT"/>
            </a:endParaRPr>
          </a:p>
          <a:p>
            <a:pPr marL="754380" lvl="1" indent="-285115">
              <a:lnSpc>
                <a:spcPct val="100000"/>
              </a:lnSpc>
              <a:spcBef>
                <a:spcPts val="580"/>
              </a:spcBef>
              <a:buChar char="–"/>
              <a:tabLst>
                <a:tab pos="754380" algn="l"/>
              </a:tabLst>
            </a:pPr>
            <a:r>
              <a:rPr sz="2400" dirty="0">
                <a:latin typeface="Arial MT"/>
                <a:cs typeface="Arial MT"/>
              </a:rPr>
              <a:t>Son</a:t>
            </a:r>
            <a:r>
              <a:rPr sz="2400" spc="-55" dirty="0">
                <a:latin typeface="Arial MT"/>
                <a:cs typeface="Arial MT"/>
              </a:rPr>
              <a:t> </a:t>
            </a:r>
            <a:r>
              <a:rPr sz="2400" dirty="0">
                <a:latin typeface="Arial MT"/>
                <a:cs typeface="Arial MT"/>
              </a:rPr>
              <a:t>los</a:t>
            </a:r>
            <a:r>
              <a:rPr sz="2400" spc="-50" dirty="0">
                <a:latin typeface="Arial MT"/>
                <a:cs typeface="Arial MT"/>
              </a:rPr>
              <a:t> </a:t>
            </a:r>
            <a:r>
              <a:rPr sz="2400" dirty="0">
                <a:latin typeface="Arial MT"/>
                <a:cs typeface="Arial MT"/>
              </a:rPr>
              <a:t>que</a:t>
            </a:r>
            <a:r>
              <a:rPr sz="2400" spc="-50" dirty="0">
                <a:latin typeface="Arial MT"/>
                <a:cs typeface="Arial MT"/>
              </a:rPr>
              <a:t> </a:t>
            </a:r>
            <a:r>
              <a:rPr sz="2400" dirty="0">
                <a:latin typeface="Arial MT"/>
                <a:cs typeface="Arial MT"/>
              </a:rPr>
              <a:t>vimos</a:t>
            </a:r>
            <a:r>
              <a:rPr sz="2400" spc="-50" dirty="0">
                <a:latin typeface="Arial MT"/>
                <a:cs typeface="Arial MT"/>
              </a:rPr>
              <a:t> </a:t>
            </a:r>
            <a:r>
              <a:rPr sz="2400" dirty="0">
                <a:latin typeface="Arial MT"/>
                <a:cs typeface="Arial MT"/>
              </a:rPr>
              <a:t>hasta</a:t>
            </a:r>
            <a:r>
              <a:rPr sz="2400" spc="-50" dirty="0">
                <a:latin typeface="Arial MT"/>
                <a:cs typeface="Arial MT"/>
              </a:rPr>
              <a:t> </a:t>
            </a:r>
            <a:r>
              <a:rPr sz="2400" dirty="0">
                <a:latin typeface="Arial MT"/>
                <a:cs typeface="Arial MT"/>
              </a:rPr>
              <a:t>ahora:</a:t>
            </a:r>
            <a:r>
              <a:rPr sz="2400" spc="-55" dirty="0">
                <a:latin typeface="Arial MT"/>
                <a:cs typeface="Arial MT"/>
              </a:rPr>
              <a:t> </a:t>
            </a:r>
            <a:r>
              <a:rPr sz="2400" dirty="0">
                <a:latin typeface="Arial MT"/>
                <a:cs typeface="Arial MT"/>
              </a:rPr>
              <a:t>nombre,</a:t>
            </a:r>
            <a:r>
              <a:rPr sz="2400" spc="-45" dirty="0">
                <a:latin typeface="Arial MT"/>
                <a:cs typeface="Arial MT"/>
              </a:rPr>
              <a:t> </a:t>
            </a:r>
            <a:r>
              <a:rPr sz="2400" dirty="0">
                <a:latin typeface="Arial MT"/>
                <a:cs typeface="Arial MT"/>
              </a:rPr>
              <a:t>calle,</a:t>
            </a:r>
            <a:r>
              <a:rPr sz="2400" spc="-45" dirty="0">
                <a:latin typeface="Arial MT"/>
                <a:cs typeface="Arial MT"/>
              </a:rPr>
              <a:t> </a:t>
            </a:r>
            <a:r>
              <a:rPr sz="2400" spc="-25" dirty="0">
                <a:latin typeface="Arial MT"/>
                <a:cs typeface="Arial MT"/>
              </a:rPr>
              <a:t>...</a:t>
            </a:r>
            <a:endParaRPr sz="2400" dirty="0">
              <a:latin typeface="Arial MT"/>
              <a:cs typeface="Arial MT"/>
            </a:endParaRPr>
          </a:p>
          <a:p>
            <a:pPr lvl="1">
              <a:lnSpc>
                <a:spcPct val="100000"/>
              </a:lnSpc>
              <a:spcBef>
                <a:spcPts val="1360"/>
              </a:spcBef>
              <a:buFont typeface="Arial MT"/>
              <a:buChar char="–"/>
            </a:pPr>
            <a:endParaRPr sz="2400" dirty="0">
              <a:latin typeface="Arial MT"/>
              <a:cs typeface="Arial MT"/>
            </a:endParaRPr>
          </a:p>
          <a:p>
            <a:pPr marL="353060" marR="284480" indent="-340995">
              <a:lnSpc>
                <a:spcPct val="100000"/>
              </a:lnSpc>
              <a:buFont typeface="Arial MT"/>
              <a:buChar char="•"/>
              <a:tabLst>
                <a:tab pos="354965" algn="l"/>
              </a:tabLst>
            </a:pPr>
            <a:r>
              <a:rPr sz="2800" b="1" dirty="0">
                <a:latin typeface="Arial"/>
                <a:cs typeface="Arial"/>
              </a:rPr>
              <a:t>Compuestos</a:t>
            </a:r>
            <a:r>
              <a:rPr sz="2800" dirty="0">
                <a:latin typeface="Arial MT"/>
                <a:cs typeface="Arial MT"/>
              </a:rPr>
              <a:t>:</a:t>
            </a:r>
            <a:r>
              <a:rPr sz="2800" spc="-80" dirty="0">
                <a:latin typeface="Arial MT"/>
                <a:cs typeface="Arial MT"/>
              </a:rPr>
              <a:t> </a:t>
            </a:r>
            <a:r>
              <a:rPr sz="2800" dirty="0">
                <a:latin typeface="Arial MT"/>
                <a:cs typeface="Arial MT"/>
              </a:rPr>
              <a:t>se</a:t>
            </a:r>
            <a:r>
              <a:rPr sz="2800" spc="-70" dirty="0">
                <a:latin typeface="Arial MT"/>
                <a:cs typeface="Arial MT"/>
              </a:rPr>
              <a:t> </a:t>
            </a:r>
            <a:r>
              <a:rPr sz="2800" dirty="0">
                <a:latin typeface="Arial MT"/>
                <a:cs typeface="Arial MT"/>
              </a:rPr>
              <a:t>pueden</a:t>
            </a:r>
            <a:r>
              <a:rPr sz="2800" spc="-70" dirty="0">
                <a:latin typeface="Arial MT"/>
                <a:cs typeface="Arial MT"/>
              </a:rPr>
              <a:t> </a:t>
            </a:r>
            <a:r>
              <a:rPr sz="2800" dirty="0">
                <a:latin typeface="Arial MT"/>
                <a:cs typeface="Arial MT"/>
              </a:rPr>
              <a:t>dividir</a:t>
            </a:r>
            <a:r>
              <a:rPr sz="2800" spc="-70" dirty="0">
                <a:latin typeface="Arial MT"/>
                <a:cs typeface="Arial MT"/>
              </a:rPr>
              <a:t> </a:t>
            </a:r>
            <a:r>
              <a:rPr sz="2800" dirty="0" err="1">
                <a:latin typeface="Arial MT"/>
                <a:cs typeface="Arial MT"/>
              </a:rPr>
              <a:t>en</a:t>
            </a:r>
            <a:r>
              <a:rPr sz="2800" spc="-70" dirty="0">
                <a:latin typeface="Arial MT"/>
                <a:cs typeface="Arial MT"/>
              </a:rPr>
              <a:t> </a:t>
            </a:r>
            <a:r>
              <a:rPr sz="2800" spc="-10" dirty="0" err="1" smtClean="0">
                <a:latin typeface="Arial MT"/>
                <a:cs typeface="Arial MT"/>
              </a:rPr>
              <a:t>subpartes</a:t>
            </a:r>
            <a:r>
              <a:rPr sz="2800" spc="-10" dirty="0" smtClean="0">
                <a:latin typeface="Arial MT"/>
                <a:cs typeface="Arial MT"/>
              </a:rPr>
              <a:t> </a:t>
            </a:r>
            <a:r>
              <a:rPr sz="2800" spc="-10" dirty="0">
                <a:latin typeface="Arial MT"/>
                <a:cs typeface="Arial MT"/>
              </a:rPr>
              <a:t>	</a:t>
            </a:r>
            <a:r>
              <a:rPr sz="2800" dirty="0">
                <a:latin typeface="Arial MT"/>
                <a:cs typeface="Arial MT"/>
              </a:rPr>
              <a:t>(es</a:t>
            </a:r>
            <a:r>
              <a:rPr sz="2800" spc="-45" dirty="0">
                <a:latin typeface="Arial MT"/>
                <a:cs typeface="Arial MT"/>
              </a:rPr>
              <a:t> </a:t>
            </a:r>
            <a:r>
              <a:rPr sz="2800" dirty="0">
                <a:latin typeface="Arial MT"/>
                <a:cs typeface="Arial MT"/>
              </a:rPr>
              <a:t>decir,</a:t>
            </a:r>
            <a:r>
              <a:rPr sz="2800" spc="-55" dirty="0">
                <a:latin typeface="Arial MT"/>
                <a:cs typeface="Arial MT"/>
              </a:rPr>
              <a:t> </a:t>
            </a:r>
            <a:r>
              <a:rPr sz="2800" dirty="0">
                <a:latin typeface="Arial MT"/>
                <a:cs typeface="Arial MT"/>
              </a:rPr>
              <a:t>en</a:t>
            </a:r>
            <a:r>
              <a:rPr sz="2800" spc="-40" dirty="0">
                <a:latin typeface="Arial MT"/>
                <a:cs typeface="Arial MT"/>
              </a:rPr>
              <a:t> </a:t>
            </a:r>
            <a:r>
              <a:rPr sz="2800" dirty="0">
                <a:latin typeface="Arial MT"/>
                <a:cs typeface="Arial MT"/>
              </a:rPr>
              <a:t>otros</a:t>
            </a:r>
            <a:r>
              <a:rPr sz="2800" spc="-55" dirty="0">
                <a:latin typeface="Arial MT"/>
                <a:cs typeface="Arial MT"/>
              </a:rPr>
              <a:t> </a:t>
            </a:r>
            <a:r>
              <a:rPr sz="2800" spc="-10" dirty="0">
                <a:latin typeface="Arial MT"/>
                <a:cs typeface="Arial MT"/>
              </a:rPr>
              <a:t>atributos).</a:t>
            </a:r>
            <a:endParaRPr sz="2800" dirty="0">
              <a:latin typeface="Arial MT"/>
              <a:cs typeface="Arial MT"/>
            </a:endParaRPr>
          </a:p>
          <a:p>
            <a:pPr marL="754380" marR="5080" lvl="1" indent="-285115">
              <a:lnSpc>
                <a:spcPts val="2870"/>
              </a:lnSpc>
              <a:spcBef>
                <a:spcPts val="685"/>
              </a:spcBef>
              <a:buChar char="–"/>
              <a:tabLst>
                <a:tab pos="756285" algn="l"/>
              </a:tabLst>
            </a:pPr>
            <a:r>
              <a:rPr sz="2400" dirty="0">
                <a:latin typeface="Arial MT"/>
                <a:cs typeface="Arial MT"/>
              </a:rPr>
              <a:t>Ejemplo:</a:t>
            </a:r>
            <a:r>
              <a:rPr sz="2400" spc="575" dirty="0">
                <a:latin typeface="Arial MT"/>
                <a:cs typeface="Arial MT"/>
              </a:rPr>
              <a:t> </a:t>
            </a:r>
            <a:r>
              <a:rPr sz="2400" i="1" spc="-20" dirty="0">
                <a:latin typeface="Arial"/>
                <a:cs typeface="Arial"/>
              </a:rPr>
              <a:t>nombre-</a:t>
            </a:r>
            <a:r>
              <a:rPr sz="2400" i="1" dirty="0">
                <a:latin typeface="Arial"/>
                <a:cs typeface="Arial"/>
              </a:rPr>
              <a:t>persona</a:t>
            </a:r>
            <a:r>
              <a:rPr sz="2400" i="1" spc="-50" dirty="0">
                <a:latin typeface="Arial"/>
                <a:cs typeface="Arial"/>
              </a:rPr>
              <a:t> </a:t>
            </a:r>
            <a:r>
              <a:rPr sz="2400" dirty="0">
                <a:latin typeface="Arial MT"/>
                <a:cs typeface="Arial MT"/>
              </a:rPr>
              <a:t>podría</a:t>
            </a:r>
            <a:r>
              <a:rPr sz="2400" spc="-45" dirty="0">
                <a:latin typeface="Arial MT"/>
                <a:cs typeface="Arial MT"/>
              </a:rPr>
              <a:t> </a:t>
            </a:r>
            <a:r>
              <a:rPr sz="2400" dirty="0">
                <a:latin typeface="Arial MT"/>
                <a:cs typeface="Arial MT"/>
              </a:rPr>
              <a:t>estar</a:t>
            </a:r>
            <a:r>
              <a:rPr sz="2400" spc="-45" dirty="0">
                <a:latin typeface="Arial MT"/>
                <a:cs typeface="Arial MT"/>
              </a:rPr>
              <a:t> </a:t>
            </a:r>
            <a:r>
              <a:rPr sz="2400" spc="-10" dirty="0">
                <a:latin typeface="Arial MT"/>
                <a:cs typeface="Arial MT"/>
              </a:rPr>
              <a:t>estructurado 	</a:t>
            </a:r>
            <a:r>
              <a:rPr sz="2400" dirty="0">
                <a:latin typeface="Arial MT"/>
                <a:cs typeface="Arial MT"/>
              </a:rPr>
              <a:t>como</a:t>
            </a:r>
            <a:r>
              <a:rPr sz="2400" spc="-75" dirty="0">
                <a:latin typeface="Arial MT"/>
                <a:cs typeface="Arial MT"/>
              </a:rPr>
              <a:t> </a:t>
            </a:r>
            <a:r>
              <a:rPr sz="2400" dirty="0">
                <a:latin typeface="Arial MT"/>
                <a:cs typeface="Arial MT"/>
              </a:rPr>
              <a:t>un</a:t>
            </a:r>
            <a:r>
              <a:rPr sz="2400" spc="-75" dirty="0">
                <a:latin typeface="Arial MT"/>
                <a:cs typeface="Arial MT"/>
              </a:rPr>
              <a:t> </a:t>
            </a:r>
            <a:r>
              <a:rPr sz="2400" dirty="0">
                <a:latin typeface="Arial MT"/>
                <a:cs typeface="Arial MT"/>
              </a:rPr>
              <a:t>atributo</a:t>
            </a:r>
            <a:r>
              <a:rPr sz="2400" spc="-70" dirty="0">
                <a:latin typeface="Arial MT"/>
                <a:cs typeface="Arial MT"/>
              </a:rPr>
              <a:t> </a:t>
            </a:r>
            <a:r>
              <a:rPr sz="2400" dirty="0">
                <a:latin typeface="Arial MT"/>
                <a:cs typeface="Arial MT"/>
              </a:rPr>
              <a:t>compuesto</a:t>
            </a:r>
            <a:r>
              <a:rPr sz="2400" spc="-75" dirty="0">
                <a:latin typeface="Arial MT"/>
                <a:cs typeface="Arial MT"/>
              </a:rPr>
              <a:t> </a:t>
            </a:r>
            <a:r>
              <a:rPr sz="2400" dirty="0">
                <a:latin typeface="Arial MT"/>
                <a:cs typeface="Arial MT"/>
              </a:rPr>
              <a:t>consistente</a:t>
            </a:r>
            <a:r>
              <a:rPr sz="2400" spc="-70" dirty="0">
                <a:latin typeface="Arial MT"/>
                <a:cs typeface="Arial MT"/>
              </a:rPr>
              <a:t> </a:t>
            </a:r>
            <a:r>
              <a:rPr sz="2400" spc="-25" dirty="0">
                <a:latin typeface="Arial MT"/>
                <a:cs typeface="Arial MT"/>
              </a:rPr>
              <a:t>en</a:t>
            </a:r>
            <a:endParaRPr sz="2400" dirty="0">
              <a:latin typeface="Arial MT"/>
              <a:cs typeface="Arial MT"/>
            </a:endParaRPr>
          </a:p>
          <a:p>
            <a:pPr marL="671830" algn="ctr">
              <a:lnSpc>
                <a:spcPct val="100000"/>
              </a:lnSpc>
              <a:spcBef>
                <a:spcPts val="480"/>
              </a:spcBef>
            </a:pPr>
            <a:r>
              <a:rPr sz="2400" i="1" dirty="0">
                <a:latin typeface="Arial"/>
                <a:cs typeface="Arial"/>
              </a:rPr>
              <a:t>nombre,</a:t>
            </a:r>
            <a:r>
              <a:rPr sz="2400" i="1" spc="-15" dirty="0">
                <a:latin typeface="Arial"/>
                <a:cs typeface="Arial"/>
              </a:rPr>
              <a:t> </a:t>
            </a:r>
            <a:r>
              <a:rPr sz="2400" i="1" spc="-20" dirty="0">
                <a:latin typeface="Arial"/>
                <a:cs typeface="Arial"/>
              </a:rPr>
              <a:t>primer-</a:t>
            </a:r>
            <a:r>
              <a:rPr sz="2400" i="1" dirty="0">
                <a:latin typeface="Arial"/>
                <a:cs typeface="Arial"/>
              </a:rPr>
              <a:t>apellido</a:t>
            </a:r>
            <a:r>
              <a:rPr sz="2400" i="1" spc="-20" dirty="0">
                <a:latin typeface="Arial"/>
                <a:cs typeface="Arial"/>
              </a:rPr>
              <a:t> </a:t>
            </a:r>
            <a:r>
              <a:rPr sz="2400" i="1" dirty="0">
                <a:latin typeface="Arial"/>
                <a:cs typeface="Arial"/>
              </a:rPr>
              <a:t>y</a:t>
            </a:r>
            <a:r>
              <a:rPr sz="2400" i="1" spc="-15" dirty="0">
                <a:latin typeface="Arial"/>
                <a:cs typeface="Arial"/>
              </a:rPr>
              <a:t> </a:t>
            </a:r>
            <a:r>
              <a:rPr sz="2400" i="1" spc="-20" dirty="0" err="1">
                <a:latin typeface="Arial"/>
                <a:cs typeface="Arial"/>
              </a:rPr>
              <a:t>segundo-</a:t>
            </a:r>
            <a:r>
              <a:rPr sz="2400" i="1" spc="-10" dirty="0" err="1">
                <a:latin typeface="Arial"/>
                <a:cs typeface="Arial"/>
              </a:rPr>
              <a:t>apellido</a:t>
            </a:r>
            <a:r>
              <a:rPr sz="2400" i="1" spc="-10" dirty="0" smtClean="0">
                <a:latin typeface="Arial"/>
                <a:cs typeface="Arial"/>
              </a:rPr>
              <a:t>.</a:t>
            </a:r>
            <a:endParaRPr lang="es-ES" sz="2400" i="1" spc="-10" dirty="0" smtClean="0">
              <a:latin typeface="Arial"/>
              <a:cs typeface="Arial"/>
            </a:endParaRPr>
          </a:p>
          <a:p>
            <a:pPr marL="671830" algn="ctr">
              <a:lnSpc>
                <a:spcPct val="100000"/>
              </a:lnSpc>
              <a:spcBef>
                <a:spcPts val="480"/>
              </a:spcBef>
            </a:pPr>
            <a:endParaRPr sz="2400" dirty="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17500" y="501650"/>
            <a:ext cx="8839200" cy="622671"/>
          </a:xfrm>
          <a:prstGeom prst="rect">
            <a:avLst/>
          </a:prstGeom>
        </p:spPr>
        <p:txBody>
          <a:bodyPr vert="horz" wrap="square" lIns="0" tIns="12065" rIns="0" bIns="0" rtlCol="0">
            <a:spAutoFit/>
          </a:bodyPr>
          <a:lstStyle/>
          <a:p>
            <a:pPr marL="2054225">
              <a:spcBef>
                <a:spcPts val="100"/>
              </a:spcBef>
            </a:pPr>
            <a:r>
              <a:rPr b="1" dirty="0">
                <a:latin typeface="Arial"/>
                <a:cs typeface="Arial"/>
              </a:rPr>
              <a:t>Tipos de atributos</a:t>
            </a:r>
          </a:p>
        </p:txBody>
      </p:sp>
      <p:sp>
        <p:nvSpPr>
          <p:cNvPr id="3" name="object 3"/>
          <p:cNvSpPr txBox="1"/>
          <p:nvPr/>
        </p:nvSpPr>
        <p:spPr>
          <a:xfrm>
            <a:off x="927100" y="1492250"/>
            <a:ext cx="8915400" cy="5123839"/>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001F5F"/>
                </a:solidFill>
                <a:latin typeface="Arial MT"/>
                <a:cs typeface="Arial MT"/>
              </a:rPr>
              <a:t>Atributos</a:t>
            </a:r>
            <a:r>
              <a:rPr sz="2800" spc="-105" dirty="0">
                <a:solidFill>
                  <a:srgbClr val="001F5F"/>
                </a:solidFill>
                <a:latin typeface="Arial MT"/>
                <a:cs typeface="Arial MT"/>
              </a:rPr>
              <a:t> </a:t>
            </a:r>
            <a:r>
              <a:rPr sz="2800" b="1" dirty="0">
                <a:solidFill>
                  <a:srgbClr val="001F5F"/>
                </a:solidFill>
                <a:latin typeface="Arial"/>
                <a:cs typeface="Arial"/>
              </a:rPr>
              <a:t>monovalorados</a:t>
            </a:r>
            <a:r>
              <a:rPr sz="2800" b="1" spc="-70" dirty="0">
                <a:solidFill>
                  <a:srgbClr val="001F5F"/>
                </a:solidFill>
                <a:latin typeface="Arial"/>
                <a:cs typeface="Arial"/>
              </a:rPr>
              <a:t> </a:t>
            </a:r>
            <a:r>
              <a:rPr sz="2800" b="1" dirty="0">
                <a:solidFill>
                  <a:srgbClr val="001F5F"/>
                </a:solidFill>
                <a:latin typeface="Arial"/>
                <a:cs typeface="Arial"/>
              </a:rPr>
              <a:t>y</a:t>
            </a:r>
            <a:r>
              <a:rPr sz="2800" b="1" spc="-105" dirty="0">
                <a:solidFill>
                  <a:srgbClr val="001F5F"/>
                </a:solidFill>
                <a:latin typeface="Arial"/>
                <a:cs typeface="Arial"/>
              </a:rPr>
              <a:t> </a:t>
            </a:r>
            <a:r>
              <a:rPr sz="2800" b="1" spc="-10" dirty="0">
                <a:solidFill>
                  <a:srgbClr val="001F5F"/>
                </a:solidFill>
                <a:latin typeface="Arial"/>
                <a:cs typeface="Arial"/>
              </a:rPr>
              <a:t>multivalorados</a:t>
            </a:r>
            <a:r>
              <a:rPr sz="2800" spc="-10" dirty="0">
                <a:solidFill>
                  <a:srgbClr val="001F5F"/>
                </a:solidFill>
                <a:latin typeface="Arial MT"/>
                <a:cs typeface="Arial MT"/>
              </a:rPr>
              <a:t>.</a:t>
            </a:r>
            <a:endParaRPr sz="2800" dirty="0">
              <a:latin typeface="Arial MT"/>
              <a:cs typeface="Arial MT"/>
            </a:endParaRPr>
          </a:p>
          <a:p>
            <a:pPr>
              <a:lnSpc>
                <a:spcPct val="100000"/>
              </a:lnSpc>
              <a:spcBef>
                <a:spcPts val="1470"/>
              </a:spcBef>
            </a:pPr>
            <a:endParaRPr sz="2800" dirty="0">
              <a:latin typeface="Arial MT"/>
              <a:cs typeface="Arial MT"/>
            </a:endParaRPr>
          </a:p>
          <a:p>
            <a:pPr marL="353060" marR="499109" indent="-340995">
              <a:lnSpc>
                <a:spcPct val="100400"/>
              </a:lnSpc>
              <a:buFont typeface="Arial MT"/>
              <a:buChar char="•"/>
              <a:tabLst>
                <a:tab pos="354965" algn="l"/>
              </a:tabLst>
            </a:pPr>
            <a:r>
              <a:rPr sz="2800" b="1" dirty="0">
                <a:latin typeface="Arial"/>
                <a:cs typeface="Arial"/>
              </a:rPr>
              <a:t>Monovalorados</a:t>
            </a:r>
            <a:r>
              <a:rPr sz="2800" dirty="0">
                <a:latin typeface="Arial MT"/>
                <a:cs typeface="Arial MT"/>
              </a:rPr>
              <a:t>:</a:t>
            </a:r>
            <a:r>
              <a:rPr sz="2800" spc="640" dirty="0">
                <a:latin typeface="Arial MT"/>
                <a:cs typeface="Arial MT"/>
              </a:rPr>
              <a:t> </a:t>
            </a:r>
            <a:r>
              <a:rPr sz="2800" dirty="0">
                <a:latin typeface="Arial MT"/>
                <a:cs typeface="Arial MT"/>
              </a:rPr>
              <a:t>atributos</a:t>
            </a:r>
            <a:r>
              <a:rPr sz="2800" spc="-80" dirty="0">
                <a:latin typeface="Arial MT"/>
                <a:cs typeface="Arial MT"/>
              </a:rPr>
              <a:t> </a:t>
            </a:r>
            <a:r>
              <a:rPr sz="2800" dirty="0">
                <a:latin typeface="Arial MT"/>
                <a:cs typeface="Arial MT"/>
              </a:rPr>
              <a:t>con</a:t>
            </a:r>
            <a:r>
              <a:rPr sz="2800" spc="-60" dirty="0">
                <a:latin typeface="Arial MT"/>
                <a:cs typeface="Arial MT"/>
              </a:rPr>
              <a:t> </a:t>
            </a:r>
            <a:r>
              <a:rPr sz="2800" dirty="0">
                <a:latin typeface="Arial MT"/>
                <a:cs typeface="Arial MT"/>
              </a:rPr>
              <a:t>un</a:t>
            </a:r>
            <a:r>
              <a:rPr sz="2800" spc="-65" dirty="0">
                <a:latin typeface="Arial MT"/>
                <a:cs typeface="Arial MT"/>
              </a:rPr>
              <a:t> </a:t>
            </a:r>
            <a:r>
              <a:rPr sz="2800" dirty="0">
                <a:latin typeface="Arial MT"/>
                <a:cs typeface="Arial MT"/>
              </a:rPr>
              <a:t>valor</a:t>
            </a:r>
            <a:r>
              <a:rPr sz="2800" spc="-65" dirty="0">
                <a:latin typeface="Arial MT"/>
                <a:cs typeface="Arial MT"/>
              </a:rPr>
              <a:t> </a:t>
            </a:r>
            <a:r>
              <a:rPr sz="2800" spc="-10" dirty="0">
                <a:latin typeface="Arial MT"/>
                <a:cs typeface="Arial MT"/>
              </a:rPr>
              <a:t>único 	</a:t>
            </a:r>
            <a:r>
              <a:rPr sz="2800" dirty="0">
                <a:latin typeface="Arial MT"/>
                <a:cs typeface="Arial MT"/>
              </a:rPr>
              <a:t>para</a:t>
            </a:r>
            <a:r>
              <a:rPr sz="2800" spc="-35" dirty="0">
                <a:latin typeface="Arial MT"/>
                <a:cs typeface="Arial MT"/>
              </a:rPr>
              <a:t> </a:t>
            </a:r>
            <a:r>
              <a:rPr sz="2800" dirty="0">
                <a:latin typeface="Arial MT"/>
                <a:cs typeface="Arial MT"/>
              </a:rPr>
              <a:t>la</a:t>
            </a:r>
            <a:r>
              <a:rPr sz="2800" spc="-35" dirty="0">
                <a:latin typeface="Arial MT"/>
                <a:cs typeface="Arial MT"/>
              </a:rPr>
              <a:t> </a:t>
            </a:r>
            <a:r>
              <a:rPr sz="2800" spc="-10" dirty="0">
                <a:latin typeface="Arial MT"/>
                <a:cs typeface="Arial MT"/>
              </a:rPr>
              <a:t>entidad.</a:t>
            </a:r>
            <a:endParaRPr sz="2800" dirty="0">
              <a:latin typeface="Arial MT"/>
              <a:cs typeface="Arial MT"/>
            </a:endParaRPr>
          </a:p>
          <a:p>
            <a:pPr marL="754380" lvl="1" indent="-285115">
              <a:lnSpc>
                <a:spcPct val="100000"/>
              </a:lnSpc>
              <a:spcBef>
                <a:spcPts val="570"/>
              </a:spcBef>
              <a:buChar char="–"/>
              <a:tabLst>
                <a:tab pos="754380" algn="l"/>
              </a:tabLst>
            </a:pPr>
            <a:r>
              <a:rPr sz="2400" dirty="0">
                <a:latin typeface="Arial MT"/>
                <a:cs typeface="Arial MT"/>
              </a:rPr>
              <a:t>Ejemplo:</a:t>
            </a:r>
            <a:r>
              <a:rPr sz="2400" spc="-25" dirty="0">
                <a:latin typeface="Arial MT"/>
                <a:cs typeface="Arial MT"/>
              </a:rPr>
              <a:t> </a:t>
            </a:r>
            <a:r>
              <a:rPr sz="2400" i="1" spc="-20" dirty="0">
                <a:latin typeface="Arial"/>
                <a:cs typeface="Arial"/>
              </a:rPr>
              <a:t>fecha-</a:t>
            </a:r>
            <a:r>
              <a:rPr sz="2400" i="1" spc="-10" dirty="0">
                <a:latin typeface="Arial"/>
                <a:cs typeface="Arial"/>
              </a:rPr>
              <a:t>nacimiento</a:t>
            </a:r>
            <a:endParaRPr sz="2400" dirty="0">
              <a:latin typeface="Arial"/>
              <a:cs typeface="Arial"/>
            </a:endParaRPr>
          </a:p>
          <a:p>
            <a:pPr lvl="1">
              <a:lnSpc>
                <a:spcPct val="100000"/>
              </a:lnSpc>
              <a:spcBef>
                <a:spcPts val="1950"/>
              </a:spcBef>
              <a:buFont typeface="Arial MT"/>
              <a:buChar char="–"/>
            </a:pPr>
            <a:endParaRPr sz="2400" dirty="0">
              <a:latin typeface="Arial"/>
              <a:cs typeface="Arial"/>
            </a:endParaRPr>
          </a:p>
          <a:p>
            <a:pPr marL="353060" marR="5080" indent="-340995">
              <a:lnSpc>
                <a:spcPct val="100000"/>
              </a:lnSpc>
              <a:buFont typeface="Arial MT"/>
              <a:buChar char="•"/>
              <a:tabLst>
                <a:tab pos="354965" algn="l"/>
              </a:tabLst>
            </a:pPr>
            <a:r>
              <a:rPr sz="2800" b="1" dirty="0">
                <a:latin typeface="Arial"/>
                <a:cs typeface="Arial"/>
              </a:rPr>
              <a:t>Multivalorado</a:t>
            </a:r>
            <a:r>
              <a:rPr sz="2800" dirty="0">
                <a:latin typeface="Arial MT"/>
                <a:cs typeface="Arial MT"/>
              </a:rPr>
              <a:t>:</a:t>
            </a:r>
            <a:r>
              <a:rPr sz="2800" spc="-80" dirty="0">
                <a:latin typeface="Arial MT"/>
                <a:cs typeface="Arial MT"/>
              </a:rPr>
              <a:t> </a:t>
            </a:r>
            <a:r>
              <a:rPr sz="2800" dirty="0">
                <a:latin typeface="Arial MT"/>
                <a:cs typeface="Arial MT"/>
              </a:rPr>
              <a:t>tiene</a:t>
            </a:r>
            <a:r>
              <a:rPr sz="2800" spc="-80" dirty="0">
                <a:latin typeface="Arial MT"/>
                <a:cs typeface="Arial MT"/>
              </a:rPr>
              <a:t> </a:t>
            </a:r>
            <a:r>
              <a:rPr sz="2800" dirty="0">
                <a:latin typeface="Arial MT"/>
                <a:cs typeface="Arial MT"/>
              </a:rPr>
              <a:t>un</a:t>
            </a:r>
            <a:r>
              <a:rPr sz="2800" spc="-75" dirty="0">
                <a:latin typeface="Arial MT"/>
                <a:cs typeface="Arial MT"/>
              </a:rPr>
              <a:t> </a:t>
            </a:r>
            <a:r>
              <a:rPr sz="2800" dirty="0">
                <a:latin typeface="Arial MT"/>
                <a:cs typeface="Arial MT"/>
              </a:rPr>
              <a:t>conjunto</a:t>
            </a:r>
            <a:r>
              <a:rPr sz="2800" spc="-75" dirty="0">
                <a:latin typeface="Arial MT"/>
                <a:cs typeface="Arial MT"/>
              </a:rPr>
              <a:t> </a:t>
            </a:r>
            <a:r>
              <a:rPr sz="2800" dirty="0">
                <a:latin typeface="Arial MT"/>
                <a:cs typeface="Arial MT"/>
              </a:rPr>
              <a:t>de</a:t>
            </a:r>
            <a:r>
              <a:rPr sz="2800" spc="-75" dirty="0">
                <a:latin typeface="Arial MT"/>
                <a:cs typeface="Arial MT"/>
              </a:rPr>
              <a:t> </a:t>
            </a:r>
            <a:r>
              <a:rPr sz="2800" dirty="0">
                <a:latin typeface="Arial MT"/>
                <a:cs typeface="Arial MT"/>
              </a:rPr>
              <a:t>valores</a:t>
            </a:r>
            <a:r>
              <a:rPr sz="2800" spc="-75" dirty="0">
                <a:latin typeface="Arial MT"/>
                <a:cs typeface="Arial MT"/>
              </a:rPr>
              <a:t> </a:t>
            </a:r>
            <a:r>
              <a:rPr sz="2800" spc="-20" dirty="0">
                <a:latin typeface="Arial MT"/>
                <a:cs typeface="Arial MT"/>
              </a:rPr>
              <a:t>para 	</a:t>
            </a:r>
            <a:r>
              <a:rPr sz="2800" dirty="0">
                <a:latin typeface="Arial MT"/>
                <a:cs typeface="Arial MT"/>
              </a:rPr>
              <a:t>una</a:t>
            </a:r>
            <a:r>
              <a:rPr sz="2800" spc="-45" dirty="0">
                <a:latin typeface="Arial MT"/>
                <a:cs typeface="Arial MT"/>
              </a:rPr>
              <a:t> </a:t>
            </a:r>
            <a:r>
              <a:rPr sz="2800" spc="-10" dirty="0" err="1">
                <a:latin typeface="Arial MT"/>
                <a:cs typeface="Arial MT"/>
              </a:rPr>
              <a:t>entidad</a:t>
            </a:r>
            <a:r>
              <a:rPr sz="2800" spc="-10" dirty="0" smtClean="0">
                <a:latin typeface="Arial MT"/>
                <a:cs typeface="Arial MT"/>
              </a:rPr>
              <a:t>.</a:t>
            </a:r>
            <a:r>
              <a:rPr lang="es-ES" sz="2800" spc="-10" dirty="0" smtClean="0">
                <a:latin typeface="Arial MT"/>
                <a:cs typeface="Arial MT"/>
              </a:rPr>
              <a:t> Se definen con doble elipse.</a:t>
            </a:r>
            <a:endParaRPr sz="2800" dirty="0">
              <a:latin typeface="Arial MT"/>
              <a:cs typeface="Arial MT"/>
            </a:endParaRPr>
          </a:p>
          <a:p>
            <a:pPr marL="754380" lvl="1" indent="-285115">
              <a:lnSpc>
                <a:spcPct val="100000"/>
              </a:lnSpc>
              <a:spcBef>
                <a:spcPts val="580"/>
              </a:spcBef>
              <a:buChar char="–"/>
              <a:tabLst>
                <a:tab pos="754380" algn="l"/>
              </a:tabLst>
            </a:pPr>
            <a:r>
              <a:rPr sz="2400" dirty="0">
                <a:latin typeface="Arial MT"/>
                <a:cs typeface="Arial MT"/>
              </a:rPr>
              <a:t>Ejemplo:</a:t>
            </a:r>
            <a:r>
              <a:rPr sz="2400" spc="-45" dirty="0">
                <a:latin typeface="Arial MT"/>
                <a:cs typeface="Arial MT"/>
              </a:rPr>
              <a:t> </a:t>
            </a:r>
            <a:r>
              <a:rPr sz="2400" i="1" spc="-20" dirty="0">
                <a:latin typeface="Arial"/>
                <a:cs typeface="Arial"/>
              </a:rPr>
              <a:t>número-</a:t>
            </a:r>
            <a:r>
              <a:rPr sz="2400" i="1" dirty="0">
                <a:latin typeface="Arial"/>
                <a:cs typeface="Arial"/>
              </a:rPr>
              <a:t>teléfono</a:t>
            </a:r>
            <a:r>
              <a:rPr sz="2400" i="1" spc="-50" dirty="0">
                <a:latin typeface="Arial"/>
                <a:cs typeface="Arial"/>
              </a:rPr>
              <a:t> </a:t>
            </a:r>
            <a:r>
              <a:rPr sz="2400" dirty="0">
                <a:latin typeface="Arial MT"/>
                <a:cs typeface="Arial MT"/>
              </a:rPr>
              <a:t>para</a:t>
            </a:r>
            <a:r>
              <a:rPr sz="2400" spc="-45" dirty="0">
                <a:latin typeface="Arial MT"/>
                <a:cs typeface="Arial MT"/>
              </a:rPr>
              <a:t> </a:t>
            </a:r>
            <a:r>
              <a:rPr sz="2400" dirty="0">
                <a:latin typeface="Arial MT"/>
                <a:cs typeface="Arial MT"/>
              </a:rPr>
              <a:t>los</a:t>
            </a:r>
            <a:r>
              <a:rPr sz="2400" spc="-45" dirty="0">
                <a:latin typeface="Arial MT"/>
                <a:cs typeface="Arial MT"/>
              </a:rPr>
              <a:t> </a:t>
            </a:r>
            <a:r>
              <a:rPr sz="2400" spc="-10" dirty="0">
                <a:latin typeface="Arial MT"/>
                <a:cs typeface="Arial MT"/>
              </a:rPr>
              <a:t>empleados</a:t>
            </a:r>
            <a:r>
              <a:rPr sz="2400" i="1" spc="-10" dirty="0">
                <a:latin typeface="Arial"/>
                <a:cs typeface="Arial"/>
              </a:rPr>
              <a:t>.</a:t>
            </a:r>
            <a:endParaRPr sz="2400" dirty="0">
              <a:latin typeface="Arial"/>
              <a:cs typeface="Arial"/>
            </a:endParaRPr>
          </a:p>
          <a:p>
            <a:pPr marL="323215">
              <a:lnSpc>
                <a:spcPct val="100000"/>
              </a:lnSpc>
              <a:spcBef>
                <a:spcPts val="565"/>
              </a:spcBef>
            </a:pPr>
            <a:r>
              <a:rPr sz="2400" dirty="0">
                <a:latin typeface="Arial MT"/>
                <a:cs typeface="Arial MT"/>
              </a:rPr>
              <a:t>Un</a:t>
            </a:r>
            <a:r>
              <a:rPr sz="2400" spc="-55" dirty="0">
                <a:latin typeface="Arial MT"/>
                <a:cs typeface="Arial MT"/>
              </a:rPr>
              <a:t> </a:t>
            </a:r>
            <a:r>
              <a:rPr sz="2400" dirty="0">
                <a:latin typeface="Arial MT"/>
                <a:cs typeface="Arial MT"/>
              </a:rPr>
              <a:t>empleado</a:t>
            </a:r>
            <a:r>
              <a:rPr sz="2400" spc="-55" dirty="0">
                <a:latin typeface="Arial MT"/>
                <a:cs typeface="Arial MT"/>
              </a:rPr>
              <a:t> </a:t>
            </a:r>
            <a:r>
              <a:rPr sz="2400" dirty="0">
                <a:latin typeface="Arial MT"/>
                <a:cs typeface="Arial MT"/>
              </a:rPr>
              <a:t>puede</a:t>
            </a:r>
            <a:r>
              <a:rPr sz="2400" spc="-50" dirty="0">
                <a:latin typeface="Arial MT"/>
                <a:cs typeface="Arial MT"/>
              </a:rPr>
              <a:t> </a:t>
            </a:r>
            <a:r>
              <a:rPr sz="2400" dirty="0">
                <a:latin typeface="Arial MT"/>
                <a:cs typeface="Arial MT"/>
              </a:rPr>
              <a:t>tener</a:t>
            </a:r>
            <a:r>
              <a:rPr sz="2400" spc="-55" dirty="0">
                <a:latin typeface="Arial MT"/>
                <a:cs typeface="Arial MT"/>
              </a:rPr>
              <a:t> </a:t>
            </a:r>
            <a:r>
              <a:rPr sz="2400" b="1" dirty="0">
                <a:latin typeface="Arial"/>
                <a:cs typeface="Arial"/>
              </a:rPr>
              <a:t>cero</a:t>
            </a:r>
            <a:r>
              <a:rPr sz="2400" dirty="0">
                <a:latin typeface="Arial MT"/>
                <a:cs typeface="Arial MT"/>
              </a:rPr>
              <a:t>,</a:t>
            </a:r>
            <a:r>
              <a:rPr sz="2400" spc="-45" dirty="0">
                <a:latin typeface="Arial MT"/>
                <a:cs typeface="Arial MT"/>
              </a:rPr>
              <a:t> </a:t>
            </a:r>
            <a:r>
              <a:rPr sz="2400" b="1" dirty="0">
                <a:latin typeface="Arial"/>
                <a:cs typeface="Arial"/>
              </a:rPr>
              <a:t>uno</a:t>
            </a:r>
            <a:r>
              <a:rPr sz="2400" b="1" spc="-55" dirty="0">
                <a:latin typeface="Arial"/>
                <a:cs typeface="Arial"/>
              </a:rPr>
              <a:t> </a:t>
            </a:r>
            <a:r>
              <a:rPr sz="2400" dirty="0">
                <a:latin typeface="Arial MT"/>
                <a:cs typeface="Arial MT"/>
              </a:rPr>
              <a:t>o</a:t>
            </a:r>
            <a:r>
              <a:rPr sz="2400" spc="-65" dirty="0">
                <a:latin typeface="Arial MT"/>
                <a:cs typeface="Arial MT"/>
              </a:rPr>
              <a:t> </a:t>
            </a:r>
            <a:r>
              <a:rPr sz="2400" b="1" dirty="0">
                <a:latin typeface="Arial"/>
                <a:cs typeface="Arial"/>
              </a:rPr>
              <a:t>más</a:t>
            </a:r>
            <a:r>
              <a:rPr sz="2400" b="1" spc="-45" dirty="0">
                <a:latin typeface="Arial"/>
                <a:cs typeface="Arial"/>
              </a:rPr>
              <a:t> </a:t>
            </a:r>
            <a:r>
              <a:rPr sz="2400" dirty="0">
                <a:latin typeface="Arial MT"/>
                <a:cs typeface="Arial MT"/>
              </a:rPr>
              <a:t>números</a:t>
            </a:r>
            <a:r>
              <a:rPr sz="2400" spc="-55" dirty="0">
                <a:latin typeface="Arial MT"/>
                <a:cs typeface="Arial MT"/>
              </a:rPr>
              <a:t> </a:t>
            </a:r>
            <a:r>
              <a:rPr sz="2400" spc="-25" dirty="0">
                <a:latin typeface="Arial MT"/>
                <a:cs typeface="Arial MT"/>
              </a:rPr>
              <a:t>de</a:t>
            </a:r>
            <a:endParaRPr sz="2400" dirty="0">
              <a:latin typeface="Arial MT"/>
              <a:cs typeface="Arial MT"/>
            </a:endParaRPr>
          </a:p>
          <a:p>
            <a:pPr marL="3724910">
              <a:lnSpc>
                <a:spcPct val="100000"/>
              </a:lnSpc>
            </a:pPr>
            <a:r>
              <a:rPr sz="2400" spc="-10" dirty="0">
                <a:latin typeface="Arial MT"/>
                <a:cs typeface="Arial MT"/>
              </a:rPr>
              <a:t>teléfono.</a:t>
            </a:r>
            <a:endParaRPr sz="2400" dirty="0">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9700" y="425450"/>
            <a:ext cx="7705702" cy="930448"/>
          </a:xfrm>
          <a:prstGeom prst="rect">
            <a:avLst/>
          </a:prstGeom>
        </p:spPr>
        <p:txBody>
          <a:bodyPr vert="horz" wrap="square" lIns="0" tIns="316865" rIns="0" bIns="0" rtlCol="0">
            <a:spAutoFit/>
          </a:bodyPr>
          <a:lstStyle/>
          <a:p>
            <a:pPr marL="2016125">
              <a:lnSpc>
                <a:spcPct val="100000"/>
              </a:lnSpc>
              <a:spcBef>
                <a:spcPts val="95"/>
              </a:spcBef>
            </a:pPr>
            <a:r>
              <a:rPr b="1" dirty="0">
                <a:latin typeface="Arial"/>
                <a:cs typeface="Arial"/>
              </a:rPr>
              <a:t>Tipos de atributos</a:t>
            </a:r>
          </a:p>
        </p:txBody>
      </p:sp>
      <p:sp>
        <p:nvSpPr>
          <p:cNvPr id="3" name="object 3"/>
          <p:cNvSpPr txBox="1"/>
          <p:nvPr/>
        </p:nvSpPr>
        <p:spPr>
          <a:xfrm>
            <a:off x="927100" y="1492250"/>
            <a:ext cx="8605520" cy="5839419"/>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001F5F"/>
                </a:solidFill>
                <a:latin typeface="Arial MT"/>
                <a:cs typeface="Arial MT"/>
              </a:rPr>
              <a:t>Atributos</a:t>
            </a:r>
            <a:r>
              <a:rPr sz="2800" spc="-100" dirty="0">
                <a:solidFill>
                  <a:srgbClr val="001F5F"/>
                </a:solidFill>
                <a:latin typeface="Arial MT"/>
                <a:cs typeface="Arial MT"/>
              </a:rPr>
              <a:t> </a:t>
            </a:r>
            <a:r>
              <a:rPr sz="2800" b="1" spc="-10" dirty="0">
                <a:solidFill>
                  <a:srgbClr val="001F5F"/>
                </a:solidFill>
                <a:latin typeface="Arial"/>
                <a:cs typeface="Arial"/>
              </a:rPr>
              <a:t>derivados</a:t>
            </a:r>
            <a:r>
              <a:rPr sz="2800" spc="-10" dirty="0">
                <a:solidFill>
                  <a:srgbClr val="001F5F"/>
                </a:solidFill>
                <a:latin typeface="Arial MT"/>
                <a:cs typeface="Arial MT"/>
              </a:rPr>
              <a:t>.</a:t>
            </a:r>
            <a:endParaRPr sz="2800" dirty="0">
              <a:latin typeface="Arial MT"/>
              <a:cs typeface="Arial MT"/>
            </a:endParaRPr>
          </a:p>
          <a:p>
            <a:pPr marL="353695" marR="462915" indent="-341630">
              <a:lnSpc>
                <a:spcPct val="100000"/>
              </a:lnSpc>
              <a:spcBef>
                <a:spcPts val="3000"/>
              </a:spcBef>
              <a:buChar char="•"/>
              <a:tabLst>
                <a:tab pos="354965" algn="l"/>
              </a:tabLst>
            </a:pPr>
            <a:r>
              <a:rPr lang="es-ES" sz="2800" dirty="0" smtClean="0"/>
              <a:t>Son aquellos que se calculan a partir de otros atributos y no se guardan </a:t>
            </a:r>
            <a:r>
              <a:rPr lang="es-ES" sz="2800" dirty="0" err="1" smtClean="0"/>
              <a:t>permanentemente.Se</a:t>
            </a:r>
            <a:r>
              <a:rPr lang="es-ES" sz="2800" dirty="0" smtClean="0"/>
              <a:t> definen con elipse de </a:t>
            </a:r>
            <a:r>
              <a:rPr lang="es-ES" sz="2800" dirty="0" err="1" smtClean="0"/>
              <a:t>linea</a:t>
            </a:r>
            <a:r>
              <a:rPr lang="es-ES" sz="2800" dirty="0" smtClean="0"/>
              <a:t> punteada.</a:t>
            </a:r>
            <a:endParaRPr sz="2800" dirty="0">
              <a:latin typeface="Arial MT"/>
              <a:cs typeface="Arial MT"/>
            </a:endParaRPr>
          </a:p>
          <a:p>
            <a:pPr marL="756285" marR="1092835" indent="-287020">
              <a:lnSpc>
                <a:spcPct val="100000"/>
              </a:lnSpc>
              <a:spcBef>
                <a:spcPts val="565"/>
              </a:spcBef>
            </a:pPr>
            <a:r>
              <a:rPr sz="2400" dirty="0">
                <a:latin typeface="Arial MT"/>
                <a:cs typeface="Arial MT"/>
              </a:rPr>
              <a:t>–</a:t>
            </a:r>
            <a:r>
              <a:rPr sz="2400" spc="190" dirty="0">
                <a:latin typeface="Arial MT"/>
                <a:cs typeface="Arial MT"/>
              </a:rPr>
              <a:t> </a:t>
            </a:r>
            <a:r>
              <a:rPr sz="2400" dirty="0">
                <a:latin typeface="Arial MT"/>
                <a:cs typeface="Arial MT"/>
              </a:rPr>
              <a:t>Ej.:</a:t>
            </a:r>
            <a:r>
              <a:rPr sz="2400" spc="-45" dirty="0">
                <a:latin typeface="Arial MT"/>
                <a:cs typeface="Arial MT"/>
              </a:rPr>
              <a:t> </a:t>
            </a:r>
            <a:r>
              <a:rPr sz="2400" i="1" dirty="0">
                <a:latin typeface="Arial"/>
                <a:cs typeface="Arial"/>
              </a:rPr>
              <a:t>edad</a:t>
            </a:r>
            <a:r>
              <a:rPr sz="2400" i="1" spc="-40" dirty="0">
                <a:latin typeface="Arial"/>
                <a:cs typeface="Arial"/>
              </a:rPr>
              <a:t> </a:t>
            </a:r>
            <a:r>
              <a:rPr sz="2400" dirty="0">
                <a:latin typeface="Arial MT"/>
                <a:cs typeface="Arial MT"/>
              </a:rPr>
              <a:t>se</a:t>
            </a:r>
            <a:r>
              <a:rPr sz="2400" spc="-40" dirty="0">
                <a:latin typeface="Arial MT"/>
                <a:cs typeface="Arial MT"/>
              </a:rPr>
              <a:t> </a:t>
            </a:r>
            <a:r>
              <a:rPr sz="2400" dirty="0">
                <a:latin typeface="Arial MT"/>
                <a:cs typeface="Arial MT"/>
              </a:rPr>
              <a:t>puede</a:t>
            </a:r>
            <a:r>
              <a:rPr sz="2400" spc="-40" dirty="0">
                <a:latin typeface="Arial MT"/>
                <a:cs typeface="Arial MT"/>
              </a:rPr>
              <a:t> </a:t>
            </a:r>
            <a:r>
              <a:rPr sz="2400" dirty="0">
                <a:latin typeface="Arial MT"/>
                <a:cs typeface="Arial MT"/>
              </a:rPr>
              <a:t>derivar</a:t>
            </a:r>
            <a:r>
              <a:rPr sz="2400" spc="-40" dirty="0">
                <a:latin typeface="Arial MT"/>
                <a:cs typeface="Arial MT"/>
              </a:rPr>
              <a:t> </a:t>
            </a:r>
            <a:r>
              <a:rPr sz="2400" dirty="0">
                <a:latin typeface="Arial MT"/>
                <a:cs typeface="Arial MT"/>
              </a:rPr>
              <a:t>a</a:t>
            </a:r>
            <a:r>
              <a:rPr sz="2400" spc="-40" dirty="0">
                <a:latin typeface="Arial MT"/>
                <a:cs typeface="Arial MT"/>
              </a:rPr>
              <a:t> </a:t>
            </a:r>
            <a:r>
              <a:rPr sz="2400" dirty="0">
                <a:latin typeface="Arial MT"/>
                <a:cs typeface="Arial MT"/>
              </a:rPr>
              <a:t>partir</a:t>
            </a:r>
            <a:r>
              <a:rPr sz="2400" spc="-35" dirty="0">
                <a:latin typeface="Arial MT"/>
                <a:cs typeface="Arial MT"/>
              </a:rPr>
              <a:t> </a:t>
            </a:r>
            <a:r>
              <a:rPr sz="2400" dirty="0">
                <a:latin typeface="Arial MT"/>
                <a:cs typeface="Arial MT"/>
              </a:rPr>
              <a:t>de</a:t>
            </a:r>
            <a:r>
              <a:rPr sz="2400" spc="-40" dirty="0">
                <a:latin typeface="Arial MT"/>
                <a:cs typeface="Arial MT"/>
              </a:rPr>
              <a:t> </a:t>
            </a:r>
            <a:r>
              <a:rPr sz="2400" dirty="0">
                <a:latin typeface="Arial MT"/>
                <a:cs typeface="Arial MT"/>
              </a:rPr>
              <a:t>la</a:t>
            </a:r>
            <a:r>
              <a:rPr sz="2400" spc="-45" dirty="0">
                <a:latin typeface="Arial MT"/>
                <a:cs typeface="Arial MT"/>
              </a:rPr>
              <a:t> </a:t>
            </a:r>
            <a:r>
              <a:rPr sz="2400" dirty="0">
                <a:latin typeface="Arial MT"/>
                <a:cs typeface="Arial MT"/>
              </a:rPr>
              <a:t>fecha</a:t>
            </a:r>
            <a:r>
              <a:rPr sz="2400" spc="-40" dirty="0">
                <a:latin typeface="Arial MT"/>
                <a:cs typeface="Arial MT"/>
              </a:rPr>
              <a:t> </a:t>
            </a:r>
            <a:r>
              <a:rPr sz="2400" spc="-25" dirty="0">
                <a:latin typeface="Arial MT"/>
                <a:cs typeface="Arial MT"/>
              </a:rPr>
              <a:t>de </a:t>
            </a:r>
            <a:r>
              <a:rPr sz="2400" spc="-10" dirty="0" err="1">
                <a:latin typeface="Arial MT"/>
                <a:cs typeface="Arial MT"/>
              </a:rPr>
              <a:t>nacimiento</a:t>
            </a:r>
            <a:r>
              <a:rPr sz="2400" spc="-10" dirty="0" smtClean="0">
                <a:latin typeface="Arial MT"/>
                <a:cs typeface="Arial MT"/>
              </a:rPr>
              <a:t>.</a:t>
            </a:r>
            <a:endParaRPr lang="es-ES" sz="2400" spc="-10" dirty="0" smtClean="0">
              <a:latin typeface="Arial MT"/>
              <a:cs typeface="Arial MT"/>
            </a:endParaRPr>
          </a:p>
          <a:p>
            <a:pPr marL="756285" marR="1092835" indent="-287020">
              <a:lnSpc>
                <a:spcPct val="100000"/>
              </a:lnSpc>
              <a:spcBef>
                <a:spcPts val="565"/>
              </a:spcBef>
            </a:pPr>
            <a:endParaRPr sz="2400" dirty="0">
              <a:latin typeface="Arial MT"/>
              <a:cs typeface="Arial MT"/>
            </a:endParaRPr>
          </a:p>
          <a:p>
            <a:pPr marL="12065" marR="474980">
              <a:lnSpc>
                <a:spcPct val="100000"/>
              </a:lnSpc>
              <a:tabLst>
                <a:tab pos="354965" algn="l"/>
              </a:tabLst>
            </a:pPr>
            <a:r>
              <a:rPr lang="es-ES" sz="2400" dirty="0" smtClean="0">
                <a:latin typeface="Arial MT"/>
                <a:cs typeface="Arial MT"/>
              </a:rPr>
              <a:t>    </a:t>
            </a:r>
            <a:r>
              <a:rPr sz="2400" b="1" i="1" u="sng" dirty="0" smtClean="0">
                <a:latin typeface="Arial MT"/>
                <a:cs typeface="Arial MT"/>
              </a:rPr>
              <a:t>Su</a:t>
            </a:r>
            <a:r>
              <a:rPr sz="2400" b="1" i="1" u="sng" spc="-50" dirty="0" smtClean="0">
                <a:latin typeface="Arial MT"/>
                <a:cs typeface="Arial MT"/>
              </a:rPr>
              <a:t> </a:t>
            </a:r>
            <a:r>
              <a:rPr sz="2400" b="1" i="1" u="sng" dirty="0">
                <a:latin typeface="Arial MT"/>
                <a:cs typeface="Arial MT"/>
              </a:rPr>
              <a:t>valor</a:t>
            </a:r>
            <a:r>
              <a:rPr sz="2400" b="1" i="1" u="sng" spc="-45" dirty="0">
                <a:latin typeface="Arial MT"/>
                <a:cs typeface="Arial MT"/>
              </a:rPr>
              <a:t> </a:t>
            </a:r>
            <a:r>
              <a:rPr sz="2400" b="1" i="1" u="sng" dirty="0">
                <a:latin typeface="Arial MT"/>
                <a:cs typeface="Arial MT"/>
              </a:rPr>
              <a:t>no</a:t>
            </a:r>
            <a:r>
              <a:rPr sz="2400" b="1" i="1" u="sng" spc="-50" dirty="0">
                <a:latin typeface="Arial MT"/>
                <a:cs typeface="Arial MT"/>
              </a:rPr>
              <a:t> </a:t>
            </a:r>
            <a:r>
              <a:rPr sz="2400" b="1" i="1" u="sng" dirty="0">
                <a:latin typeface="Arial MT"/>
                <a:cs typeface="Arial MT"/>
              </a:rPr>
              <a:t>se</a:t>
            </a:r>
            <a:r>
              <a:rPr sz="2400" b="1" i="1" u="sng" spc="-50" dirty="0">
                <a:latin typeface="Arial MT"/>
                <a:cs typeface="Arial MT"/>
              </a:rPr>
              <a:t> </a:t>
            </a:r>
            <a:r>
              <a:rPr sz="2400" b="1" i="1" u="sng" dirty="0">
                <a:latin typeface="Arial MT"/>
                <a:cs typeface="Arial MT"/>
              </a:rPr>
              <a:t>almacena,</a:t>
            </a:r>
            <a:r>
              <a:rPr sz="2400" b="1" i="1" u="sng" spc="-40" dirty="0">
                <a:latin typeface="Arial MT"/>
                <a:cs typeface="Arial MT"/>
              </a:rPr>
              <a:t> </a:t>
            </a:r>
            <a:r>
              <a:rPr sz="2400" b="1" i="1" u="sng" dirty="0">
                <a:latin typeface="Arial MT"/>
                <a:cs typeface="Arial MT"/>
              </a:rPr>
              <a:t>sino</a:t>
            </a:r>
            <a:r>
              <a:rPr sz="2400" b="1" i="1" u="sng" spc="-50" dirty="0">
                <a:latin typeface="Arial MT"/>
                <a:cs typeface="Arial MT"/>
              </a:rPr>
              <a:t> </a:t>
            </a:r>
            <a:r>
              <a:rPr sz="2400" b="1" i="1" u="sng" dirty="0">
                <a:latin typeface="Arial MT"/>
                <a:cs typeface="Arial MT"/>
              </a:rPr>
              <a:t>que</a:t>
            </a:r>
            <a:r>
              <a:rPr sz="2400" b="1" i="1" u="sng" spc="-50" dirty="0">
                <a:latin typeface="Arial MT"/>
                <a:cs typeface="Arial MT"/>
              </a:rPr>
              <a:t> </a:t>
            </a:r>
            <a:r>
              <a:rPr sz="2400" b="1" i="1" u="sng" dirty="0">
                <a:latin typeface="Arial MT"/>
                <a:cs typeface="Arial MT"/>
              </a:rPr>
              <a:t>se</a:t>
            </a:r>
            <a:r>
              <a:rPr sz="2400" b="1" i="1" u="sng" spc="-50" dirty="0">
                <a:latin typeface="Arial MT"/>
                <a:cs typeface="Arial MT"/>
              </a:rPr>
              <a:t> </a:t>
            </a:r>
            <a:r>
              <a:rPr sz="2400" b="1" i="1" u="sng" dirty="0">
                <a:latin typeface="Arial MT"/>
                <a:cs typeface="Arial MT"/>
              </a:rPr>
              <a:t>calcula</a:t>
            </a:r>
            <a:r>
              <a:rPr sz="2400" b="1" i="1" u="sng" spc="-50" dirty="0">
                <a:latin typeface="Arial MT"/>
                <a:cs typeface="Arial MT"/>
              </a:rPr>
              <a:t> </a:t>
            </a:r>
            <a:r>
              <a:rPr sz="2400" b="1" i="1" u="sng" dirty="0">
                <a:latin typeface="Arial MT"/>
                <a:cs typeface="Arial MT"/>
              </a:rPr>
              <a:t>cuando</a:t>
            </a:r>
            <a:r>
              <a:rPr sz="2400" b="1" i="1" u="sng" spc="-45" dirty="0">
                <a:latin typeface="Arial MT"/>
                <a:cs typeface="Arial MT"/>
              </a:rPr>
              <a:t> </a:t>
            </a:r>
            <a:r>
              <a:rPr sz="2400" b="1" i="1" u="sng" spc="-25" dirty="0" err="1">
                <a:latin typeface="Arial MT"/>
                <a:cs typeface="Arial MT"/>
              </a:rPr>
              <a:t>es</a:t>
            </a:r>
            <a:r>
              <a:rPr sz="2400" b="1" i="1" u="sng" spc="-25" dirty="0">
                <a:latin typeface="Arial MT"/>
                <a:cs typeface="Arial MT"/>
              </a:rPr>
              <a:t> </a:t>
            </a:r>
            <a:r>
              <a:rPr lang="es-ES" sz="2400" b="1" i="1" u="sng" spc="-25" dirty="0" smtClean="0">
                <a:latin typeface="Arial MT"/>
                <a:cs typeface="Arial MT"/>
              </a:rPr>
              <a:t> </a:t>
            </a:r>
            <a:r>
              <a:rPr sz="2400" b="1" i="1" u="sng" spc="-10" dirty="0" err="1" smtClean="0">
                <a:latin typeface="Arial MT"/>
                <a:cs typeface="Arial MT"/>
              </a:rPr>
              <a:t>necesario</a:t>
            </a:r>
            <a:endParaRPr sz="2400" b="1" i="1" u="sng" dirty="0">
              <a:latin typeface="Arial MT"/>
              <a:cs typeface="Arial MT"/>
            </a:endParaRPr>
          </a:p>
          <a:p>
            <a:pPr>
              <a:lnSpc>
                <a:spcPct val="100000"/>
              </a:lnSpc>
              <a:spcBef>
                <a:spcPts val="790"/>
              </a:spcBef>
              <a:buFont typeface="Arial MT"/>
              <a:buChar char="•"/>
            </a:pPr>
            <a:endParaRPr sz="2400" dirty="0">
              <a:latin typeface="Arial MT"/>
              <a:cs typeface="Arial MT"/>
            </a:endParaRPr>
          </a:p>
          <a:p>
            <a:pPr marL="12700">
              <a:lnSpc>
                <a:spcPct val="100000"/>
              </a:lnSpc>
            </a:pPr>
            <a:r>
              <a:rPr sz="2800" dirty="0">
                <a:solidFill>
                  <a:srgbClr val="001F5F"/>
                </a:solidFill>
                <a:latin typeface="Arial MT"/>
                <a:cs typeface="Arial MT"/>
              </a:rPr>
              <a:t>Valor</a:t>
            </a:r>
            <a:r>
              <a:rPr sz="2800" spc="-55" dirty="0">
                <a:solidFill>
                  <a:srgbClr val="001F5F"/>
                </a:solidFill>
                <a:latin typeface="Arial MT"/>
                <a:cs typeface="Arial MT"/>
              </a:rPr>
              <a:t> </a:t>
            </a:r>
            <a:r>
              <a:rPr sz="2800" b="1" spc="-20" dirty="0">
                <a:solidFill>
                  <a:srgbClr val="001F5F"/>
                </a:solidFill>
                <a:latin typeface="Arial"/>
                <a:cs typeface="Arial"/>
              </a:rPr>
              <a:t>nulo</a:t>
            </a:r>
            <a:r>
              <a:rPr sz="2800" spc="-20" dirty="0">
                <a:solidFill>
                  <a:srgbClr val="001F5F"/>
                </a:solidFill>
                <a:latin typeface="Arial MT"/>
                <a:cs typeface="Arial MT"/>
              </a:rPr>
              <a:t>.</a:t>
            </a:r>
            <a:endParaRPr sz="2800" dirty="0">
              <a:latin typeface="Arial MT"/>
              <a:cs typeface="Arial MT"/>
            </a:endParaRPr>
          </a:p>
          <a:p>
            <a:pPr marL="355600" marR="5080" indent="-342900">
              <a:lnSpc>
                <a:spcPct val="100000"/>
              </a:lnSpc>
              <a:spcBef>
                <a:spcPts val="565"/>
              </a:spcBef>
              <a:buChar char="•"/>
              <a:tabLst>
                <a:tab pos="355600" algn="l"/>
              </a:tabLst>
            </a:pPr>
            <a:r>
              <a:rPr sz="2400" dirty="0">
                <a:latin typeface="Arial MT"/>
                <a:cs typeface="Arial MT"/>
              </a:rPr>
              <a:t>Un</a:t>
            </a:r>
            <a:r>
              <a:rPr sz="2400" spc="-55" dirty="0">
                <a:latin typeface="Arial MT"/>
                <a:cs typeface="Arial MT"/>
              </a:rPr>
              <a:t> </a:t>
            </a:r>
            <a:r>
              <a:rPr sz="2400" dirty="0">
                <a:latin typeface="Arial MT"/>
                <a:cs typeface="Arial MT"/>
              </a:rPr>
              <a:t>atributo</a:t>
            </a:r>
            <a:r>
              <a:rPr sz="2400" spc="-55" dirty="0">
                <a:latin typeface="Arial MT"/>
                <a:cs typeface="Arial MT"/>
              </a:rPr>
              <a:t> </a:t>
            </a:r>
            <a:r>
              <a:rPr sz="2400" dirty="0">
                <a:latin typeface="Arial MT"/>
                <a:cs typeface="Arial MT"/>
              </a:rPr>
              <a:t>toma</a:t>
            </a:r>
            <a:r>
              <a:rPr sz="2400" spc="-50" dirty="0">
                <a:latin typeface="Arial MT"/>
                <a:cs typeface="Arial MT"/>
              </a:rPr>
              <a:t> </a:t>
            </a:r>
            <a:r>
              <a:rPr sz="2400" dirty="0">
                <a:latin typeface="Arial MT"/>
                <a:cs typeface="Arial MT"/>
              </a:rPr>
              <a:t>un</a:t>
            </a:r>
            <a:r>
              <a:rPr sz="2400" spc="-55" dirty="0">
                <a:latin typeface="Arial MT"/>
                <a:cs typeface="Arial MT"/>
              </a:rPr>
              <a:t> </a:t>
            </a:r>
            <a:r>
              <a:rPr sz="2400" dirty="0">
                <a:latin typeface="Arial MT"/>
                <a:cs typeface="Arial MT"/>
              </a:rPr>
              <a:t>valor</a:t>
            </a:r>
            <a:r>
              <a:rPr sz="2400" spc="-50" dirty="0">
                <a:latin typeface="Arial MT"/>
                <a:cs typeface="Arial MT"/>
              </a:rPr>
              <a:t> </a:t>
            </a:r>
            <a:r>
              <a:rPr sz="2400" b="1" dirty="0">
                <a:latin typeface="Arial"/>
                <a:cs typeface="Arial"/>
              </a:rPr>
              <a:t>nulo</a:t>
            </a:r>
            <a:r>
              <a:rPr sz="2400" b="1" spc="-50" dirty="0">
                <a:latin typeface="Arial"/>
                <a:cs typeface="Arial"/>
              </a:rPr>
              <a:t> </a:t>
            </a:r>
            <a:r>
              <a:rPr sz="2400" dirty="0">
                <a:latin typeface="Arial MT"/>
                <a:cs typeface="Arial MT"/>
              </a:rPr>
              <a:t>cuando</a:t>
            </a:r>
            <a:r>
              <a:rPr sz="2400" spc="-55" dirty="0">
                <a:latin typeface="Arial MT"/>
                <a:cs typeface="Arial MT"/>
              </a:rPr>
              <a:t> </a:t>
            </a:r>
            <a:r>
              <a:rPr sz="2400" dirty="0">
                <a:latin typeface="Arial MT"/>
                <a:cs typeface="Arial MT"/>
              </a:rPr>
              <a:t>una</a:t>
            </a:r>
            <a:r>
              <a:rPr sz="2400" spc="-55" dirty="0">
                <a:latin typeface="Arial MT"/>
                <a:cs typeface="Arial MT"/>
              </a:rPr>
              <a:t> </a:t>
            </a:r>
            <a:r>
              <a:rPr sz="2400" dirty="0">
                <a:latin typeface="Arial MT"/>
                <a:cs typeface="Arial MT"/>
              </a:rPr>
              <a:t>entidad</a:t>
            </a:r>
            <a:r>
              <a:rPr sz="2400" spc="-50" dirty="0">
                <a:latin typeface="Arial MT"/>
                <a:cs typeface="Arial MT"/>
              </a:rPr>
              <a:t> </a:t>
            </a:r>
            <a:r>
              <a:rPr sz="2400" dirty="0">
                <a:latin typeface="Arial MT"/>
                <a:cs typeface="Arial MT"/>
              </a:rPr>
              <a:t>no</a:t>
            </a:r>
            <a:r>
              <a:rPr sz="2400" spc="-45" dirty="0">
                <a:latin typeface="Arial MT"/>
                <a:cs typeface="Arial MT"/>
              </a:rPr>
              <a:t> </a:t>
            </a:r>
            <a:r>
              <a:rPr sz="2400" spc="-10" dirty="0">
                <a:latin typeface="Arial MT"/>
                <a:cs typeface="Arial MT"/>
              </a:rPr>
              <a:t>tiene </a:t>
            </a:r>
            <a:r>
              <a:rPr sz="2400" dirty="0">
                <a:latin typeface="Arial MT"/>
                <a:cs typeface="Arial MT"/>
              </a:rPr>
              <a:t>un</a:t>
            </a:r>
            <a:r>
              <a:rPr sz="2400" spc="-45" dirty="0">
                <a:latin typeface="Arial MT"/>
                <a:cs typeface="Arial MT"/>
              </a:rPr>
              <a:t> </a:t>
            </a:r>
            <a:r>
              <a:rPr sz="2400" dirty="0">
                <a:latin typeface="Arial MT"/>
                <a:cs typeface="Arial MT"/>
              </a:rPr>
              <a:t>valor</a:t>
            </a:r>
            <a:r>
              <a:rPr sz="2400" spc="-35" dirty="0">
                <a:latin typeface="Arial MT"/>
                <a:cs typeface="Arial MT"/>
              </a:rPr>
              <a:t> </a:t>
            </a:r>
            <a:r>
              <a:rPr sz="2400" dirty="0">
                <a:latin typeface="Arial MT"/>
                <a:cs typeface="Arial MT"/>
              </a:rPr>
              <a:t>para</a:t>
            </a:r>
            <a:r>
              <a:rPr sz="2400" spc="-45" dirty="0">
                <a:latin typeface="Arial MT"/>
                <a:cs typeface="Arial MT"/>
              </a:rPr>
              <a:t> </a:t>
            </a:r>
            <a:r>
              <a:rPr sz="2400" dirty="0">
                <a:latin typeface="Arial MT"/>
                <a:cs typeface="Arial MT"/>
              </a:rPr>
              <a:t>ese</a:t>
            </a:r>
            <a:r>
              <a:rPr sz="2400" spc="-40" dirty="0">
                <a:latin typeface="Arial MT"/>
                <a:cs typeface="Arial MT"/>
              </a:rPr>
              <a:t> </a:t>
            </a:r>
            <a:r>
              <a:rPr sz="2400" spc="-10" dirty="0">
                <a:latin typeface="Arial MT"/>
                <a:cs typeface="Arial MT"/>
              </a:rPr>
              <a:t>atributo.</a:t>
            </a:r>
            <a:endParaRPr sz="2400" dirty="0">
              <a:latin typeface="Arial MT"/>
              <a:cs typeface="Arial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3700" y="396620"/>
            <a:ext cx="7705702" cy="1411351"/>
          </a:xfrm>
          <a:prstGeom prst="rect">
            <a:avLst/>
          </a:prstGeom>
        </p:spPr>
        <p:txBody>
          <a:bodyPr vert="horz" wrap="square" lIns="0" tIns="316865" rIns="0" bIns="0" rtlCol="0">
            <a:spAutoFit/>
          </a:bodyPr>
          <a:lstStyle/>
          <a:p>
            <a:pPr marL="1283335">
              <a:lnSpc>
                <a:spcPct val="100000"/>
              </a:lnSpc>
              <a:spcBef>
                <a:spcPts val="95"/>
              </a:spcBef>
            </a:pPr>
            <a:r>
              <a:rPr sz="4000" b="1" dirty="0">
                <a:latin typeface="Arial"/>
                <a:cs typeface="Arial"/>
              </a:rPr>
              <a:t>Ejemplos</a:t>
            </a:r>
            <a:r>
              <a:rPr sz="4000" b="1" spc="-80" dirty="0">
                <a:latin typeface="Arial"/>
                <a:cs typeface="Arial"/>
              </a:rPr>
              <a:t> </a:t>
            </a:r>
            <a:r>
              <a:rPr sz="4000" b="1" dirty="0">
                <a:latin typeface="Arial"/>
                <a:cs typeface="Arial"/>
              </a:rPr>
              <a:t>de</a:t>
            </a:r>
            <a:r>
              <a:rPr sz="4000" b="1" spc="-75" dirty="0">
                <a:latin typeface="Arial"/>
                <a:cs typeface="Arial"/>
              </a:rPr>
              <a:t> </a:t>
            </a:r>
            <a:r>
              <a:rPr sz="4000" b="1" spc="-10" dirty="0">
                <a:latin typeface="Arial"/>
                <a:cs typeface="Arial"/>
              </a:rPr>
              <a:t>entidades</a:t>
            </a:r>
            <a:endParaRPr sz="4000" dirty="0">
              <a:latin typeface="Arial"/>
              <a:cs typeface="Arial"/>
            </a:endParaRPr>
          </a:p>
        </p:txBody>
      </p:sp>
      <p:sp>
        <p:nvSpPr>
          <p:cNvPr id="3" name="object 3"/>
          <p:cNvSpPr txBox="1"/>
          <p:nvPr/>
        </p:nvSpPr>
        <p:spPr>
          <a:xfrm>
            <a:off x="3118994" y="2044699"/>
            <a:ext cx="5445760"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Arial MT"/>
                <a:cs typeface="Arial MT"/>
              </a:rPr>
              <a:t>el</a:t>
            </a:r>
            <a:r>
              <a:rPr sz="2000" spc="-30" dirty="0">
                <a:latin typeface="Arial MT"/>
                <a:cs typeface="Arial MT"/>
              </a:rPr>
              <a:t> </a:t>
            </a:r>
            <a:r>
              <a:rPr sz="2000" dirty="0">
                <a:latin typeface="Arial MT"/>
                <a:cs typeface="Arial MT"/>
              </a:rPr>
              <a:t>conjunto</a:t>
            </a:r>
            <a:r>
              <a:rPr sz="2000" spc="-30" dirty="0">
                <a:latin typeface="Arial MT"/>
                <a:cs typeface="Arial MT"/>
              </a:rPr>
              <a:t> </a:t>
            </a:r>
            <a:r>
              <a:rPr sz="2000" dirty="0">
                <a:latin typeface="Arial MT"/>
                <a:cs typeface="Arial MT"/>
              </a:rPr>
              <a:t>de</a:t>
            </a:r>
            <a:r>
              <a:rPr sz="2000" spc="-20" dirty="0">
                <a:latin typeface="Arial MT"/>
                <a:cs typeface="Arial MT"/>
              </a:rPr>
              <a:t> </a:t>
            </a:r>
            <a:r>
              <a:rPr sz="2000" dirty="0">
                <a:latin typeface="Arial MT"/>
                <a:cs typeface="Arial MT"/>
              </a:rPr>
              <a:t>todas</a:t>
            </a:r>
            <a:r>
              <a:rPr sz="2000" spc="-35" dirty="0">
                <a:latin typeface="Arial MT"/>
                <a:cs typeface="Arial MT"/>
              </a:rPr>
              <a:t> </a:t>
            </a:r>
            <a:r>
              <a:rPr sz="2000" dirty="0">
                <a:latin typeface="Arial MT"/>
                <a:cs typeface="Arial MT"/>
              </a:rPr>
              <a:t>las</a:t>
            </a:r>
            <a:r>
              <a:rPr sz="2000" spc="-30" dirty="0">
                <a:latin typeface="Arial MT"/>
                <a:cs typeface="Arial MT"/>
              </a:rPr>
              <a:t> </a:t>
            </a:r>
            <a:r>
              <a:rPr sz="2000" dirty="0">
                <a:latin typeface="Arial MT"/>
                <a:cs typeface="Arial MT"/>
              </a:rPr>
              <a:t>sucursales</a:t>
            </a:r>
            <a:r>
              <a:rPr sz="2000" spc="-30" dirty="0">
                <a:latin typeface="Arial MT"/>
                <a:cs typeface="Arial MT"/>
              </a:rPr>
              <a:t> </a:t>
            </a:r>
            <a:r>
              <a:rPr sz="2000" dirty="0">
                <a:latin typeface="Arial MT"/>
                <a:cs typeface="Arial MT"/>
              </a:rPr>
              <a:t>de</a:t>
            </a:r>
            <a:r>
              <a:rPr sz="2000" spc="-20" dirty="0">
                <a:latin typeface="Arial MT"/>
                <a:cs typeface="Arial MT"/>
              </a:rPr>
              <a:t> </a:t>
            </a:r>
            <a:r>
              <a:rPr sz="2000" dirty="0">
                <a:latin typeface="Arial MT"/>
                <a:cs typeface="Arial MT"/>
              </a:rPr>
              <a:t>un</a:t>
            </a:r>
            <a:r>
              <a:rPr sz="2000" spc="-30" dirty="0">
                <a:latin typeface="Arial MT"/>
                <a:cs typeface="Arial MT"/>
              </a:rPr>
              <a:t> </a:t>
            </a:r>
            <a:r>
              <a:rPr sz="2000" spc="-10" dirty="0">
                <a:latin typeface="Arial MT"/>
                <a:cs typeface="Arial MT"/>
              </a:rPr>
              <a:t>banco</a:t>
            </a:r>
            <a:endParaRPr sz="2000" dirty="0">
              <a:latin typeface="Arial MT"/>
              <a:cs typeface="Arial MT"/>
            </a:endParaRPr>
          </a:p>
        </p:txBody>
      </p:sp>
      <p:sp>
        <p:nvSpPr>
          <p:cNvPr id="4" name="object 4"/>
          <p:cNvSpPr txBox="1"/>
          <p:nvPr/>
        </p:nvSpPr>
        <p:spPr>
          <a:xfrm>
            <a:off x="1104272" y="2044699"/>
            <a:ext cx="2026285" cy="879475"/>
          </a:xfrm>
          <a:prstGeom prst="rect">
            <a:avLst/>
          </a:prstGeom>
        </p:spPr>
        <p:txBody>
          <a:bodyPr vert="horz" wrap="square" lIns="0" tIns="12700" rIns="0" bIns="0" rtlCol="0">
            <a:spAutoFit/>
          </a:bodyPr>
          <a:lstStyle/>
          <a:p>
            <a:pPr marL="354965" indent="-342265">
              <a:lnSpc>
                <a:spcPts val="2160"/>
              </a:lnSpc>
              <a:spcBef>
                <a:spcPts val="100"/>
              </a:spcBef>
              <a:buFont typeface="Arial MT"/>
              <a:buChar char="•"/>
              <a:tabLst>
                <a:tab pos="354965" algn="l"/>
              </a:tabLst>
            </a:pPr>
            <a:r>
              <a:rPr sz="2000" b="1" dirty="0">
                <a:latin typeface="Arial"/>
                <a:cs typeface="Arial"/>
              </a:rPr>
              <a:t>Sucursal</a:t>
            </a:r>
            <a:r>
              <a:rPr sz="2000" b="1" spc="484" dirty="0">
                <a:latin typeface="Arial"/>
                <a:cs typeface="Arial"/>
              </a:rPr>
              <a:t> </a:t>
            </a:r>
            <a:r>
              <a:rPr sz="2000" spc="-50" dirty="0">
                <a:latin typeface="Wingdings"/>
                <a:cs typeface="Wingdings"/>
              </a:rPr>
              <a:t></a:t>
            </a:r>
            <a:endParaRPr sz="2000" dirty="0">
              <a:latin typeface="Wingdings"/>
              <a:cs typeface="Wingdings"/>
            </a:endParaRPr>
          </a:p>
          <a:p>
            <a:pPr marL="354965">
              <a:lnSpc>
                <a:spcPts val="2160"/>
              </a:lnSpc>
            </a:pPr>
            <a:r>
              <a:rPr sz="2000" spc="-10" dirty="0">
                <a:latin typeface="Arial MT"/>
                <a:cs typeface="Arial MT"/>
              </a:rPr>
              <a:t>determinado.</a:t>
            </a:r>
            <a:endParaRPr sz="2000" dirty="0">
              <a:latin typeface="Arial MT"/>
              <a:cs typeface="Arial MT"/>
            </a:endParaRPr>
          </a:p>
          <a:p>
            <a:pPr marL="927100">
              <a:lnSpc>
                <a:spcPct val="100000"/>
              </a:lnSpc>
            </a:pPr>
            <a:r>
              <a:rPr sz="2000" spc="-10" dirty="0">
                <a:solidFill>
                  <a:srgbClr val="001F5F"/>
                </a:solidFill>
                <a:latin typeface="Arial MT"/>
                <a:cs typeface="Arial MT"/>
              </a:rPr>
              <a:t>Atributos</a:t>
            </a:r>
            <a:r>
              <a:rPr sz="2000" b="1" spc="-10" dirty="0">
                <a:solidFill>
                  <a:srgbClr val="001F5F"/>
                </a:solidFill>
                <a:latin typeface="Arial"/>
                <a:cs typeface="Arial"/>
              </a:rPr>
              <a:t>:</a:t>
            </a:r>
            <a:endParaRPr sz="2000" dirty="0">
              <a:latin typeface="Arial"/>
              <a:cs typeface="Arial"/>
            </a:endParaRPr>
          </a:p>
        </p:txBody>
      </p:sp>
      <p:sp>
        <p:nvSpPr>
          <p:cNvPr id="5" name="object 5"/>
          <p:cNvSpPr txBox="1"/>
          <p:nvPr/>
        </p:nvSpPr>
        <p:spPr>
          <a:xfrm>
            <a:off x="3315470" y="2593338"/>
            <a:ext cx="5044440" cy="330835"/>
          </a:xfrm>
          <a:prstGeom prst="rect">
            <a:avLst/>
          </a:prstGeom>
        </p:spPr>
        <p:txBody>
          <a:bodyPr vert="horz" wrap="square" lIns="0" tIns="12700" rIns="0" bIns="0" rtlCol="0">
            <a:spAutoFit/>
          </a:bodyPr>
          <a:lstStyle/>
          <a:p>
            <a:pPr marL="12700">
              <a:lnSpc>
                <a:spcPct val="100000"/>
              </a:lnSpc>
              <a:spcBef>
                <a:spcPts val="100"/>
              </a:spcBef>
            </a:pPr>
            <a:r>
              <a:rPr sz="2000" b="1" spc="-20" dirty="0">
                <a:solidFill>
                  <a:srgbClr val="001F5F"/>
                </a:solidFill>
                <a:latin typeface="Arial"/>
                <a:cs typeface="Arial"/>
              </a:rPr>
              <a:t>nombre-</a:t>
            </a:r>
            <a:r>
              <a:rPr sz="2000" b="1" dirty="0">
                <a:solidFill>
                  <a:srgbClr val="001F5F"/>
                </a:solidFill>
                <a:latin typeface="Arial"/>
                <a:cs typeface="Arial"/>
              </a:rPr>
              <a:t>sucursal,</a:t>
            </a:r>
            <a:r>
              <a:rPr sz="2000" b="1" spc="-10" dirty="0">
                <a:solidFill>
                  <a:srgbClr val="001F5F"/>
                </a:solidFill>
                <a:latin typeface="Arial"/>
                <a:cs typeface="Arial"/>
              </a:rPr>
              <a:t> </a:t>
            </a:r>
            <a:r>
              <a:rPr sz="2000" b="1" spc="-20" dirty="0">
                <a:solidFill>
                  <a:srgbClr val="001F5F"/>
                </a:solidFill>
                <a:latin typeface="Arial"/>
                <a:cs typeface="Arial"/>
              </a:rPr>
              <a:t>ciudad-</a:t>
            </a:r>
            <a:r>
              <a:rPr sz="2000" b="1" dirty="0">
                <a:solidFill>
                  <a:srgbClr val="001F5F"/>
                </a:solidFill>
                <a:latin typeface="Arial"/>
                <a:cs typeface="Arial"/>
              </a:rPr>
              <a:t>sucursal,</a:t>
            </a:r>
            <a:r>
              <a:rPr sz="2000" b="1" spc="-15" dirty="0">
                <a:solidFill>
                  <a:srgbClr val="001F5F"/>
                </a:solidFill>
                <a:latin typeface="Arial"/>
                <a:cs typeface="Arial"/>
              </a:rPr>
              <a:t> </a:t>
            </a:r>
            <a:r>
              <a:rPr sz="2000" b="1" spc="-10" dirty="0">
                <a:solidFill>
                  <a:srgbClr val="001F5F"/>
                </a:solidFill>
                <a:latin typeface="Arial"/>
                <a:cs typeface="Arial"/>
              </a:rPr>
              <a:t>activo</a:t>
            </a:r>
            <a:endParaRPr sz="2000">
              <a:latin typeface="Arial"/>
              <a:cs typeface="Arial"/>
            </a:endParaRPr>
          </a:p>
        </p:txBody>
      </p:sp>
      <p:sp>
        <p:nvSpPr>
          <p:cNvPr id="6" name="object 6"/>
          <p:cNvSpPr txBox="1"/>
          <p:nvPr/>
        </p:nvSpPr>
        <p:spPr>
          <a:xfrm>
            <a:off x="1104272" y="3202938"/>
            <a:ext cx="8374380" cy="3801041"/>
          </a:xfrm>
          <a:prstGeom prst="rect">
            <a:avLst/>
          </a:prstGeom>
        </p:spPr>
        <p:txBody>
          <a:bodyPr vert="horz" wrap="square" lIns="0" tIns="71120" rIns="0" bIns="0" rtlCol="0">
            <a:spAutoFit/>
          </a:bodyPr>
          <a:lstStyle/>
          <a:p>
            <a:pPr marL="354965" marR="5080" indent="-342900">
              <a:lnSpc>
                <a:spcPts val="1930"/>
              </a:lnSpc>
              <a:spcBef>
                <a:spcPts val="560"/>
              </a:spcBef>
              <a:buFont typeface="Arial MT"/>
              <a:buChar char="•"/>
              <a:tabLst>
                <a:tab pos="354965" algn="l"/>
                <a:tab pos="1800225" algn="l"/>
              </a:tabLst>
            </a:pPr>
            <a:r>
              <a:rPr sz="2000" b="1" dirty="0">
                <a:latin typeface="Arial"/>
                <a:cs typeface="Arial"/>
              </a:rPr>
              <a:t>Cliente</a:t>
            </a:r>
            <a:r>
              <a:rPr sz="2000" b="1" spc="475" dirty="0">
                <a:latin typeface="Arial"/>
                <a:cs typeface="Arial"/>
              </a:rPr>
              <a:t> </a:t>
            </a:r>
            <a:r>
              <a:rPr sz="2000" spc="-50" dirty="0">
                <a:latin typeface="Wingdings"/>
                <a:cs typeface="Wingdings"/>
              </a:rPr>
              <a:t></a:t>
            </a:r>
            <a:r>
              <a:rPr sz="2000" dirty="0">
                <a:latin typeface="Times New Roman"/>
                <a:cs typeface="Times New Roman"/>
              </a:rPr>
              <a:t>	</a:t>
            </a:r>
            <a:r>
              <a:rPr sz="2000" dirty="0">
                <a:latin typeface="Arial MT"/>
                <a:cs typeface="Arial MT"/>
              </a:rPr>
              <a:t>el</a:t>
            </a:r>
            <a:r>
              <a:rPr sz="2000" spc="-30" dirty="0">
                <a:latin typeface="Arial MT"/>
                <a:cs typeface="Arial MT"/>
              </a:rPr>
              <a:t> </a:t>
            </a:r>
            <a:r>
              <a:rPr sz="2000" dirty="0" err="1" smtClean="0">
                <a:latin typeface="Arial MT"/>
                <a:cs typeface="Arial MT"/>
              </a:rPr>
              <a:t>conj</a:t>
            </a:r>
            <a:r>
              <a:rPr lang="es-ES" sz="2000" dirty="0" smtClean="0">
                <a:latin typeface="Arial MT"/>
                <a:cs typeface="Arial MT"/>
              </a:rPr>
              <a:t>unto</a:t>
            </a:r>
            <a:r>
              <a:rPr sz="2000" spc="-25" dirty="0" smtClean="0">
                <a:latin typeface="Arial MT"/>
                <a:cs typeface="Arial MT"/>
              </a:rPr>
              <a:t> </a:t>
            </a:r>
            <a:r>
              <a:rPr sz="2000" dirty="0">
                <a:latin typeface="Arial MT"/>
                <a:cs typeface="Arial MT"/>
              </a:rPr>
              <a:t>de</a:t>
            </a:r>
            <a:r>
              <a:rPr sz="2000" spc="-20" dirty="0">
                <a:latin typeface="Arial MT"/>
                <a:cs typeface="Arial MT"/>
              </a:rPr>
              <a:t> </a:t>
            </a:r>
            <a:r>
              <a:rPr sz="2000" dirty="0">
                <a:latin typeface="Arial MT"/>
                <a:cs typeface="Arial MT"/>
              </a:rPr>
              <a:t>todas</a:t>
            </a:r>
            <a:r>
              <a:rPr sz="2000" spc="-15" dirty="0">
                <a:latin typeface="Arial MT"/>
                <a:cs typeface="Arial MT"/>
              </a:rPr>
              <a:t> </a:t>
            </a:r>
            <a:r>
              <a:rPr sz="2000" dirty="0">
                <a:latin typeface="Arial MT"/>
                <a:cs typeface="Arial MT"/>
              </a:rPr>
              <a:t>las</a:t>
            </a:r>
            <a:r>
              <a:rPr sz="2000" spc="-15" dirty="0">
                <a:latin typeface="Arial MT"/>
                <a:cs typeface="Arial MT"/>
              </a:rPr>
              <a:t> </a:t>
            </a:r>
            <a:r>
              <a:rPr sz="2000" dirty="0">
                <a:latin typeface="Arial MT"/>
                <a:cs typeface="Arial MT"/>
              </a:rPr>
              <a:t>personas</a:t>
            </a:r>
            <a:r>
              <a:rPr sz="2000" spc="-35" dirty="0">
                <a:latin typeface="Arial MT"/>
                <a:cs typeface="Arial MT"/>
              </a:rPr>
              <a:t> </a:t>
            </a:r>
            <a:r>
              <a:rPr sz="2000" dirty="0">
                <a:latin typeface="Arial MT"/>
                <a:cs typeface="Arial MT"/>
              </a:rPr>
              <a:t>que</a:t>
            </a:r>
            <a:r>
              <a:rPr sz="2000" spc="-30" dirty="0">
                <a:latin typeface="Arial MT"/>
                <a:cs typeface="Arial MT"/>
              </a:rPr>
              <a:t> </a:t>
            </a:r>
            <a:r>
              <a:rPr sz="2000" dirty="0">
                <a:latin typeface="Arial MT"/>
                <a:cs typeface="Arial MT"/>
              </a:rPr>
              <a:t>tienen</a:t>
            </a:r>
            <a:r>
              <a:rPr sz="2000" spc="-20" dirty="0">
                <a:latin typeface="Arial MT"/>
                <a:cs typeface="Arial MT"/>
              </a:rPr>
              <a:t> </a:t>
            </a:r>
            <a:r>
              <a:rPr sz="2000" dirty="0">
                <a:latin typeface="Arial MT"/>
                <a:cs typeface="Arial MT"/>
              </a:rPr>
              <a:t>una</a:t>
            </a:r>
            <a:r>
              <a:rPr sz="2000" spc="-30" dirty="0">
                <a:latin typeface="Arial MT"/>
                <a:cs typeface="Arial MT"/>
              </a:rPr>
              <a:t> </a:t>
            </a:r>
            <a:r>
              <a:rPr sz="2000" dirty="0">
                <a:latin typeface="Arial MT"/>
                <a:cs typeface="Arial MT"/>
              </a:rPr>
              <a:t>cuenta</a:t>
            </a:r>
            <a:r>
              <a:rPr sz="2000" spc="-30" dirty="0">
                <a:latin typeface="Arial MT"/>
                <a:cs typeface="Arial MT"/>
              </a:rPr>
              <a:t> </a:t>
            </a:r>
            <a:r>
              <a:rPr sz="2000" dirty="0">
                <a:latin typeface="Arial MT"/>
                <a:cs typeface="Arial MT"/>
              </a:rPr>
              <a:t>en</a:t>
            </a:r>
            <a:r>
              <a:rPr sz="2000" spc="-20" dirty="0">
                <a:latin typeface="Arial MT"/>
                <a:cs typeface="Arial MT"/>
              </a:rPr>
              <a:t> </a:t>
            </a:r>
            <a:r>
              <a:rPr sz="2000" spc="-25" dirty="0">
                <a:latin typeface="Arial MT"/>
                <a:cs typeface="Arial MT"/>
              </a:rPr>
              <a:t>el </a:t>
            </a:r>
            <a:r>
              <a:rPr sz="2000" spc="-10" dirty="0">
                <a:latin typeface="Arial MT"/>
                <a:cs typeface="Arial MT"/>
              </a:rPr>
              <a:t>banco.</a:t>
            </a:r>
            <a:endParaRPr sz="2000" dirty="0">
              <a:latin typeface="Arial MT"/>
              <a:cs typeface="Arial MT"/>
            </a:endParaRPr>
          </a:p>
          <a:p>
            <a:pPr marL="355600" marR="572770" indent="571500">
              <a:lnSpc>
                <a:spcPct val="80000"/>
              </a:lnSpc>
              <a:spcBef>
                <a:spcPts val="495"/>
              </a:spcBef>
            </a:pPr>
            <a:r>
              <a:rPr sz="2000" dirty="0">
                <a:solidFill>
                  <a:srgbClr val="001F5F"/>
                </a:solidFill>
                <a:latin typeface="Arial MT"/>
                <a:cs typeface="Arial MT"/>
              </a:rPr>
              <a:t>Atributos:</a:t>
            </a:r>
            <a:r>
              <a:rPr sz="2000" spc="-30" dirty="0">
                <a:solidFill>
                  <a:srgbClr val="001F5F"/>
                </a:solidFill>
                <a:latin typeface="Arial MT"/>
                <a:cs typeface="Arial MT"/>
              </a:rPr>
              <a:t> </a:t>
            </a:r>
            <a:r>
              <a:rPr sz="2000" b="1" spc="-20" dirty="0">
                <a:solidFill>
                  <a:srgbClr val="001F5F"/>
                </a:solidFill>
                <a:latin typeface="Arial"/>
                <a:cs typeface="Arial"/>
              </a:rPr>
              <a:t>nombre-</a:t>
            </a:r>
            <a:r>
              <a:rPr sz="2000" b="1" dirty="0">
                <a:solidFill>
                  <a:srgbClr val="001F5F"/>
                </a:solidFill>
                <a:latin typeface="Arial"/>
                <a:cs typeface="Arial"/>
              </a:rPr>
              <a:t>cliente,</a:t>
            </a:r>
            <a:r>
              <a:rPr sz="2000" b="1" spc="-30" dirty="0">
                <a:solidFill>
                  <a:srgbClr val="001F5F"/>
                </a:solidFill>
                <a:latin typeface="Arial"/>
                <a:cs typeface="Arial"/>
              </a:rPr>
              <a:t> </a:t>
            </a:r>
            <a:r>
              <a:rPr sz="2000" b="1" spc="-10" dirty="0">
                <a:solidFill>
                  <a:srgbClr val="001F5F"/>
                </a:solidFill>
                <a:latin typeface="Arial"/>
                <a:cs typeface="Arial"/>
              </a:rPr>
              <a:t>seguridad-</a:t>
            </a:r>
            <a:r>
              <a:rPr sz="2000" b="1" dirty="0">
                <a:solidFill>
                  <a:srgbClr val="001F5F"/>
                </a:solidFill>
                <a:latin typeface="Arial"/>
                <a:cs typeface="Arial"/>
              </a:rPr>
              <a:t>social,</a:t>
            </a:r>
            <a:r>
              <a:rPr sz="2000" b="1" spc="-45" dirty="0">
                <a:solidFill>
                  <a:srgbClr val="001F5F"/>
                </a:solidFill>
                <a:latin typeface="Arial"/>
                <a:cs typeface="Arial"/>
              </a:rPr>
              <a:t> </a:t>
            </a:r>
            <a:r>
              <a:rPr sz="2000" b="1" dirty="0">
                <a:solidFill>
                  <a:srgbClr val="001F5F"/>
                </a:solidFill>
                <a:latin typeface="Arial"/>
                <a:cs typeface="Arial"/>
              </a:rPr>
              <a:t>calle,</a:t>
            </a:r>
            <a:r>
              <a:rPr sz="2000" b="1" spc="-45" dirty="0">
                <a:solidFill>
                  <a:srgbClr val="001F5F"/>
                </a:solidFill>
                <a:latin typeface="Arial"/>
                <a:cs typeface="Arial"/>
              </a:rPr>
              <a:t> </a:t>
            </a:r>
            <a:r>
              <a:rPr sz="2000" b="1" spc="-10" dirty="0">
                <a:solidFill>
                  <a:srgbClr val="001F5F"/>
                </a:solidFill>
                <a:latin typeface="Arial"/>
                <a:cs typeface="Arial"/>
              </a:rPr>
              <a:t>ciudad-cliente</a:t>
            </a:r>
            <a:endParaRPr sz="2000" dirty="0">
              <a:latin typeface="Arial"/>
              <a:cs typeface="Arial"/>
            </a:endParaRPr>
          </a:p>
          <a:p>
            <a:pPr>
              <a:lnSpc>
                <a:spcPct val="100000"/>
              </a:lnSpc>
              <a:spcBef>
                <a:spcPts val="580"/>
              </a:spcBef>
            </a:pPr>
            <a:endParaRPr sz="2000" dirty="0">
              <a:latin typeface="Arial"/>
              <a:cs typeface="Arial"/>
            </a:endParaRPr>
          </a:p>
          <a:p>
            <a:pPr marL="354965" marR="382905" indent="-342900">
              <a:lnSpc>
                <a:spcPct val="80000"/>
              </a:lnSpc>
              <a:buFont typeface="Arial MT"/>
              <a:buChar char="•"/>
              <a:tabLst>
                <a:tab pos="354965" algn="l"/>
              </a:tabLst>
            </a:pPr>
            <a:r>
              <a:rPr sz="2000" b="1" dirty="0">
                <a:latin typeface="Arial"/>
                <a:cs typeface="Arial"/>
              </a:rPr>
              <a:t>Empleado</a:t>
            </a:r>
            <a:r>
              <a:rPr sz="2000" b="1" spc="495" dirty="0">
                <a:latin typeface="Arial"/>
                <a:cs typeface="Arial"/>
              </a:rPr>
              <a:t> </a:t>
            </a:r>
            <a:r>
              <a:rPr sz="2000" dirty="0">
                <a:latin typeface="Wingdings"/>
                <a:cs typeface="Wingdings"/>
              </a:rPr>
              <a:t></a:t>
            </a:r>
            <a:r>
              <a:rPr sz="2000" spc="30" dirty="0">
                <a:latin typeface="Times New Roman"/>
                <a:cs typeface="Times New Roman"/>
              </a:rPr>
              <a:t>  </a:t>
            </a:r>
            <a:r>
              <a:rPr sz="2000" dirty="0">
                <a:latin typeface="Arial MT"/>
                <a:cs typeface="Arial MT"/>
              </a:rPr>
              <a:t>el</a:t>
            </a:r>
            <a:r>
              <a:rPr sz="2000" spc="-35" dirty="0">
                <a:latin typeface="Arial MT"/>
                <a:cs typeface="Arial MT"/>
              </a:rPr>
              <a:t> </a:t>
            </a:r>
            <a:r>
              <a:rPr sz="2000" dirty="0">
                <a:latin typeface="Arial MT"/>
                <a:cs typeface="Arial MT"/>
              </a:rPr>
              <a:t>conjunto</a:t>
            </a:r>
            <a:r>
              <a:rPr sz="2000" spc="-25" dirty="0">
                <a:latin typeface="Arial MT"/>
                <a:cs typeface="Arial MT"/>
              </a:rPr>
              <a:t> </a:t>
            </a:r>
            <a:r>
              <a:rPr sz="2000" dirty="0">
                <a:latin typeface="Arial MT"/>
                <a:cs typeface="Arial MT"/>
              </a:rPr>
              <a:t>de</a:t>
            </a:r>
            <a:r>
              <a:rPr sz="2000" spc="-25" dirty="0">
                <a:latin typeface="Arial MT"/>
                <a:cs typeface="Arial MT"/>
              </a:rPr>
              <a:t> </a:t>
            </a:r>
            <a:r>
              <a:rPr sz="2000" dirty="0">
                <a:latin typeface="Arial MT"/>
                <a:cs typeface="Arial MT"/>
              </a:rPr>
              <a:t>todas</a:t>
            </a:r>
            <a:r>
              <a:rPr sz="2000" spc="-25" dirty="0">
                <a:latin typeface="Arial MT"/>
                <a:cs typeface="Arial MT"/>
              </a:rPr>
              <a:t> </a:t>
            </a:r>
            <a:r>
              <a:rPr sz="2000" dirty="0">
                <a:latin typeface="Arial MT"/>
                <a:cs typeface="Arial MT"/>
              </a:rPr>
              <a:t>las</a:t>
            </a:r>
            <a:r>
              <a:rPr sz="2000" spc="-20" dirty="0">
                <a:latin typeface="Arial MT"/>
                <a:cs typeface="Arial MT"/>
              </a:rPr>
              <a:t> </a:t>
            </a:r>
            <a:r>
              <a:rPr sz="2000" dirty="0">
                <a:latin typeface="Arial MT"/>
                <a:cs typeface="Arial MT"/>
              </a:rPr>
              <a:t>personas</a:t>
            </a:r>
            <a:r>
              <a:rPr sz="2000" spc="-35" dirty="0">
                <a:latin typeface="Arial MT"/>
                <a:cs typeface="Arial MT"/>
              </a:rPr>
              <a:t> </a:t>
            </a:r>
            <a:r>
              <a:rPr sz="2000" dirty="0">
                <a:latin typeface="Arial MT"/>
                <a:cs typeface="Arial MT"/>
              </a:rPr>
              <a:t>que</a:t>
            </a:r>
            <a:r>
              <a:rPr sz="2000" spc="-30" dirty="0">
                <a:latin typeface="Arial MT"/>
                <a:cs typeface="Arial MT"/>
              </a:rPr>
              <a:t> </a:t>
            </a:r>
            <a:r>
              <a:rPr sz="2000" dirty="0">
                <a:latin typeface="Arial MT"/>
                <a:cs typeface="Arial MT"/>
              </a:rPr>
              <a:t>trabajan</a:t>
            </a:r>
            <a:r>
              <a:rPr sz="2000" spc="-25" dirty="0">
                <a:latin typeface="Arial MT"/>
                <a:cs typeface="Arial MT"/>
              </a:rPr>
              <a:t> </a:t>
            </a:r>
            <a:r>
              <a:rPr sz="2000" dirty="0">
                <a:latin typeface="Arial MT"/>
                <a:cs typeface="Arial MT"/>
              </a:rPr>
              <a:t>en</a:t>
            </a:r>
            <a:r>
              <a:rPr sz="2000" spc="-30" dirty="0">
                <a:latin typeface="Arial MT"/>
                <a:cs typeface="Arial MT"/>
              </a:rPr>
              <a:t> </a:t>
            </a:r>
            <a:r>
              <a:rPr sz="2000" spc="-25" dirty="0">
                <a:latin typeface="Arial MT"/>
                <a:cs typeface="Arial MT"/>
              </a:rPr>
              <a:t>el </a:t>
            </a:r>
            <a:r>
              <a:rPr sz="2000" spc="-10" dirty="0">
                <a:latin typeface="Arial MT"/>
                <a:cs typeface="Arial MT"/>
              </a:rPr>
              <a:t>banco.</a:t>
            </a:r>
            <a:endParaRPr sz="2000" dirty="0">
              <a:latin typeface="Arial MT"/>
              <a:cs typeface="Arial MT"/>
            </a:endParaRPr>
          </a:p>
          <a:p>
            <a:pPr marL="927100">
              <a:lnSpc>
                <a:spcPct val="100000"/>
              </a:lnSpc>
            </a:pPr>
            <a:r>
              <a:rPr sz="2000" dirty="0">
                <a:solidFill>
                  <a:srgbClr val="001F5F"/>
                </a:solidFill>
                <a:latin typeface="Arial MT"/>
                <a:cs typeface="Arial MT"/>
              </a:rPr>
              <a:t>Atributos:</a:t>
            </a:r>
            <a:r>
              <a:rPr sz="2000" spc="-50" dirty="0">
                <a:solidFill>
                  <a:srgbClr val="001F5F"/>
                </a:solidFill>
                <a:latin typeface="Arial MT"/>
                <a:cs typeface="Arial MT"/>
              </a:rPr>
              <a:t> </a:t>
            </a:r>
            <a:r>
              <a:rPr sz="2000" b="1" spc="-20" dirty="0">
                <a:solidFill>
                  <a:srgbClr val="001F5F"/>
                </a:solidFill>
                <a:latin typeface="Arial"/>
                <a:cs typeface="Arial"/>
              </a:rPr>
              <a:t>nombre-</a:t>
            </a:r>
            <a:r>
              <a:rPr sz="2000" b="1" dirty="0">
                <a:solidFill>
                  <a:srgbClr val="001F5F"/>
                </a:solidFill>
                <a:latin typeface="Arial"/>
                <a:cs typeface="Arial"/>
              </a:rPr>
              <a:t>empleado,</a:t>
            </a:r>
            <a:r>
              <a:rPr sz="2000" b="1" spc="-45" dirty="0">
                <a:solidFill>
                  <a:srgbClr val="001F5F"/>
                </a:solidFill>
                <a:latin typeface="Arial"/>
                <a:cs typeface="Arial"/>
              </a:rPr>
              <a:t> </a:t>
            </a:r>
            <a:r>
              <a:rPr sz="2000" b="1" spc="-10" dirty="0">
                <a:solidFill>
                  <a:srgbClr val="001F5F"/>
                </a:solidFill>
                <a:latin typeface="Arial"/>
                <a:cs typeface="Arial"/>
              </a:rPr>
              <a:t>número-teléfono</a:t>
            </a:r>
            <a:endParaRPr sz="2000" dirty="0">
              <a:latin typeface="Arial"/>
              <a:cs typeface="Arial"/>
            </a:endParaRPr>
          </a:p>
          <a:p>
            <a:pPr>
              <a:lnSpc>
                <a:spcPct val="100000"/>
              </a:lnSpc>
              <a:spcBef>
                <a:spcPts val="555"/>
              </a:spcBef>
            </a:pPr>
            <a:endParaRPr sz="2000" dirty="0">
              <a:latin typeface="Arial"/>
              <a:cs typeface="Arial"/>
            </a:endParaRPr>
          </a:p>
          <a:p>
            <a:pPr marL="355600" marR="694690" indent="-342900">
              <a:lnSpc>
                <a:spcPts val="1930"/>
              </a:lnSpc>
              <a:buFont typeface="Arial MT"/>
              <a:buChar char="•"/>
              <a:tabLst>
                <a:tab pos="355600" algn="l"/>
                <a:tab pos="1815464" algn="l"/>
              </a:tabLst>
            </a:pPr>
            <a:r>
              <a:rPr sz="2000" b="1" dirty="0">
                <a:latin typeface="Arial"/>
                <a:cs typeface="Arial"/>
              </a:rPr>
              <a:t>Cuenta</a:t>
            </a:r>
            <a:r>
              <a:rPr sz="2000" b="1" spc="480" dirty="0">
                <a:latin typeface="Arial"/>
                <a:cs typeface="Arial"/>
              </a:rPr>
              <a:t> </a:t>
            </a:r>
            <a:r>
              <a:rPr sz="2000" spc="-50" dirty="0">
                <a:latin typeface="Wingdings"/>
                <a:cs typeface="Wingdings"/>
              </a:rPr>
              <a:t></a:t>
            </a:r>
            <a:r>
              <a:rPr sz="2000" dirty="0">
                <a:latin typeface="Times New Roman"/>
                <a:cs typeface="Times New Roman"/>
              </a:rPr>
              <a:t>	</a:t>
            </a:r>
            <a:r>
              <a:rPr sz="2000" dirty="0">
                <a:latin typeface="Arial MT"/>
                <a:cs typeface="Arial MT"/>
              </a:rPr>
              <a:t>el</a:t>
            </a:r>
            <a:r>
              <a:rPr sz="2000" spc="-30" dirty="0">
                <a:latin typeface="Arial MT"/>
                <a:cs typeface="Arial MT"/>
              </a:rPr>
              <a:t> </a:t>
            </a:r>
            <a:r>
              <a:rPr sz="2000" dirty="0">
                <a:latin typeface="Arial MT"/>
                <a:cs typeface="Arial MT"/>
              </a:rPr>
              <a:t>conjunto</a:t>
            </a:r>
            <a:r>
              <a:rPr sz="2000" spc="-25" dirty="0">
                <a:latin typeface="Arial MT"/>
                <a:cs typeface="Arial MT"/>
              </a:rPr>
              <a:t> </a:t>
            </a:r>
            <a:r>
              <a:rPr sz="2000" dirty="0">
                <a:latin typeface="Arial MT"/>
                <a:cs typeface="Arial MT"/>
              </a:rPr>
              <a:t>de</a:t>
            </a:r>
            <a:r>
              <a:rPr sz="2000" spc="-25" dirty="0">
                <a:latin typeface="Arial MT"/>
                <a:cs typeface="Arial MT"/>
              </a:rPr>
              <a:t> </a:t>
            </a:r>
            <a:r>
              <a:rPr sz="2000" dirty="0">
                <a:latin typeface="Arial MT"/>
                <a:cs typeface="Arial MT"/>
              </a:rPr>
              <a:t>todas</a:t>
            </a:r>
            <a:r>
              <a:rPr sz="2000" spc="-20" dirty="0">
                <a:latin typeface="Arial MT"/>
                <a:cs typeface="Arial MT"/>
              </a:rPr>
              <a:t> </a:t>
            </a:r>
            <a:r>
              <a:rPr sz="2000" dirty="0">
                <a:latin typeface="Arial MT"/>
                <a:cs typeface="Arial MT"/>
              </a:rPr>
              <a:t>las</a:t>
            </a:r>
            <a:r>
              <a:rPr sz="2000" spc="-35" dirty="0">
                <a:latin typeface="Arial MT"/>
                <a:cs typeface="Arial MT"/>
              </a:rPr>
              <a:t> </a:t>
            </a:r>
            <a:r>
              <a:rPr sz="2000" dirty="0">
                <a:latin typeface="Arial MT"/>
                <a:cs typeface="Arial MT"/>
              </a:rPr>
              <a:t>cuentas</a:t>
            </a:r>
            <a:r>
              <a:rPr sz="2000" spc="-20" dirty="0">
                <a:latin typeface="Arial MT"/>
                <a:cs typeface="Arial MT"/>
              </a:rPr>
              <a:t> </a:t>
            </a:r>
            <a:r>
              <a:rPr sz="2000" dirty="0">
                <a:latin typeface="Arial MT"/>
                <a:cs typeface="Arial MT"/>
              </a:rPr>
              <a:t>que</a:t>
            </a:r>
            <a:r>
              <a:rPr sz="2000" spc="-35" dirty="0">
                <a:latin typeface="Arial MT"/>
                <a:cs typeface="Arial MT"/>
              </a:rPr>
              <a:t> </a:t>
            </a:r>
            <a:r>
              <a:rPr sz="2000" dirty="0">
                <a:latin typeface="Arial MT"/>
                <a:cs typeface="Arial MT"/>
              </a:rPr>
              <a:t>mantiene</a:t>
            </a:r>
            <a:r>
              <a:rPr sz="2000" spc="-30" dirty="0">
                <a:latin typeface="Arial MT"/>
                <a:cs typeface="Arial MT"/>
              </a:rPr>
              <a:t> </a:t>
            </a:r>
            <a:r>
              <a:rPr sz="2000" dirty="0">
                <a:latin typeface="Arial MT"/>
                <a:cs typeface="Arial MT"/>
              </a:rPr>
              <a:t>en</a:t>
            </a:r>
            <a:r>
              <a:rPr sz="2000" spc="-25" dirty="0">
                <a:latin typeface="Arial MT"/>
                <a:cs typeface="Arial MT"/>
              </a:rPr>
              <a:t> el </a:t>
            </a:r>
            <a:r>
              <a:rPr sz="2000" spc="-10" dirty="0">
                <a:latin typeface="Arial MT"/>
                <a:cs typeface="Arial MT"/>
              </a:rPr>
              <a:t>banco.</a:t>
            </a:r>
            <a:endParaRPr sz="2000" dirty="0">
              <a:latin typeface="Arial MT"/>
              <a:cs typeface="Arial MT"/>
            </a:endParaRPr>
          </a:p>
          <a:p>
            <a:pPr marL="927100">
              <a:lnSpc>
                <a:spcPct val="100000"/>
              </a:lnSpc>
              <a:spcBef>
                <a:spcPts val="15"/>
              </a:spcBef>
            </a:pPr>
            <a:r>
              <a:rPr sz="2000" dirty="0">
                <a:solidFill>
                  <a:srgbClr val="001F5F"/>
                </a:solidFill>
                <a:latin typeface="Arial MT"/>
                <a:cs typeface="Arial MT"/>
              </a:rPr>
              <a:t>Atributos:</a:t>
            </a:r>
            <a:r>
              <a:rPr sz="2000" spc="-65" dirty="0">
                <a:solidFill>
                  <a:srgbClr val="001F5F"/>
                </a:solidFill>
                <a:latin typeface="Arial MT"/>
                <a:cs typeface="Arial MT"/>
              </a:rPr>
              <a:t> </a:t>
            </a:r>
            <a:r>
              <a:rPr sz="2000" b="1" spc="-10" dirty="0">
                <a:solidFill>
                  <a:srgbClr val="001F5F"/>
                </a:solidFill>
                <a:latin typeface="Arial"/>
                <a:cs typeface="Arial"/>
              </a:rPr>
              <a:t>número-</a:t>
            </a:r>
            <a:r>
              <a:rPr sz="2000" b="1" dirty="0">
                <a:solidFill>
                  <a:srgbClr val="001F5F"/>
                </a:solidFill>
                <a:latin typeface="Arial"/>
                <a:cs typeface="Arial"/>
              </a:rPr>
              <a:t>cuenta,</a:t>
            </a:r>
            <a:r>
              <a:rPr sz="2000" b="1" spc="-60" dirty="0">
                <a:solidFill>
                  <a:srgbClr val="001F5F"/>
                </a:solidFill>
                <a:latin typeface="Arial"/>
                <a:cs typeface="Arial"/>
              </a:rPr>
              <a:t> </a:t>
            </a:r>
            <a:r>
              <a:rPr sz="2000" b="1" spc="-10" dirty="0">
                <a:solidFill>
                  <a:srgbClr val="001F5F"/>
                </a:solidFill>
                <a:latin typeface="Arial"/>
                <a:cs typeface="Arial"/>
              </a:rPr>
              <a:t>saldo</a:t>
            </a:r>
            <a:endParaRPr sz="2000" dirty="0">
              <a:latin typeface="Arial"/>
              <a:cs typeface="Arial"/>
            </a:endParaRPr>
          </a:p>
          <a:p>
            <a:pPr>
              <a:lnSpc>
                <a:spcPct val="100000"/>
              </a:lnSpc>
              <a:spcBef>
                <a:spcPts val="100"/>
              </a:spcBef>
            </a:pPr>
            <a:endParaRPr sz="2000" dirty="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82700" y="417194"/>
            <a:ext cx="7705702" cy="1411351"/>
          </a:xfrm>
          <a:prstGeom prst="rect">
            <a:avLst/>
          </a:prstGeom>
        </p:spPr>
        <p:txBody>
          <a:bodyPr vert="horz" wrap="square" lIns="0" tIns="316865" rIns="0" bIns="0" rtlCol="0">
            <a:spAutoFit/>
          </a:bodyPr>
          <a:lstStyle/>
          <a:p>
            <a:pPr marL="2694305">
              <a:lnSpc>
                <a:spcPct val="100000"/>
              </a:lnSpc>
              <a:spcBef>
                <a:spcPts val="95"/>
              </a:spcBef>
            </a:pPr>
            <a:r>
              <a:rPr sz="4000" b="1" spc="-10" dirty="0">
                <a:latin typeface="Arial"/>
                <a:cs typeface="Arial"/>
              </a:rPr>
              <a:t>Relaciones</a:t>
            </a:r>
            <a:endParaRPr sz="4000" dirty="0">
              <a:latin typeface="Arial"/>
              <a:cs typeface="Arial"/>
            </a:endParaRPr>
          </a:p>
        </p:txBody>
      </p:sp>
      <p:sp>
        <p:nvSpPr>
          <p:cNvPr id="3" name="object 3"/>
          <p:cNvSpPr txBox="1"/>
          <p:nvPr/>
        </p:nvSpPr>
        <p:spPr>
          <a:xfrm>
            <a:off x="1079500" y="1492250"/>
            <a:ext cx="8991600" cy="3763979"/>
          </a:xfrm>
          <a:prstGeom prst="rect">
            <a:avLst/>
          </a:prstGeom>
        </p:spPr>
        <p:txBody>
          <a:bodyPr vert="horz" wrap="square" lIns="0" tIns="12065" rIns="0" bIns="0" rtlCol="0">
            <a:spAutoFit/>
          </a:bodyPr>
          <a:lstStyle/>
          <a:p>
            <a:pPr marL="114300">
              <a:lnSpc>
                <a:spcPct val="150000"/>
              </a:lnSpc>
              <a:spcBef>
                <a:spcPts val="95"/>
              </a:spcBef>
            </a:pPr>
            <a:r>
              <a:rPr sz="2800" b="1" dirty="0">
                <a:latin typeface="Arial"/>
                <a:cs typeface="Arial"/>
              </a:rPr>
              <a:t>RELACIÓN</a:t>
            </a:r>
            <a:r>
              <a:rPr sz="2800" b="1" spc="-80" dirty="0">
                <a:latin typeface="Arial"/>
                <a:cs typeface="Arial"/>
              </a:rPr>
              <a:t> </a:t>
            </a:r>
            <a:r>
              <a:rPr sz="2800" dirty="0">
                <a:latin typeface="Arial MT"/>
                <a:cs typeface="Arial MT"/>
              </a:rPr>
              <a:t>es</a:t>
            </a:r>
            <a:r>
              <a:rPr sz="2800" spc="-70" dirty="0">
                <a:latin typeface="Arial MT"/>
                <a:cs typeface="Arial MT"/>
              </a:rPr>
              <a:t> </a:t>
            </a:r>
            <a:r>
              <a:rPr sz="2800" dirty="0">
                <a:latin typeface="Arial MT"/>
                <a:cs typeface="Arial MT"/>
              </a:rPr>
              <a:t>una</a:t>
            </a:r>
            <a:r>
              <a:rPr sz="2800" spc="-70" dirty="0">
                <a:latin typeface="Arial MT"/>
                <a:cs typeface="Arial MT"/>
              </a:rPr>
              <a:t> </a:t>
            </a:r>
            <a:r>
              <a:rPr sz="2800" b="1" dirty="0">
                <a:latin typeface="Arial"/>
                <a:cs typeface="Arial"/>
              </a:rPr>
              <a:t>asociación</a:t>
            </a:r>
            <a:r>
              <a:rPr sz="2800" b="1" spc="-75" dirty="0">
                <a:latin typeface="Arial"/>
                <a:cs typeface="Arial"/>
              </a:rPr>
              <a:t> </a:t>
            </a:r>
            <a:r>
              <a:rPr sz="2800" b="1" dirty="0">
                <a:latin typeface="Arial"/>
                <a:cs typeface="Arial"/>
              </a:rPr>
              <a:t>entre</a:t>
            </a:r>
            <a:r>
              <a:rPr sz="2800" b="1" spc="-70" dirty="0">
                <a:latin typeface="Arial"/>
                <a:cs typeface="Arial"/>
              </a:rPr>
              <a:t> </a:t>
            </a:r>
            <a:r>
              <a:rPr sz="2800" spc="-10" dirty="0">
                <a:latin typeface="Arial MT"/>
                <a:cs typeface="Arial MT"/>
              </a:rPr>
              <a:t>varias</a:t>
            </a:r>
            <a:endParaRPr sz="2800" dirty="0">
              <a:latin typeface="Arial MT"/>
              <a:cs typeface="Arial MT"/>
            </a:endParaRPr>
          </a:p>
          <a:p>
            <a:pPr marL="456565">
              <a:lnSpc>
                <a:spcPct val="150000"/>
              </a:lnSpc>
            </a:pPr>
            <a:r>
              <a:rPr sz="2800" b="1" spc="-10" dirty="0" err="1" smtClean="0">
                <a:latin typeface="Arial"/>
                <a:cs typeface="Arial"/>
              </a:rPr>
              <a:t>entidades</a:t>
            </a:r>
            <a:r>
              <a:rPr lang="es-ES" sz="2800" spc="-10" dirty="0" smtClean="0">
                <a:latin typeface="Arial MT"/>
                <a:cs typeface="Arial MT"/>
              </a:rPr>
              <a:t>, que a la hora de interpretar el diagrama nos va a dar más sentido semántico. </a:t>
            </a:r>
          </a:p>
          <a:p>
            <a:pPr marL="456565">
              <a:lnSpc>
                <a:spcPct val="150000"/>
              </a:lnSpc>
            </a:pPr>
            <a:r>
              <a:rPr lang="es-ES" sz="2800" spc="-10" dirty="0" smtClean="0">
                <a:latin typeface="Arial MT"/>
                <a:cs typeface="Arial MT"/>
              </a:rPr>
              <a:t>Se grafican con un rombo.</a:t>
            </a:r>
            <a:endParaRPr lang="es-ES" sz="2800" spc="-10" dirty="0">
              <a:latin typeface="Arial MT"/>
              <a:cs typeface="Arial MT"/>
            </a:endParaRPr>
          </a:p>
          <a:p>
            <a:pPr marL="456565">
              <a:lnSpc>
                <a:spcPct val="150000"/>
              </a:lnSpc>
            </a:pPr>
            <a:r>
              <a:rPr lang="es-ES" sz="2800" spc="-10" dirty="0" smtClean="0">
                <a:latin typeface="Arial MT"/>
                <a:cs typeface="Arial MT"/>
              </a:rPr>
              <a:t>Se define con un verbo. </a:t>
            </a:r>
            <a:r>
              <a:rPr lang="es-ES" sz="2800" spc="-10" dirty="0" err="1" smtClean="0">
                <a:latin typeface="Arial MT"/>
                <a:cs typeface="Arial MT"/>
              </a:rPr>
              <a:t>Ej</a:t>
            </a:r>
            <a:r>
              <a:rPr lang="es-ES" sz="2800" spc="-10" dirty="0" smtClean="0">
                <a:latin typeface="Arial MT"/>
                <a:cs typeface="Arial MT"/>
              </a:rPr>
              <a:t>: Compra/r, trabaja/r, etc.</a:t>
            </a:r>
            <a:endParaRPr sz="2800" dirty="0">
              <a:latin typeface="Arial MT"/>
              <a:cs typeface="Arial MT"/>
            </a:endParaRPr>
          </a:p>
          <a:p>
            <a:pPr marL="456565" marR="709930" indent="-342900">
              <a:lnSpc>
                <a:spcPct val="79600"/>
              </a:lnSpc>
              <a:spcBef>
                <a:spcPts val="2955"/>
              </a:spcBef>
            </a:pPr>
            <a:endParaRPr sz="1100" b="1" dirty="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59119" y="485672"/>
            <a:ext cx="6398883" cy="566822"/>
          </a:xfrm>
          <a:prstGeom prst="rect">
            <a:avLst/>
          </a:prstGeom>
        </p:spPr>
        <p:txBody>
          <a:bodyPr vert="horz" wrap="square" lIns="0" tIns="12700" rIns="0" bIns="0" rtlCol="0">
            <a:spAutoFit/>
          </a:bodyPr>
          <a:lstStyle/>
          <a:p>
            <a:pPr marL="12700">
              <a:lnSpc>
                <a:spcPct val="100000"/>
              </a:lnSpc>
              <a:spcBef>
                <a:spcPts val="100"/>
              </a:spcBef>
            </a:pPr>
            <a:r>
              <a:rPr sz="3600" b="1" dirty="0">
                <a:latin typeface="Arial"/>
                <a:cs typeface="Arial"/>
              </a:rPr>
              <a:t>Entidades</a:t>
            </a:r>
            <a:r>
              <a:rPr sz="3600" b="1" spc="-30" dirty="0">
                <a:latin typeface="Arial"/>
                <a:cs typeface="Arial"/>
              </a:rPr>
              <a:t> </a:t>
            </a:r>
            <a:r>
              <a:rPr sz="3600" b="1" dirty="0">
                <a:latin typeface="Arial"/>
                <a:cs typeface="Arial"/>
              </a:rPr>
              <a:t>Cliente</a:t>
            </a:r>
            <a:r>
              <a:rPr sz="3600" b="1" spc="-30" dirty="0">
                <a:latin typeface="Arial"/>
                <a:cs typeface="Arial"/>
              </a:rPr>
              <a:t> </a:t>
            </a:r>
            <a:r>
              <a:rPr sz="3600" b="1" dirty="0">
                <a:latin typeface="Arial"/>
                <a:cs typeface="Arial"/>
              </a:rPr>
              <a:t>y</a:t>
            </a:r>
            <a:r>
              <a:rPr sz="3600" b="1" spc="-25" dirty="0">
                <a:latin typeface="Arial"/>
                <a:cs typeface="Arial"/>
              </a:rPr>
              <a:t> </a:t>
            </a:r>
            <a:r>
              <a:rPr sz="3600" b="1" spc="-10" dirty="0">
                <a:latin typeface="Arial"/>
                <a:cs typeface="Arial"/>
              </a:rPr>
              <a:t>Cuenta</a:t>
            </a:r>
          </a:p>
        </p:txBody>
      </p:sp>
      <p:graphicFrame>
        <p:nvGraphicFramePr>
          <p:cNvPr id="3" name="object 3"/>
          <p:cNvGraphicFramePr>
            <a:graphicFrameLocks noGrp="1"/>
          </p:cNvGraphicFramePr>
          <p:nvPr/>
        </p:nvGraphicFramePr>
        <p:xfrm>
          <a:off x="7272405" y="1309115"/>
          <a:ext cx="2310130" cy="233045"/>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tblGrid>
              <a:tr h="233045">
                <a:tc>
                  <a:txBody>
                    <a:bodyPr/>
                    <a:lstStyle/>
                    <a:p>
                      <a:pPr marL="744855">
                        <a:lnSpc>
                          <a:spcPts val="1714"/>
                        </a:lnSpc>
                      </a:pPr>
                      <a:r>
                        <a:rPr sz="1500" spc="65" dirty="0">
                          <a:latin typeface="Times New Roman"/>
                          <a:cs typeface="Times New Roman"/>
                        </a:rPr>
                        <a:t>259</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636905">
                        <a:lnSpc>
                          <a:spcPts val="1714"/>
                        </a:lnSpc>
                      </a:pPr>
                      <a:r>
                        <a:rPr sz="1500" spc="75" dirty="0">
                          <a:latin typeface="Times New Roman"/>
                          <a:cs typeface="Times New Roman"/>
                        </a:rPr>
                        <a:t>1000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4" name="object 4"/>
          <p:cNvGraphicFramePr>
            <a:graphicFrameLocks noGrp="1"/>
          </p:cNvGraphicFramePr>
          <p:nvPr/>
        </p:nvGraphicFramePr>
        <p:xfrm>
          <a:off x="7272405" y="1773935"/>
          <a:ext cx="2310130" cy="233045"/>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tblGrid>
              <a:tr h="233045">
                <a:tc>
                  <a:txBody>
                    <a:bodyPr/>
                    <a:lstStyle/>
                    <a:p>
                      <a:pPr marL="744855">
                        <a:lnSpc>
                          <a:spcPts val="1714"/>
                        </a:lnSpc>
                      </a:pPr>
                      <a:r>
                        <a:rPr sz="1500" spc="65" dirty="0">
                          <a:latin typeface="Times New Roman"/>
                          <a:cs typeface="Times New Roman"/>
                        </a:rPr>
                        <a:t>630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636905">
                        <a:lnSpc>
                          <a:spcPts val="1714"/>
                        </a:lnSpc>
                      </a:pPr>
                      <a:r>
                        <a:rPr sz="1500" spc="75" dirty="0">
                          <a:latin typeface="Times New Roman"/>
                          <a:cs typeface="Times New Roman"/>
                        </a:rPr>
                        <a:t>2000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 name="object 5"/>
          <p:cNvGraphicFramePr>
            <a:graphicFrameLocks noGrp="1"/>
          </p:cNvGraphicFramePr>
          <p:nvPr/>
        </p:nvGraphicFramePr>
        <p:xfrm>
          <a:off x="1264801" y="2237994"/>
          <a:ext cx="5428615" cy="233679"/>
        </p:xfrm>
        <a:graphic>
          <a:graphicData uri="http://schemas.openxmlformats.org/drawingml/2006/table">
            <a:tbl>
              <a:tblPr firstRow="1" bandRow="1">
                <a:tableStyleId>{2D5ABB26-0587-4C30-8999-92F81FD0307C}</a:tableStyleId>
              </a:tblPr>
              <a:tblGrid>
                <a:gridCol w="1325880">
                  <a:extLst>
                    <a:ext uri="{9D8B030D-6E8A-4147-A177-3AD203B41FA5}">
                      <a16:colId xmlns:a16="http://schemas.microsoft.com/office/drawing/2014/main" val="20000"/>
                    </a:ext>
                  </a:extLst>
                </a:gridCol>
                <a:gridCol w="1444625">
                  <a:extLst>
                    <a:ext uri="{9D8B030D-6E8A-4147-A177-3AD203B41FA5}">
                      <a16:colId xmlns:a16="http://schemas.microsoft.com/office/drawing/2014/main" val="20001"/>
                    </a:ext>
                  </a:extLst>
                </a:gridCol>
                <a:gridCol w="1329055">
                  <a:extLst>
                    <a:ext uri="{9D8B030D-6E8A-4147-A177-3AD203B41FA5}">
                      <a16:colId xmlns:a16="http://schemas.microsoft.com/office/drawing/2014/main" val="20002"/>
                    </a:ext>
                  </a:extLst>
                </a:gridCol>
                <a:gridCol w="1329055">
                  <a:extLst>
                    <a:ext uri="{9D8B030D-6E8A-4147-A177-3AD203B41FA5}">
                      <a16:colId xmlns:a16="http://schemas.microsoft.com/office/drawing/2014/main" val="20003"/>
                    </a:ext>
                  </a:extLst>
                </a:gridCol>
              </a:tblGrid>
              <a:tr h="233679">
                <a:tc>
                  <a:txBody>
                    <a:bodyPr/>
                    <a:lstStyle/>
                    <a:p>
                      <a:pPr marL="375920">
                        <a:lnSpc>
                          <a:spcPts val="1720"/>
                        </a:lnSpc>
                      </a:pPr>
                      <a:r>
                        <a:rPr sz="1500" spc="85" dirty="0">
                          <a:latin typeface="Times New Roman"/>
                          <a:cs typeface="Times New Roman"/>
                        </a:rPr>
                        <a:t>Oliver</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142875">
                        <a:lnSpc>
                          <a:spcPts val="1720"/>
                        </a:lnSpc>
                      </a:pPr>
                      <a:r>
                        <a:rPr sz="1500" spc="105" dirty="0">
                          <a:latin typeface="Times New Roman"/>
                          <a:cs typeface="Times New Roman"/>
                        </a:rPr>
                        <a:t>654-</a:t>
                      </a:r>
                      <a:r>
                        <a:rPr sz="1500" spc="110" dirty="0">
                          <a:latin typeface="Times New Roman"/>
                          <a:cs typeface="Times New Roman"/>
                        </a:rPr>
                        <a:t>32-</a:t>
                      </a:r>
                      <a:r>
                        <a:rPr sz="1500" spc="75" dirty="0">
                          <a:latin typeface="Times New Roman"/>
                          <a:cs typeface="Times New Roman"/>
                        </a:rPr>
                        <a:t>1098</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426084">
                        <a:lnSpc>
                          <a:spcPts val="1720"/>
                        </a:lnSpc>
                      </a:pPr>
                      <a:r>
                        <a:rPr sz="1500" dirty="0">
                          <a:latin typeface="Times New Roman"/>
                          <a:cs typeface="Times New Roman"/>
                        </a:rPr>
                        <a:t>M</a:t>
                      </a:r>
                      <a:r>
                        <a:rPr sz="1500" spc="-135" dirty="0">
                          <a:latin typeface="Times New Roman"/>
                          <a:cs typeface="Times New Roman"/>
                        </a:rPr>
                        <a:t> </a:t>
                      </a:r>
                      <a:r>
                        <a:rPr sz="1500" spc="45" dirty="0">
                          <a:latin typeface="Times New Roman"/>
                          <a:cs typeface="Times New Roman"/>
                        </a:rPr>
                        <a:t>ain</a:t>
                      </a:r>
                      <a:endParaRPr sz="1500">
                        <a:latin typeface="Times New Roman"/>
                        <a:cs typeface="Times New Roman"/>
                      </a:endParaRPr>
                    </a:p>
                  </a:txBody>
                  <a:tcPr marL="0" marR="0" marT="0" marB="0">
                    <a:lnL w="9525">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363855">
                        <a:lnSpc>
                          <a:spcPts val="1720"/>
                        </a:lnSpc>
                      </a:pPr>
                      <a:r>
                        <a:rPr sz="1500" spc="85" dirty="0">
                          <a:latin typeface="Times New Roman"/>
                          <a:cs typeface="Times New Roman"/>
                        </a:rPr>
                        <a:t>Austin</a:t>
                      </a:r>
                      <a:endParaRPr sz="15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 name="object 6"/>
          <p:cNvGraphicFramePr>
            <a:graphicFrameLocks noGrp="1"/>
          </p:cNvGraphicFramePr>
          <p:nvPr/>
        </p:nvGraphicFramePr>
        <p:xfrm>
          <a:off x="7272405" y="2237994"/>
          <a:ext cx="2310130" cy="233679"/>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tblGrid>
              <a:tr h="233679">
                <a:tc>
                  <a:txBody>
                    <a:bodyPr/>
                    <a:lstStyle/>
                    <a:p>
                      <a:pPr marL="744855">
                        <a:lnSpc>
                          <a:spcPts val="1720"/>
                        </a:lnSpc>
                      </a:pPr>
                      <a:r>
                        <a:rPr sz="1500" spc="65" dirty="0">
                          <a:latin typeface="Times New Roman"/>
                          <a:cs typeface="Times New Roman"/>
                        </a:rPr>
                        <a:t>401</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636905">
                        <a:lnSpc>
                          <a:spcPts val="1720"/>
                        </a:lnSpc>
                      </a:pPr>
                      <a:r>
                        <a:rPr sz="1500" spc="75" dirty="0">
                          <a:latin typeface="Times New Roman"/>
                          <a:cs typeface="Times New Roman"/>
                        </a:rPr>
                        <a:t>1500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7" name="object 7"/>
          <p:cNvGraphicFramePr>
            <a:graphicFrameLocks noGrp="1"/>
          </p:cNvGraphicFramePr>
          <p:nvPr/>
        </p:nvGraphicFramePr>
        <p:xfrm>
          <a:off x="1264801" y="2705100"/>
          <a:ext cx="5428615" cy="231140"/>
        </p:xfrm>
        <a:graphic>
          <a:graphicData uri="http://schemas.openxmlformats.org/drawingml/2006/table">
            <a:tbl>
              <a:tblPr firstRow="1" bandRow="1">
                <a:tableStyleId>{2D5ABB26-0587-4C30-8999-92F81FD0307C}</a:tableStyleId>
              </a:tblPr>
              <a:tblGrid>
                <a:gridCol w="1325880">
                  <a:extLst>
                    <a:ext uri="{9D8B030D-6E8A-4147-A177-3AD203B41FA5}">
                      <a16:colId xmlns:a16="http://schemas.microsoft.com/office/drawing/2014/main" val="20000"/>
                    </a:ext>
                  </a:extLst>
                </a:gridCol>
                <a:gridCol w="1444625">
                  <a:extLst>
                    <a:ext uri="{9D8B030D-6E8A-4147-A177-3AD203B41FA5}">
                      <a16:colId xmlns:a16="http://schemas.microsoft.com/office/drawing/2014/main" val="20001"/>
                    </a:ext>
                  </a:extLst>
                </a:gridCol>
                <a:gridCol w="1329055">
                  <a:extLst>
                    <a:ext uri="{9D8B030D-6E8A-4147-A177-3AD203B41FA5}">
                      <a16:colId xmlns:a16="http://schemas.microsoft.com/office/drawing/2014/main" val="20002"/>
                    </a:ext>
                  </a:extLst>
                </a:gridCol>
                <a:gridCol w="1329055">
                  <a:extLst>
                    <a:ext uri="{9D8B030D-6E8A-4147-A177-3AD203B41FA5}">
                      <a16:colId xmlns:a16="http://schemas.microsoft.com/office/drawing/2014/main" val="20003"/>
                    </a:ext>
                  </a:extLst>
                </a:gridCol>
              </a:tblGrid>
              <a:tr h="231140">
                <a:tc>
                  <a:txBody>
                    <a:bodyPr/>
                    <a:lstStyle/>
                    <a:p>
                      <a:pPr marL="381000">
                        <a:lnSpc>
                          <a:spcPts val="1714"/>
                        </a:lnSpc>
                      </a:pPr>
                      <a:r>
                        <a:rPr sz="1500" spc="80" dirty="0">
                          <a:latin typeface="Times New Roman"/>
                          <a:cs typeface="Times New Roman"/>
                        </a:rPr>
                        <a:t>Harris</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142875">
                        <a:lnSpc>
                          <a:spcPts val="1714"/>
                        </a:lnSpc>
                      </a:pPr>
                      <a:r>
                        <a:rPr sz="1500" spc="105" dirty="0">
                          <a:latin typeface="Times New Roman"/>
                          <a:cs typeface="Times New Roman"/>
                        </a:rPr>
                        <a:t>890-</a:t>
                      </a:r>
                      <a:r>
                        <a:rPr sz="1500" spc="110" dirty="0">
                          <a:latin typeface="Times New Roman"/>
                          <a:cs typeface="Times New Roman"/>
                        </a:rPr>
                        <a:t>12-</a:t>
                      </a:r>
                      <a:r>
                        <a:rPr sz="1500" spc="75" dirty="0">
                          <a:latin typeface="Times New Roman"/>
                          <a:cs typeface="Times New Roman"/>
                        </a:rPr>
                        <a:t>3456</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401955">
                        <a:lnSpc>
                          <a:spcPts val="1714"/>
                        </a:lnSpc>
                      </a:pPr>
                      <a:r>
                        <a:rPr sz="1500" spc="90" dirty="0">
                          <a:latin typeface="Times New Roman"/>
                          <a:cs typeface="Times New Roman"/>
                        </a:rPr>
                        <a:t>North</a:t>
                      </a:r>
                      <a:endParaRPr sz="1500">
                        <a:latin typeface="Times New Roman"/>
                        <a:cs typeface="Times New Roman"/>
                      </a:endParaRPr>
                    </a:p>
                  </a:txBody>
                  <a:tcPr marL="0" marR="0" marT="0" marB="0">
                    <a:lnL w="9525">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107950">
                        <a:lnSpc>
                          <a:spcPts val="1714"/>
                        </a:lnSpc>
                      </a:pPr>
                      <a:r>
                        <a:rPr sz="1500" spc="105" dirty="0">
                          <a:latin typeface="Times New Roman"/>
                          <a:cs typeface="Times New Roman"/>
                        </a:rPr>
                        <a:t>Georgetown</a:t>
                      </a:r>
                      <a:endParaRPr sz="15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8" name="object 8"/>
          <p:cNvGraphicFramePr>
            <a:graphicFrameLocks noGrp="1"/>
          </p:cNvGraphicFramePr>
          <p:nvPr/>
        </p:nvGraphicFramePr>
        <p:xfrm>
          <a:off x="7272405" y="2705100"/>
          <a:ext cx="2310130" cy="231140"/>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tblGrid>
              <a:tr h="231140">
                <a:tc>
                  <a:txBody>
                    <a:bodyPr/>
                    <a:lstStyle/>
                    <a:p>
                      <a:pPr marL="744855">
                        <a:lnSpc>
                          <a:spcPts val="1714"/>
                        </a:lnSpc>
                      </a:pPr>
                      <a:r>
                        <a:rPr sz="1500" spc="65" dirty="0">
                          <a:latin typeface="Times New Roman"/>
                          <a:cs typeface="Times New Roman"/>
                        </a:rPr>
                        <a:t>700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636905">
                        <a:lnSpc>
                          <a:spcPts val="1714"/>
                        </a:lnSpc>
                      </a:pPr>
                      <a:r>
                        <a:rPr sz="1500" spc="75" dirty="0">
                          <a:latin typeface="Times New Roman"/>
                          <a:cs typeface="Times New Roman"/>
                        </a:rPr>
                        <a:t>1500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9" name="object 9"/>
          <p:cNvGraphicFramePr>
            <a:graphicFrameLocks noGrp="1"/>
          </p:cNvGraphicFramePr>
          <p:nvPr/>
        </p:nvGraphicFramePr>
        <p:xfrm>
          <a:off x="1264801" y="3169919"/>
          <a:ext cx="5428615" cy="231140"/>
        </p:xfrm>
        <a:graphic>
          <a:graphicData uri="http://schemas.openxmlformats.org/drawingml/2006/table">
            <a:tbl>
              <a:tblPr firstRow="1" bandRow="1">
                <a:tableStyleId>{2D5ABB26-0587-4C30-8999-92F81FD0307C}</a:tableStyleId>
              </a:tblPr>
              <a:tblGrid>
                <a:gridCol w="1325880">
                  <a:extLst>
                    <a:ext uri="{9D8B030D-6E8A-4147-A177-3AD203B41FA5}">
                      <a16:colId xmlns:a16="http://schemas.microsoft.com/office/drawing/2014/main" val="20000"/>
                    </a:ext>
                  </a:extLst>
                </a:gridCol>
                <a:gridCol w="1444625">
                  <a:extLst>
                    <a:ext uri="{9D8B030D-6E8A-4147-A177-3AD203B41FA5}">
                      <a16:colId xmlns:a16="http://schemas.microsoft.com/office/drawing/2014/main" val="20001"/>
                    </a:ext>
                  </a:extLst>
                </a:gridCol>
                <a:gridCol w="1329055">
                  <a:extLst>
                    <a:ext uri="{9D8B030D-6E8A-4147-A177-3AD203B41FA5}">
                      <a16:colId xmlns:a16="http://schemas.microsoft.com/office/drawing/2014/main" val="20002"/>
                    </a:ext>
                  </a:extLst>
                </a:gridCol>
                <a:gridCol w="1329055">
                  <a:extLst>
                    <a:ext uri="{9D8B030D-6E8A-4147-A177-3AD203B41FA5}">
                      <a16:colId xmlns:a16="http://schemas.microsoft.com/office/drawing/2014/main" val="20003"/>
                    </a:ext>
                  </a:extLst>
                </a:gridCol>
              </a:tblGrid>
              <a:tr h="231140">
                <a:tc>
                  <a:txBody>
                    <a:bodyPr/>
                    <a:lstStyle/>
                    <a:p>
                      <a:pPr marL="375920">
                        <a:lnSpc>
                          <a:spcPts val="1714"/>
                        </a:lnSpc>
                      </a:pPr>
                      <a:r>
                        <a:rPr sz="1500" dirty="0">
                          <a:latin typeface="Times New Roman"/>
                          <a:cs typeface="Times New Roman"/>
                        </a:rPr>
                        <a:t>M</a:t>
                      </a:r>
                      <a:r>
                        <a:rPr sz="1500" spc="-135" dirty="0">
                          <a:latin typeface="Times New Roman"/>
                          <a:cs typeface="Times New Roman"/>
                        </a:rPr>
                        <a:t> </a:t>
                      </a:r>
                      <a:r>
                        <a:rPr sz="1500" spc="55" dirty="0">
                          <a:latin typeface="Times New Roman"/>
                          <a:cs typeface="Times New Roman"/>
                        </a:rPr>
                        <a:t>arsh</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142875">
                        <a:lnSpc>
                          <a:spcPts val="1714"/>
                        </a:lnSpc>
                      </a:pPr>
                      <a:r>
                        <a:rPr sz="1500" spc="105" dirty="0">
                          <a:latin typeface="Times New Roman"/>
                          <a:cs typeface="Times New Roman"/>
                        </a:rPr>
                        <a:t>456-</a:t>
                      </a:r>
                      <a:r>
                        <a:rPr sz="1500" spc="110" dirty="0">
                          <a:latin typeface="Times New Roman"/>
                          <a:cs typeface="Times New Roman"/>
                        </a:rPr>
                        <a:t>78-</a:t>
                      </a:r>
                      <a:r>
                        <a:rPr sz="1500" spc="75" dirty="0">
                          <a:latin typeface="Times New Roman"/>
                          <a:cs typeface="Times New Roman"/>
                        </a:rPr>
                        <a:t>9012</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426720">
                        <a:lnSpc>
                          <a:spcPts val="1714"/>
                        </a:lnSpc>
                      </a:pPr>
                      <a:r>
                        <a:rPr sz="1500" dirty="0">
                          <a:latin typeface="Times New Roman"/>
                          <a:cs typeface="Times New Roman"/>
                        </a:rPr>
                        <a:t>M</a:t>
                      </a:r>
                      <a:r>
                        <a:rPr sz="1500" spc="-135" dirty="0">
                          <a:latin typeface="Times New Roman"/>
                          <a:cs typeface="Times New Roman"/>
                        </a:rPr>
                        <a:t> </a:t>
                      </a:r>
                      <a:r>
                        <a:rPr sz="1500" spc="45" dirty="0">
                          <a:latin typeface="Times New Roman"/>
                          <a:cs typeface="Times New Roman"/>
                        </a:rPr>
                        <a:t>ain</a:t>
                      </a:r>
                      <a:endParaRPr sz="1500">
                        <a:latin typeface="Times New Roman"/>
                        <a:cs typeface="Times New Roman"/>
                      </a:endParaRPr>
                    </a:p>
                  </a:txBody>
                  <a:tcPr marL="0" marR="0" marT="0" marB="0">
                    <a:lnL w="9525">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363855">
                        <a:lnSpc>
                          <a:spcPts val="1714"/>
                        </a:lnSpc>
                      </a:pPr>
                      <a:r>
                        <a:rPr sz="1500" spc="85" dirty="0">
                          <a:latin typeface="Times New Roman"/>
                          <a:cs typeface="Times New Roman"/>
                        </a:rPr>
                        <a:t>Austin</a:t>
                      </a:r>
                      <a:endParaRPr sz="1500" dirty="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0" name="object 10"/>
          <p:cNvGraphicFramePr>
            <a:graphicFrameLocks noGrp="1"/>
          </p:cNvGraphicFramePr>
          <p:nvPr/>
        </p:nvGraphicFramePr>
        <p:xfrm>
          <a:off x="7272405" y="3169919"/>
          <a:ext cx="2310130" cy="231140"/>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tblGrid>
              <a:tr h="231140">
                <a:tc>
                  <a:txBody>
                    <a:bodyPr/>
                    <a:lstStyle/>
                    <a:p>
                      <a:pPr marL="744855">
                        <a:lnSpc>
                          <a:spcPts val="1714"/>
                        </a:lnSpc>
                      </a:pPr>
                      <a:r>
                        <a:rPr sz="1500" spc="65" dirty="0">
                          <a:latin typeface="Times New Roman"/>
                          <a:cs typeface="Times New Roman"/>
                        </a:rPr>
                        <a:t>199</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49300">
                        <a:lnSpc>
                          <a:spcPts val="1714"/>
                        </a:lnSpc>
                      </a:pPr>
                      <a:r>
                        <a:rPr sz="1500" spc="65" dirty="0">
                          <a:latin typeface="Times New Roman"/>
                          <a:cs typeface="Times New Roman"/>
                        </a:rPr>
                        <a:t>500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1" name="object 11"/>
          <p:cNvGraphicFramePr>
            <a:graphicFrameLocks noGrp="1"/>
          </p:cNvGraphicFramePr>
          <p:nvPr/>
        </p:nvGraphicFramePr>
        <p:xfrm>
          <a:off x="1264801" y="3634739"/>
          <a:ext cx="5428615" cy="231140"/>
        </p:xfrm>
        <a:graphic>
          <a:graphicData uri="http://schemas.openxmlformats.org/drawingml/2006/table">
            <a:tbl>
              <a:tblPr firstRow="1" bandRow="1">
                <a:tableStyleId>{2D5ABB26-0587-4C30-8999-92F81FD0307C}</a:tableStyleId>
              </a:tblPr>
              <a:tblGrid>
                <a:gridCol w="1325880">
                  <a:extLst>
                    <a:ext uri="{9D8B030D-6E8A-4147-A177-3AD203B41FA5}">
                      <a16:colId xmlns:a16="http://schemas.microsoft.com/office/drawing/2014/main" val="20000"/>
                    </a:ext>
                  </a:extLst>
                </a:gridCol>
                <a:gridCol w="1444625">
                  <a:extLst>
                    <a:ext uri="{9D8B030D-6E8A-4147-A177-3AD203B41FA5}">
                      <a16:colId xmlns:a16="http://schemas.microsoft.com/office/drawing/2014/main" val="20001"/>
                    </a:ext>
                  </a:extLst>
                </a:gridCol>
                <a:gridCol w="1329055">
                  <a:extLst>
                    <a:ext uri="{9D8B030D-6E8A-4147-A177-3AD203B41FA5}">
                      <a16:colId xmlns:a16="http://schemas.microsoft.com/office/drawing/2014/main" val="20002"/>
                    </a:ext>
                  </a:extLst>
                </a:gridCol>
                <a:gridCol w="1329055">
                  <a:extLst>
                    <a:ext uri="{9D8B030D-6E8A-4147-A177-3AD203B41FA5}">
                      <a16:colId xmlns:a16="http://schemas.microsoft.com/office/drawing/2014/main" val="20003"/>
                    </a:ext>
                  </a:extLst>
                </a:gridCol>
              </a:tblGrid>
              <a:tr h="231140">
                <a:tc>
                  <a:txBody>
                    <a:bodyPr/>
                    <a:lstStyle/>
                    <a:p>
                      <a:pPr marL="348615">
                        <a:lnSpc>
                          <a:spcPts val="1714"/>
                        </a:lnSpc>
                      </a:pPr>
                      <a:r>
                        <a:rPr sz="1500" spc="95" dirty="0">
                          <a:latin typeface="Times New Roman"/>
                          <a:cs typeface="Times New Roman"/>
                        </a:rPr>
                        <a:t>Pepper</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142875">
                        <a:lnSpc>
                          <a:spcPts val="1714"/>
                        </a:lnSpc>
                      </a:pPr>
                      <a:r>
                        <a:rPr sz="1500" spc="105" dirty="0">
                          <a:latin typeface="Times New Roman"/>
                          <a:cs typeface="Times New Roman"/>
                        </a:rPr>
                        <a:t>369-</a:t>
                      </a:r>
                      <a:r>
                        <a:rPr sz="1500" spc="110" dirty="0">
                          <a:latin typeface="Times New Roman"/>
                          <a:cs typeface="Times New Roman"/>
                        </a:rPr>
                        <a:t>12-</a:t>
                      </a:r>
                      <a:r>
                        <a:rPr sz="1500" spc="75" dirty="0">
                          <a:latin typeface="Times New Roman"/>
                          <a:cs typeface="Times New Roman"/>
                        </a:rPr>
                        <a:t>1518</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401955">
                        <a:lnSpc>
                          <a:spcPts val="1714"/>
                        </a:lnSpc>
                      </a:pPr>
                      <a:r>
                        <a:rPr sz="1500" spc="90" dirty="0">
                          <a:latin typeface="Times New Roman"/>
                          <a:cs typeface="Times New Roman"/>
                        </a:rPr>
                        <a:t>North</a:t>
                      </a:r>
                      <a:endParaRPr sz="1500">
                        <a:latin typeface="Times New Roman"/>
                        <a:cs typeface="Times New Roman"/>
                      </a:endParaRPr>
                    </a:p>
                  </a:txBody>
                  <a:tcPr marL="0" marR="0" marT="0" marB="0">
                    <a:lnL w="9525">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107950">
                        <a:lnSpc>
                          <a:spcPts val="1714"/>
                        </a:lnSpc>
                      </a:pPr>
                      <a:r>
                        <a:rPr sz="1500" spc="105" dirty="0">
                          <a:latin typeface="Times New Roman"/>
                          <a:cs typeface="Times New Roman"/>
                        </a:rPr>
                        <a:t>Georgetown</a:t>
                      </a:r>
                      <a:endParaRPr sz="15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2" name="object 12"/>
          <p:cNvGraphicFramePr>
            <a:graphicFrameLocks noGrp="1"/>
          </p:cNvGraphicFramePr>
          <p:nvPr/>
        </p:nvGraphicFramePr>
        <p:xfrm>
          <a:off x="7272405" y="3634739"/>
          <a:ext cx="2310130" cy="231140"/>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tblGrid>
              <a:tr h="231140">
                <a:tc>
                  <a:txBody>
                    <a:bodyPr/>
                    <a:lstStyle/>
                    <a:p>
                      <a:pPr marL="744855">
                        <a:lnSpc>
                          <a:spcPts val="1714"/>
                        </a:lnSpc>
                      </a:pPr>
                      <a:r>
                        <a:rPr sz="1500" spc="65" dirty="0">
                          <a:latin typeface="Times New Roman"/>
                          <a:cs typeface="Times New Roman"/>
                        </a:rPr>
                        <a:t>467</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749300">
                        <a:lnSpc>
                          <a:spcPts val="1714"/>
                        </a:lnSpc>
                      </a:pPr>
                      <a:r>
                        <a:rPr sz="1500" spc="65" dirty="0">
                          <a:latin typeface="Times New Roman"/>
                          <a:cs typeface="Times New Roman"/>
                        </a:rPr>
                        <a:t>900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3" name="object 13"/>
          <p:cNvGraphicFramePr>
            <a:graphicFrameLocks noGrp="1"/>
          </p:cNvGraphicFramePr>
          <p:nvPr/>
        </p:nvGraphicFramePr>
        <p:xfrm>
          <a:off x="1264801" y="4099559"/>
          <a:ext cx="5428615" cy="233045"/>
        </p:xfrm>
        <a:graphic>
          <a:graphicData uri="http://schemas.openxmlformats.org/drawingml/2006/table">
            <a:tbl>
              <a:tblPr firstRow="1" bandRow="1">
                <a:tableStyleId>{2D5ABB26-0587-4C30-8999-92F81FD0307C}</a:tableStyleId>
              </a:tblPr>
              <a:tblGrid>
                <a:gridCol w="1325880">
                  <a:extLst>
                    <a:ext uri="{9D8B030D-6E8A-4147-A177-3AD203B41FA5}">
                      <a16:colId xmlns:a16="http://schemas.microsoft.com/office/drawing/2014/main" val="20000"/>
                    </a:ext>
                  </a:extLst>
                </a:gridCol>
                <a:gridCol w="1444625">
                  <a:extLst>
                    <a:ext uri="{9D8B030D-6E8A-4147-A177-3AD203B41FA5}">
                      <a16:colId xmlns:a16="http://schemas.microsoft.com/office/drawing/2014/main" val="20001"/>
                    </a:ext>
                  </a:extLst>
                </a:gridCol>
                <a:gridCol w="1329055">
                  <a:extLst>
                    <a:ext uri="{9D8B030D-6E8A-4147-A177-3AD203B41FA5}">
                      <a16:colId xmlns:a16="http://schemas.microsoft.com/office/drawing/2014/main" val="20002"/>
                    </a:ext>
                  </a:extLst>
                </a:gridCol>
                <a:gridCol w="1329055">
                  <a:extLst>
                    <a:ext uri="{9D8B030D-6E8A-4147-A177-3AD203B41FA5}">
                      <a16:colId xmlns:a16="http://schemas.microsoft.com/office/drawing/2014/main" val="20003"/>
                    </a:ext>
                  </a:extLst>
                </a:gridCol>
              </a:tblGrid>
              <a:tr h="233045">
                <a:tc>
                  <a:txBody>
                    <a:bodyPr/>
                    <a:lstStyle/>
                    <a:p>
                      <a:pPr marL="368300">
                        <a:lnSpc>
                          <a:spcPts val="1714"/>
                        </a:lnSpc>
                      </a:pPr>
                      <a:r>
                        <a:rPr sz="1500" spc="75" dirty="0">
                          <a:latin typeface="Times New Roman"/>
                          <a:cs typeface="Times New Roman"/>
                        </a:rPr>
                        <a:t>Ratliff</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142875">
                        <a:lnSpc>
                          <a:spcPts val="1714"/>
                        </a:lnSpc>
                      </a:pPr>
                      <a:r>
                        <a:rPr sz="1500" spc="105" dirty="0">
                          <a:latin typeface="Times New Roman"/>
                          <a:cs typeface="Times New Roman"/>
                        </a:rPr>
                        <a:t>246-</a:t>
                      </a:r>
                      <a:r>
                        <a:rPr sz="1500" spc="110" dirty="0">
                          <a:latin typeface="Times New Roman"/>
                          <a:cs typeface="Times New Roman"/>
                        </a:rPr>
                        <a:t>80-</a:t>
                      </a:r>
                      <a:r>
                        <a:rPr sz="1500" spc="75" dirty="0">
                          <a:latin typeface="Times New Roman"/>
                          <a:cs typeface="Times New Roman"/>
                        </a:rPr>
                        <a:t>1214</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R="4445" algn="ctr">
                        <a:lnSpc>
                          <a:spcPts val="1714"/>
                        </a:lnSpc>
                      </a:pPr>
                      <a:r>
                        <a:rPr sz="1500" spc="70" dirty="0">
                          <a:latin typeface="Times New Roman"/>
                          <a:cs typeface="Times New Roman"/>
                        </a:rPr>
                        <a:t>Park</a:t>
                      </a:r>
                      <a:endParaRPr sz="1500">
                        <a:latin typeface="Times New Roman"/>
                        <a:cs typeface="Times New Roman"/>
                      </a:endParaRPr>
                    </a:p>
                  </a:txBody>
                  <a:tcPr marL="0" marR="0" marT="0" marB="0">
                    <a:lnL w="9525">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100330">
                        <a:lnSpc>
                          <a:spcPts val="1714"/>
                        </a:lnSpc>
                      </a:pPr>
                      <a:r>
                        <a:rPr sz="1500" spc="110" dirty="0">
                          <a:latin typeface="Times New Roman"/>
                          <a:cs typeface="Times New Roman"/>
                        </a:rPr>
                        <a:t>Round</a:t>
                      </a:r>
                      <a:r>
                        <a:rPr sz="1500" spc="200" dirty="0">
                          <a:latin typeface="Times New Roman"/>
                          <a:cs typeface="Times New Roman"/>
                        </a:rPr>
                        <a:t> </a:t>
                      </a:r>
                      <a:r>
                        <a:rPr sz="1500" spc="90" dirty="0">
                          <a:latin typeface="Times New Roman"/>
                          <a:cs typeface="Times New Roman"/>
                        </a:rPr>
                        <a:t>Rock</a:t>
                      </a:r>
                      <a:endParaRPr sz="15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4" name="object 14"/>
          <p:cNvGraphicFramePr>
            <a:graphicFrameLocks noGrp="1"/>
          </p:cNvGraphicFramePr>
          <p:nvPr/>
        </p:nvGraphicFramePr>
        <p:xfrm>
          <a:off x="7272405" y="4099559"/>
          <a:ext cx="2310130" cy="233045"/>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tblGrid>
              <a:tr h="233045">
                <a:tc>
                  <a:txBody>
                    <a:bodyPr/>
                    <a:lstStyle/>
                    <a:p>
                      <a:pPr marL="744855">
                        <a:lnSpc>
                          <a:spcPts val="1714"/>
                        </a:lnSpc>
                      </a:pPr>
                      <a:r>
                        <a:rPr sz="1500" spc="65" dirty="0">
                          <a:latin typeface="Times New Roman"/>
                          <a:cs typeface="Times New Roman"/>
                        </a:rPr>
                        <a:t>115</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636905">
                        <a:lnSpc>
                          <a:spcPts val="1714"/>
                        </a:lnSpc>
                      </a:pPr>
                      <a:r>
                        <a:rPr sz="1500" spc="75" dirty="0">
                          <a:latin typeface="Times New Roman"/>
                          <a:cs typeface="Times New Roman"/>
                        </a:rPr>
                        <a:t>1200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5" name="object 15"/>
          <p:cNvGraphicFramePr>
            <a:graphicFrameLocks noGrp="1"/>
          </p:cNvGraphicFramePr>
          <p:nvPr/>
        </p:nvGraphicFramePr>
        <p:xfrm>
          <a:off x="1264801" y="4564379"/>
          <a:ext cx="5428615" cy="233045"/>
        </p:xfrm>
        <a:graphic>
          <a:graphicData uri="http://schemas.openxmlformats.org/drawingml/2006/table">
            <a:tbl>
              <a:tblPr firstRow="1" bandRow="1">
                <a:tableStyleId>{2D5ABB26-0587-4C30-8999-92F81FD0307C}</a:tableStyleId>
              </a:tblPr>
              <a:tblGrid>
                <a:gridCol w="1325880">
                  <a:extLst>
                    <a:ext uri="{9D8B030D-6E8A-4147-A177-3AD203B41FA5}">
                      <a16:colId xmlns:a16="http://schemas.microsoft.com/office/drawing/2014/main" val="20000"/>
                    </a:ext>
                  </a:extLst>
                </a:gridCol>
                <a:gridCol w="1444625">
                  <a:extLst>
                    <a:ext uri="{9D8B030D-6E8A-4147-A177-3AD203B41FA5}">
                      <a16:colId xmlns:a16="http://schemas.microsoft.com/office/drawing/2014/main" val="20001"/>
                    </a:ext>
                  </a:extLst>
                </a:gridCol>
                <a:gridCol w="1329055">
                  <a:extLst>
                    <a:ext uri="{9D8B030D-6E8A-4147-A177-3AD203B41FA5}">
                      <a16:colId xmlns:a16="http://schemas.microsoft.com/office/drawing/2014/main" val="20002"/>
                    </a:ext>
                  </a:extLst>
                </a:gridCol>
                <a:gridCol w="1329055">
                  <a:extLst>
                    <a:ext uri="{9D8B030D-6E8A-4147-A177-3AD203B41FA5}">
                      <a16:colId xmlns:a16="http://schemas.microsoft.com/office/drawing/2014/main" val="20003"/>
                    </a:ext>
                  </a:extLst>
                </a:gridCol>
              </a:tblGrid>
              <a:tr h="233045">
                <a:tc>
                  <a:txBody>
                    <a:bodyPr/>
                    <a:lstStyle/>
                    <a:p>
                      <a:pPr marR="635" algn="ctr">
                        <a:lnSpc>
                          <a:spcPts val="1714"/>
                        </a:lnSpc>
                      </a:pPr>
                      <a:r>
                        <a:rPr sz="1500" spc="70" dirty="0">
                          <a:latin typeface="Times New Roman"/>
                          <a:cs typeface="Times New Roman"/>
                        </a:rPr>
                        <a:t>Brill</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142875">
                        <a:lnSpc>
                          <a:spcPts val="1714"/>
                        </a:lnSpc>
                      </a:pPr>
                      <a:r>
                        <a:rPr sz="1500" spc="105" dirty="0">
                          <a:latin typeface="Times New Roman"/>
                          <a:cs typeface="Times New Roman"/>
                        </a:rPr>
                        <a:t>121-</a:t>
                      </a:r>
                      <a:r>
                        <a:rPr sz="1500" spc="110" dirty="0">
                          <a:latin typeface="Times New Roman"/>
                          <a:cs typeface="Times New Roman"/>
                        </a:rPr>
                        <a:t>21-</a:t>
                      </a:r>
                      <a:r>
                        <a:rPr sz="1500" spc="75" dirty="0">
                          <a:latin typeface="Times New Roman"/>
                          <a:cs typeface="Times New Roman"/>
                        </a:rPr>
                        <a:t>2121</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321310">
                        <a:lnSpc>
                          <a:spcPts val="1714"/>
                        </a:lnSpc>
                      </a:pPr>
                      <a:r>
                        <a:rPr sz="1500" spc="90" dirty="0">
                          <a:latin typeface="Times New Roman"/>
                          <a:cs typeface="Times New Roman"/>
                        </a:rPr>
                        <a:t>Putnam</a:t>
                      </a:r>
                      <a:endParaRPr sz="1500">
                        <a:latin typeface="Times New Roman"/>
                        <a:cs typeface="Times New Roman"/>
                      </a:endParaRPr>
                    </a:p>
                  </a:txBody>
                  <a:tcPr marL="0" marR="0" marT="0" marB="0">
                    <a:lnL w="9525">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128905">
                        <a:lnSpc>
                          <a:spcPts val="1714"/>
                        </a:lnSpc>
                      </a:pPr>
                      <a:r>
                        <a:rPr sz="1500" spc="90" dirty="0">
                          <a:latin typeface="Times New Roman"/>
                          <a:cs typeface="Times New Roman"/>
                        </a:rPr>
                        <a:t>San</a:t>
                      </a:r>
                      <a:r>
                        <a:rPr sz="1500" spc="210" dirty="0">
                          <a:latin typeface="Times New Roman"/>
                          <a:cs typeface="Times New Roman"/>
                        </a:rPr>
                        <a:t> </a:t>
                      </a:r>
                      <a:r>
                        <a:rPr sz="1500" dirty="0">
                          <a:latin typeface="Times New Roman"/>
                          <a:cs typeface="Times New Roman"/>
                        </a:rPr>
                        <a:t>M</a:t>
                      </a:r>
                      <a:r>
                        <a:rPr sz="1500" spc="-165" dirty="0">
                          <a:latin typeface="Times New Roman"/>
                          <a:cs typeface="Times New Roman"/>
                        </a:rPr>
                        <a:t> </a:t>
                      </a:r>
                      <a:r>
                        <a:rPr sz="1500" spc="65" dirty="0">
                          <a:latin typeface="Times New Roman"/>
                          <a:cs typeface="Times New Roman"/>
                        </a:rPr>
                        <a:t>arcos</a:t>
                      </a:r>
                      <a:endParaRPr sz="15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6" name="object 16"/>
          <p:cNvGraphicFramePr>
            <a:graphicFrameLocks noGrp="1"/>
          </p:cNvGraphicFramePr>
          <p:nvPr/>
        </p:nvGraphicFramePr>
        <p:xfrm>
          <a:off x="7272405" y="4564379"/>
          <a:ext cx="2310130" cy="233045"/>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tblGrid>
              <a:tr h="233045">
                <a:tc>
                  <a:txBody>
                    <a:bodyPr/>
                    <a:lstStyle/>
                    <a:p>
                      <a:pPr marL="744855">
                        <a:lnSpc>
                          <a:spcPts val="1714"/>
                        </a:lnSpc>
                      </a:pPr>
                      <a:r>
                        <a:rPr sz="1500" spc="65" dirty="0">
                          <a:latin typeface="Times New Roman"/>
                          <a:cs typeface="Times New Roman"/>
                        </a:rPr>
                        <a:t>183</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636905">
                        <a:lnSpc>
                          <a:spcPts val="1714"/>
                        </a:lnSpc>
                      </a:pPr>
                      <a:r>
                        <a:rPr sz="1500" spc="75" dirty="0">
                          <a:latin typeface="Times New Roman"/>
                          <a:cs typeface="Times New Roman"/>
                        </a:rPr>
                        <a:t>1300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7" name="object 17"/>
          <p:cNvGraphicFramePr>
            <a:graphicFrameLocks noGrp="1"/>
          </p:cNvGraphicFramePr>
          <p:nvPr/>
        </p:nvGraphicFramePr>
        <p:xfrm>
          <a:off x="1264801" y="5029200"/>
          <a:ext cx="5428615" cy="233045"/>
        </p:xfrm>
        <a:graphic>
          <a:graphicData uri="http://schemas.openxmlformats.org/drawingml/2006/table">
            <a:tbl>
              <a:tblPr firstRow="1" bandRow="1">
                <a:tableStyleId>{2D5ABB26-0587-4C30-8999-92F81FD0307C}</a:tableStyleId>
              </a:tblPr>
              <a:tblGrid>
                <a:gridCol w="1325880">
                  <a:extLst>
                    <a:ext uri="{9D8B030D-6E8A-4147-A177-3AD203B41FA5}">
                      <a16:colId xmlns:a16="http://schemas.microsoft.com/office/drawing/2014/main" val="20000"/>
                    </a:ext>
                  </a:extLst>
                </a:gridCol>
                <a:gridCol w="1444625">
                  <a:extLst>
                    <a:ext uri="{9D8B030D-6E8A-4147-A177-3AD203B41FA5}">
                      <a16:colId xmlns:a16="http://schemas.microsoft.com/office/drawing/2014/main" val="20001"/>
                    </a:ext>
                  </a:extLst>
                </a:gridCol>
                <a:gridCol w="1329055">
                  <a:extLst>
                    <a:ext uri="{9D8B030D-6E8A-4147-A177-3AD203B41FA5}">
                      <a16:colId xmlns:a16="http://schemas.microsoft.com/office/drawing/2014/main" val="20002"/>
                    </a:ext>
                  </a:extLst>
                </a:gridCol>
                <a:gridCol w="1329055">
                  <a:extLst>
                    <a:ext uri="{9D8B030D-6E8A-4147-A177-3AD203B41FA5}">
                      <a16:colId xmlns:a16="http://schemas.microsoft.com/office/drawing/2014/main" val="20003"/>
                    </a:ext>
                  </a:extLst>
                </a:gridCol>
              </a:tblGrid>
              <a:tr h="233045">
                <a:tc>
                  <a:txBody>
                    <a:bodyPr/>
                    <a:lstStyle/>
                    <a:p>
                      <a:pPr marL="408305">
                        <a:lnSpc>
                          <a:spcPts val="1714"/>
                        </a:lnSpc>
                      </a:pPr>
                      <a:r>
                        <a:rPr sz="1500" spc="85" dirty="0">
                          <a:latin typeface="Times New Roman"/>
                          <a:cs typeface="Times New Roman"/>
                        </a:rPr>
                        <a:t>Evers</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142875">
                        <a:lnSpc>
                          <a:spcPts val="1714"/>
                        </a:lnSpc>
                      </a:pPr>
                      <a:r>
                        <a:rPr sz="1500" spc="105" dirty="0">
                          <a:latin typeface="Times New Roman"/>
                          <a:cs typeface="Times New Roman"/>
                        </a:rPr>
                        <a:t>135-</a:t>
                      </a:r>
                      <a:r>
                        <a:rPr sz="1500" spc="110" dirty="0">
                          <a:latin typeface="Times New Roman"/>
                          <a:cs typeface="Times New Roman"/>
                        </a:rPr>
                        <a:t>79-</a:t>
                      </a:r>
                      <a:r>
                        <a:rPr sz="1500" spc="75" dirty="0">
                          <a:latin typeface="Times New Roman"/>
                          <a:cs typeface="Times New Roman"/>
                        </a:rPr>
                        <a:t>1357</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339725">
                        <a:lnSpc>
                          <a:spcPts val="1714"/>
                        </a:lnSpc>
                      </a:pPr>
                      <a:r>
                        <a:rPr sz="1500" spc="95" dirty="0">
                          <a:latin typeface="Times New Roman"/>
                          <a:cs typeface="Times New Roman"/>
                        </a:rPr>
                        <a:t>Nassau</a:t>
                      </a:r>
                      <a:endParaRPr sz="1500">
                        <a:latin typeface="Times New Roman"/>
                        <a:cs typeface="Times New Roman"/>
                      </a:endParaRPr>
                    </a:p>
                  </a:txBody>
                  <a:tcPr marL="0" marR="0" marT="0" marB="0">
                    <a:lnL w="9525">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L="363855">
                        <a:lnSpc>
                          <a:spcPts val="1714"/>
                        </a:lnSpc>
                      </a:pPr>
                      <a:r>
                        <a:rPr sz="1500" spc="85" dirty="0">
                          <a:latin typeface="Times New Roman"/>
                          <a:cs typeface="Times New Roman"/>
                        </a:rPr>
                        <a:t>Austin</a:t>
                      </a:r>
                      <a:endParaRPr sz="15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8" name="object 18"/>
          <p:cNvGraphicFramePr>
            <a:graphicFrameLocks noGrp="1"/>
          </p:cNvGraphicFramePr>
          <p:nvPr/>
        </p:nvGraphicFramePr>
        <p:xfrm>
          <a:off x="7272405" y="5029200"/>
          <a:ext cx="2310130" cy="233045"/>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tblGrid>
              <a:tr h="233045">
                <a:tc>
                  <a:txBody>
                    <a:bodyPr/>
                    <a:lstStyle/>
                    <a:p>
                      <a:pPr marL="744855">
                        <a:lnSpc>
                          <a:spcPts val="1714"/>
                        </a:lnSpc>
                      </a:pPr>
                      <a:r>
                        <a:rPr sz="1500" spc="65" dirty="0">
                          <a:latin typeface="Times New Roman"/>
                          <a:cs typeface="Times New Roman"/>
                        </a:rPr>
                        <a:t>118</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636905">
                        <a:lnSpc>
                          <a:spcPts val="1714"/>
                        </a:lnSpc>
                      </a:pPr>
                      <a:r>
                        <a:rPr sz="1500" spc="75" dirty="0">
                          <a:latin typeface="Times New Roman"/>
                          <a:cs typeface="Times New Roman"/>
                        </a:rPr>
                        <a:t>2000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9" name="object 19"/>
          <p:cNvGraphicFramePr>
            <a:graphicFrameLocks noGrp="1"/>
          </p:cNvGraphicFramePr>
          <p:nvPr/>
        </p:nvGraphicFramePr>
        <p:xfrm>
          <a:off x="7272405" y="5494019"/>
          <a:ext cx="2310130" cy="233045"/>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tblGrid>
              <a:tr h="233045">
                <a:tc>
                  <a:txBody>
                    <a:bodyPr/>
                    <a:lstStyle/>
                    <a:p>
                      <a:pPr marL="744855">
                        <a:lnSpc>
                          <a:spcPts val="1714"/>
                        </a:lnSpc>
                      </a:pPr>
                      <a:r>
                        <a:rPr sz="1500" spc="65" dirty="0">
                          <a:latin typeface="Times New Roman"/>
                          <a:cs typeface="Times New Roman"/>
                        </a:rPr>
                        <a:t>225</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636905">
                        <a:lnSpc>
                          <a:spcPts val="1714"/>
                        </a:lnSpc>
                      </a:pPr>
                      <a:r>
                        <a:rPr sz="1500" spc="75" dirty="0">
                          <a:latin typeface="Times New Roman"/>
                          <a:cs typeface="Times New Roman"/>
                        </a:rPr>
                        <a:t>2500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sp>
        <p:nvSpPr>
          <p:cNvPr id="20" name="object 20"/>
          <p:cNvSpPr txBox="1"/>
          <p:nvPr/>
        </p:nvSpPr>
        <p:spPr>
          <a:xfrm>
            <a:off x="3644772" y="5703655"/>
            <a:ext cx="662305" cy="259715"/>
          </a:xfrm>
          <a:prstGeom prst="rect">
            <a:avLst/>
          </a:prstGeom>
        </p:spPr>
        <p:txBody>
          <a:bodyPr vert="horz" wrap="square" lIns="0" tIns="17145" rIns="0" bIns="0" rtlCol="0">
            <a:spAutoFit/>
          </a:bodyPr>
          <a:lstStyle/>
          <a:p>
            <a:pPr marL="12700">
              <a:lnSpc>
                <a:spcPct val="100000"/>
              </a:lnSpc>
              <a:spcBef>
                <a:spcPts val="135"/>
              </a:spcBef>
            </a:pPr>
            <a:r>
              <a:rPr sz="1500" spc="85" dirty="0">
                <a:latin typeface="Times New Roman"/>
                <a:cs typeface="Times New Roman"/>
              </a:rPr>
              <a:t>Cliente</a:t>
            </a:r>
            <a:endParaRPr sz="1500">
              <a:latin typeface="Times New Roman"/>
              <a:cs typeface="Times New Roman"/>
            </a:endParaRPr>
          </a:p>
        </p:txBody>
      </p:sp>
      <p:graphicFrame>
        <p:nvGraphicFramePr>
          <p:cNvPr id="21" name="object 21"/>
          <p:cNvGraphicFramePr>
            <a:graphicFrameLocks noGrp="1"/>
          </p:cNvGraphicFramePr>
          <p:nvPr/>
        </p:nvGraphicFramePr>
        <p:xfrm>
          <a:off x="7272405" y="5960363"/>
          <a:ext cx="2310130" cy="231140"/>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tblGrid>
              <a:tr h="231140">
                <a:tc>
                  <a:txBody>
                    <a:bodyPr/>
                    <a:lstStyle/>
                    <a:p>
                      <a:pPr marL="744855">
                        <a:lnSpc>
                          <a:spcPts val="1725"/>
                        </a:lnSpc>
                      </a:pPr>
                      <a:r>
                        <a:rPr sz="1500" spc="65" dirty="0">
                          <a:latin typeface="Times New Roman"/>
                          <a:cs typeface="Times New Roman"/>
                        </a:rPr>
                        <a:t>210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636905">
                        <a:lnSpc>
                          <a:spcPts val="1725"/>
                        </a:lnSpc>
                      </a:pPr>
                      <a:r>
                        <a:rPr sz="1500" spc="75" dirty="0">
                          <a:latin typeface="Times New Roman"/>
                          <a:cs typeface="Times New Roman"/>
                        </a:rPr>
                        <a:t>2200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sp>
        <p:nvSpPr>
          <p:cNvPr id="22" name="object 22"/>
          <p:cNvSpPr txBox="1"/>
          <p:nvPr/>
        </p:nvSpPr>
        <p:spPr>
          <a:xfrm>
            <a:off x="8099415" y="6394027"/>
            <a:ext cx="650240" cy="259715"/>
          </a:xfrm>
          <a:prstGeom prst="rect">
            <a:avLst/>
          </a:prstGeom>
        </p:spPr>
        <p:txBody>
          <a:bodyPr vert="horz" wrap="square" lIns="0" tIns="17145" rIns="0" bIns="0" rtlCol="0">
            <a:spAutoFit/>
          </a:bodyPr>
          <a:lstStyle/>
          <a:p>
            <a:pPr marL="12700">
              <a:lnSpc>
                <a:spcPct val="100000"/>
              </a:lnSpc>
              <a:spcBef>
                <a:spcPts val="135"/>
              </a:spcBef>
            </a:pPr>
            <a:r>
              <a:rPr sz="1500" spc="95" dirty="0">
                <a:latin typeface="Times New Roman"/>
                <a:cs typeface="Times New Roman"/>
              </a:rPr>
              <a:t>Cuenta</a:t>
            </a:r>
            <a:endParaRPr sz="1500">
              <a:latin typeface="Times New Roman"/>
              <a:cs typeface="Times New Roman"/>
            </a:endParaRPr>
          </a:p>
        </p:txBody>
      </p:sp>
      <p:sp>
        <p:nvSpPr>
          <p:cNvPr id="23" name="object 23"/>
          <p:cNvSpPr/>
          <p:nvPr/>
        </p:nvSpPr>
        <p:spPr>
          <a:xfrm>
            <a:off x="1129166" y="1880612"/>
            <a:ext cx="5721350" cy="3714115"/>
          </a:xfrm>
          <a:custGeom>
            <a:avLst/>
            <a:gdLst/>
            <a:ahLst/>
            <a:cxnLst/>
            <a:rect l="l" t="t" r="r" b="b"/>
            <a:pathLst>
              <a:path w="5721350" h="3714115">
                <a:moveTo>
                  <a:pt x="714754" y="0"/>
                </a:moveTo>
                <a:lnTo>
                  <a:pt x="676660" y="0"/>
                </a:lnTo>
                <a:lnTo>
                  <a:pt x="640083" y="3045"/>
                </a:lnTo>
                <a:lnTo>
                  <a:pt x="603506" y="7621"/>
                </a:lnTo>
                <a:lnTo>
                  <a:pt x="569980" y="10666"/>
                </a:lnTo>
                <a:lnTo>
                  <a:pt x="534920" y="19817"/>
                </a:lnTo>
                <a:lnTo>
                  <a:pt x="501397" y="28954"/>
                </a:lnTo>
                <a:lnTo>
                  <a:pt x="466346" y="36575"/>
                </a:lnTo>
                <a:lnTo>
                  <a:pt x="435865" y="47242"/>
                </a:lnTo>
                <a:lnTo>
                  <a:pt x="403861" y="59438"/>
                </a:lnTo>
                <a:lnTo>
                  <a:pt x="374905" y="74681"/>
                </a:lnTo>
                <a:lnTo>
                  <a:pt x="342901" y="89923"/>
                </a:lnTo>
                <a:lnTo>
                  <a:pt x="286513" y="121923"/>
                </a:lnTo>
                <a:lnTo>
                  <a:pt x="231648" y="160028"/>
                </a:lnTo>
                <a:lnTo>
                  <a:pt x="185928" y="202695"/>
                </a:lnTo>
                <a:lnTo>
                  <a:pt x="164592" y="225559"/>
                </a:lnTo>
                <a:lnTo>
                  <a:pt x="141733" y="248422"/>
                </a:lnTo>
                <a:lnTo>
                  <a:pt x="121920" y="272801"/>
                </a:lnTo>
                <a:lnTo>
                  <a:pt x="102108" y="297180"/>
                </a:lnTo>
                <a:lnTo>
                  <a:pt x="85343" y="323089"/>
                </a:lnTo>
                <a:lnTo>
                  <a:pt x="71628" y="350528"/>
                </a:lnTo>
                <a:lnTo>
                  <a:pt x="56389" y="377952"/>
                </a:lnTo>
                <a:lnTo>
                  <a:pt x="44197" y="405391"/>
                </a:lnTo>
                <a:lnTo>
                  <a:pt x="32003" y="435861"/>
                </a:lnTo>
                <a:lnTo>
                  <a:pt x="21335" y="463300"/>
                </a:lnTo>
                <a:lnTo>
                  <a:pt x="15240" y="493784"/>
                </a:lnTo>
                <a:lnTo>
                  <a:pt x="7620" y="524255"/>
                </a:lnTo>
                <a:lnTo>
                  <a:pt x="3049" y="554739"/>
                </a:lnTo>
                <a:lnTo>
                  <a:pt x="0" y="586739"/>
                </a:lnTo>
                <a:lnTo>
                  <a:pt x="0" y="3127256"/>
                </a:lnTo>
                <a:lnTo>
                  <a:pt x="3049" y="3159257"/>
                </a:lnTo>
                <a:lnTo>
                  <a:pt x="7620" y="3188211"/>
                </a:lnTo>
                <a:lnTo>
                  <a:pt x="15240" y="3220211"/>
                </a:lnTo>
                <a:lnTo>
                  <a:pt x="21335" y="3249166"/>
                </a:lnTo>
                <a:lnTo>
                  <a:pt x="32003" y="3279650"/>
                </a:lnTo>
                <a:lnTo>
                  <a:pt x="44197" y="3307089"/>
                </a:lnTo>
                <a:lnTo>
                  <a:pt x="56389" y="3334513"/>
                </a:lnTo>
                <a:lnTo>
                  <a:pt x="71628" y="3361952"/>
                </a:lnTo>
                <a:lnTo>
                  <a:pt x="85343" y="3389377"/>
                </a:lnTo>
                <a:lnTo>
                  <a:pt x="102108" y="3415286"/>
                </a:lnTo>
                <a:lnTo>
                  <a:pt x="121920" y="3441195"/>
                </a:lnTo>
                <a:lnTo>
                  <a:pt x="141733" y="3464058"/>
                </a:lnTo>
                <a:lnTo>
                  <a:pt x="164592" y="3486921"/>
                </a:lnTo>
                <a:lnTo>
                  <a:pt x="185928" y="3511300"/>
                </a:lnTo>
                <a:lnTo>
                  <a:pt x="207264" y="3532634"/>
                </a:lnTo>
                <a:lnTo>
                  <a:pt x="231648" y="3553967"/>
                </a:lnTo>
                <a:lnTo>
                  <a:pt x="259081" y="3572255"/>
                </a:lnTo>
                <a:lnTo>
                  <a:pt x="286513" y="3592073"/>
                </a:lnTo>
                <a:lnTo>
                  <a:pt x="312421" y="3608831"/>
                </a:lnTo>
                <a:lnTo>
                  <a:pt x="342901" y="3622557"/>
                </a:lnTo>
                <a:lnTo>
                  <a:pt x="374905" y="3637785"/>
                </a:lnTo>
                <a:lnTo>
                  <a:pt x="435865" y="3665224"/>
                </a:lnTo>
                <a:lnTo>
                  <a:pt x="501397" y="3685027"/>
                </a:lnTo>
                <a:lnTo>
                  <a:pt x="534920" y="3692648"/>
                </a:lnTo>
                <a:lnTo>
                  <a:pt x="569980" y="3701799"/>
                </a:lnTo>
                <a:lnTo>
                  <a:pt x="603506" y="3706375"/>
                </a:lnTo>
                <a:lnTo>
                  <a:pt x="640083" y="3710936"/>
                </a:lnTo>
                <a:lnTo>
                  <a:pt x="676660" y="3712466"/>
                </a:lnTo>
                <a:lnTo>
                  <a:pt x="714754" y="3713996"/>
                </a:lnTo>
                <a:lnTo>
                  <a:pt x="5007877" y="3713996"/>
                </a:lnTo>
                <a:lnTo>
                  <a:pt x="5044454" y="3712466"/>
                </a:lnTo>
                <a:lnTo>
                  <a:pt x="5081031" y="3710936"/>
                </a:lnTo>
                <a:lnTo>
                  <a:pt x="5117608" y="3706375"/>
                </a:lnTo>
                <a:lnTo>
                  <a:pt x="5151134" y="3701799"/>
                </a:lnTo>
                <a:lnTo>
                  <a:pt x="5186178" y="3692648"/>
                </a:lnTo>
                <a:lnTo>
                  <a:pt x="5219704" y="3685027"/>
                </a:lnTo>
                <a:lnTo>
                  <a:pt x="5286772" y="3665224"/>
                </a:lnTo>
                <a:lnTo>
                  <a:pt x="5347723" y="3637785"/>
                </a:lnTo>
                <a:lnTo>
                  <a:pt x="5376681" y="3622557"/>
                </a:lnTo>
                <a:lnTo>
                  <a:pt x="5405639" y="3608831"/>
                </a:lnTo>
                <a:lnTo>
                  <a:pt x="5462022" y="3572255"/>
                </a:lnTo>
                <a:lnTo>
                  <a:pt x="5510802" y="3532634"/>
                </a:lnTo>
                <a:lnTo>
                  <a:pt x="5558032" y="3486921"/>
                </a:lnTo>
                <a:lnTo>
                  <a:pt x="5599193" y="3441195"/>
                </a:lnTo>
                <a:lnTo>
                  <a:pt x="5635770" y="3389377"/>
                </a:lnTo>
                <a:lnTo>
                  <a:pt x="5664712" y="3334513"/>
                </a:lnTo>
                <a:lnTo>
                  <a:pt x="5689102" y="3279650"/>
                </a:lnTo>
                <a:lnTo>
                  <a:pt x="5705873" y="3220211"/>
                </a:lnTo>
                <a:lnTo>
                  <a:pt x="5713492" y="3188211"/>
                </a:lnTo>
                <a:lnTo>
                  <a:pt x="5716543" y="3159257"/>
                </a:lnTo>
                <a:lnTo>
                  <a:pt x="5721111" y="3127256"/>
                </a:lnTo>
                <a:lnTo>
                  <a:pt x="5721111" y="586739"/>
                </a:lnTo>
                <a:lnTo>
                  <a:pt x="5716543" y="554739"/>
                </a:lnTo>
                <a:lnTo>
                  <a:pt x="5713492" y="524255"/>
                </a:lnTo>
                <a:lnTo>
                  <a:pt x="5705873" y="493784"/>
                </a:lnTo>
                <a:lnTo>
                  <a:pt x="5689102" y="435861"/>
                </a:lnTo>
                <a:lnTo>
                  <a:pt x="5664712" y="377952"/>
                </a:lnTo>
                <a:lnTo>
                  <a:pt x="5635770" y="323089"/>
                </a:lnTo>
                <a:lnTo>
                  <a:pt x="5599193" y="272801"/>
                </a:lnTo>
                <a:lnTo>
                  <a:pt x="5558032" y="225559"/>
                </a:lnTo>
                <a:lnTo>
                  <a:pt x="5510802" y="181362"/>
                </a:lnTo>
                <a:lnTo>
                  <a:pt x="5462022" y="140211"/>
                </a:lnTo>
                <a:lnTo>
                  <a:pt x="5405639" y="105165"/>
                </a:lnTo>
                <a:lnTo>
                  <a:pt x="5376681" y="89923"/>
                </a:lnTo>
                <a:lnTo>
                  <a:pt x="5347723" y="74681"/>
                </a:lnTo>
                <a:lnTo>
                  <a:pt x="5317248" y="59438"/>
                </a:lnTo>
                <a:lnTo>
                  <a:pt x="5286772" y="47242"/>
                </a:lnTo>
                <a:lnTo>
                  <a:pt x="5254763" y="36575"/>
                </a:lnTo>
                <a:lnTo>
                  <a:pt x="5219704" y="28954"/>
                </a:lnTo>
                <a:lnTo>
                  <a:pt x="5186178" y="19817"/>
                </a:lnTo>
                <a:lnTo>
                  <a:pt x="5151134" y="10666"/>
                </a:lnTo>
                <a:lnTo>
                  <a:pt x="5117608" y="7621"/>
                </a:lnTo>
                <a:lnTo>
                  <a:pt x="5081031" y="3045"/>
                </a:lnTo>
                <a:lnTo>
                  <a:pt x="5044454" y="0"/>
                </a:lnTo>
                <a:lnTo>
                  <a:pt x="714754" y="0"/>
                </a:lnTo>
              </a:path>
            </a:pathLst>
          </a:custGeom>
          <a:ln w="13291">
            <a:solidFill>
              <a:srgbClr val="000000"/>
            </a:solidFill>
          </a:ln>
        </p:spPr>
        <p:txBody>
          <a:bodyPr wrap="square" lIns="0" tIns="0" rIns="0" bIns="0" rtlCol="0"/>
          <a:lstStyle/>
          <a:p>
            <a:endParaRPr/>
          </a:p>
        </p:txBody>
      </p:sp>
      <p:sp>
        <p:nvSpPr>
          <p:cNvPr id="24" name="object 24"/>
          <p:cNvSpPr/>
          <p:nvPr/>
        </p:nvSpPr>
        <p:spPr>
          <a:xfrm>
            <a:off x="7100215" y="1083564"/>
            <a:ext cx="2639695" cy="5276215"/>
          </a:xfrm>
          <a:custGeom>
            <a:avLst/>
            <a:gdLst/>
            <a:ahLst/>
            <a:cxnLst/>
            <a:rect l="l" t="t" r="r" b="b"/>
            <a:pathLst>
              <a:path w="2639695" h="5276215">
                <a:moveTo>
                  <a:pt x="440440" y="0"/>
                </a:moveTo>
                <a:lnTo>
                  <a:pt x="417567" y="0"/>
                </a:lnTo>
                <a:lnTo>
                  <a:pt x="396244" y="1522"/>
                </a:lnTo>
                <a:lnTo>
                  <a:pt x="352048" y="7619"/>
                </a:lnTo>
                <a:lnTo>
                  <a:pt x="310887" y="16763"/>
                </a:lnTo>
                <a:lnTo>
                  <a:pt x="268225" y="28955"/>
                </a:lnTo>
                <a:lnTo>
                  <a:pt x="230114" y="47243"/>
                </a:lnTo>
                <a:lnTo>
                  <a:pt x="211826" y="54863"/>
                </a:lnTo>
                <a:lnTo>
                  <a:pt x="192020" y="65531"/>
                </a:lnTo>
                <a:lnTo>
                  <a:pt x="175249" y="76199"/>
                </a:lnTo>
                <a:lnTo>
                  <a:pt x="161545" y="86867"/>
                </a:lnTo>
                <a:lnTo>
                  <a:pt x="143256" y="99058"/>
                </a:lnTo>
                <a:lnTo>
                  <a:pt x="129536" y="112775"/>
                </a:lnTo>
                <a:lnTo>
                  <a:pt x="114298" y="124967"/>
                </a:lnTo>
                <a:lnTo>
                  <a:pt x="100578" y="140206"/>
                </a:lnTo>
                <a:lnTo>
                  <a:pt x="74671" y="169162"/>
                </a:lnTo>
                <a:lnTo>
                  <a:pt x="44195" y="216408"/>
                </a:lnTo>
                <a:lnTo>
                  <a:pt x="33526" y="233171"/>
                </a:lnTo>
                <a:lnTo>
                  <a:pt x="25907" y="249935"/>
                </a:lnTo>
                <a:lnTo>
                  <a:pt x="19805" y="269747"/>
                </a:lnTo>
                <a:lnTo>
                  <a:pt x="13704" y="286510"/>
                </a:lnTo>
                <a:lnTo>
                  <a:pt x="9136" y="304800"/>
                </a:lnTo>
                <a:lnTo>
                  <a:pt x="4568" y="324610"/>
                </a:lnTo>
                <a:lnTo>
                  <a:pt x="1517" y="342898"/>
                </a:lnTo>
                <a:lnTo>
                  <a:pt x="0" y="362716"/>
                </a:lnTo>
                <a:lnTo>
                  <a:pt x="0" y="4913376"/>
                </a:lnTo>
                <a:lnTo>
                  <a:pt x="1517" y="4931663"/>
                </a:lnTo>
                <a:lnTo>
                  <a:pt x="4568" y="4951467"/>
                </a:lnTo>
                <a:lnTo>
                  <a:pt x="9136" y="4969769"/>
                </a:lnTo>
                <a:lnTo>
                  <a:pt x="13704" y="4989572"/>
                </a:lnTo>
                <a:lnTo>
                  <a:pt x="33526" y="5041390"/>
                </a:lnTo>
                <a:lnTo>
                  <a:pt x="53331" y="5073390"/>
                </a:lnTo>
                <a:lnTo>
                  <a:pt x="62484" y="5091678"/>
                </a:lnTo>
                <a:lnTo>
                  <a:pt x="74671" y="5105405"/>
                </a:lnTo>
                <a:lnTo>
                  <a:pt x="88391" y="5120633"/>
                </a:lnTo>
                <a:lnTo>
                  <a:pt x="100578" y="5135875"/>
                </a:lnTo>
                <a:lnTo>
                  <a:pt x="114298" y="5151117"/>
                </a:lnTo>
                <a:lnTo>
                  <a:pt x="129536" y="5163314"/>
                </a:lnTo>
                <a:lnTo>
                  <a:pt x="143256" y="5175496"/>
                </a:lnTo>
                <a:lnTo>
                  <a:pt x="161545" y="5186177"/>
                </a:lnTo>
                <a:lnTo>
                  <a:pt x="175249" y="5199889"/>
                </a:lnTo>
                <a:lnTo>
                  <a:pt x="192020" y="5209026"/>
                </a:lnTo>
                <a:lnTo>
                  <a:pt x="211826" y="5218177"/>
                </a:lnTo>
                <a:lnTo>
                  <a:pt x="230114" y="5228844"/>
                </a:lnTo>
                <a:lnTo>
                  <a:pt x="248403" y="5237981"/>
                </a:lnTo>
                <a:lnTo>
                  <a:pt x="268225" y="5244086"/>
                </a:lnTo>
                <a:lnTo>
                  <a:pt x="288031" y="5251707"/>
                </a:lnTo>
                <a:lnTo>
                  <a:pt x="310887" y="5256268"/>
                </a:lnTo>
                <a:lnTo>
                  <a:pt x="329176" y="5262374"/>
                </a:lnTo>
                <a:lnTo>
                  <a:pt x="352048" y="5266935"/>
                </a:lnTo>
                <a:lnTo>
                  <a:pt x="373371" y="5268465"/>
                </a:lnTo>
                <a:lnTo>
                  <a:pt x="396244" y="5273040"/>
                </a:lnTo>
                <a:lnTo>
                  <a:pt x="417567" y="5273040"/>
                </a:lnTo>
                <a:lnTo>
                  <a:pt x="440440" y="5276086"/>
                </a:lnTo>
                <a:lnTo>
                  <a:pt x="2200652" y="5276086"/>
                </a:lnTo>
                <a:lnTo>
                  <a:pt x="2221991" y="5273040"/>
                </a:lnTo>
                <a:lnTo>
                  <a:pt x="2244847" y="5273040"/>
                </a:lnTo>
                <a:lnTo>
                  <a:pt x="2266187" y="5268465"/>
                </a:lnTo>
                <a:lnTo>
                  <a:pt x="2287526" y="5266935"/>
                </a:lnTo>
                <a:lnTo>
                  <a:pt x="2310382" y="5262374"/>
                </a:lnTo>
                <a:lnTo>
                  <a:pt x="2331722" y="5256268"/>
                </a:lnTo>
                <a:lnTo>
                  <a:pt x="2351527" y="5251707"/>
                </a:lnTo>
                <a:lnTo>
                  <a:pt x="2371349" y="5244086"/>
                </a:lnTo>
                <a:lnTo>
                  <a:pt x="2391155" y="5237981"/>
                </a:lnTo>
                <a:lnTo>
                  <a:pt x="2410961" y="5228844"/>
                </a:lnTo>
                <a:lnTo>
                  <a:pt x="2427732" y="5218177"/>
                </a:lnTo>
                <a:lnTo>
                  <a:pt x="2447538" y="5209026"/>
                </a:lnTo>
                <a:lnTo>
                  <a:pt x="2464309" y="5199889"/>
                </a:lnTo>
                <a:lnTo>
                  <a:pt x="2481080" y="5186177"/>
                </a:lnTo>
                <a:lnTo>
                  <a:pt x="2496318" y="5175496"/>
                </a:lnTo>
                <a:lnTo>
                  <a:pt x="2510022" y="5163314"/>
                </a:lnTo>
                <a:lnTo>
                  <a:pt x="2525276" y="5151117"/>
                </a:lnTo>
                <a:lnTo>
                  <a:pt x="2540514" y="5135875"/>
                </a:lnTo>
                <a:lnTo>
                  <a:pt x="2552701" y="5120633"/>
                </a:lnTo>
                <a:lnTo>
                  <a:pt x="2564887" y="5105405"/>
                </a:lnTo>
                <a:lnTo>
                  <a:pt x="2577091" y="5091678"/>
                </a:lnTo>
                <a:lnTo>
                  <a:pt x="2586227" y="5073390"/>
                </a:lnTo>
                <a:lnTo>
                  <a:pt x="2596896" y="5059678"/>
                </a:lnTo>
                <a:lnTo>
                  <a:pt x="2606049" y="5041390"/>
                </a:lnTo>
                <a:lnTo>
                  <a:pt x="2613668" y="5023102"/>
                </a:lnTo>
                <a:lnTo>
                  <a:pt x="2621286" y="5006345"/>
                </a:lnTo>
                <a:lnTo>
                  <a:pt x="2625854" y="4989572"/>
                </a:lnTo>
                <a:lnTo>
                  <a:pt x="2630422" y="4969769"/>
                </a:lnTo>
                <a:lnTo>
                  <a:pt x="2634991" y="4951467"/>
                </a:lnTo>
                <a:lnTo>
                  <a:pt x="2638041" y="4931663"/>
                </a:lnTo>
                <a:lnTo>
                  <a:pt x="2639575" y="4913376"/>
                </a:lnTo>
                <a:lnTo>
                  <a:pt x="2639575" y="362716"/>
                </a:lnTo>
                <a:lnTo>
                  <a:pt x="2634991" y="324610"/>
                </a:lnTo>
                <a:lnTo>
                  <a:pt x="2625854" y="286510"/>
                </a:lnTo>
                <a:lnTo>
                  <a:pt x="2613668" y="249935"/>
                </a:lnTo>
                <a:lnTo>
                  <a:pt x="2586227" y="199643"/>
                </a:lnTo>
                <a:lnTo>
                  <a:pt x="2577091" y="184403"/>
                </a:lnTo>
                <a:lnTo>
                  <a:pt x="2564887" y="169162"/>
                </a:lnTo>
                <a:lnTo>
                  <a:pt x="2552701" y="152399"/>
                </a:lnTo>
                <a:lnTo>
                  <a:pt x="2540514" y="140206"/>
                </a:lnTo>
                <a:lnTo>
                  <a:pt x="2525276" y="124967"/>
                </a:lnTo>
                <a:lnTo>
                  <a:pt x="2510022" y="112775"/>
                </a:lnTo>
                <a:lnTo>
                  <a:pt x="2496318" y="99058"/>
                </a:lnTo>
                <a:lnTo>
                  <a:pt x="2464309" y="76199"/>
                </a:lnTo>
                <a:lnTo>
                  <a:pt x="2427732" y="54863"/>
                </a:lnTo>
                <a:lnTo>
                  <a:pt x="2410961" y="47243"/>
                </a:lnTo>
                <a:lnTo>
                  <a:pt x="2391155" y="38099"/>
                </a:lnTo>
                <a:lnTo>
                  <a:pt x="2371349" y="28955"/>
                </a:lnTo>
                <a:lnTo>
                  <a:pt x="2351527" y="22859"/>
                </a:lnTo>
                <a:lnTo>
                  <a:pt x="2331722" y="16763"/>
                </a:lnTo>
                <a:lnTo>
                  <a:pt x="2310382" y="12190"/>
                </a:lnTo>
                <a:lnTo>
                  <a:pt x="2287526" y="7619"/>
                </a:lnTo>
                <a:lnTo>
                  <a:pt x="2266187" y="4571"/>
                </a:lnTo>
                <a:lnTo>
                  <a:pt x="2244847" y="1522"/>
                </a:lnTo>
                <a:lnTo>
                  <a:pt x="2221991" y="0"/>
                </a:lnTo>
                <a:lnTo>
                  <a:pt x="440440" y="0"/>
                </a:lnTo>
              </a:path>
            </a:pathLst>
          </a:custGeom>
          <a:ln w="14262">
            <a:solidFill>
              <a:srgbClr val="000000"/>
            </a:solidFill>
          </a:ln>
        </p:spPr>
        <p:txBody>
          <a:bodyPr wrap="square" lIns="0" tIns="0" rIns="0" bIns="0" rtlCol="0"/>
          <a:lstStyle/>
          <a:p>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070238" y="324963"/>
            <a:ext cx="7705703" cy="1411351"/>
          </a:xfrm>
          <a:prstGeom prst="rect">
            <a:avLst/>
          </a:prstGeom>
        </p:spPr>
        <p:txBody>
          <a:bodyPr vert="horz" wrap="square" lIns="0" tIns="12700" rIns="0" bIns="0" rtlCol="0">
            <a:spAutoFit/>
          </a:bodyPr>
          <a:lstStyle/>
          <a:p>
            <a:pPr marL="12700">
              <a:lnSpc>
                <a:spcPct val="100000"/>
              </a:lnSpc>
              <a:spcBef>
                <a:spcPts val="100"/>
              </a:spcBef>
            </a:pPr>
            <a:r>
              <a:rPr b="1" dirty="0">
                <a:latin typeface="Arial"/>
                <a:cs typeface="Arial"/>
              </a:rPr>
              <a:t>Relación</a:t>
            </a:r>
            <a:r>
              <a:rPr b="1" spc="-50" dirty="0">
                <a:latin typeface="Arial"/>
                <a:cs typeface="Arial"/>
              </a:rPr>
              <a:t> </a:t>
            </a:r>
            <a:r>
              <a:rPr b="1" dirty="0">
                <a:solidFill>
                  <a:srgbClr val="365F92"/>
                </a:solidFill>
                <a:latin typeface="Arial"/>
                <a:cs typeface="Arial"/>
              </a:rPr>
              <a:t>CtaCli</a:t>
            </a:r>
            <a:r>
              <a:rPr b="1" spc="-55" dirty="0">
                <a:solidFill>
                  <a:srgbClr val="365F92"/>
                </a:solidFill>
                <a:latin typeface="Arial"/>
                <a:cs typeface="Arial"/>
              </a:rPr>
              <a:t> </a:t>
            </a:r>
            <a:r>
              <a:rPr sz="2800" dirty="0"/>
              <a:t>:</a:t>
            </a:r>
            <a:r>
              <a:rPr sz="2800" spc="-30" dirty="0"/>
              <a:t> </a:t>
            </a:r>
            <a:r>
              <a:rPr sz="2800" dirty="0" err="1"/>
              <a:t>muestra</a:t>
            </a:r>
            <a:r>
              <a:rPr sz="2800" spc="-25" dirty="0"/>
              <a:t> </a:t>
            </a:r>
            <a:r>
              <a:rPr sz="2800" spc="-25" dirty="0" smtClean="0"/>
              <a:t>la</a:t>
            </a:r>
            <a:r>
              <a:rPr lang="es-ES" sz="2800" spc="-25" dirty="0" smtClean="0"/>
              <a:t> </a:t>
            </a:r>
            <a:r>
              <a:rPr sz="2800" b="1" dirty="0" err="1" smtClean="0">
                <a:latin typeface="Arial"/>
                <a:cs typeface="Arial"/>
              </a:rPr>
              <a:t>asociación</a:t>
            </a:r>
            <a:r>
              <a:rPr sz="2800" b="1" spc="-80" dirty="0" smtClean="0">
                <a:latin typeface="Arial"/>
                <a:cs typeface="Arial"/>
              </a:rPr>
              <a:t> </a:t>
            </a:r>
            <a:r>
              <a:rPr sz="2000" dirty="0"/>
              <a:t>entre</a:t>
            </a:r>
            <a:r>
              <a:rPr sz="2000" spc="-60" dirty="0"/>
              <a:t> </a:t>
            </a:r>
            <a:r>
              <a:rPr sz="2000" dirty="0"/>
              <a:t>clientes</a:t>
            </a:r>
            <a:r>
              <a:rPr sz="2000" spc="-70" dirty="0"/>
              <a:t> </a:t>
            </a:r>
            <a:r>
              <a:rPr sz="2000" dirty="0"/>
              <a:t>y</a:t>
            </a:r>
            <a:r>
              <a:rPr sz="2000" spc="-80" dirty="0"/>
              <a:t> </a:t>
            </a:r>
            <a:r>
              <a:rPr sz="2000" spc="-10" dirty="0"/>
              <a:t>cuentas</a:t>
            </a:r>
            <a:endParaRPr sz="2000" dirty="0">
              <a:latin typeface="Arial"/>
              <a:cs typeface="Arial"/>
            </a:endParaRPr>
          </a:p>
        </p:txBody>
      </p:sp>
      <p:graphicFrame>
        <p:nvGraphicFramePr>
          <p:cNvPr id="3" name="object 3"/>
          <p:cNvGraphicFramePr>
            <a:graphicFrameLocks noGrp="1"/>
          </p:cNvGraphicFramePr>
          <p:nvPr>
            <p:extLst>
              <p:ext uri="{D42A27DB-BD31-4B8C-83A1-F6EECF244321}">
                <p14:modId xmlns:p14="http://schemas.microsoft.com/office/powerpoint/2010/main" val="2888989981"/>
              </p:ext>
            </p:extLst>
          </p:nvPr>
        </p:nvGraphicFramePr>
        <p:xfrm>
          <a:off x="7201285" y="1397099"/>
          <a:ext cx="2310130" cy="233045"/>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tblGrid>
              <a:tr h="233045">
                <a:tc>
                  <a:txBody>
                    <a:bodyPr/>
                    <a:lstStyle/>
                    <a:p>
                      <a:pPr marL="744855">
                        <a:lnSpc>
                          <a:spcPts val="1714"/>
                        </a:lnSpc>
                      </a:pPr>
                      <a:r>
                        <a:rPr sz="1500" spc="65" dirty="0">
                          <a:latin typeface="Times New Roman"/>
                          <a:cs typeface="Times New Roman"/>
                        </a:rPr>
                        <a:t>259</a:t>
                      </a:r>
                      <a:endParaRPr sz="15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636905">
                        <a:lnSpc>
                          <a:spcPts val="1714"/>
                        </a:lnSpc>
                      </a:pPr>
                      <a:r>
                        <a:rPr sz="1500" spc="75" dirty="0">
                          <a:latin typeface="Times New Roman"/>
                          <a:cs typeface="Times New Roman"/>
                        </a:rPr>
                        <a:t>1000</a:t>
                      </a:r>
                      <a:endParaRPr sz="1500" dirty="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sp>
        <p:nvSpPr>
          <p:cNvPr id="4" name="object 4"/>
          <p:cNvSpPr/>
          <p:nvPr/>
        </p:nvSpPr>
        <p:spPr>
          <a:xfrm>
            <a:off x="3962273" y="2382011"/>
            <a:ext cx="2670175" cy="3032760"/>
          </a:xfrm>
          <a:custGeom>
            <a:avLst/>
            <a:gdLst/>
            <a:ahLst/>
            <a:cxnLst/>
            <a:rect l="l" t="t" r="r" b="b"/>
            <a:pathLst>
              <a:path w="2670175" h="3032760">
                <a:moveTo>
                  <a:pt x="12192" y="2799588"/>
                </a:moveTo>
                <a:lnTo>
                  <a:pt x="10668" y="2799588"/>
                </a:lnTo>
                <a:lnTo>
                  <a:pt x="10668" y="2790444"/>
                </a:lnTo>
                <a:lnTo>
                  <a:pt x="0" y="2790444"/>
                </a:lnTo>
                <a:lnTo>
                  <a:pt x="0" y="2799588"/>
                </a:lnTo>
                <a:lnTo>
                  <a:pt x="3048" y="2799588"/>
                </a:lnTo>
                <a:lnTo>
                  <a:pt x="3048" y="3023616"/>
                </a:lnTo>
                <a:lnTo>
                  <a:pt x="0" y="3023616"/>
                </a:lnTo>
                <a:lnTo>
                  <a:pt x="0" y="3032760"/>
                </a:lnTo>
                <a:lnTo>
                  <a:pt x="10668" y="3032760"/>
                </a:lnTo>
                <a:lnTo>
                  <a:pt x="10668" y="3023616"/>
                </a:lnTo>
                <a:lnTo>
                  <a:pt x="12192" y="3023616"/>
                </a:lnTo>
                <a:lnTo>
                  <a:pt x="12192" y="2799588"/>
                </a:lnTo>
                <a:close/>
              </a:path>
              <a:path w="2670175" h="3032760">
                <a:moveTo>
                  <a:pt x="12192" y="2334768"/>
                </a:moveTo>
                <a:lnTo>
                  <a:pt x="10668" y="2334768"/>
                </a:lnTo>
                <a:lnTo>
                  <a:pt x="10668" y="2325624"/>
                </a:lnTo>
                <a:lnTo>
                  <a:pt x="0" y="2325624"/>
                </a:lnTo>
                <a:lnTo>
                  <a:pt x="0" y="2334768"/>
                </a:lnTo>
                <a:lnTo>
                  <a:pt x="3048" y="2334768"/>
                </a:lnTo>
                <a:lnTo>
                  <a:pt x="3048" y="2558796"/>
                </a:lnTo>
                <a:lnTo>
                  <a:pt x="0" y="2558796"/>
                </a:lnTo>
                <a:lnTo>
                  <a:pt x="0" y="2567940"/>
                </a:lnTo>
                <a:lnTo>
                  <a:pt x="10668" y="2567940"/>
                </a:lnTo>
                <a:lnTo>
                  <a:pt x="10668" y="2558796"/>
                </a:lnTo>
                <a:lnTo>
                  <a:pt x="12192" y="2558796"/>
                </a:lnTo>
                <a:lnTo>
                  <a:pt x="12192" y="2334768"/>
                </a:lnTo>
                <a:close/>
              </a:path>
              <a:path w="2670175" h="3032760">
                <a:moveTo>
                  <a:pt x="12192" y="7620"/>
                </a:moveTo>
                <a:lnTo>
                  <a:pt x="10668" y="7620"/>
                </a:lnTo>
                <a:lnTo>
                  <a:pt x="10668" y="0"/>
                </a:lnTo>
                <a:lnTo>
                  <a:pt x="0" y="0"/>
                </a:lnTo>
                <a:lnTo>
                  <a:pt x="0" y="7620"/>
                </a:lnTo>
                <a:lnTo>
                  <a:pt x="3048" y="7620"/>
                </a:lnTo>
                <a:lnTo>
                  <a:pt x="3048" y="233172"/>
                </a:lnTo>
                <a:lnTo>
                  <a:pt x="0" y="233172"/>
                </a:lnTo>
                <a:lnTo>
                  <a:pt x="0" y="242316"/>
                </a:lnTo>
                <a:lnTo>
                  <a:pt x="10668" y="242316"/>
                </a:lnTo>
                <a:lnTo>
                  <a:pt x="10668" y="233172"/>
                </a:lnTo>
                <a:lnTo>
                  <a:pt x="12192" y="233172"/>
                </a:lnTo>
                <a:lnTo>
                  <a:pt x="12192" y="7620"/>
                </a:lnTo>
                <a:close/>
              </a:path>
              <a:path w="2670175" h="3032760">
                <a:moveTo>
                  <a:pt x="2670048" y="2334768"/>
                </a:moveTo>
                <a:lnTo>
                  <a:pt x="2668524" y="2334768"/>
                </a:lnTo>
                <a:lnTo>
                  <a:pt x="2668524" y="2325624"/>
                </a:lnTo>
                <a:lnTo>
                  <a:pt x="2657856" y="2325624"/>
                </a:lnTo>
                <a:lnTo>
                  <a:pt x="2657856" y="2334768"/>
                </a:lnTo>
                <a:lnTo>
                  <a:pt x="2660904" y="2334768"/>
                </a:lnTo>
                <a:lnTo>
                  <a:pt x="2660904" y="2367153"/>
                </a:lnTo>
                <a:lnTo>
                  <a:pt x="2670048" y="2367153"/>
                </a:lnTo>
                <a:lnTo>
                  <a:pt x="2670048" y="2334768"/>
                </a:lnTo>
                <a:close/>
              </a:path>
            </a:pathLst>
          </a:custGeom>
          <a:solidFill>
            <a:srgbClr val="000000"/>
          </a:solidFill>
        </p:spPr>
        <p:txBody>
          <a:bodyPr wrap="square" lIns="0" tIns="0" rIns="0" bIns="0" rtlCol="0"/>
          <a:lstStyle/>
          <a:p>
            <a:endParaRPr/>
          </a:p>
        </p:txBody>
      </p:sp>
      <p:sp>
        <p:nvSpPr>
          <p:cNvPr id="5" name="object 5"/>
          <p:cNvSpPr/>
          <p:nvPr/>
        </p:nvSpPr>
        <p:spPr>
          <a:xfrm>
            <a:off x="7200773" y="1917191"/>
            <a:ext cx="1163320" cy="3962400"/>
          </a:xfrm>
          <a:custGeom>
            <a:avLst/>
            <a:gdLst/>
            <a:ahLst/>
            <a:cxnLst/>
            <a:rect l="l" t="t" r="r" b="b"/>
            <a:pathLst>
              <a:path w="1163320" h="3962400">
                <a:moveTo>
                  <a:pt x="9144" y="2790444"/>
                </a:moveTo>
                <a:lnTo>
                  <a:pt x="0" y="2790444"/>
                </a:lnTo>
                <a:lnTo>
                  <a:pt x="0" y="2799588"/>
                </a:lnTo>
                <a:lnTo>
                  <a:pt x="0" y="2831973"/>
                </a:lnTo>
                <a:lnTo>
                  <a:pt x="9144" y="2831973"/>
                </a:lnTo>
                <a:lnTo>
                  <a:pt x="9144" y="2799588"/>
                </a:lnTo>
                <a:lnTo>
                  <a:pt x="9144" y="2790444"/>
                </a:lnTo>
                <a:close/>
              </a:path>
              <a:path w="1163320" h="3962400">
                <a:moveTo>
                  <a:pt x="1162812" y="3729228"/>
                </a:moveTo>
                <a:lnTo>
                  <a:pt x="1161288" y="3729228"/>
                </a:lnTo>
                <a:lnTo>
                  <a:pt x="1161288" y="3720084"/>
                </a:lnTo>
                <a:lnTo>
                  <a:pt x="1150620" y="3720084"/>
                </a:lnTo>
                <a:lnTo>
                  <a:pt x="1150620" y="3729228"/>
                </a:lnTo>
                <a:lnTo>
                  <a:pt x="1153668" y="3729228"/>
                </a:lnTo>
                <a:lnTo>
                  <a:pt x="1153668" y="3953256"/>
                </a:lnTo>
                <a:lnTo>
                  <a:pt x="1150620" y="3953256"/>
                </a:lnTo>
                <a:lnTo>
                  <a:pt x="1150620" y="3962400"/>
                </a:lnTo>
                <a:lnTo>
                  <a:pt x="1161288" y="3962400"/>
                </a:lnTo>
                <a:lnTo>
                  <a:pt x="1161288" y="3953256"/>
                </a:lnTo>
                <a:lnTo>
                  <a:pt x="1162812" y="3953256"/>
                </a:lnTo>
                <a:lnTo>
                  <a:pt x="1162812" y="3729228"/>
                </a:lnTo>
                <a:close/>
              </a:path>
              <a:path w="1163320" h="3962400">
                <a:moveTo>
                  <a:pt x="1162812" y="3264408"/>
                </a:moveTo>
                <a:lnTo>
                  <a:pt x="1161288" y="3264408"/>
                </a:lnTo>
                <a:lnTo>
                  <a:pt x="1161288" y="3255264"/>
                </a:lnTo>
                <a:lnTo>
                  <a:pt x="1150620" y="3255264"/>
                </a:lnTo>
                <a:lnTo>
                  <a:pt x="1150620" y="3264408"/>
                </a:lnTo>
                <a:lnTo>
                  <a:pt x="1153668" y="3264408"/>
                </a:lnTo>
                <a:lnTo>
                  <a:pt x="1153668" y="3488436"/>
                </a:lnTo>
                <a:lnTo>
                  <a:pt x="1150620" y="3488436"/>
                </a:lnTo>
                <a:lnTo>
                  <a:pt x="1150620" y="3497580"/>
                </a:lnTo>
                <a:lnTo>
                  <a:pt x="1161288" y="3497580"/>
                </a:lnTo>
                <a:lnTo>
                  <a:pt x="1161288" y="3488436"/>
                </a:lnTo>
                <a:lnTo>
                  <a:pt x="1162812" y="3488436"/>
                </a:lnTo>
                <a:lnTo>
                  <a:pt x="1162812" y="3264408"/>
                </a:lnTo>
                <a:close/>
              </a:path>
              <a:path w="1163320" h="3962400">
                <a:moveTo>
                  <a:pt x="1162812" y="2799588"/>
                </a:moveTo>
                <a:lnTo>
                  <a:pt x="1161288" y="2799588"/>
                </a:lnTo>
                <a:lnTo>
                  <a:pt x="1161288" y="2790444"/>
                </a:lnTo>
                <a:lnTo>
                  <a:pt x="1150620" y="2790444"/>
                </a:lnTo>
                <a:lnTo>
                  <a:pt x="1150620" y="2799588"/>
                </a:lnTo>
                <a:lnTo>
                  <a:pt x="1153668" y="2799588"/>
                </a:lnTo>
                <a:lnTo>
                  <a:pt x="1153668" y="3023616"/>
                </a:lnTo>
                <a:lnTo>
                  <a:pt x="1150620" y="3023616"/>
                </a:lnTo>
                <a:lnTo>
                  <a:pt x="1150620" y="3032760"/>
                </a:lnTo>
                <a:lnTo>
                  <a:pt x="1161288" y="3032760"/>
                </a:lnTo>
                <a:lnTo>
                  <a:pt x="1161288" y="3023616"/>
                </a:lnTo>
                <a:lnTo>
                  <a:pt x="1162812" y="3023616"/>
                </a:lnTo>
                <a:lnTo>
                  <a:pt x="1162812" y="2799588"/>
                </a:lnTo>
                <a:close/>
              </a:path>
              <a:path w="1163320" h="3962400">
                <a:moveTo>
                  <a:pt x="1162812" y="2334768"/>
                </a:moveTo>
                <a:lnTo>
                  <a:pt x="1161288" y="2334768"/>
                </a:lnTo>
                <a:lnTo>
                  <a:pt x="1161288" y="2325624"/>
                </a:lnTo>
                <a:lnTo>
                  <a:pt x="1150620" y="2325624"/>
                </a:lnTo>
                <a:lnTo>
                  <a:pt x="1150620" y="2334768"/>
                </a:lnTo>
                <a:lnTo>
                  <a:pt x="1153668" y="2334768"/>
                </a:lnTo>
                <a:lnTo>
                  <a:pt x="1153668" y="2558796"/>
                </a:lnTo>
                <a:lnTo>
                  <a:pt x="1150620" y="2558796"/>
                </a:lnTo>
                <a:lnTo>
                  <a:pt x="1150620" y="2567940"/>
                </a:lnTo>
                <a:lnTo>
                  <a:pt x="1161288" y="2567940"/>
                </a:lnTo>
                <a:lnTo>
                  <a:pt x="1161288" y="2558796"/>
                </a:lnTo>
                <a:lnTo>
                  <a:pt x="1162812" y="2558796"/>
                </a:lnTo>
                <a:lnTo>
                  <a:pt x="1162812" y="2334768"/>
                </a:lnTo>
                <a:close/>
              </a:path>
              <a:path w="1163320" h="3962400">
                <a:moveTo>
                  <a:pt x="1162812" y="1869948"/>
                </a:moveTo>
                <a:lnTo>
                  <a:pt x="1161288" y="1869948"/>
                </a:lnTo>
                <a:lnTo>
                  <a:pt x="1161288" y="1860804"/>
                </a:lnTo>
                <a:lnTo>
                  <a:pt x="1150620" y="1860804"/>
                </a:lnTo>
                <a:lnTo>
                  <a:pt x="1150620" y="1869948"/>
                </a:lnTo>
                <a:lnTo>
                  <a:pt x="1153668" y="1869948"/>
                </a:lnTo>
                <a:lnTo>
                  <a:pt x="1153668" y="2092452"/>
                </a:lnTo>
                <a:lnTo>
                  <a:pt x="1150620" y="2092452"/>
                </a:lnTo>
                <a:lnTo>
                  <a:pt x="1150620" y="2101596"/>
                </a:lnTo>
                <a:lnTo>
                  <a:pt x="1161288" y="2101596"/>
                </a:lnTo>
                <a:lnTo>
                  <a:pt x="1161288" y="2092452"/>
                </a:lnTo>
                <a:lnTo>
                  <a:pt x="1162812" y="2092452"/>
                </a:lnTo>
                <a:lnTo>
                  <a:pt x="1162812" y="1869948"/>
                </a:lnTo>
                <a:close/>
              </a:path>
              <a:path w="1163320" h="3962400">
                <a:moveTo>
                  <a:pt x="1162812" y="1405128"/>
                </a:moveTo>
                <a:lnTo>
                  <a:pt x="1161288" y="1405128"/>
                </a:lnTo>
                <a:lnTo>
                  <a:pt x="1161288" y="1395984"/>
                </a:lnTo>
                <a:lnTo>
                  <a:pt x="1150620" y="1395984"/>
                </a:lnTo>
                <a:lnTo>
                  <a:pt x="1150620" y="1405128"/>
                </a:lnTo>
                <a:lnTo>
                  <a:pt x="1153668" y="1405128"/>
                </a:lnTo>
                <a:lnTo>
                  <a:pt x="1153668" y="1627632"/>
                </a:lnTo>
                <a:lnTo>
                  <a:pt x="1150620" y="1627632"/>
                </a:lnTo>
                <a:lnTo>
                  <a:pt x="1150620" y="1636776"/>
                </a:lnTo>
                <a:lnTo>
                  <a:pt x="1161288" y="1636776"/>
                </a:lnTo>
                <a:lnTo>
                  <a:pt x="1161288" y="1627632"/>
                </a:lnTo>
                <a:lnTo>
                  <a:pt x="1162812" y="1627632"/>
                </a:lnTo>
                <a:lnTo>
                  <a:pt x="1162812" y="1405128"/>
                </a:lnTo>
                <a:close/>
              </a:path>
              <a:path w="1163320" h="3962400">
                <a:moveTo>
                  <a:pt x="1162812" y="940308"/>
                </a:moveTo>
                <a:lnTo>
                  <a:pt x="1161288" y="940308"/>
                </a:lnTo>
                <a:lnTo>
                  <a:pt x="1161288" y="931164"/>
                </a:lnTo>
                <a:lnTo>
                  <a:pt x="1150620" y="931164"/>
                </a:lnTo>
                <a:lnTo>
                  <a:pt x="1150620" y="940308"/>
                </a:lnTo>
                <a:lnTo>
                  <a:pt x="1153668" y="940308"/>
                </a:lnTo>
                <a:lnTo>
                  <a:pt x="1153668" y="1162812"/>
                </a:lnTo>
                <a:lnTo>
                  <a:pt x="1150620" y="1162812"/>
                </a:lnTo>
                <a:lnTo>
                  <a:pt x="1150620" y="1171956"/>
                </a:lnTo>
                <a:lnTo>
                  <a:pt x="1161288" y="1171956"/>
                </a:lnTo>
                <a:lnTo>
                  <a:pt x="1161288" y="1162812"/>
                </a:lnTo>
                <a:lnTo>
                  <a:pt x="1162812" y="1162812"/>
                </a:lnTo>
                <a:lnTo>
                  <a:pt x="1162812" y="940308"/>
                </a:lnTo>
                <a:close/>
              </a:path>
              <a:path w="1163320" h="3962400">
                <a:moveTo>
                  <a:pt x="1162812" y="472440"/>
                </a:moveTo>
                <a:lnTo>
                  <a:pt x="1161288" y="472440"/>
                </a:lnTo>
                <a:lnTo>
                  <a:pt x="1161288" y="464820"/>
                </a:lnTo>
                <a:lnTo>
                  <a:pt x="1150620" y="464820"/>
                </a:lnTo>
                <a:lnTo>
                  <a:pt x="1150620" y="472440"/>
                </a:lnTo>
                <a:lnTo>
                  <a:pt x="1153668" y="472440"/>
                </a:lnTo>
                <a:lnTo>
                  <a:pt x="1153668" y="697992"/>
                </a:lnTo>
                <a:lnTo>
                  <a:pt x="1150620" y="697992"/>
                </a:lnTo>
                <a:lnTo>
                  <a:pt x="1150620" y="707136"/>
                </a:lnTo>
                <a:lnTo>
                  <a:pt x="1161288" y="707136"/>
                </a:lnTo>
                <a:lnTo>
                  <a:pt x="1161288" y="697992"/>
                </a:lnTo>
                <a:lnTo>
                  <a:pt x="1162812" y="697992"/>
                </a:lnTo>
                <a:lnTo>
                  <a:pt x="1162812" y="472440"/>
                </a:lnTo>
                <a:close/>
              </a:path>
              <a:path w="1163320" h="3962400">
                <a:moveTo>
                  <a:pt x="1162812" y="9144"/>
                </a:moveTo>
                <a:lnTo>
                  <a:pt x="1161288" y="9144"/>
                </a:lnTo>
                <a:lnTo>
                  <a:pt x="1161288" y="0"/>
                </a:lnTo>
                <a:lnTo>
                  <a:pt x="1150620" y="0"/>
                </a:lnTo>
                <a:lnTo>
                  <a:pt x="1150620" y="9144"/>
                </a:lnTo>
                <a:lnTo>
                  <a:pt x="1153668" y="9144"/>
                </a:lnTo>
                <a:lnTo>
                  <a:pt x="1153668" y="233172"/>
                </a:lnTo>
                <a:lnTo>
                  <a:pt x="1150620" y="233172"/>
                </a:lnTo>
                <a:lnTo>
                  <a:pt x="1150620" y="242316"/>
                </a:lnTo>
                <a:lnTo>
                  <a:pt x="1161288" y="242316"/>
                </a:lnTo>
                <a:lnTo>
                  <a:pt x="1161288" y="233172"/>
                </a:lnTo>
                <a:lnTo>
                  <a:pt x="1162812" y="233172"/>
                </a:lnTo>
                <a:lnTo>
                  <a:pt x="1162812" y="9144"/>
                </a:lnTo>
                <a:close/>
              </a:path>
            </a:pathLst>
          </a:custGeom>
          <a:solidFill>
            <a:srgbClr val="000000"/>
          </a:solidFill>
        </p:spPr>
        <p:txBody>
          <a:bodyPr wrap="square" lIns="0" tIns="0" rIns="0" bIns="0" rtlCol="0"/>
          <a:lstStyle/>
          <a:p>
            <a:endParaRPr/>
          </a:p>
        </p:txBody>
      </p:sp>
      <p:graphicFrame>
        <p:nvGraphicFramePr>
          <p:cNvPr id="6" name="object 6"/>
          <p:cNvGraphicFramePr>
            <a:graphicFrameLocks noGrp="1"/>
          </p:cNvGraphicFramePr>
          <p:nvPr/>
        </p:nvGraphicFramePr>
        <p:xfrm>
          <a:off x="7200778" y="6103619"/>
          <a:ext cx="2310130" cy="231140"/>
        </p:xfrm>
        <a:graphic>
          <a:graphicData uri="http://schemas.openxmlformats.org/drawingml/2006/table">
            <a:tbl>
              <a:tblPr firstRow="1" bandRow="1">
                <a:tableStyleId>{2D5ABB26-0587-4C30-8999-92F81FD0307C}</a:tableStyleId>
              </a:tblPr>
              <a:tblGrid>
                <a:gridCol w="115189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tblGrid>
              <a:tr h="231140">
                <a:tc>
                  <a:txBody>
                    <a:bodyPr/>
                    <a:lstStyle/>
                    <a:p>
                      <a:pPr marL="744855">
                        <a:lnSpc>
                          <a:spcPts val="1725"/>
                        </a:lnSpc>
                      </a:pPr>
                      <a:r>
                        <a:rPr sz="1500" spc="65" dirty="0">
                          <a:latin typeface="Times New Roman"/>
                          <a:cs typeface="Times New Roman"/>
                        </a:rPr>
                        <a:t>210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L="636905">
                        <a:lnSpc>
                          <a:spcPts val="1725"/>
                        </a:lnSpc>
                      </a:pPr>
                      <a:r>
                        <a:rPr sz="1500" spc="75" dirty="0">
                          <a:latin typeface="Times New Roman"/>
                          <a:cs typeface="Times New Roman"/>
                        </a:rPr>
                        <a:t>2200</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7"/>
          <p:cNvSpPr/>
          <p:nvPr/>
        </p:nvSpPr>
        <p:spPr>
          <a:xfrm>
            <a:off x="1057538" y="2023869"/>
            <a:ext cx="5721350" cy="3714115"/>
          </a:xfrm>
          <a:custGeom>
            <a:avLst/>
            <a:gdLst/>
            <a:ahLst/>
            <a:cxnLst/>
            <a:rect l="l" t="t" r="r" b="b"/>
            <a:pathLst>
              <a:path w="5721350" h="3714115">
                <a:moveTo>
                  <a:pt x="714762" y="0"/>
                </a:moveTo>
                <a:lnTo>
                  <a:pt x="676652" y="0"/>
                </a:lnTo>
                <a:lnTo>
                  <a:pt x="640075" y="3045"/>
                </a:lnTo>
                <a:lnTo>
                  <a:pt x="603498" y="7621"/>
                </a:lnTo>
                <a:lnTo>
                  <a:pt x="569978" y="10666"/>
                </a:lnTo>
                <a:lnTo>
                  <a:pt x="534925" y="19817"/>
                </a:lnTo>
                <a:lnTo>
                  <a:pt x="501397" y="28954"/>
                </a:lnTo>
                <a:lnTo>
                  <a:pt x="466346" y="36575"/>
                </a:lnTo>
                <a:lnTo>
                  <a:pt x="435865" y="47242"/>
                </a:lnTo>
                <a:lnTo>
                  <a:pt x="403861" y="59438"/>
                </a:lnTo>
                <a:lnTo>
                  <a:pt x="374905" y="74681"/>
                </a:lnTo>
                <a:lnTo>
                  <a:pt x="342901" y="89923"/>
                </a:lnTo>
                <a:lnTo>
                  <a:pt x="286513" y="121923"/>
                </a:lnTo>
                <a:lnTo>
                  <a:pt x="231650" y="160028"/>
                </a:lnTo>
                <a:lnTo>
                  <a:pt x="185928" y="202695"/>
                </a:lnTo>
                <a:lnTo>
                  <a:pt x="164592" y="225559"/>
                </a:lnTo>
                <a:lnTo>
                  <a:pt x="141733" y="248408"/>
                </a:lnTo>
                <a:lnTo>
                  <a:pt x="121920" y="272801"/>
                </a:lnTo>
                <a:lnTo>
                  <a:pt x="102108" y="297180"/>
                </a:lnTo>
                <a:lnTo>
                  <a:pt x="85345" y="323089"/>
                </a:lnTo>
                <a:lnTo>
                  <a:pt x="71628" y="350528"/>
                </a:lnTo>
                <a:lnTo>
                  <a:pt x="56389" y="377952"/>
                </a:lnTo>
                <a:lnTo>
                  <a:pt x="44197" y="405391"/>
                </a:lnTo>
                <a:lnTo>
                  <a:pt x="32005" y="435861"/>
                </a:lnTo>
                <a:lnTo>
                  <a:pt x="21337" y="463300"/>
                </a:lnTo>
                <a:lnTo>
                  <a:pt x="15240" y="493784"/>
                </a:lnTo>
                <a:lnTo>
                  <a:pt x="7620" y="524255"/>
                </a:lnTo>
                <a:lnTo>
                  <a:pt x="3049" y="554739"/>
                </a:lnTo>
                <a:lnTo>
                  <a:pt x="0" y="586739"/>
                </a:lnTo>
                <a:lnTo>
                  <a:pt x="0" y="3127256"/>
                </a:lnTo>
                <a:lnTo>
                  <a:pt x="3049" y="3159257"/>
                </a:lnTo>
                <a:lnTo>
                  <a:pt x="7620" y="3188211"/>
                </a:lnTo>
                <a:lnTo>
                  <a:pt x="15240" y="3220211"/>
                </a:lnTo>
                <a:lnTo>
                  <a:pt x="21337" y="3249166"/>
                </a:lnTo>
                <a:lnTo>
                  <a:pt x="32005" y="3279650"/>
                </a:lnTo>
                <a:lnTo>
                  <a:pt x="44197" y="3307075"/>
                </a:lnTo>
                <a:lnTo>
                  <a:pt x="56389" y="3334513"/>
                </a:lnTo>
                <a:lnTo>
                  <a:pt x="71628" y="3361952"/>
                </a:lnTo>
                <a:lnTo>
                  <a:pt x="85345" y="3389377"/>
                </a:lnTo>
                <a:lnTo>
                  <a:pt x="102108" y="3415286"/>
                </a:lnTo>
                <a:lnTo>
                  <a:pt x="121920" y="3441195"/>
                </a:lnTo>
                <a:lnTo>
                  <a:pt x="141733" y="3464058"/>
                </a:lnTo>
                <a:lnTo>
                  <a:pt x="164592" y="3486907"/>
                </a:lnTo>
                <a:lnTo>
                  <a:pt x="185928" y="3511300"/>
                </a:lnTo>
                <a:lnTo>
                  <a:pt x="207264" y="3532634"/>
                </a:lnTo>
                <a:lnTo>
                  <a:pt x="231650" y="3553967"/>
                </a:lnTo>
                <a:lnTo>
                  <a:pt x="259081" y="3572255"/>
                </a:lnTo>
                <a:lnTo>
                  <a:pt x="286513" y="3592073"/>
                </a:lnTo>
                <a:lnTo>
                  <a:pt x="312421" y="3608831"/>
                </a:lnTo>
                <a:lnTo>
                  <a:pt x="342901" y="3622543"/>
                </a:lnTo>
                <a:lnTo>
                  <a:pt x="374905" y="3637785"/>
                </a:lnTo>
                <a:lnTo>
                  <a:pt x="435865" y="3665224"/>
                </a:lnTo>
                <a:lnTo>
                  <a:pt x="501397" y="3685027"/>
                </a:lnTo>
                <a:lnTo>
                  <a:pt x="534925" y="3692648"/>
                </a:lnTo>
                <a:lnTo>
                  <a:pt x="569978" y="3701799"/>
                </a:lnTo>
                <a:lnTo>
                  <a:pt x="603498" y="3706375"/>
                </a:lnTo>
                <a:lnTo>
                  <a:pt x="640075" y="3710936"/>
                </a:lnTo>
                <a:lnTo>
                  <a:pt x="676652" y="3712466"/>
                </a:lnTo>
                <a:lnTo>
                  <a:pt x="714762" y="3713996"/>
                </a:lnTo>
                <a:lnTo>
                  <a:pt x="5007869" y="3713996"/>
                </a:lnTo>
                <a:lnTo>
                  <a:pt x="5044446" y="3712466"/>
                </a:lnTo>
                <a:lnTo>
                  <a:pt x="5081023" y="3710936"/>
                </a:lnTo>
                <a:lnTo>
                  <a:pt x="5117600" y="3706375"/>
                </a:lnTo>
                <a:lnTo>
                  <a:pt x="5151126" y="3701799"/>
                </a:lnTo>
                <a:lnTo>
                  <a:pt x="5186186" y="3692648"/>
                </a:lnTo>
                <a:lnTo>
                  <a:pt x="5219712" y="3685027"/>
                </a:lnTo>
                <a:lnTo>
                  <a:pt x="5286764" y="3665224"/>
                </a:lnTo>
                <a:lnTo>
                  <a:pt x="5347731" y="3637785"/>
                </a:lnTo>
                <a:lnTo>
                  <a:pt x="5376689" y="3622543"/>
                </a:lnTo>
                <a:lnTo>
                  <a:pt x="5405647" y="3608831"/>
                </a:lnTo>
                <a:lnTo>
                  <a:pt x="5462030" y="3572255"/>
                </a:lnTo>
                <a:lnTo>
                  <a:pt x="5510794" y="3532634"/>
                </a:lnTo>
                <a:lnTo>
                  <a:pt x="5558040" y="3486907"/>
                </a:lnTo>
                <a:lnTo>
                  <a:pt x="5599185" y="3441195"/>
                </a:lnTo>
                <a:lnTo>
                  <a:pt x="5635762" y="3389377"/>
                </a:lnTo>
                <a:lnTo>
                  <a:pt x="5664720" y="3334513"/>
                </a:lnTo>
                <a:lnTo>
                  <a:pt x="5676907" y="3307075"/>
                </a:lnTo>
                <a:lnTo>
                  <a:pt x="5689110" y="3279650"/>
                </a:lnTo>
                <a:lnTo>
                  <a:pt x="5699764" y="3249166"/>
                </a:lnTo>
                <a:lnTo>
                  <a:pt x="5705865" y="3220211"/>
                </a:lnTo>
                <a:lnTo>
                  <a:pt x="5713484" y="3188211"/>
                </a:lnTo>
                <a:lnTo>
                  <a:pt x="5716535" y="3159257"/>
                </a:lnTo>
                <a:lnTo>
                  <a:pt x="5721103" y="3127256"/>
                </a:lnTo>
                <a:lnTo>
                  <a:pt x="5721103" y="586739"/>
                </a:lnTo>
                <a:lnTo>
                  <a:pt x="5716535" y="554739"/>
                </a:lnTo>
                <a:lnTo>
                  <a:pt x="5713484" y="524255"/>
                </a:lnTo>
                <a:lnTo>
                  <a:pt x="5705865" y="493784"/>
                </a:lnTo>
                <a:lnTo>
                  <a:pt x="5689110" y="435861"/>
                </a:lnTo>
                <a:lnTo>
                  <a:pt x="5664720" y="377952"/>
                </a:lnTo>
                <a:lnTo>
                  <a:pt x="5635762" y="323089"/>
                </a:lnTo>
                <a:lnTo>
                  <a:pt x="5599185" y="272801"/>
                </a:lnTo>
                <a:lnTo>
                  <a:pt x="5579380" y="248408"/>
                </a:lnTo>
                <a:lnTo>
                  <a:pt x="5535184" y="202695"/>
                </a:lnTo>
                <a:lnTo>
                  <a:pt x="5486404" y="160028"/>
                </a:lnTo>
                <a:lnTo>
                  <a:pt x="5434589" y="121923"/>
                </a:lnTo>
                <a:lnTo>
                  <a:pt x="5376689" y="89923"/>
                </a:lnTo>
                <a:lnTo>
                  <a:pt x="5347731" y="74681"/>
                </a:lnTo>
                <a:lnTo>
                  <a:pt x="5317240" y="59438"/>
                </a:lnTo>
                <a:lnTo>
                  <a:pt x="5286764" y="47242"/>
                </a:lnTo>
                <a:lnTo>
                  <a:pt x="5254755" y="36575"/>
                </a:lnTo>
                <a:lnTo>
                  <a:pt x="5219712" y="28954"/>
                </a:lnTo>
                <a:lnTo>
                  <a:pt x="5186186" y="19817"/>
                </a:lnTo>
                <a:lnTo>
                  <a:pt x="5151126" y="10666"/>
                </a:lnTo>
                <a:lnTo>
                  <a:pt x="5117600" y="7621"/>
                </a:lnTo>
                <a:lnTo>
                  <a:pt x="5081023" y="3045"/>
                </a:lnTo>
                <a:lnTo>
                  <a:pt x="5044446" y="0"/>
                </a:lnTo>
                <a:lnTo>
                  <a:pt x="714762" y="0"/>
                </a:lnTo>
              </a:path>
            </a:pathLst>
          </a:custGeom>
          <a:ln w="13291">
            <a:solidFill>
              <a:srgbClr val="000000"/>
            </a:solidFill>
          </a:ln>
        </p:spPr>
        <p:txBody>
          <a:bodyPr wrap="square" lIns="0" tIns="0" rIns="0" bIns="0" rtlCol="0"/>
          <a:lstStyle/>
          <a:p>
            <a:endParaRPr/>
          </a:p>
        </p:txBody>
      </p:sp>
      <p:sp>
        <p:nvSpPr>
          <p:cNvPr id="8" name="object 8"/>
          <p:cNvSpPr/>
          <p:nvPr/>
        </p:nvSpPr>
        <p:spPr>
          <a:xfrm>
            <a:off x="7029085" y="1171546"/>
            <a:ext cx="2639695" cy="5276215"/>
          </a:xfrm>
          <a:custGeom>
            <a:avLst/>
            <a:gdLst/>
            <a:ahLst/>
            <a:cxnLst/>
            <a:rect l="l" t="t" r="r" b="b"/>
            <a:pathLst>
              <a:path w="2639695" h="5276215">
                <a:moveTo>
                  <a:pt x="440440" y="0"/>
                </a:moveTo>
                <a:lnTo>
                  <a:pt x="417583" y="0"/>
                </a:lnTo>
                <a:lnTo>
                  <a:pt x="396244" y="1524"/>
                </a:lnTo>
                <a:lnTo>
                  <a:pt x="352048" y="7619"/>
                </a:lnTo>
                <a:lnTo>
                  <a:pt x="310903" y="16763"/>
                </a:lnTo>
                <a:lnTo>
                  <a:pt x="268225" y="28955"/>
                </a:lnTo>
                <a:lnTo>
                  <a:pt x="230131" y="47243"/>
                </a:lnTo>
                <a:lnTo>
                  <a:pt x="211842" y="54863"/>
                </a:lnTo>
                <a:lnTo>
                  <a:pt x="192020" y="65531"/>
                </a:lnTo>
                <a:lnTo>
                  <a:pt x="175265" y="76199"/>
                </a:lnTo>
                <a:lnTo>
                  <a:pt x="161545" y="86867"/>
                </a:lnTo>
                <a:lnTo>
                  <a:pt x="143256" y="99060"/>
                </a:lnTo>
                <a:lnTo>
                  <a:pt x="129552" y="112775"/>
                </a:lnTo>
                <a:lnTo>
                  <a:pt x="114298" y="124967"/>
                </a:lnTo>
                <a:lnTo>
                  <a:pt x="100594" y="140208"/>
                </a:lnTo>
                <a:lnTo>
                  <a:pt x="74687" y="169164"/>
                </a:lnTo>
                <a:lnTo>
                  <a:pt x="44195" y="216400"/>
                </a:lnTo>
                <a:lnTo>
                  <a:pt x="33526" y="233173"/>
                </a:lnTo>
                <a:lnTo>
                  <a:pt x="25907" y="249930"/>
                </a:lnTo>
                <a:lnTo>
                  <a:pt x="19822" y="269748"/>
                </a:lnTo>
                <a:lnTo>
                  <a:pt x="13720" y="286506"/>
                </a:lnTo>
                <a:lnTo>
                  <a:pt x="9152" y="304794"/>
                </a:lnTo>
                <a:lnTo>
                  <a:pt x="4584" y="324612"/>
                </a:lnTo>
                <a:lnTo>
                  <a:pt x="1533" y="342899"/>
                </a:lnTo>
                <a:lnTo>
                  <a:pt x="0" y="362717"/>
                </a:lnTo>
                <a:lnTo>
                  <a:pt x="0" y="4913377"/>
                </a:lnTo>
                <a:lnTo>
                  <a:pt x="1533" y="4931665"/>
                </a:lnTo>
                <a:lnTo>
                  <a:pt x="4584" y="4951468"/>
                </a:lnTo>
                <a:lnTo>
                  <a:pt x="9152" y="4969756"/>
                </a:lnTo>
                <a:lnTo>
                  <a:pt x="13720" y="4989574"/>
                </a:lnTo>
                <a:lnTo>
                  <a:pt x="19822" y="5006332"/>
                </a:lnTo>
                <a:lnTo>
                  <a:pt x="25907" y="5023104"/>
                </a:lnTo>
                <a:lnTo>
                  <a:pt x="33526" y="5041392"/>
                </a:lnTo>
                <a:lnTo>
                  <a:pt x="44195" y="5059679"/>
                </a:lnTo>
                <a:lnTo>
                  <a:pt x="53348" y="5073392"/>
                </a:lnTo>
                <a:lnTo>
                  <a:pt x="62484" y="5091680"/>
                </a:lnTo>
                <a:lnTo>
                  <a:pt x="74687" y="5105392"/>
                </a:lnTo>
                <a:lnTo>
                  <a:pt x="88391" y="5120634"/>
                </a:lnTo>
                <a:lnTo>
                  <a:pt x="100594" y="5135876"/>
                </a:lnTo>
                <a:lnTo>
                  <a:pt x="114298" y="5151118"/>
                </a:lnTo>
                <a:lnTo>
                  <a:pt x="129552" y="5163315"/>
                </a:lnTo>
                <a:lnTo>
                  <a:pt x="143256" y="5175498"/>
                </a:lnTo>
                <a:lnTo>
                  <a:pt x="161545" y="5186164"/>
                </a:lnTo>
                <a:lnTo>
                  <a:pt x="175265" y="5199891"/>
                </a:lnTo>
                <a:lnTo>
                  <a:pt x="192020" y="5209028"/>
                </a:lnTo>
                <a:lnTo>
                  <a:pt x="211842" y="5218178"/>
                </a:lnTo>
                <a:lnTo>
                  <a:pt x="230131" y="5228845"/>
                </a:lnTo>
                <a:lnTo>
                  <a:pt x="248419" y="5237982"/>
                </a:lnTo>
                <a:lnTo>
                  <a:pt x="268225" y="5244087"/>
                </a:lnTo>
                <a:lnTo>
                  <a:pt x="288047" y="5251708"/>
                </a:lnTo>
                <a:lnTo>
                  <a:pt x="310903" y="5256270"/>
                </a:lnTo>
                <a:lnTo>
                  <a:pt x="329192" y="5262375"/>
                </a:lnTo>
                <a:lnTo>
                  <a:pt x="352048" y="5266937"/>
                </a:lnTo>
                <a:lnTo>
                  <a:pt x="373388" y="5268466"/>
                </a:lnTo>
                <a:lnTo>
                  <a:pt x="396244" y="5273042"/>
                </a:lnTo>
                <a:lnTo>
                  <a:pt x="417583" y="5273042"/>
                </a:lnTo>
                <a:lnTo>
                  <a:pt x="440440" y="5276088"/>
                </a:lnTo>
                <a:lnTo>
                  <a:pt x="2200668" y="5276088"/>
                </a:lnTo>
                <a:lnTo>
                  <a:pt x="2222007" y="5273042"/>
                </a:lnTo>
                <a:lnTo>
                  <a:pt x="2244864" y="5273042"/>
                </a:lnTo>
                <a:lnTo>
                  <a:pt x="2266203" y="5268466"/>
                </a:lnTo>
                <a:lnTo>
                  <a:pt x="2287526" y="5266937"/>
                </a:lnTo>
                <a:lnTo>
                  <a:pt x="2310399" y="5262375"/>
                </a:lnTo>
                <a:lnTo>
                  <a:pt x="2331722" y="5256270"/>
                </a:lnTo>
                <a:lnTo>
                  <a:pt x="2351544" y="5251708"/>
                </a:lnTo>
                <a:lnTo>
                  <a:pt x="2371349" y="5244087"/>
                </a:lnTo>
                <a:lnTo>
                  <a:pt x="2391172" y="5237982"/>
                </a:lnTo>
                <a:lnTo>
                  <a:pt x="2410977" y="5228845"/>
                </a:lnTo>
                <a:lnTo>
                  <a:pt x="2427748" y="5218178"/>
                </a:lnTo>
                <a:lnTo>
                  <a:pt x="2447554" y="5209028"/>
                </a:lnTo>
                <a:lnTo>
                  <a:pt x="2464309" y="5199891"/>
                </a:lnTo>
                <a:lnTo>
                  <a:pt x="2481080" y="5186164"/>
                </a:lnTo>
                <a:lnTo>
                  <a:pt x="2496318" y="5175498"/>
                </a:lnTo>
                <a:lnTo>
                  <a:pt x="2510038" y="5163315"/>
                </a:lnTo>
                <a:lnTo>
                  <a:pt x="2525276" y="5151118"/>
                </a:lnTo>
                <a:lnTo>
                  <a:pt x="2540514" y="5135876"/>
                </a:lnTo>
                <a:lnTo>
                  <a:pt x="2552717" y="5120634"/>
                </a:lnTo>
                <a:lnTo>
                  <a:pt x="2564904" y="5105392"/>
                </a:lnTo>
                <a:lnTo>
                  <a:pt x="2577091" y="5091680"/>
                </a:lnTo>
                <a:lnTo>
                  <a:pt x="2586243" y="5073392"/>
                </a:lnTo>
                <a:lnTo>
                  <a:pt x="2596913" y="5059679"/>
                </a:lnTo>
                <a:lnTo>
                  <a:pt x="2606049" y="5041392"/>
                </a:lnTo>
                <a:lnTo>
                  <a:pt x="2613668" y="5023104"/>
                </a:lnTo>
                <a:lnTo>
                  <a:pt x="2621286" y="5006332"/>
                </a:lnTo>
                <a:lnTo>
                  <a:pt x="2625854" y="4989574"/>
                </a:lnTo>
                <a:lnTo>
                  <a:pt x="2630439" y="4969756"/>
                </a:lnTo>
                <a:lnTo>
                  <a:pt x="2635007" y="4951468"/>
                </a:lnTo>
                <a:lnTo>
                  <a:pt x="2638058" y="4931665"/>
                </a:lnTo>
                <a:lnTo>
                  <a:pt x="2639575" y="4913377"/>
                </a:lnTo>
                <a:lnTo>
                  <a:pt x="2639575" y="362717"/>
                </a:lnTo>
                <a:lnTo>
                  <a:pt x="2635007" y="324612"/>
                </a:lnTo>
                <a:lnTo>
                  <a:pt x="2625854" y="286506"/>
                </a:lnTo>
                <a:lnTo>
                  <a:pt x="2613668" y="249930"/>
                </a:lnTo>
                <a:lnTo>
                  <a:pt x="2586243" y="199643"/>
                </a:lnTo>
                <a:lnTo>
                  <a:pt x="2577091" y="184403"/>
                </a:lnTo>
                <a:lnTo>
                  <a:pt x="2564904" y="169164"/>
                </a:lnTo>
                <a:lnTo>
                  <a:pt x="2552717" y="152399"/>
                </a:lnTo>
                <a:lnTo>
                  <a:pt x="2540514" y="140208"/>
                </a:lnTo>
                <a:lnTo>
                  <a:pt x="2525276" y="124967"/>
                </a:lnTo>
                <a:lnTo>
                  <a:pt x="2510038" y="112775"/>
                </a:lnTo>
                <a:lnTo>
                  <a:pt x="2496318" y="99060"/>
                </a:lnTo>
                <a:lnTo>
                  <a:pt x="2464309" y="76199"/>
                </a:lnTo>
                <a:lnTo>
                  <a:pt x="2427748" y="54863"/>
                </a:lnTo>
                <a:lnTo>
                  <a:pt x="2410977" y="47243"/>
                </a:lnTo>
                <a:lnTo>
                  <a:pt x="2391172" y="38099"/>
                </a:lnTo>
                <a:lnTo>
                  <a:pt x="2351544" y="22860"/>
                </a:lnTo>
                <a:lnTo>
                  <a:pt x="2310399" y="12192"/>
                </a:lnTo>
                <a:lnTo>
                  <a:pt x="2266203" y="4572"/>
                </a:lnTo>
                <a:lnTo>
                  <a:pt x="2222007" y="0"/>
                </a:lnTo>
                <a:lnTo>
                  <a:pt x="440440" y="0"/>
                </a:lnTo>
              </a:path>
            </a:pathLst>
          </a:custGeom>
          <a:ln w="14262">
            <a:solidFill>
              <a:srgbClr val="000000"/>
            </a:solidFill>
          </a:ln>
        </p:spPr>
        <p:txBody>
          <a:bodyPr wrap="square" lIns="0" tIns="0" rIns="0" bIns="0" rtlCol="0"/>
          <a:lstStyle/>
          <a:p>
            <a:endParaRPr/>
          </a:p>
        </p:txBody>
      </p:sp>
      <p:graphicFrame>
        <p:nvGraphicFramePr>
          <p:cNvPr id="9" name="object 9"/>
          <p:cNvGraphicFramePr>
            <a:graphicFrameLocks noGrp="1"/>
          </p:cNvGraphicFramePr>
          <p:nvPr>
            <p:extLst>
              <p:ext uri="{D42A27DB-BD31-4B8C-83A1-F6EECF244321}">
                <p14:modId xmlns:p14="http://schemas.microsoft.com/office/powerpoint/2010/main" val="469253161"/>
              </p:ext>
            </p:extLst>
          </p:nvPr>
        </p:nvGraphicFramePr>
        <p:xfrm>
          <a:off x="1193680" y="1866490"/>
          <a:ext cx="8317228" cy="4859653"/>
        </p:xfrm>
        <a:graphic>
          <a:graphicData uri="http://schemas.openxmlformats.org/drawingml/2006/table">
            <a:tbl>
              <a:tblPr firstRow="1" bandRow="1">
                <a:tableStyleId>{2D5ABB26-0587-4C30-8999-92F81FD0307C}</a:tableStyleId>
              </a:tblPr>
              <a:tblGrid>
                <a:gridCol w="1325880">
                  <a:extLst>
                    <a:ext uri="{9D8B030D-6E8A-4147-A177-3AD203B41FA5}">
                      <a16:colId xmlns:a16="http://schemas.microsoft.com/office/drawing/2014/main" val="20000"/>
                    </a:ext>
                  </a:extLst>
                </a:gridCol>
                <a:gridCol w="1444625">
                  <a:extLst>
                    <a:ext uri="{9D8B030D-6E8A-4147-A177-3AD203B41FA5}">
                      <a16:colId xmlns:a16="http://schemas.microsoft.com/office/drawing/2014/main" val="20001"/>
                    </a:ext>
                  </a:extLst>
                </a:gridCol>
                <a:gridCol w="287655">
                  <a:extLst>
                    <a:ext uri="{9D8B030D-6E8A-4147-A177-3AD203B41FA5}">
                      <a16:colId xmlns:a16="http://schemas.microsoft.com/office/drawing/2014/main" val="20002"/>
                    </a:ext>
                  </a:extLst>
                </a:gridCol>
                <a:gridCol w="1040764">
                  <a:extLst>
                    <a:ext uri="{9D8B030D-6E8A-4147-A177-3AD203B41FA5}">
                      <a16:colId xmlns:a16="http://schemas.microsoft.com/office/drawing/2014/main" val="20003"/>
                    </a:ext>
                  </a:extLst>
                </a:gridCol>
                <a:gridCol w="1330325">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1624329">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tblGrid>
              <a:tr h="233045">
                <a:tc rowSpan="2" gridSpan="5">
                  <a:txBody>
                    <a:bodyPr/>
                    <a:lstStyle/>
                    <a:p>
                      <a:pPr>
                        <a:lnSpc>
                          <a:spcPct val="100000"/>
                        </a:lnSpc>
                      </a:pPr>
                      <a:endParaRPr sz="1700" dirty="0">
                        <a:latin typeface="Times New Roman"/>
                        <a:cs typeface="Times New Roman"/>
                      </a:endParaRPr>
                    </a:p>
                  </a:txBody>
                  <a:tcPr marL="0" marR="0" marT="0" marB="0">
                    <a:lnB w="9525">
                      <a:solidFill>
                        <a:srgbClr val="000000"/>
                      </a:solidFill>
                      <a:prstDash val="solid"/>
                    </a:lnB>
                  </a:tcPr>
                </a:tc>
                <a:tc rowSpan="2" hMerge="1">
                  <a:txBody>
                    <a:bodyPr/>
                    <a:lstStyle/>
                    <a:p>
                      <a:endParaRPr/>
                    </a:p>
                  </a:txBody>
                  <a:tcPr marL="0" marR="0" marT="0" marB="0"/>
                </a:tc>
                <a:tc rowSpan="2" hMerge="1">
                  <a:txBody>
                    <a:bodyPr/>
                    <a:lstStyle/>
                    <a:p>
                      <a:endParaRPr/>
                    </a:p>
                  </a:txBody>
                  <a:tcPr marL="0" marR="0" marT="0" marB="0"/>
                </a:tc>
                <a:tc rowSpan="2" hMerge="1">
                  <a:txBody>
                    <a:bodyPr/>
                    <a:lstStyle/>
                    <a:p>
                      <a:endParaRPr/>
                    </a:p>
                  </a:txBody>
                  <a:tcPr marL="0" marR="0" marT="0" marB="0"/>
                </a:tc>
                <a:tc rowSpan="2" hMerge="1">
                  <a:txBody>
                    <a:bodyPr/>
                    <a:lstStyle/>
                    <a:p>
                      <a:endParaRPr/>
                    </a:p>
                  </a:txBody>
                  <a:tcPr marL="0" marR="0" marT="0" marB="0"/>
                </a:tc>
                <a:tc>
                  <a:txBody>
                    <a:bodyPr/>
                    <a:lstStyle/>
                    <a:p>
                      <a:pPr>
                        <a:lnSpc>
                          <a:spcPct val="100000"/>
                        </a:lnSpc>
                      </a:pPr>
                      <a:endParaRPr sz="1400">
                        <a:latin typeface="Times New Roman"/>
                        <a:cs typeface="Times New Roman"/>
                      </a:endParaRPr>
                    </a:p>
                  </a:txBody>
                  <a:tcPr marL="0" marR="0" marT="0" marB="0">
                    <a:lnR w="9525">
                      <a:solidFill>
                        <a:srgbClr val="000000"/>
                      </a:solidFill>
                      <a:prstDash val="solid"/>
                    </a:lnR>
                  </a:tcPr>
                </a:tc>
                <a:tc>
                  <a:txBody>
                    <a:bodyPr/>
                    <a:lstStyle/>
                    <a:p>
                      <a:pPr marL="744855">
                        <a:lnSpc>
                          <a:spcPts val="1714"/>
                        </a:lnSpc>
                      </a:pPr>
                      <a:r>
                        <a:rPr sz="1500" spc="65" dirty="0">
                          <a:latin typeface="Times New Roman"/>
                          <a:cs typeface="Times New Roman"/>
                        </a:rPr>
                        <a:t>630</a:t>
                      </a:r>
                      <a:endParaRPr sz="1500">
                        <a:latin typeface="Times New Roman"/>
                        <a:cs typeface="Times New Roman"/>
                      </a:endParaRPr>
                    </a:p>
                  </a:txBody>
                  <a:tcPr marL="0" marR="0" marT="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78740" algn="r">
                        <a:lnSpc>
                          <a:spcPts val="1714"/>
                        </a:lnSpc>
                      </a:pPr>
                      <a:r>
                        <a:rPr sz="1500" spc="75" dirty="0">
                          <a:latin typeface="Times New Roman"/>
                          <a:cs typeface="Times New Roman"/>
                        </a:rPr>
                        <a:t>2000</a:t>
                      </a:r>
                      <a:endParaRPr sz="15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0"/>
                  </a:ext>
                </a:extLst>
              </a:tr>
              <a:tr h="230504">
                <a:tc gridSpan="5" vMerge="1">
                  <a:txBody>
                    <a:bodyPr/>
                    <a:lstStyle/>
                    <a:p>
                      <a:endParaRPr/>
                    </a:p>
                  </a:txBody>
                  <a:tcPr marL="0" marR="0" marT="0" marB="0">
                    <a:lnB w="9525">
                      <a:solidFill>
                        <a:srgbClr val="000000"/>
                      </a:solidFill>
                      <a:prstDash val="solid"/>
                    </a:lnB>
                  </a:tcPr>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hMerge="1" vMerge="1">
                  <a:txBody>
                    <a:bodyPr/>
                    <a:lstStyle/>
                    <a:p>
                      <a:endParaRPr/>
                    </a:p>
                  </a:txBody>
                  <a:tcPr marL="0" marR="0" marT="0" marB="0"/>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233679">
                <a:tc>
                  <a:txBody>
                    <a:bodyPr/>
                    <a:lstStyle/>
                    <a:p>
                      <a:pPr marR="378460" algn="r">
                        <a:lnSpc>
                          <a:spcPts val="1720"/>
                        </a:lnSpc>
                      </a:pPr>
                      <a:r>
                        <a:rPr sz="1500" spc="85" dirty="0">
                          <a:latin typeface="Times New Roman"/>
                          <a:cs typeface="Times New Roman"/>
                        </a:rPr>
                        <a:t>Oliver</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gridSpan="2">
                  <a:txBody>
                    <a:bodyPr/>
                    <a:lstStyle/>
                    <a:p>
                      <a:pPr marL="142875">
                        <a:lnSpc>
                          <a:spcPts val="1720"/>
                        </a:lnSpc>
                      </a:pPr>
                      <a:r>
                        <a:rPr sz="1500" spc="105" dirty="0">
                          <a:latin typeface="Times New Roman"/>
                          <a:cs typeface="Times New Roman"/>
                        </a:rPr>
                        <a:t>654-</a:t>
                      </a:r>
                      <a:r>
                        <a:rPr sz="1500" spc="110" dirty="0">
                          <a:latin typeface="Times New Roman"/>
                          <a:cs typeface="Times New Roman"/>
                        </a:rPr>
                        <a:t>32-</a:t>
                      </a:r>
                      <a:r>
                        <a:rPr sz="1500" spc="75" dirty="0">
                          <a:latin typeface="Times New Roman"/>
                          <a:cs typeface="Times New Roman"/>
                        </a:rPr>
                        <a:t>1098</a:t>
                      </a:r>
                      <a:endParaRPr sz="1500">
                        <a:latin typeface="Times New Roman"/>
                        <a:cs typeface="Times New Roman"/>
                      </a:endParaRPr>
                    </a:p>
                  </a:txBody>
                  <a:tcPr marL="0" marR="0" marT="0" marB="0">
                    <a:lnL w="9525">
                      <a:solidFill>
                        <a:srgbClr val="000000"/>
                      </a:solidFill>
                      <a:prstDash val="solid"/>
                    </a:lnL>
                    <a:lnT w="9525">
                      <a:solidFill>
                        <a:srgbClr val="000000"/>
                      </a:solidFill>
                      <a:prstDash val="solid"/>
                    </a:lnT>
                    <a:lnB w="9525">
                      <a:solidFill>
                        <a:srgbClr val="000000"/>
                      </a:solidFill>
                      <a:prstDash val="solid"/>
                    </a:lnB>
                  </a:tcPr>
                </a:tc>
                <a:tc hMerge="1">
                  <a:txBody>
                    <a:bodyPr/>
                    <a:lstStyle/>
                    <a:p>
                      <a:endParaRPr/>
                    </a:p>
                  </a:txBody>
                  <a:tcPr marL="0" marR="0" marT="0" marB="0"/>
                </a:tc>
                <a:tc>
                  <a:txBody>
                    <a:bodyPr/>
                    <a:lstStyle/>
                    <a:p>
                      <a:pPr marR="293370" algn="ctr">
                        <a:lnSpc>
                          <a:spcPts val="1720"/>
                        </a:lnSpc>
                      </a:pPr>
                      <a:r>
                        <a:rPr sz="1500" dirty="0">
                          <a:latin typeface="Times New Roman"/>
                          <a:cs typeface="Times New Roman"/>
                        </a:rPr>
                        <a:t>M</a:t>
                      </a:r>
                      <a:r>
                        <a:rPr sz="1500" spc="-135" dirty="0">
                          <a:latin typeface="Times New Roman"/>
                          <a:cs typeface="Times New Roman"/>
                        </a:rPr>
                        <a:t> </a:t>
                      </a:r>
                      <a:r>
                        <a:rPr sz="1500" spc="45" dirty="0">
                          <a:latin typeface="Times New Roman"/>
                          <a:cs typeface="Times New Roman"/>
                        </a:rPr>
                        <a:t>ain</a:t>
                      </a:r>
                      <a:endParaRPr sz="1500" dirty="0">
                        <a:latin typeface="Times New Roman"/>
                        <a:cs typeface="Times New Roman"/>
                      </a:endParaRPr>
                    </a:p>
                  </a:txBody>
                  <a:tcPr marL="0" marR="0" marT="0"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7620" algn="ctr">
                        <a:lnSpc>
                          <a:spcPts val="1720"/>
                        </a:lnSpc>
                      </a:pPr>
                      <a:r>
                        <a:rPr sz="1500" spc="85" dirty="0">
                          <a:latin typeface="Times New Roman"/>
                          <a:cs typeface="Times New Roman"/>
                        </a:rPr>
                        <a:t>Austin</a:t>
                      </a:r>
                      <a:endParaRPr sz="15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9525">
                      <a:solidFill>
                        <a:srgbClr val="000000"/>
                      </a:solidFill>
                      <a:prstDash val="solid"/>
                    </a:lnL>
                    <a:lnR w="9525">
                      <a:solidFill>
                        <a:srgbClr val="000000"/>
                      </a:solidFill>
                      <a:prstDash val="solid"/>
                    </a:lnR>
                  </a:tcPr>
                </a:tc>
                <a:tc>
                  <a:txBody>
                    <a:bodyPr/>
                    <a:lstStyle/>
                    <a:p>
                      <a:pPr marL="744855">
                        <a:lnSpc>
                          <a:spcPts val="1720"/>
                        </a:lnSpc>
                      </a:pPr>
                      <a:r>
                        <a:rPr sz="1500" spc="65" dirty="0">
                          <a:latin typeface="Times New Roman"/>
                          <a:cs typeface="Times New Roman"/>
                        </a:rPr>
                        <a:t>401</a:t>
                      </a:r>
                      <a:endParaRPr sz="1500">
                        <a:latin typeface="Times New Roman"/>
                        <a:cs typeface="Times New Roman"/>
                      </a:endParaRPr>
                    </a:p>
                  </a:txBody>
                  <a:tcPr marL="0" marR="0" marT="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78740" algn="r">
                        <a:lnSpc>
                          <a:spcPts val="1720"/>
                        </a:lnSpc>
                      </a:pPr>
                      <a:r>
                        <a:rPr sz="1500" spc="75" dirty="0">
                          <a:latin typeface="Times New Roman"/>
                          <a:cs typeface="Times New Roman"/>
                        </a:rPr>
                        <a:t>1500</a:t>
                      </a:r>
                      <a:endParaRPr sz="15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233045">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gridSpan="2">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hMerge="1">
                  <a:txBody>
                    <a:bodyPr/>
                    <a:lstStyle/>
                    <a:p>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231140">
                <a:tc>
                  <a:txBody>
                    <a:bodyPr/>
                    <a:lstStyle/>
                    <a:p>
                      <a:pPr marR="385445" algn="r">
                        <a:lnSpc>
                          <a:spcPts val="1714"/>
                        </a:lnSpc>
                      </a:pPr>
                      <a:r>
                        <a:rPr sz="1500" spc="80" dirty="0">
                          <a:latin typeface="Times New Roman"/>
                          <a:cs typeface="Times New Roman"/>
                        </a:rPr>
                        <a:t>Harris</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R="8890" algn="ctr">
                        <a:lnSpc>
                          <a:spcPts val="1714"/>
                        </a:lnSpc>
                      </a:pPr>
                      <a:r>
                        <a:rPr sz="1500" spc="105" dirty="0">
                          <a:latin typeface="Times New Roman"/>
                          <a:cs typeface="Times New Roman"/>
                        </a:rPr>
                        <a:t>890-</a:t>
                      </a:r>
                      <a:r>
                        <a:rPr sz="1500" spc="110" dirty="0">
                          <a:latin typeface="Times New Roman"/>
                          <a:cs typeface="Times New Roman"/>
                        </a:rPr>
                        <a:t>12-</a:t>
                      </a:r>
                      <a:r>
                        <a:rPr sz="1500" spc="75" dirty="0">
                          <a:latin typeface="Times New Roman"/>
                          <a:cs typeface="Times New Roman"/>
                        </a:rPr>
                        <a:t>3456</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gridSpan="2">
                  <a:txBody>
                    <a:bodyPr/>
                    <a:lstStyle/>
                    <a:p>
                      <a:pPr marL="401955">
                        <a:lnSpc>
                          <a:spcPts val="1714"/>
                        </a:lnSpc>
                      </a:pPr>
                      <a:r>
                        <a:rPr sz="1500" spc="90" dirty="0">
                          <a:latin typeface="Times New Roman"/>
                          <a:cs typeface="Times New Roman"/>
                        </a:rPr>
                        <a:t>North</a:t>
                      </a:r>
                      <a:endParaRPr sz="1500">
                        <a:latin typeface="Times New Roman"/>
                        <a:cs typeface="Times New Roman"/>
                      </a:endParaRPr>
                    </a:p>
                  </a:txBody>
                  <a:tcPr marL="0" marR="0" marT="0" marB="0">
                    <a:lnL w="9525">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hMerge="1">
                  <a:txBody>
                    <a:bodyPr/>
                    <a:lstStyle/>
                    <a:p>
                      <a:endParaRPr/>
                    </a:p>
                  </a:txBody>
                  <a:tcPr marL="0" marR="0" marT="0" marB="0"/>
                </a:tc>
                <a:tc>
                  <a:txBody>
                    <a:bodyPr/>
                    <a:lstStyle/>
                    <a:p>
                      <a:pPr marR="8890" algn="ctr">
                        <a:lnSpc>
                          <a:spcPts val="1714"/>
                        </a:lnSpc>
                      </a:pPr>
                      <a:r>
                        <a:rPr sz="1500" spc="105" dirty="0">
                          <a:latin typeface="Times New Roman"/>
                          <a:cs typeface="Times New Roman"/>
                        </a:rPr>
                        <a:t>Georgetown</a:t>
                      </a:r>
                      <a:endParaRPr sz="15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9525">
                      <a:solidFill>
                        <a:srgbClr val="000000"/>
                      </a:solidFill>
                      <a:prstDash val="solid"/>
                    </a:lnL>
                    <a:lnR w="9525">
                      <a:solidFill>
                        <a:srgbClr val="000000"/>
                      </a:solidFill>
                      <a:prstDash val="solid"/>
                    </a:lnR>
                  </a:tcPr>
                </a:tc>
                <a:tc>
                  <a:txBody>
                    <a:bodyPr/>
                    <a:lstStyle/>
                    <a:p>
                      <a:pPr marL="744855">
                        <a:lnSpc>
                          <a:spcPts val="1714"/>
                        </a:lnSpc>
                      </a:pPr>
                      <a:r>
                        <a:rPr sz="1500" spc="65" dirty="0">
                          <a:latin typeface="Times New Roman"/>
                          <a:cs typeface="Times New Roman"/>
                        </a:rPr>
                        <a:t>700</a:t>
                      </a:r>
                      <a:endParaRPr sz="1500">
                        <a:latin typeface="Times New Roman"/>
                        <a:cs typeface="Times New Roman"/>
                      </a:endParaRPr>
                    </a:p>
                  </a:txBody>
                  <a:tcPr marL="0" marR="0" marT="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78740" algn="r">
                        <a:lnSpc>
                          <a:spcPts val="1714"/>
                        </a:lnSpc>
                      </a:pPr>
                      <a:r>
                        <a:rPr sz="1500" spc="75" dirty="0">
                          <a:latin typeface="Times New Roman"/>
                          <a:cs typeface="Times New Roman"/>
                        </a:rPr>
                        <a:t>1500</a:t>
                      </a:r>
                      <a:endParaRPr sz="15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r h="233045">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gridSpan="2">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hMerge="1">
                  <a:txBody>
                    <a:bodyPr/>
                    <a:lstStyle/>
                    <a:p>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5"/>
                  </a:ext>
                </a:extLst>
              </a:tr>
              <a:tr h="231140">
                <a:tc>
                  <a:txBody>
                    <a:bodyPr/>
                    <a:lstStyle/>
                    <a:p>
                      <a:pPr marR="382270" algn="r">
                        <a:lnSpc>
                          <a:spcPts val="1714"/>
                        </a:lnSpc>
                      </a:pPr>
                      <a:r>
                        <a:rPr sz="1500" dirty="0">
                          <a:latin typeface="Times New Roman"/>
                          <a:cs typeface="Times New Roman"/>
                        </a:rPr>
                        <a:t>M</a:t>
                      </a:r>
                      <a:r>
                        <a:rPr sz="1500" spc="-135" dirty="0">
                          <a:latin typeface="Times New Roman"/>
                          <a:cs typeface="Times New Roman"/>
                        </a:rPr>
                        <a:t> </a:t>
                      </a:r>
                      <a:r>
                        <a:rPr sz="1500" spc="55" dirty="0">
                          <a:latin typeface="Times New Roman"/>
                          <a:cs typeface="Times New Roman"/>
                        </a:rPr>
                        <a:t>arsh</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R="8890" algn="ctr">
                        <a:lnSpc>
                          <a:spcPts val="1714"/>
                        </a:lnSpc>
                      </a:pPr>
                      <a:r>
                        <a:rPr sz="1500" spc="105" dirty="0">
                          <a:latin typeface="Times New Roman"/>
                          <a:cs typeface="Times New Roman"/>
                        </a:rPr>
                        <a:t>456-</a:t>
                      </a:r>
                      <a:r>
                        <a:rPr sz="1500" spc="110" dirty="0">
                          <a:latin typeface="Times New Roman"/>
                          <a:cs typeface="Times New Roman"/>
                        </a:rPr>
                        <a:t>78-</a:t>
                      </a:r>
                      <a:r>
                        <a:rPr sz="1500" spc="75" dirty="0">
                          <a:latin typeface="Times New Roman"/>
                          <a:cs typeface="Times New Roman"/>
                        </a:rPr>
                        <a:t>9012</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gridSpan="2">
                  <a:txBody>
                    <a:bodyPr/>
                    <a:lstStyle/>
                    <a:p>
                      <a:pPr marL="426720">
                        <a:lnSpc>
                          <a:spcPts val="1714"/>
                        </a:lnSpc>
                      </a:pPr>
                      <a:r>
                        <a:rPr sz="1500" dirty="0">
                          <a:latin typeface="Times New Roman"/>
                          <a:cs typeface="Times New Roman"/>
                        </a:rPr>
                        <a:t>M</a:t>
                      </a:r>
                      <a:r>
                        <a:rPr sz="1500" spc="-135" dirty="0">
                          <a:latin typeface="Times New Roman"/>
                          <a:cs typeface="Times New Roman"/>
                        </a:rPr>
                        <a:t> </a:t>
                      </a:r>
                      <a:r>
                        <a:rPr sz="1500" spc="45" dirty="0">
                          <a:latin typeface="Times New Roman"/>
                          <a:cs typeface="Times New Roman"/>
                        </a:rPr>
                        <a:t>ain</a:t>
                      </a:r>
                      <a:endParaRPr sz="1500">
                        <a:latin typeface="Times New Roman"/>
                        <a:cs typeface="Times New Roman"/>
                      </a:endParaRPr>
                    </a:p>
                  </a:txBody>
                  <a:tcPr marL="0" marR="0" marT="0" marB="0">
                    <a:lnL w="9525">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hMerge="1">
                  <a:txBody>
                    <a:bodyPr/>
                    <a:lstStyle/>
                    <a:p>
                      <a:endParaRPr/>
                    </a:p>
                  </a:txBody>
                  <a:tcPr marL="0" marR="0" marT="0" marB="0"/>
                </a:tc>
                <a:tc>
                  <a:txBody>
                    <a:bodyPr/>
                    <a:lstStyle/>
                    <a:p>
                      <a:pPr marR="6985" algn="ctr">
                        <a:lnSpc>
                          <a:spcPts val="1714"/>
                        </a:lnSpc>
                      </a:pPr>
                      <a:r>
                        <a:rPr sz="1500" spc="85" dirty="0">
                          <a:latin typeface="Times New Roman"/>
                          <a:cs typeface="Times New Roman"/>
                        </a:rPr>
                        <a:t>Austin</a:t>
                      </a:r>
                      <a:endParaRPr sz="15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9525">
                      <a:solidFill>
                        <a:srgbClr val="000000"/>
                      </a:solidFill>
                      <a:prstDash val="solid"/>
                    </a:lnL>
                    <a:lnR w="9525">
                      <a:solidFill>
                        <a:srgbClr val="000000"/>
                      </a:solidFill>
                      <a:prstDash val="solid"/>
                    </a:lnR>
                  </a:tcPr>
                </a:tc>
                <a:tc>
                  <a:txBody>
                    <a:bodyPr/>
                    <a:lstStyle/>
                    <a:p>
                      <a:pPr marL="744855">
                        <a:lnSpc>
                          <a:spcPts val="1714"/>
                        </a:lnSpc>
                      </a:pPr>
                      <a:r>
                        <a:rPr sz="1500" spc="65" dirty="0">
                          <a:latin typeface="Times New Roman"/>
                          <a:cs typeface="Times New Roman"/>
                        </a:rPr>
                        <a:t>199</a:t>
                      </a:r>
                      <a:endParaRPr sz="1500">
                        <a:latin typeface="Times New Roman"/>
                        <a:cs typeface="Times New Roman"/>
                      </a:endParaRPr>
                    </a:p>
                  </a:txBody>
                  <a:tcPr marL="0" marR="0" marT="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77470" algn="r">
                        <a:lnSpc>
                          <a:spcPts val="1714"/>
                        </a:lnSpc>
                      </a:pPr>
                      <a:r>
                        <a:rPr sz="1500" spc="65" dirty="0">
                          <a:latin typeface="Times New Roman"/>
                          <a:cs typeface="Times New Roman"/>
                        </a:rPr>
                        <a:t>500</a:t>
                      </a:r>
                      <a:endParaRPr sz="15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6"/>
                  </a:ext>
                </a:extLst>
              </a:tr>
              <a:tr h="233045">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gridSpan="2">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hMerge="1">
                  <a:txBody>
                    <a:bodyPr/>
                    <a:lstStyle/>
                    <a:p>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7"/>
                  </a:ext>
                </a:extLst>
              </a:tr>
              <a:tr h="231140">
                <a:tc>
                  <a:txBody>
                    <a:bodyPr/>
                    <a:lstStyle/>
                    <a:p>
                      <a:pPr marR="353695" algn="r">
                        <a:lnSpc>
                          <a:spcPts val="1714"/>
                        </a:lnSpc>
                      </a:pPr>
                      <a:r>
                        <a:rPr sz="1500" spc="95" dirty="0">
                          <a:latin typeface="Times New Roman"/>
                          <a:cs typeface="Times New Roman"/>
                        </a:rPr>
                        <a:t>Pepper</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R="8890" algn="ctr">
                        <a:lnSpc>
                          <a:spcPts val="1714"/>
                        </a:lnSpc>
                      </a:pPr>
                      <a:r>
                        <a:rPr sz="1500" spc="105" dirty="0">
                          <a:latin typeface="Times New Roman"/>
                          <a:cs typeface="Times New Roman"/>
                        </a:rPr>
                        <a:t>369-</a:t>
                      </a:r>
                      <a:r>
                        <a:rPr sz="1500" spc="110" dirty="0">
                          <a:latin typeface="Times New Roman"/>
                          <a:cs typeface="Times New Roman"/>
                        </a:rPr>
                        <a:t>12-</a:t>
                      </a:r>
                      <a:r>
                        <a:rPr sz="1500" spc="75" dirty="0">
                          <a:latin typeface="Times New Roman"/>
                          <a:cs typeface="Times New Roman"/>
                        </a:rPr>
                        <a:t>1518</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gridSpan="2">
                  <a:txBody>
                    <a:bodyPr/>
                    <a:lstStyle/>
                    <a:p>
                      <a:pPr marL="401955">
                        <a:lnSpc>
                          <a:spcPts val="1714"/>
                        </a:lnSpc>
                      </a:pPr>
                      <a:r>
                        <a:rPr sz="1500" spc="90" dirty="0">
                          <a:latin typeface="Times New Roman"/>
                          <a:cs typeface="Times New Roman"/>
                        </a:rPr>
                        <a:t>North</a:t>
                      </a:r>
                      <a:endParaRPr sz="1500">
                        <a:latin typeface="Times New Roman"/>
                        <a:cs typeface="Times New Roman"/>
                      </a:endParaRPr>
                    </a:p>
                  </a:txBody>
                  <a:tcPr marL="0" marR="0" marT="0" marB="0">
                    <a:lnL w="9525">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hMerge="1">
                  <a:txBody>
                    <a:bodyPr/>
                    <a:lstStyle/>
                    <a:p>
                      <a:endParaRPr/>
                    </a:p>
                  </a:txBody>
                  <a:tcPr marL="0" marR="0" marT="0" marB="0"/>
                </a:tc>
                <a:tc>
                  <a:txBody>
                    <a:bodyPr/>
                    <a:lstStyle/>
                    <a:p>
                      <a:pPr marR="8890" algn="ctr">
                        <a:lnSpc>
                          <a:spcPts val="1714"/>
                        </a:lnSpc>
                      </a:pPr>
                      <a:r>
                        <a:rPr sz="1500" spc="105" dirty="0">
                          <a:latin typeface="Times New Roman"/>
                          <a:cs typeface="Times New Roman"/>
                        </a:rPr>
                        <a:t>Georgetown</a:t>
                      </a:r>
                      <a:endParaRPr sz="15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9525">
                      <a:solidFill>
                        <a:srgbClr val="000000"/>
                      </a:solidFill>
                      <a:prstDash val="solid"/>
                    </a:lnL>
                    <a:lnR w="9525">
                      <a:solidFill>
                        <a:srgbClr val="000000"/>
                      </a:solidFill>
                      <a:prstDash val="solid"/>
                    </a:lnR>
                  </a:tcPr>
                </a:tc>
                <a:tc>
                  <a:txBody>
                    <a:bodyPr/>
                    <a:lstStyle/>
                    <a:p>
                      <a:pPr marL="744855">
                        <a:lnSpc>
                          <a:spcPts val="1714"/>
                        </a:lnSpc>
                      </a:pPr>
                      <a:r>
                        <a:rPr sz="1500" spc="65" dirty="0">
                          <a:latin typeface="Times New Roman"/>
                          <a:cs typeface="Times New Roman"/>
                        </a:rPr>
                        <a:t>467</a:t>
                      </a:r>
                      <a:endParaRPr sz="1500">
                        <a:latin typeface="Times New Roman"/>
                        <a:cs typeface="Times New Roman"/>
                      </a:endParaRPr>
                    </a:p>
                  </a:txBody>
                  <a:tcPr marL="0" marR="0" marT="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77470" algn="r">
                        <a:lnSpc>
                          <a:spcPts val="1714"/>
                        </a:lnSpc>
                      </a:pPr>
                      <a:r>
                        <a:rPr sz="1500" spc="65" dirty="0">
                          <a:latin typeface="Times New Roman"/>
                          <a:cs typeface="Times New Roman"/>
                        </a:rPr>
                        <a:t>900</a:t>
                      </a:r>
                      <a:endParaRPr sz="15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8"/>
                  </a:ext>
                </a:extLst>
              </a:tr>
              <a:tr h="233045">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gridSpan="2">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hMerge="1">
                  <a:txBody>
                    <a:bodyPr/>
                    <a:lstStyle/>
                    <a:p>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9"/>
                  </a:ext>
                </a:extLst>
              </a:tr>
              <a:tr h="233045">
                <a:tc>
                  <a:txBody>
                    <a:bodyPr/>
                    <a:lstStyle/>
                    <a:p>
                      <a:pPr marR="372110" algn="r">
                        <a:lnSpc>
                          <a:spcPts val="1714"/>
                        </a:lnSpc>
                      </a:pPr>
                      <a:r>
                        <a:rPr sz="1500" spc="75" dirty="0">
                          <a:latin typeface="Times New Roman"/>
                          <a:cs typeface="Times New Roman"/>
                        </a:rPr>
                        <a:t>Ratliff</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marR="8890" algn="ctr">
                        <a:lnSpc>
                          <a:spcPts val="1714"/>
                        </a:lnSpc>
                      </a:pPr>
                      <a:r>
                        <a:rPr sz="1500" spc="105" dirty="0">
                          <a:latin typeface="Times New Roman"/>
                          <a:cs typeface="Times New Roman"/>
                        </a:rPr>
                        <a:t>246-</a:t>
                      </a:r>
                      <a:r>
                        <a:rPr sz="1500" spc="110" dirty="0">
                          <a:latin typeface="Times New Roman"/>
                          <a:cs typeface="Times New Roman"/>
                        </a:rPr>
                        <a:t>80-</a:t>
                      </a:r>
                      <a:r>
                        <a:rPr sz="1500" spc="75" dirty="0">
                          <a:latin typeface="Times New Roman"/>
                          <a:cs typeface="Times New Roman"/>
                        </a:rPr>
                        <a:t>1214</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gridSpan="2">
                  <a:txBody>
                    <a:bodyPr/>
                    <a:lstStyle/>
                    <a:p>
                      <a:pPr marR="4445" algn="ctr">
                        <a:lnSpc>
                          <a:spcPts val="1714"/>
                        </a:lnSpc>
                      </a:pPr>
                      <a:r>
                        <a:rPr sz="1500" spc="70" dirty="0">
                          <a:latin typeface="Times New Roman"/>
                          <a:cs typeface="Times New Roman"/>
                        </a:rPr>
                        <a:t>Park</a:t>
                      </a:r>
                      <a:endParaRPr sz="1500">
                        <a:latin typeface="Times New Roman"/>
                        <a:cs typeface="Times New Roman"/>
                      </a:endParaRPr>
                    </a:p>
                  </a:txBody>
                  <a:tcPr marL="0" marR="0" marT="0" marB="0">
                    <a:lnL w="9525">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hMerge="1">
                  <a:txBody>
                    <a:bodyPr/>
                    <a:lstStyle/>
                    <a:p>
                      <a:endParaRPr/>
                    </a:p>
                  </a:txBody>
                  <a:tcPr marL="0" marR="0" marT="0" marB="0"/>
                </a:tc>
                <a:tc>
                  <a:txBody>
                    <a:bodyPr/>
                    <a:lstStyle/>
                    <a:p>
                      <a:pPr marR="4445" algn="ctr">
                        <a:lnSpc>
                          <a:spcPts val="1714"/>
                        </a:lnSpc>
                      </a:pPr>
                      <a:r>
                        <a:rPr sz="1500" spc="110" dirty="0">
                          <a:latin typeface="Times New Roman"/>
                          <a:cs typeface="Times New Roman"/>
                        </a:rPr>
                        <a:t>Round</a:t>
                      </a:r>
                      <a:r>
                        <a:rPr sz="1500" spc="200" dirty="0">
                          <a:latin typeface="Times New Roman"/>
                          <a:cs typeface="Times New Roman"/>
                        </a:rPr>
                        <a:t> </a:t>
                      </a:r>
                      <a:r>
                        <a:rPr sz="1500" spc="90" dirty="0">
                          <a:latin typeface="Times New Roman"/>
                          <a:cs typeface="Times New Roman"/>
                        </a:rPr>
                        <a:t>Rock</a:t>
                      </a:r>
                      <a:endParaRPr sz="15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9525">
                      <a:solidFill>
                        <a:srgbClr val="000000"/>
                      </a:solidFill>
                      <a:prstDash val="solid"/>
                    </a:lnL>
                    <a:lnR w="9525">
                      <a:solidFill>
                        <a:srgbClr val="000000"/>
                      </a:solidFill>
                      <a:prstDash val="solid"/>
                    </a:lnR>
                  </a:tcPr>
                </a:tc>
                <a:tc>
                  <a:txBody>
                    <a:bodyPr/>
                    <a:lstStyle/>
                    <a:p>
                      <a:pPr marL="744855">
                        <a:lnSpc>
                          <a:spcPts val="1714"/>
                        </a:lnSpc>
                      </a:pPr>
                      <a:r>
                        <a:rPr sz="1500" spc="65" dirty="0">
                          <a:latin typeface="Times New Roman"/>
                          <a:cs typeface="Times New Roman"/>
                        </a:rPr>
                        <a:t>115</a:t>
                      </a:r>
                      <a:endParaRPr sz="1500">
                        <a:latin typeface="Times New Roman"/>
                        <a:cs typeface="Times New Roman"/>
                      </a:endParaRPr>
                    </a:p>
                  </a:txBody>
                  <a:tcPr marL="0" marR="0" marT="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78740" algn="r">
                        <a:lnSpc>
                          <a:spcPts val="1714"/>
                        </a:lnSpc>
                      </a:pPr>
                      <a:r>
                        <a:rPr sz="1500" spc="75" dirty="0">
                          <a:latin typeface="Times New Roman"/>
                          <a:cs typeface="Times New Roman"/>
                        </a:rPr>
                        <a:t>1200</a:t>
                      </a:r>
                      <a:endParaRPr sz="15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10"/>
                  </a:ext>
                </a:extLst>
              </a:tr>
              <a:tr h="231140">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gridSpan="2">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hMerge="1">
                  <a:txBody>
                    <a:bodyPr/>
                    <a:lstStyle/>
                    <a:p>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11"/>
                  </a:ext>
                </a:extLst>
              </a:tr>
              <a:tr h="233045">
                <a:tc>
                  <a:txBody>
                    <a:bodyPr/>
                    <a:lstStyle/>
                    <a:p>
                      <a:pPr marR="635" algn="ctr">
                        <a:lnSpc>
                          <a:spcPts val="1714"/>
                        </a:lnSpc>
                      </a:pPr>
                      <a:r>
                        <a:rPr sz="1500" spc="70" dirty="0">
                          <a:latin typeface="Times New Roman"/>
                          <a:cs typeface="Times New Roman"/>
                        </a:rPr>
                        <a:t>Brill</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gridSpan="2">
                  <a:txBody>
                    <a:bodyPr/>
                    <a:lstStyle/>
                    <a:p>
                      <a:pPr marL="142875">
                        <a:lnSpc>
                          <a:spcPts val="1714"/>
                        </a:lnSpc>
                      </a:pPr>
                      <a:r>
                        <a:rPr sz="1500" spc="105" dirty="0">
                          <a:latin typeface="Times New Roman"/>
                          <a:cs typeface="Times New Roman"/>
                        </a:rPr>
                        <a:t>121-</a:t>
                      </a:r>
                      <a:r>
                        <a:rPr sz="1500" spc="110" dirty="0">
                          <a:latin typeface="Times New Roman"/>
                          <a:cs typeface="Times New Roman"/>
                        </a:rPr>
                        <a:t>21-</a:t>
                      </a:r>
                      <a:r>
                        <a:rPr sz="1500" spc="75" dirty="0">
                          <a:latin typeface="Times New Roman"/>
                          <a:cs typeface="Times New Roman"/>
                        </a:rPr>
                        <a:t>2121</a:t>
                      </a:r>
                      <a:endParaRPr sz="1500">
                        <a:latin typeface="Times New Roman"/>
                        <a:cs typeface="Times New Roman"/>
                      </a:endParaRPr>
                    </a:p>
                  </a:txBody>
                  <a:tcPr marL="0" marR="0" marT="0" marB="0">
                    <a:lnL w="9525">
                      <a:solidFill>
                        <a:srgbClr val="000000"/>
                      </a:solidFill>
                      <a:prstDash val="solid"/>
                    </a:lnL>
                    <a:lnT w="9525">
                      <a:solidFill>
                        <a:srgbClr val="000000"/>
                      </a:solidFill>
                      <a:prstDash val="solid"/>
                    </a:lnT>
                    <a:lnB w="9525">
                      <a:solidFill>
                        <a:srgbClr val="000000"/>
                      </a:solidFill>
                      <a:prstDash val="solid"/>
                    </a:lnB>
                  </a:tcPr>
                </a:tc>
                <a:tc hMerge="1">
                  <a:txBody>
                    <a:bodyPr/>
                    <a:lstStyle/>
                    <a:p>
                      <a:endParaRPr/>
                    </a:p>
                  </a:txBody>
                  <a:tcPr marL="0" marR="0" marT="0" marB="0"/>
                </a:tc>
                <a:tc>
                  <a:txBody>
                    <a:bodyPr/>
                    <a:lstStyle/>
                    <a:p>
                      <a:pPr marR="300355" algn="ctr">
                        <a:lnSpc>
                          <a:spcPts val="1714"/>
                        </a:lnSpc>
                      </a:pPr>
                      <a:r>
                        <a:rPr sz="1500" spc="90" dirty="0">
                          <a:latin typeface="Times New Roman"/>
                          <a:cs typeface="Times New Roman"/>
                        </a:rPr>
                        <a:t>Putnam</a:t>
                      </a:r>
                      <a:endParaRPr sz="1500">
                        <a:latin typeface="Times New Roman"/>
                        <a:cs typeface="Times New Roman"/>
                      </a:endParaRPr>
                    </a:p>
                  </a:txBody>
                  <a:tcPr marL="0" marR="0" marT="0"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7620" algn="ctr">
                        <a:lnSpc>
                          <a:spcPts val="1714"/>
                        </a:lnSpc>
                      </a:pPr>
                      <a:r>
                        <a:rPr sz="1500" spc="90" dirty="0">
                          <a:latin typeface="Times New Roman"/>
                          <a:cs typeface="Times New Roman"/>
                        </a:rPr>
                        <a:t>San</a:t>
                      </a:r>
                      <a:r>
                        <a:rPr sz="1500" spc="210" dirty="0">
                          <a:latin typeface="Times New Roman"/>
                          <a:cs typeface="Times New Roman"/>
                        </a:rPr>
                        <a:t> </a:t>
                      </a:r>
                      <a:r>
                        <a:rPr sz="1500" dirty="0">
                          <a:latin typeface="Times New Roman"/>
                          <a:cs typeface="Times New Roman"/>
                        </a:rPr>
                        <a:t>M</a:t>
                      </a:r>
                      <a:r>
                        <a:rPr sz="1500" spc="-165" dirty="0">
                          <a:latin typeface="Times New Roman"/>
                          <a:cs typeface="Times New Roman"/>
                        </a:rPr>
                        <a:t> </a:t>
                      </a:r>
                      <a:r>
                        <a:rPr sz="1500" spc="65" dirty="0">
                          <a:latin typeface="Times New Roman"/>
                          <a:cs typeface="Times New Roman"/>
                        </a:rPr>
                        <a:t>arcos</a:t>
                      </a:r>
                      <a:endParaRPr sz="15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9525">
                      <a:solidFill>
                        <a:srgbClr val="000000"/>
                      </a:solidFill>
                      <a:prstDash val="solid"/>
                    </a:lnL>
                    <a:lnR w="9525">
                      <a:solidFill>
                        <a:srgbClr val="000000"/>
                      </a:solidFill>
                      <a:prstDash val="solid"/>
                    </a:lnR>
                  </a:tcPr>
                </a:tc>
                <a:tc>
                  <a:txBody>
                    <a:bodyPr/>
                    <a:lstStyle/>
                    <a:p>
                      <a:pPr marL="744855">
                        <a:lnSpc>
                          <a:spcPts val="1714"/>
                        </a:lnSpc>
                      </a:pPr>
                      <a:r>
                        <a:rPr sz="1500" spc="65" dirty="0">
                          <a:latin typeface="Times New Roman"/>
                          <a:cs typeface="Times New Roman"/>
                        </a:rPr>
                        <a:t>183</a:t>
                      </a:r>
                      <a:endParaRPr sz="1500">
                        <a:latin typeface="Times New Roman"/>
                        <a:cs typeface="Times New Roman"/>
                      </a:endParaRPr>
                    </a:p>
                  </a:txBody>
                  <a:tcPr marL="0" marR="0" marT="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78740" algn="r">
                        <a:lnSpc>
                          <a:spcPts val="1714"/>
                        </a:lnSpc>
                      </a:pPr>
                      <a:r>
                        <a:rPr sz="1500" spc="75" dirty="0">
                          <a:latin typeface="Times New Roman"/>
                          <a:cs typeface="Times New Roman"/>
                        </a:rPr>
                        <a:t>1300</a:t>
                      </a:r>
                      <a:endParaRPr sz="15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12"/>
                  </a:ext>
                </a:extLst>
              </a:tr>
              <a:tr h="231140">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gridSpan="2">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hMerge="1">
                  <a:txBody>
                    <a:bodyPr/>
                    <a:lstStyle/>
                    <a:p>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B w="57150">
                      <a:solidFill>
                        <a:srgbClr val="4A7EBA"/>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13"/>
                  </a:ext>
                </a:extLst>
              </a:tr>
              <a:tr h="233045">
                <a:tc>
                  <a:txBody>
                    <a:bodyPr/>
                    <a:lstStyle/>
                    <a:p>
                      <a:pPr marL="408305">
                        <a:lnSpc>
                          <a:spcPts val="1714"/>
                        </a:lnSpc>
                      </a:pPr>
                      <a:r>
                        <a:rPr sz="1500" spc="85" dirty="0">
                          <a:latin typeface="Times New Roman"/>
                          <a:cs typeface="Times New Roman"/>
                        </a:rPr>
                        <a:t>Evers</a:t>
                      </a: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gridSpan="2">
                  <a:txBody>
                    <a:bodyPr/>
                    <a:lstStyle/>
                    <a:p>
                      <a:pPr marL="142875">
                        <a:lnSpc>
                          <a:spcPts val="1714"/>
                        </a:lnSpc>
                      </a:pPr>
                      <a:r>
                        <a:rPr sz="1500" spc="105" dirty="0">
                          <a:latin typeface="Times New Roman"/>
                          <a:cs typeface="Times New Roman"/>
                        </a:rPr>
                        <a:t>135-</a:t>
                      </a:r>
                      <a:r>
                        <a:rPr sz="1500" spc="110" dirty="0">
                          <a:latin typeface="Times New Roman"/>
                          <a:cs typeface="Times New Roman"/>
                        </a:rPr>
                        <a:t>79-</a:t>
                      </a:r>
                      <a:r>
                        <a:rPr sz="1500" spc="75" dirty="0">
                          <a:latin typeface="Times New Roman"/>
                          <a:cs typeface="Times New Roman"/>
                        </a:rPr>
                        <a:t>1357</a:t>
                      </a:r>
                      <a:endParaRPr sz="1500">
                        <a:latin typeface="Times New Roman"/>
                        <a:cs typeface="Times New Roman"/>
                      </a:endParaRPr>
                    </a:p>
                  </a:txBody>
                  <a:tcPr marL="0" marR="0" marT="0" marB="0">
                    <a:lnL w="9525">
                      <a:solidFill>
                        <a:srgbClr val="000000"/>
                      </a:solidFill>
                      <a:prstDash val="solid"/>
                    </a:lnL>
                    <a:lnT w="9525">
                      <a:solidFill>
                        <a:srgbClr val="000000"/>
                      </a:solidFill>
                      <a:prstDash val="solid"/>
                    </a:lnT>
                    <a:lnB w="9525">
                      <a:solidFill>
                        <a:srgbClr val="000000"/>
                      </a:solidFill>
                      <a:prstDash val="solid"/>
                    </a:lnB>
                  </a:tcPr>
                </a:tc>
                <a:tc hMerge="1">
                  <a:txBody>
                    <a:bodyPr/>
                    <a:lstStyle/>
                    <a:p>
                      <a:endParaRPr/>
                    </a:p>
                  </a:txBody>
                  <a:tcPr marL="0" marR="0" marT="0" marB="0"/>
                </a:tc>
                <a:tc>
                  <a:txBody>
                    <a:bodyPr/>
                    <a:lstStyle/>
                    <a:p>
                      <a:pPr marR="293370" algn="ctr">
                        <a:lnSpc>
                          <a:spcPts val="1714"/>
                        </a:lnSpc>
                      </a:pPr>
                      <a:r>
                        <a:rPr sz="1500" spc="95" dirty="0">
                          <a:latin typeface="Times New Roman"/>
                          <a:cs typeface="Times New Roman"/>
                        </a:rPr>
                        <a:t>Nassau</a:t>
                      </a:r>
                      <a:endParaRPr sz="1500">
                        <a:latin typeface="Times New Roman"/>
                        <a:cs typeface="Times New Roman"/>
                      </a:endParaRPr>
                    </a:p>
                  </a:txBody>
                  <a:tcPr marL="0" marR="0" marT="0" marB="0">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6985" algn="ctr">
                        <a:lnSpc>
                          <a:spcPts val="1714"/>
                        </a:lnSpc>
                      </a:pPr>
                      <a:r>
                        <a:rPr sz="1500" spc="85" dirty="0">
                          <a:latin typeface="Times New Roman"/>
                          <a:cs typeface="Times New Roman"/>
                        </a:rPr>
                        <a:t>Austin</a:t>
                      </a:r>
                      <a:endParaRPr sz="15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9525">
                      <a:solidFill>
                        <a:srgbClr val="000000"/>
                      </a:solidFill>
                      <a:prstDash val="solid"/>
                    </a:lnL>
                    <a:lnR w="9525">
                      <a:solidFill>
                        <a:srgbClr val="000000"/>
                      </a:solidFill>
                      <a:prstDash val="solid"/>
                    </a:lnR>
                    <a:lnT w="57150">
                      <a:solidFill>
                        <a:srgbClr val="4A7EBA"/>
                      </a:solidFill>
                      <a:prstDash val="solid"/>
                    </a:lnT>
                  </a:tcPr>
                </a:tc>
                <a:tc>
                  <a:txBody>
                    <a:bodyPr/>
                    <a:lstStyle/>
                    <a:p>
                      <a:pPr marL="744855">
                        <a:lnSpc>
                          <a:spcPts val="1714"/>
                        </a:lnSpc>
                      </a:pPr>
                      <a:r>
                        <a:rPr sz="1500" spc="65" dirty="0">
                          <a:latin typeface="Times New Roman"/>
                          <a:cs typeface="Times New Roman"/>
                        </a:rPr>
                        <a:t>118</a:t>
                      </a:r>
                      <a:endParaRPr sz="1500">
                        <a:latin typeface="Times New Roman"/>
                        <a:cs typeface="Times New Roman"/>
                      </a:endParaRPr>
                    </a:p>
                  </a:txBody>
                  <a:tcPr marL="0" marR="0" marT="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78740" algn="r">
                        <a:lnSpc>
                          <a:spcPts val="1714"/>
                        </a:lnSpc>
                      </a:pPr>
                      <a:r>
                        <a:rPr sz="1500" spc="75" dirty="0">
                          <a:latin typeface="Times New Roman"/>
                          <a:cs typeface="Times New Roman"/>
                        </a:rPr>
                        <a:t>2000</a:t>
                      </a:r>
                      <a:endParaRPr sz="15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14"/>
                  </a:ext>
                </a:extLst>
              </a:tr>
              <a:tr h="231140">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tcPr>
                </a:tc>
                <a:tc gridSpan="2">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tcPr>
                </a:tc>
                <a:tc hMerge="1">
                  <a:txBody>
                    <a:bodyPr/>
                    <a:lstStyle/>
                    <a:p>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15"/>
                  </a:ext>
                </a:extLst>
              </a:tr>
              <a:tr h="233045">
                <a:tc>
                  <a:txBody>
                    <a:bodyPr/>
                    <a:lstStyle/>
                    <a:p>
                      <a:pPr>
                        <a:lnSpc>
                          <a:spcPct val="100000"/>
                        </a:lnSpc>
                      </a:pPr>
                      <a:endParaRPr sz="1400">
                        <a:latin typeface="Times New Roman"/>
                        <a:cs typeface="Times New Roman"/>
                      </a:endParaRPr>
                    </a:p>
                  </a:txBody>
                  <a:tcPr marL="0" marR="0" marT="0" marB="0"/>
                </a:tc>
                <a:tc gridSpan="2">
                  <a:txBody>
                    <a:bodyPr/>
                    <a:lstStyle/>
                    <a:p>
                      <a:pPr>
                        <a:lnSpc>
                          <a:spcPct val="100000"/>
                        </a:lnSpc>
                      </a:pPr>
                      <a:endParaRPr sz="1400">
                        <a:latin typeface="Times New Roman"/>
                        <a:cs typeface="Times New Roman"/>
                      </a:endParaRPr>
                    </a:p>
                  </a:txBody>
                  <a:tcPr marL="0" marR="0" marT="0" marB="0"/>
                </a:tc>
                <a:tc hMerge="1">
                  <a:txBody>
                    <a:bodyPr/>
                    <a:lstStyle/>
                    <a:p>
                      <a:endParaRPr/>
                    </a:p>
                  </a:txBody>
                  <a:tcPr marL="0" marR="0" marT="0" marB="0"/>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lnR w="9525">
                      <a:solidFill>
                        <a:srgbClr val="000000"/>
                      </a:solidFill>
                      <a:prstDash val="solid"/>
                    </a:lnR>
                  </a:tcPr>
                </a:tc>
                <a:tc>
                  <a:txBody>
                    <a:bodyPr/>
                    <a:lstStyle/>
                    <a:p>
                      <a:pPr marL="744855">
                        <a:lnSpc>
                          <a:spcPts val="1714"/>
                        </a:lnSpc>
                      </a:pPr>
                      <a:r>
                        <a:rPr sz="1500" spc="65" dirty="0">
                          <a:latin typeface="Times New Roman"/>
                          <a:cs typeface="Times New Roman"/>
                        </a:rPr>
                        <a:t>225</a:t>
                      </a:r>
                      <a:endParaRPr sz="1500">
                        <a:latin typeface="Times New Roman"/>
                        <a:cs typeface="Times New Roman"/>
                      </a:endParaRPr>
                    </a:p>
                  </a:txBody>
                  <a:tcPr marL="0" marR="0" marT="0" marB="0">
                    <a:lnL w="9525">
                      <a:solidFill>
                        <a:srgbClr val="000000"/>
                      </a:solidFill>
                      <a:prstDash val="solid"/>
                    </a:lnL>
                    <a:lnT w="9525">
                      <a:solidFill>
                        <a:srgbClr val="000000"/>
                      </a:solidFill>
                      <a:prstDash val="solid"/>
                    </a:lnT>
                    <a:lnB w="9525">
                      <a:solidFill>
                        <a:srgbClr val="000000"/>
                      </a:solidFill>
                      <a:prstDash val="solid"/>
                    </a:lnB>
                  </a:tcPr>
                </a:tc>
                <a:tc>
                  <a:txBody>
                    <a:bodyPr/>
                    <a:lstStyle/>
                    <a:p>
                      <a:pPr marR="78740" algn="r">
                        <a:lnSpc>
                          <a:spcPts val="1714"/>
                        </a:lnSpc>
                      </a:pPr>
                      <a:r>
                        <a:rPr sz="1500" spc="75" dirty="0">
                          <a:latin typeface="Times New Roman"/>
                          <a:cs typeface="Times New Roman"/>
                        </a:rPr>
                        <a:t>2500</a:t>
                      </a:r>
                      <a:endParaRPr sz="1500">
                        <a:latin typeface="Times New Roman"/>
                        <a:cs typeface="Times New Roman"/>
                      </a:endParaRPr>
                    </a:p>
                  </a:txBody>
                  <a:tcPr marL="0" marR="0" marT="0" marB="0">
                    <a:lnR w="9525">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16"/>
                  </a:ext>
                </a:extLst>
              </a:tr>
              <a:tr h="233045">
                <a:tc>
                  <a:txBody>
                    <a:bodyPr/>
                    <a:lstStyle/>
                    <a:p>
                      <a:pPr>
                        <a:lnSpc>
                          <a:spcPct val="100000"/>
                        </a:lnSpc>
                      </a:pPr>
                      <a:endParaRPr sz="1400">
                        <a:latin typeface="Times New Roman"/>
                        <a:cs typeface="Times New Roman"/>
                      </a:endParaRPr>
                    </a:p>
                  </a:txBody>
                  <a:tcPr marL="0" marR="0" marT="0" marB="0"/>
                </a:tc>
                <a:tc gridSpan="2">
                  <a:txBody>
                    <a:bodyPr/>
                    <a:lstStyle/>
                    <a:p>
                      <a:pPr marL="1061720">
                        <a:lnSpc>
                          <a:spcPts val="1714"/>
                        </a:lnSpc>
                      </a:pPr>
                      <a:r>
                        <a:rPr sz="1500" spc="85" dirty="0">
                          <a:latin typeface="Times New Roman"/>
                          <a:cs typeface="Times New Roman"/>
                        </a:rPr>
                        <a:t>Cliente</a:t>
                      </a:r>
                      <a:endParaRPr sz="1500">
                        <a:latin typeface="Times New Roman"/>
                        <a:cs typeface="Times New Roman"/>
                      </a:endParaRPr>
                    </a:p>
                  </a:txBody>
                  <a:tcPr marL="0" marR="0" marT="0" marB="0"/>
                </a:tc>
                <a:tc hMerge="1">
                  <a:txBody>
                    <a:bodyPr/>
                    <a:lstStyle/>
                    <a:p>
                      <a:endParaRPr/>
                    </a:p>
                  </a:txBody>
                  <a:tcPr marL="0" marR="0" marT="0" marB="0"/>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tcPr>
                </a:tc>
                <a:tc>
                  <a:txBody>
                    <a:bodyPr/>
                    <a:lstStyle/>
                    <a:p>
                      <a:pPr>
                        <a:lnSpc>
                          <a:spcPct val="100000"/>
                        </a:lnSpc>
                      </a:pPr>
                      <a:endParaRPr sz="1400">
                        <a:latin typeface="Times New Roman"/>
                        <a:cs typeface="Times New Roman"/>
                      </a:endParaRPr>
                    </a:p>
                  </a:txBody>
                  <a:tcPr marL="0" marR="0" marT="0" marB="0">
                    <a:lnT w="9525">
                      <a:solidFill>
                        <a:srgbClr val="000000"/>
                      </a:solidFill>
                      <a:prstDash val="solid"/>
                    </a:lnT>
                  </a:tcPr>
                </a:tc>
                <a:extLst>
                  <a:ext uri="{0D108BD9-81ED-4DB2-BD59-A6C34878D82A}">
                    <a16:rowId xmlns:a16="http://schemas.microsoft.com/office/drawing/2014/main" val="10017"/>
                  </a:ext>
                </a:extLst>
              </a:tr>
              <a:tr h="231140">
                <a:tc>
                  <a:txBody>
                    <a:bodyPr/>
                    <a:lstStyle/>
                    <a:p>
                      <a:pPr>
                        <a:lnSpc>
                          <a:spcPct val="100000"/>
                        </a:lnSpc>
                      </a:pPr>
                      <a:endParaRPr sz="1400">
                        <a:latin typeface="Times New Roman"/>
                        <a:cs typeface="Times New Roman"/>
                      </a:endParaRPr>
                    </a:p>
                  </a:txBody>
                  <a:tcPr marL="0" marR="0" marT="0" marB="0"/>
                </a:tc>
                <a:tc gridSpan="2">
                  <a:txBody>
                    <a:bodyPr/>
                    <a:lstStyle/>
                    <a:p>
                      <a:pPr>
                        <a:lnSpc>
                          <a:spcPct val="100000"/>
                        </a:lnSpc>
                      </a:pPr>
                      <a:endParaRPr sz="1400" dirty="0">
                        <a:latin typeface="Times New Roman"/>
                        <a:cs typeface="Times New Roman"/>
                      </a:endParaRPr>
                    </a:p>
                  </a:txBody>
                  <a:tcPr marL="0" marR="0" marT="0" marB="0"/>
                </a:tc>
                <a:tc hMerge="1">
                  <a:txBody>
                    <a:bodyPr/>
                    <a:lstStyle/>
                    <a:p>
                      <a:endParaRPr/>
                    </a:p>
                  </a:txBody>
                  <a:tcPr marL="0" marR="0" marT="0" marB="0"/>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tc>
                <a:tc>
                  <a:txBody>
                    <a:bodyPr/>
                    <a:lstStyle/>
                    <a:p>
                      <a:pPr>
                        <a:lnSpc>
                          <a:spcPct val="100000"/>
                        </a:lnSpc>
                      </a:pPr>
                      <a:endParaRPr sz="1400">
                        <a:latin typeface="Times New Roman"/>
                        <a:cs typeface="Times New Roman"/>
                      </a:endParaRPr>
                    </a:p>
                  </a:txBody>
                  <a:tcPr marL="0" marR="0" marT="0" marB="0"/>
                </a:tc>
                <a:extLst>
                  <a:ext uri="{0D108BD9-81ED-4DB2-BD59-A6C34878D82A}">
                    <a16:rowId xmlns:a16="http://schemas.microsoft.com/office/drawing/2014/main" val="10018"/>
                  </a:ext>
                </a:extLst>
              </a:tr>
              <a:tr h="447040">
                <a:tc>
                  <a:txBody>
                    <a:bodyPr/>
                    <a:lstStyle/>
                    <a:p>
                      <a:pPr>
                        <a:lnSpc>
                          <a:spcPct val="100000"/>
                        </a:lnSpc>
                      </a:pPr>
                      <a:endParaRPr sz="1700" dirty="0">
                        <a:latin typeface="Times New Roman"/>
                        <a:cs typeface="Times New Roman"/>
                      </a:endParaRPr>
                    </a:p>
                  </a:txBody>
                  <a:tcPr marL="0" marR="0" marT="0" marB="0"/>
                </a:tc>
                <a:tc gridSpan="2">
                  <a:txBody>
                    <a:bodyPr/>
                    <a:lstStyle/>
                    <a:p>
                      <a:pPr>
                        <a:lnSpc>
                          <a:spcPct val="100000"/>
                        </a:lnSpc>
                      </a:pPr>
                      <a:endParaRPr sz="1700" dirty="0">
                        <a:latin typeface="Times New Roman"/>
                        <a:cs typeface="Times New Roman"/>
                      </a:endParaRPr>
                    </a:p>
                  </a:txBody>
                  <a:tcPr marL="0" marR="0" marT="0" marB="0"/>
                </a:tc>
                <a:tc hMerge="1">
                  <a:txBody>
                    <a:bodyPr/>
                    <a:lstStyle/>
                    <a:p>
                      <a:endParaRPr/>
                    </a:p>
                  </a:txBody>
                  <a:tcPr marL="0" marR="0" marT="0" marB="0"/>
                </a:tc>
                <a:tc>
                  <a:txBody>
                    <a:bodyPr/>
                    <a:lstStyle/>
                    <a:p>
                      <a:pPr>
                        <a:lnSpc>
                          <a:spcPct val="100000"/>
                        </a:lnSpc>
                      </a:pPr>
                      <a:endParaRPr sz="1700">
                        <a:latin typeface="Times New Roman"/>
                        <a:cs typeface="Times New Roman"/>
                      </a:endParaRPr>
                    </a:p>
                  </a:txBody>
                  <a:tcPr marL="0" marR="0" marT="0" marB="0"/>
                </a:tc>
                <a:tc>
                  <a:txBody>
                    <a:bodyPr/>
                    <a:lstStyle/>
                    <a:p>
                      <a:pPr>
                        <a:lnSpc>
                          <a:spcPct val="100000"/>
                        </a:lnSpc>
                      </a:pPr>
                      <a:endParaRPr sz="1700">
                        <a:latin typeface="Times New Roman"/>
                        <a:cs typeface="Times New Roman"/>
                      </a:endParaRPr>
                    </a:p>
                  </a:txBody>
                  <a:tcPr marL="0" marR="0" marT="0" marB="0"/>
                </a:tc>
                <a:tc>
                  <a:txBody>
                    <a:bodyPr/>
                    <a:lstStyle/>
                    <a:p>
                      <a:pPr>
                        <a:lnSpc>
                          <a:spcPct val="100000"/>
                        </a:lnSpc>
                      </a:pPr>
                      <a:endParaRPr sz="1700">
                        <a:latin typeface="Times New Roman"/>
                        <a:cs typeface="Times New Roman"/>
                      </a:endParaRPr>
                    </a:p>
                  </a:txBody>
                  <a:tcPr marL="0" marR="0" marT="0" marB="0"/>
                </a:tc>
                <a:tc>
                  <a:txBody>
                    <a:bodyPr/>
                    <a:lstStyle/>
                    <a:p>
                      <a:pPr marL="834390">
                        <a:lnSpc>
                          <a:spcPts val="1735"/>
                        </a:lnSpc>
                        <a:spcBef>
                          <a:spcPts val="1689"/>
                        </a:spcBef>
                      </a:pPr>
                      <a:r>
                        <a:rPr sz="1500" spc="95" dirty="0">
                          <a:latin typeface="Times New Roman"/>
                          <a:cs typeface="Times New Roman"/>
                        </a:rPr>
                        <a:t>Cuenta</a:t>
                      </a:r>
                      <a:endParaRPr sz="1500">
                        <a:latin typeface="Times New Roman"/>
                        <a:cs typeface="Times New Roman"/>
                      </a:endParaRPr>
                    </a:p>
                  </a:txBody>
                  <a:tcPr marL="0" marR="0" marT="214629" marB="0"/>
                </a:tc>
                <a:tc>
                  <a:txBody>
                    <a:bodyPr/>
                    <a:lstStyle/>
                    <a:p>
                      <a:pPr>
                        <a:lnSpc>
                          <a:spcPct val="100000"/>
                        </a:lnSpc>
                      </a:pPr>
                      <a:endParaRPr sz="1700" dirty="0">
                        <a:latin typeface="Times New Roman"/>
                        <a:cs typeface="Times New Roman"/>
                      </a:endParaRPr>
                    </a:p>
                  </a:txBody>
                  <a:tcPr marL="0" marR="0" marT="0" marB="0"/>
                </a:tc>
                <a:extLst>
                  <a:ext uri="{0D108BD9-81ED-4DB2-BD59-A6C34878D82A}">
                    <a16:rowId xmlns:a16="http://schemas.microsoft.com/office/drawing/2014/main" val="10019"/>
                  </a:ext>
                </a:extLst>
              </a:tr>
            </a:tbl>
          </a:graphicData>
        </a:graphic>
      </p:graphicFrame>
      <p:sp>
        <p:nvSpPr>
          <p:cNvPr id="10" name="object 10"/>
          <p:cNvSpPr/>
          <p:nvPr/>
        </p:nvSpPr>
        <p:spPr>
          <a:xfrm>
            <a:off x="6489069" y="1563623"/>
            <a:ext cx="856615" cy="856615"/>
          </a:xfrm>
          <a:custGeom>
            <a:avLst/>
            <a:gdLst/>
            <a:ahLst/>
            <a:cxnLst/>
            <a:rect l="l" t="t" r="r" b="b"/>
            <a:pathLst>
              <a:path w="856615" h="856614">
                <a:moveTo>
                  <a:pt x="0" y="856487"/>
                </a:moveTo>
                <a:lnTo>
                  <a:pt x="856487" y="0"/>
                </a:lnTo>
              </a:path>
            </a:pathLst>
          </a:custGeom>
          <a:ln w="57149">
            <a:solidFill>
              <a:srgbClr val="4A7EBA"/>
            </a:solidFill>
          </a:ln>
        </p:spPr>
        <p:txBody>
          <a:bodyPr wrap="square" lIns="0" tIns="0" rIns="0" bIns="0" rtlCol="0"/>
          <a:lstStyle/>
          <a:p>
            <a:endParaRPr/>
          </a:p>
        </p:txBody>
      </p:sp>
      <p:sp>
        <p:nvSpPr>
          <p:cNvPr id="11" name="object 11"/>
          <p:cNvSpPr/>
          <p:nvPr/>
        </p:nvSpPr>
        <p:spPr>
          <a:xfrm>
            <a:off x="6560697" y="2919983"/>
            <a:ext cx="856615" cy="501650"/>
          </a:xfrm>
          <a:custGeom>
            <a:avLst/>
            <a:gdLst/>
            <a:ahLst/>
            <a:cxnLst/>
            <a:rect l="l" t="t" r="r" b="b"/>
            <a:pathLst>
              <a:path w="856615" h="501650">
                <a:moveTo>
                  <a:pt x="0" y="501395"/>
                </a:moveTo>
                <a:lnTo>
                  <a:pt x="856487" y="0"/>
                </a:lnTo>
              </a:path>
            </a:pathLst>
          </a:custGeom>
          <a:ln w="57149">
            <a:solidFill>
              <a:srgbClr val="4A7EBA"/>
            </a:solidFill>
          </a:ln>
        </p:spPr>
        <p:txBody>
          <a:bodyPr wrap="square" lIns="0" tIns="0" rIns="0" bIns="0" rtlCol="0"/>
          <a:lstStyle/>
          <a:p>
            <a:endParaRPr/>
          </a:p>
        </p:txBody>
      </p:sp>
      <p:sp>
        <p:nvSpPr>
          <p:cNvPr id="12" name="object 12"/>
          <p:cNvSpPr/>
          <p:nvPr/>
        </p:nvSpPr>
        <p:spPr>
          <a:xfrm>
            <a:off x="6560697" y="1991867"/>
            <a:ext cx="928369" cy="1000125"/>
          </a:xfrm>
          <a:custGeom>
            <a:avLst/>
            <a:gdLst/>
            <a:ahLst/>
            <a:cxnLst/>
            <a:rect l="l" t="t" r="r" b="b"/>
            <a:pathLst>
              <a:path w="928370" h="1000125">
                <a:moveTo>
                  <a:pt x="0" y="499871"/>
                </a:moveTo>
                <a:lnTo>
                  <a:pt x="856487" y="0"/>
                </a:lnTo>
              </a:path>
              <a:path w="928370" h="1000125">
                <a:moveTo>
                  <a:pt x="71627" y="999743"/>
                </a:moveTo>
                <a:lnTo>
                  <a:pt x="928115" y="499871"/>
                </a:lnTo>
              </a:path>
            </a:pathLst>
          </a:custGeom>
          <a:ln w="57149">
            <a:solidFill>
              <a:srgbClr val="4A7EBA"/>
            </a:solidFill>
          </a:ln>
        </p:spPr>
        <p:txBody>
          <a:bodyPr wrap="square" lIns="0" tIns="0" rIns="0" bIns="0" rtlCol="0"/>
          <a:lstStyle/>
          <a:p>
            <a:endParaRPr/>
          </a:p>
        </p:txBody>
      </p:sp>
      <p:sp>
        <p:nvSpPr>
          <p:cNvPr id="13" name="object 13"/>
          <p:cNvSpPr/>
          <p:nvPr/>
        </p:nvSpPr>
        <p:spPr>
          <a:xfrm>
            <a:off x="6632326" y="3421379"/>
            <a:ext cx="856615" cy="1000125"/>
          </a:xfrm>
          <a:custGeom>
            <a:avLst/>
            <a:gdLst/>
            <a:ahLst/>
            <a:cxnLst/>
            <a:rect l="l" t="t" r="r" b="b"/>
            <a:pathLst>
              <a:path w="856615" h="1000125">
                <a:moveTo>
                  <a:pt x="0" y="499871"/>
                </a:moveTo>
                <a:lnTo>
                  <a:pt x="856487" y="0"/>
                </a:lnTo>
              </a:path>
              <a:path w="856615" h="1000125">
                <a:moveTo>
                  <a:pt x="0" y="856487"/>
                </a:moveTo>
                <a:lnTo>
                  <a:pt x="856487" y="356615"/>
                </a:lnTo>
              </a:path>
              <a:path w="856615" h="1000125">
                <a:moveTo>
                  <a:pt x="0" y="999743"/>
                </a:moveTo>
                <a:lnTo>
                  <a:pt x="856487" y="928115"/>
                </a:lnTo>
              </a:path>
            </a:pathLst>
          </a:custGeom>
          <a:ln w="57149">
            <a:solidFill>
              <a:srgbClr val="4A7EBA"/>
            </a:solidFill>
          </a:ln>
        </p:spPr>
        <p:txBody>
          <a:bodyPr wrap="square" lIns="0" tIns="0" rIns="0" bIns="0" rtlCol="0"/>
          <a:lstStyle/>
          <a:p>
            <a:endParaRPr/>
          </a:p>
        </p:txBody>
      </p:sp>
      <p:sp>
        <p:nvSpPr>
          <p:cNvPr id="14" name="object 14"/>
          <p:cNvSpPr/>
          <p:nvPr/>
        </p:nvSpPr>
        <p:spPr>
          <a:xfrm>
            <a:off x="6560697" y="4777739"/>
            <a:ext cx="928369" cy="0"/>
          </a:xfrm>
          <a:custGeom>
            <a:avLst/>
            <a:gdLst/>
            <a:ahLst/>
            <a:cxnLst/>
            <a:rect l="l" t="t" r="r" b="b"/>
            <a:pathLst>
              <a:path w="928370">
                <a:moveTo>
                  <a:pt x="0" y="0"/>
                </a:moveTo>
                <a:lnTo>
                  <a:pt x="928115" y="0"/>
                </a:lnTo>
              </a:path>
            </a:pathLst>
          </a:custGeom>
          <a:ln w="57149">
            <a:solidFill>
              <a:srgbClr val="4A7EBA"/>
            </a:solidFill>
          </a:ln>
        </p:spPr>
        <p:txBody>
          <a:bodyPr wrap="square" lIns="0" tIns="0" rIns="0" bIns="0" rtlCol="0"/>
          <a:lstStyle/>
          <a:p>
            <a:endParaRPr/>
          </a:p>
        </p:txBody>
      </p:sp>
      <p:sp>
        <p:nvSpPr>
          <p:cNvPr id="15" name="object 15"/>
          <p:cNvSpPr/>
          <p:nvPr/>
        </p:nvSpPr>
        <p:spPr>
          <a:xfrm>
            <a:off x="6560697" y="5349239"/>
            <a:ext cx="856615" cy="929640"/>
          </a:xfrm>
          <a:custGeom>
            <a:avLst/>
            <a:gdLst/>
            <a:ahLst/>
            <a:cxnLst/>
            <a:rect l="l" t="t" r="r" b="b"/>
            <a:pathLst>
              <a:path w="856615" h="929639">
                <a:moveTo>
                  <a:pt x="0" y="0"/>
                </a:moveTo>
                <a:lnTo>
                  <a:pt x="856487" y="929639"/>
                </a:lnTo>
              </a:path>
            </a:pathLst>
          </a:custGeom>
          <a:ln w="57149">
            <a:solidFill>
              <a:srgbClr val="4A7EBA"/>
            </a:solidFill>
          </a:ln>
        </p:spPr>
        <p:txBody>
          <a:bodyPr wrap="square" lIns="0" tIns="0" rIns="0" bIns="0" rtlCol="0"/>
          <a:lstStyle/>
          <a:p>
            <a:endParaRPr/>
          </a:p>
        </p:txBody>
      </p:sp>
      <p:sp>
        <p:nvSpPr>
          <p:cNvPr id="16" name="object 16"/>
          <p:cNvSpPr/>
          <p:nvPr/>
        </p:nvSpPr>
        <p:spPr>
          <a:xfrm>
            <a:off x="6560697" y="5277611"/>
            <a:ext cx="928369" cy="500380"/>
          </a:xfrm>
          <a:custGeom>
            <a:avLst/>
            <a:gdLst/>
            <a:ahLst/>
            <a:cxnLst/>
            <a:rect l="l" t="t" r="r" b="b"/>
            <a:pathLst>
              <a:path w="928370" h="500379">
                <a:moveTo>
                  <a:pt x="0" y="0"/>
                </a:moveTo>
                <a:lnTo>
                  <a:pt x="928115" y="499871"/>
                </a:lnTo>
              </a:path>
            </a:pathLst>
          </a:custGeom>
          <a:ln w="57149">
            <a:solidFill>
              <a:srgbClr val="4A7EBA"/>
            </a:solidFill>
          </a:ln>
        </p:spPr>
        <p:txBody>
          <a:bodyPr wrap="square" lIns="0" tIns="0" rIns="0" bIns="0" rtlCol="0"/>
          <a:lstStyle/>
          <a:p>
            <a:endParaRPr/>
          </a:p>
        </p:txBody>
      </p:sp>
      <p:sp>
        <p:nvSpPr>
          <p:cNvPr id="18" name="object 2" descr="$PPTXTitle"/>
          <p:cNvSpPr txBox="1">
            <a:spLocks/>
          </p:cNvSpPr>
          <p:nvPr/>
        </p:nvSpPr>
        <p:spPr>
          <a:xfrm>
            <a:off x="741680" y="6650859"/>
            <a:ext cx="8031721" cy="641201"/>
          </a:xfrm>
          <a:prstGeom prst="rect">
            <a:avLst/>
          </a:prstGeom>
        </p:spPr>
        <p:txBody>
          <a:bodyPr vert="horz" wrap="square" lIns="0" tIns="12700" rIns="0" bIns="0" rtlCol="0" anchor="t">
            <a:spAutoFit/>
          </a:bodyPr>
          <a:lstStyle>
            <a:lvl1pPr algn="l" defTabSz="503789" rtl="0" eaLnBrk="1" latinLnBrk="0" hangingPunct="1">
              <a:spcBef>
                <a:spcPct val="0"/>
              </a:spcBef>
              <a:buNone/>
              <a:defRPr sz="3967"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s-ES" sz="2000" b="1" spc="-10" dirty="0" smtClean="0"/>
              <a:t>Ejemplo: </a:t>
            </a:r>
            <a:r>
              <a:rPr lang="es-ES" sz="2000" b="1" spc="-10" dirty="0"/>
              <a:t>es posible </a:t>
            </a:r>
            <a:r>
              <a:rPr lang="es-ES" sz="2000" b="1" spc="-10" dirty="0" smtClean="0"/>
              <a:t>definir una </a:t>
            </a:r>
            <a:r>
              <a:rPr lang="es-ES" sz="2000" b="1" spc="-10" dirty="0"/>
              <a:t>relación que asocia </a:t>
            </a:r>
            <a:endParaRPr lang="es-ES" sz="2000" b="1" spc="-10" dirty="0" smtClean="0"/>
          </a:p>
          <a:p>
            <a:pPr marL="12700">
              <a:spcBef>
                <a:spcPts val="100"/>
              </a:spcBef>
            </a:pPr>
            <a:r>
              <a:rPr lang="es-ES" sz="2000" b="1" spc="-10" dirty="0" smtClean="0"/>
              <a:t>al </a:t>
            </a:r>
            <a:r>
              <a:rPr lang="es-ES" sz="2000" b="1" spc="-10" dirty="0"/>
              <a:t>cliente </a:t>
            </a:r>
            <a:r>
              <a:rPr lang="es-ES" sz="2000" b="1" spc="-10" dirty="0" smtClean="0"/>
              <a:t>(</a:t>
            </a:r>
            <a:r>
              <a:rPr lang="es-ES" sz="2000" b="1" spc="-10" dirty="0" err="1" smtClean="0"/>
              <a:t>tupla</a:t>
            </a:r>
            <a:r>
              <a:rPr lang="es-ES" sz="2000" b="1" spc="-10" dirty="0" smtClean="0"/>
              <a:t>) Oliver </a:t>
            </a:r>
            <a:r>
              <a:rPr lang="es-ES" sz="2000" b="1" spc="-10" dirty="0"/>
              <a:t>con la </a:t>
            </a:r>
            <a:r>
              <a:rPr lang="es-ES" sz="2000" b="1" spc="-10" dirty="0" err="1" smtClean="0"/>
              <a:t>tupla</a:t>
            </a:r>
            <a:r>
              <a:rPr lang="es-ES" sz="2000" b="1" spc="-10" dirty="0" smtClean="0"/>
              <a:t> de la cuenta 259 y 630.</a:t>
            </a:r>
            <a:endParaRPr lang="es-ES" sz="2000" b="1" spc="-1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37957" y="730250"/>
            <a:ext cx="2705100" cy="635000"/>
          </a:xfrm>
          <a:prstGeom prst="rect">
            <a:avLst/>
          </a:prstGeom>
        </p:spPr>
        <p:txBody>
          <a:bodyPr vert="horz" wrap="square" lIns="0" tIns="12065" rIns="0" bIns="0" rtlCol="0">
            <a:spAutoFit/>
          </a:bodyPr>
          <a:lstStyle/>
          <a:p>
            <a:pPr marL="12700">
              <a:lnSpc>
                <a:spcPct val="100000"/>
              </a:lnSpc>
              <a:spcBef>
                <a:spcPts val="95"/>
              </a:spcBef>
            </a:pPr>
            <a:r>
              <a:rPr sz="4000" b="1" spc="-10" dirty="0">
                <a:latin typeface="Arial"/>
                <a:cs typeface="Arial"/>
              </a:rPr>
              <a:t>Relaciones</a:t>
            </a:r>
            <a:endParaRPr sz="4000" dirty="0">
              <a:latin typeface="Arial"/>
              <a:cs typeface="Arial"/>
            </a:endParaRPr>
          </a:p>
        </p:txBody>
      </p:sp>
      <p:sp>
        <p:nvSpPr>
          <p:cNvPr id="3" name="object 3"/>
          <p:cNvSpPr txBox="1"/>
          <p:nvPr/>
        </p:nvSpPr>
        <p:spPr>
          <a:xfrm>
            <a:off x="698500" y="1568451"/>
            <a:ext cx="8915400" cy="4479431"/>
          </a:xfrm>
          <a:prstGeom prst="rect">
            <a:avLst/>
          </a:prstGeom>
        </p:spPr>
        <p:txBody>
          <a:bodyPr vert="horz" wrap="square" lIns="0" tIns="59690" rIns="0" bIns="0" rtlCol="0">
            <a:spAutoFit/>
          </a:bodyPr>
          <a:lstStyle/>
          <a:p>
            <a:pPr marL="354330" indent="-341630">
              <a:lnSpc>
                <a:spcPct val="100000"/>
              </a:lnSpc>
              <a:spcBef>
                <a:spcPts val="470"/>
              </a:spcBef>
              <a:buChar char="•"/>
              <a:tabLst>
                <a:tab pos="354330" algn="l"/>
              </a:tabLst>
            </a:pPr>
            <a:r>
              <a:rPr sz="3200" dirty="0" err="1">
                <a:latin typeface="Arial MT"/>
                <a:cs typeface="Arial MT"/>
              </a:rPr>
              <a:t>Relaciones</a:t>
            </a:r>
            <a:r>
              <a:rPr sz="3200" spc="-75" dirty="0">
                <a:latin typeface="Arial MT"/>
                <a:cs typeface="Arial MT"/>
              </a:rPr>
              <a:t> </a:t>
            </a:r>
            <a:r>
              <a:rPr sz="3200" b="1" spc="-10" dirty="0" err="1" smtClean="0">
                <a:latin typeface="Arial"/>
                <a:cs typeface="Arial"/>
              </a:rPr>
              <a:t>binarias</a:t>
            </a:r>
            <a:r>
              <a:rPr sz="3200" spc="-10" dirty="0" smtClean="0">
                <a:latin typeface="Arial MT"/>
                <a:cs typeface="Arial MT"/>
              </a:rPr>
              <a:t>:</a:t>
            </a:r>
            <a:r>
              <a:rPr lang="es-ES" sz="3200" spc="-10" dirty="0" smtClean="0">
                <a:latin typeface="Arial MT"/>
                <a:cs typeface="Arial MT"/>
              </a:rPr>
              <a:t> una relación que implica a dos </a:t>
            </a:r>
            <a:r>
              <a:rPr sz="3200" dirty="0" err="1" smtClean="0">
                <a:latin typeface="Arial MT"/>
                <a:cs typeface="Arial MT"/>
              </a:rPr>
              <a:t>entidades</a:t>
            </a:r>
            <a:r>
              <a:rPr lang="es-ES" sz="3200" dirty="0" smtClean="0">
                <a:latin typeface="Arial MT"/>
                <a:cs typeface="Arial MT"/>
              </a:rPr>
              <a:t>.</a:t>
            </a:r>
            <a:r>
              <a:rPr sz="3200" spc="-35" dirty="0" smtClean="0">
                <a:latin typeface="Arial MT"/>
                <a:cs typeface="Arial MT"/>
              </a:rPr>
              <a:t>  </a:t>
            </a:r>
            <a:r>
              <a:rPr sz="3200" dirty="0">
                <a:latin typeface="Arial MT"/>
                <a:cs typeface="Arial MT"/>
              </a:rPr>
              <a:t>(grado</a:t>
            </a:r>
            <a:r>
              <a:rPr sz="3200" spc="-35" dirty="0">
                <a:latin typeface="Arial MT"/>
                <a:cs typeface="Arial MT"/>
              </a:rPr>
              <a:t> </a:t>
            </a:r>
            <a:r>
              <a:rPr sz="3200" spc="-25" dirty="0">
                <a:latin typeface="Arial MT"/>
                <a:cs typeface="Arial MT"/>
              </a:rPr>
              <a:t>2)</a:t>
            </a:r>
            <a:endParaRPr sz="3200" dirty="0">
              <a:latin typeface="Arial MT"/>
              <a:cs typeface="Arial MT"/>
            </a:endParaRPr>
          </a:p>
          <a:p>
            <a:pPr>
              <a:lnSpc>
                <a:spcPct val="100000"/>
              </a:lnSpc>
              <a:spcBef>
                <a:spcPts val="1335"/>
              </a:spcBef>
            </a:pPr>
            <a:endParaRPr sz="3200" dirty="0">
              <a:latin typeface="Arial MT"/>
              <a:cs typeface="Arial MT"/>
            </a:endParaRPr>
          </a:p>
          <a:p>
            <a:pPr marL="353695" marR="140970" indent="-341630">
              <a:lnSpc>
                <a:spcPts val="3460"/>
              </a:lnSpc>
              <a:spcBef>
                <a:spcPts val="5"/>
              </a:spcBef>
              <a:buChar char="•"/>
              <a:tabLst>
                <a:tab pos="354965" algn="l"/>
              </a:tabLst>
            </a:pPr>
            <a:r>
              <a:rPr sz="3200" dirty="0">
                <a:latin typeface="Arial MT"/>
                <a:cs typeface="Arial MT"/>
              </a:rPr>
              <a:t>Las</a:t>
            </a:r>
            <a:r>
              <a:rPr sz="3200" spc="-50" dirty="0">
                <a:latin typeface="Arial MT"/>
                <a:cs typeface="Arial MT"/>
              </a:rPr>
              <a:t> </a:t>
            </a:r>
            <a:r>
              <a:rPr sz="3200" dirty="0">
                <a:latin typeface="Arial MT"/>
                <a:cs typeface="Arial MT"/>
              </a:rPr>
              <a:t>entidades</a:t>
            </a:r>
            <a:r>
              <a:rPr sz="3200" spc="-45" dirty="0">
                <a:latin typeface="Arial MT"/>
                <a:cs typeface="Arial MT"/>
              </a:rPr>
              <a:t> </a:t>
            </a:r>
            <a:r>
              <a:rPr sz="3200" dirty="0">
                <a:latin typeface="Arial MT"/>
                <a:cs typeface="Arial MT"/>
              </a:rPr>
              <a:t>asociadas</a:t>
            </a:r>
            <a:r>
              <a:rPr sz="3200" spc="-45" dirty="0">
                <a:latin typeface="Arial MT"/>
                <a:cs typeface="Arial MT"/>
              </a:rPr>
              <a:t> </a:t>
            </a:r>
            <a:r>
              <a:rPr sz="3200" dirty="0">
                <a:latin typeface="Arial MT"/>
                <a:cs typeface="Arial MT"/>
              </a:rPr>
              <a:t>con</a:t>
            </a:r>
            <a:r>
              <a:rPr sz="3200" spc="-55" dirty="0">
                <a:latin typeface="Arial MT"/>
                <a:cs typeface="Arial MT"/>
              </a:rPr>
              <a:t> </a:t>
            </a:r>
            <a:r>
              <a:rPr sz="3200" dirty="0">
                <a:latin typeface="Arial MT"/>
                <a:cs typeface="Arial MT"/>
              </a:rPr>
              <a:t>una</a:t>
            </a:r>
            <a:r>
              <a:rPr sz="3200" spc="-55" dirty="0">
                <a:latin typeface="Arial MT"/>
                <a:cs typeface="Arial MT"/>
              </a:rPr>
              <a:t> </a:t>
            </a:r>
            <a:r>
              <a:rPr sz="3200" spc="-10" dirty="0">
                <a:latin typeface="Arial MT"/>
                <a:cs typeface="Arial MT"/>
              </a:rPr>
              <a:t>relación 	</a:t>
            </a:r>
            <a:r>
              <a:rPr sz="3200" dirty="0">
                <a:latin typeface="Arial MT"/>
                <a:cs typeface="Arial MT"/>
              </a:rPr>
              <a:t>pueden</a:t>
            </a:r>
            <a:r>
              <a:rPr sz="3200" spc="-55" dirty="0">
                <a:latin typeface="Arial MT"/>
                <a:cs typeface="Arial MT"/>
              </a:rPr>
              <a:t> </a:t>
            </a:r>
            <a:r>
              <a:rPr sz="3200" b="1" dirty="0">
                <a:latin typeface="Arial"/>
                <a:cs typeface="Arial"/>
              </a:rPr>
              <a:t>no</a:t>
            </a:r>
            <a:r>
              <a:rPr sz="3200" b="1" spc="-35" dirty="0">
                <a:latin typeface="Arial"/>
                <a:cs typeface="Arial"/>
              </a:rPr>
              <a:t> </a:t>
            </a:r>
            <a:r>
              <a:rPr sz="3200" b="1" dirty="0">
                <a:latin typeface="Arial"/>
                <a:cs typeface="Arial"/>
              </a:rPr>
              <a:t>ser</a:t>
            </a:r>
            <a:r>
              <a:rPr sz="3200" b="1" spc="-45" dirty="0">
                <a:latin typeface="Arial"/>
                <a:cs typeface="Arial"/>
              </a:rPr>
              <a:t> </a:t>
            </a:r>
            <a:r>
              <a:rPr sz="3200" b="1" spc="-10" dirty="0">
                <a:latin typeface="Arial"/>
                <a:cs typeface="Arial"/>
              </a:rPr>
              <a:t>distintos</a:t>
            </a:r>
            <a:r>
              <a:rPr sz="3200" spc="-10" dirty="0">
                <a:latin typeface="Arial MT"/>
                <a:cs typeface="Arial MT"/>
              </a:rPr>
              <a:t>.</a:t>
            </a:r>
            <a:endParaRPr sz="3200" dirty="0">
              <a:latin typeface="Arial MT"/>
              <a:cs typeface="Arial MT"/>
            </a:endParaRPr>
          </a:p>
          <a:p>
            <a:pPr marL="755015" lvl="1" indent="-285750">
              <a:lnSpc>
                <a:spcPct val="100000"/>
              </a:lnSpc>
              <a:spcBef>
                <a:spcPts val="545"/>
              </a:spcBef>
              <a:buChar char="–"/>
              <a:tabLst>
                <a:tab pos="755015" algn="l"/>
              </a:tabLst>
            </a:pPr>
            <a:r>
              <a:rPr sz="2800" dirty="0">
                <a:latin typeface="Arial MT"/>
                <a:cs typeface="Arial MT"/>
              </a:rPr>
              <a:t>Ejemplo:</a:t>
            </a:r>
            <a:r>
              <a:rPr sz="2800" spc="-10" dirty="0">
                <a:latin typeface="Arial MT"/>
                <a:cs typeface="Arial MT"/>
              </a:rPr>
              <a:t>  </a:t>
            </a:r>
            <a:r>
              <a:rPr sz="2800" b="1" i="1" spc="-20" dirty="0">
                <a:latin typeface="Arial"/>
                <a:cs typeface="Arial"/>
              </a:rPr>
              <a:t>trabaja-para</a:t>
            </a:r>
            <a:endParaRPr sz="2800" dirty="0">
              <a:latin typeface="Arial"/>
              <a:cs typeface="Arial"/>
            </a:endParaRPr>
          </a:p>
          <a:p>
            <a:pPr marL="1154430" marR="236220" lvl="2" indent="-227329">
              <a:lnSpc>
                <a:spcPct val="100000"/>
              </a:lnSpc>
              <a:spcBef>
                <a:spcPts val="685"/>
              </a:spcBef>
              <a:buChar char="•"/>
              <a:tabLst>
                <a:tab pos="1155700" algn="l"/>
              </a:tabLst>
            </a:pPr>
            <a:r>
              <a:rPr sz="2800" dirty="0">
                <a:latin typeface="Arial MT"/>
                <a:cs typeface="Arial MT"/>
              </a:rPr>
              <a:t>podría</a:t>
            </a:r>
            <a:r>
              <a:rPr sz="2800" spc="-80" dirty="0">
                <a:latin typeface="Arial MT"/>
                <a:cs typeface="Arial MT"/>
              </a:rPr>
              <a:t> </a:t>
            </a:r>
            <a:r>
              <a:rPr sz="2800" dirty="0">
                <a:latin typeface="Arial MT"/>
                <a:cs typeface="Arial MT"/>
              </a:rPr>
              <a:t>modelarse</a:t>
            </a:r>
            <a:r>
              <a:rPr sz="2800" spc="-80" dirty="0">
                <a:latin typeface="Arial MT"/>
                <a:cs typeface="Arial MT"/>
              </a:rPr>
              <a:t> </a:t>
            </a:r>
            <a:r>
              <a:rPr sz="2800" dirty="0">
                <a:latin typeface="Arial MT"/>
                <a:cs typeface="Arial MT"/>
              </a:rPr>
              <a:t>por</a:t>
            </a:r>
            <a:r>
              <a:rPr sz="2800" spc="-80" dirty="0">
                <a:latin typeface="Arial MT"/>
                <a:cs typeface="Arial MT"/>
              </a:rPr>
              <a:t> </a:t>
            </a:r>
            <a:r>
              <a:rPr sz="2800" dirty="0">
                <a:latin typeface="Arial MT"/>
                <a:cs typeface="Arial MT"/>
              </a:rPr>
              <a:t>pares</a:t>
            </a:r>
            <a:r>
              <a:rPr sz="2800" spc="-70" dirty="0">
                <a:latin typeface="Arial MT"/>
                <a:cs typeface="Arial MT"/>
              </a:rPr>
              <a:t> </a:t>
            </a:r>
            <a:r>
              <a:rPr sz="2800" dirty="0">
                <a:latin typeface="Arial MT"/>
                <a:cs typeface="Arial MT"/>
              </a:rPr>
              <a:t>ordenados</a:t>
            </a:r>
            <a:r>
              <a:rPr sz="2800" spc="-80" dirty="0">
                <a:latin typeface="Arial MT"/>
                <a:cs typeface="Arial MT"/>
              </a:rPr>
              <a:t> </a:t>
            </a:r>
            <a:r>
              <a:rPr sz="2800" spc="-25" dirty="0">
                <a:latin typeface="Arial MT"/>
                <a:cs typeface="Arial MT"/>
              </a:rPr>
              <a:t>de 	</a:t>
            </a:r>
            <a:r>
              <a:rPr sz="2800" dirty="0" err="1">
                <a:latin typeface="Arial MT"/>
                <a:cs typeface="Arial MT"/>
              </a:rPr>
              <a:t>entidades</a:t>
            </a:r>
            <a:r>
              <a:rPr sz="2800" spc="-100" dirty="0">
                <a:latin typeface="Arial MT"/>
                <a:cs typeface="Arial MT"/>
              </a:rPr>
              <a:t> </a:t>
            </a:r>
            <a:r>
              <a:rPr sz="2800" spc="-10" dirty="0" err="1" smtClean="0">
                <a:latin typeface="Arial MT"/>
                <a:cs typeface="Arial MT"/>
              </a:rPr>
              <a:t>Empleado,</a:t>
            </a:r>
            <a:r>
              <a:rPr sz="2800" dirty="0" err="1" smtClean="0">
                <a:latin typeface="Arial MT"/>
                <a:cs typeface="Arial MT"/>
              </a:rPr>
              <a:t>donde</a:t>
            </a:r>
            <a:r>
              <a:rPr sz="2800" spc="-45" dirty="0" smtClean="0">
                <a:latin typeface="Arial MT"/>
                <a:cs typeface="Arial MT"/>
              </a:rPr>
              <a:t> </a:t>
            </a:r>
            <a:r>
              <a:rPr sz="2800" dirty="0">
                <a:latin typeface="Arial MT"/>
                <a:cs typeface="Arial MT"/>
              </a:rPr>
              <a:t>el</a:t>
            </a:r>
            <a:r>
              <a:rPr sz="2800" spc="-45" dirty="0">
                <a:latin typeface="Arial MT"/>
                <a:cs typeface="Arial MT"/>
              </a:rPr>
              <a:t> </a:t>
            </a:r>
            <a:r>
              <a:rPr sz="2800" dirty="0">
                <a:latin typeface="Arial MT"/>
                <a:cs typeface="Arial MT"/>
              </a:rPr>
              <a:t>primero</a:t>
            </a:r>
            <a:r>
              <a:rPr sz="2800" spc="-40" dirty="0">
                <a:latin typeface="Arial MT"/>
                <a:cs typeface="Arial MT"/>
              </a:rPr>
              <a:t> </a:t>
            </a:r>
            <a:r>
              <a:rPr sz="2800" dirty="0">
                <a:latin typeface="Arial MT"/>
                <a:cs typeface="Arial MT"/>
              </a:rPr>
              <a:t>es</a:t>
            </a:r>
            <a:r>
              <a:rPr sz="2800" spc="-40" dirty="0">
                <a:latin typeface="Arial MT"/>
                <a:cs typeface="Arial MT"/>
              </a:rPr>
              <a:t> </a:t>
            </a:r>
            <a:r>
              <a:rPr sz="2800" dirty="0">
                <a:latin typeface="Arial MT"/>
                <a:cs typeface="Arial MT"/>
              </a:rPr>
              <a:t>el</a:t>
            </a:r>
            <a:r>
              <a:rPr sz="2800" spc="-45" dirty="0">
                <a:latin typeface="Arial MT"/>
                <a:cs typeface="Arial MT"/>
              </a:rPr>
              <a:t> </a:t>
            </a:r>
            <a:r>
              <a:rPr sz="2800" dirty="0">
                <a:latin typeface="Arial MT"/>
                <a:cs typeface="Arial MT"/>
              </a:rPr>
              <a:t>jefe,</a:t>
            </a:r>
            <a:r>
              <a:rPr sz="2800" spc="-70" dirty="0">
                <a:latin typeface="Arial MT"/>
                <a:cs typeface="Arial MT"/>
              </a:rPr>
              <a:t> </a:t>
            </a:r>
            <a:r>
              <a:rPr sz="2800" dirty="0">
                <a:latin typeface="Arial MT"/>
                <a:cs typeface="Arial MT"/>
              </a:rPr>
              <a:t>y</a:t>
            </a:r>
            <a:r>
              <a:rPr sz="2800" spc="-40" dirty="0">
                <a:latin typeface="Arial MT"/>
                <a:cs typeface="Arial MT"/>
              </a:rPr>
              <a:t> </a:t>
            </a:r>
            <a:r>
              <a:rPr sz="2800" dirty="0">
                <a:latin typeface="Arial MT"/>
                <a:cs typeface="Arial MT"/>
              </a:rPr>
              <a:t>el</a:t>
            </a:r>
            <a:r>
              <a:rPr sz="2800" spc="-45" dirty="0">
                <a:latin typeface="Arial MT"/>
                <a:cs typeface="Arial MT"/>
              </a:rPr>
              <a:t> </a:t>
            </a:r>
            <a:r>
              <a:rPr sz="2800" dirty="0">
                <a:latin typeface="Arial MT"/>
                <a:cs typeface="Arial MT"/>
              </a:rPr>
              <a:t>segundo</a:t>
            </a:r>
            <a:r>
              <a:rPr sz="2800" spc="-40" dirty="0">
                <a:latin typeface="Arial MT"/>
                <a:cs typeface="Arial MT"/>
              </a:rPr>
              <a:t> </a:t>
            </a:r>
            <a:r>
              <a:rPr sz="2800" spc="-25" dirty="0" err="1">
                <a:latin typeface="Arial MT"/>
                <a:cs typeface="Arial MT"/>
              </a:rPr>
              <a:t>es</a:t>
            </a:r>
            <a:r>
              <a:rPr sz="2800" spc="-25" dirty="0">
                <a:latin typeface="Arial MT"/>
                <a:cs typeface="Arial MT"/>
              </a:rPr>
              <a:t> </a:t>
            </a:r>
            <a:r>
              <a:rPr sz="2800" dirty="0" smtClean="0">
                <a:latin typeface="Arial MT"/>
                <a:cs typeface="Arial MT"/>
              </a:rPr>
              <a:t>el</a:t>
            </a:r>
            <a:r>
              <a:rPr sz="2800" spc="-25" dirty="0" smtClean="0">
                <a:latin typeface="Arial MT"/>
                <a:cs typeface="Arial MT"/>
              </a:rPr>
              <a:t> </a:t>
            </a:r>
            <a:r>
              <a:rPr sz="2800" spc="-10" dirty="0">
                <a:latin typeface="Arial MT"/>
                <a:cs typeface="Arial MT"/>
              </a:rPr>
              <a:t>subordinado.</a:t>
            </a:r>
            <a:endParaRPr sz="2800" dirty="0">
              <a:latin typeface="Arial MT"/>
              <a:cs typeface="Arial M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1917700" y="1111250"/>
            <a:ext cx="7810735" cy="5139531"/>
          </a:xfrm>
          <a:prstGeom prst="rect">
            <a:avLst/>
          </a:prstGeom>
        </p:spPr>
      </p:pic>
    </p:spTree>
    <p:extLst>
      <p:ext uri="{BB962C8B-B14F-4D97-AF65-F5344CB8AC3E}">
        <p14:creationId xmlns:p14="http://schemas.microsoft.com/office/powerpoint/2010/main" val="2390854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82700" y="533018"/>
            <a:ext cx="7705702" cy="1411351"/>
          </a:xfrm>
          <a:prstGeom prst="rect">
            <a:avLst/>
          </a:prstGeom>
        </p:spPr>
        <p:txBody>
          <a:bodyPr vert="horz" wrap="square" lIns="0" tIns="316865" rIns="0" bIns="0" rtlCol="0">
            <a:spAutoFit/>
          </a:bodyPr>
          <a:lstStyle/>
          <a:p>
            <a:pPr marL="2694305">
              <a:lnSpc>
                <a:spcPct val="100000"/>
              </a:lnSpc>
              <a:spcBef>
                <a:spcPts val="95"/>
              </a:spcBef>
            </a:pPr>
            <a:r>
              <a:rPr sz="4000" b="1" spc="-10" dirty="0">
                <a:latin typeface="Arial"/>
                <a:cs typeface="Arial"/>
              </a:rPr>
              <a:t>Relaciones</a:t>
            </a:r>
            <a:endParaRPr sz="4000" dirty="0">
              <a:latin typeface="Arial"/>
              <a:cs typeface="Arial"/>
            </a:endParaRPr>
          </a:p>
        </p:txBody>
      </p:sp>
      <p:sp>
        <p:nvSpPr>
          <p:cNvPr id="3" name="object 3"/>
          <p:cNvSpPr txBox="1"/>
          <p:nvPr/>
        </p:nvSpPr>
        <p:spPr>
          <a:xfrm>
            <a:off x="546100" y="1644651"/>
            <a:ext cx="10147300" cy="4366580"/>
          </a:xfrm>
          <a:prstGeom prst="rect">
            <a:avLst/>
          </a:prstGeom>
        </p:spPr>
        <p:txBody>
          <a:bodyPr vert="horz" wrap="square" lIns="0" tIns="69850" rIns="0" bIns="0" rtlCol="0">
            <a:spAutoFit/>
          </a:bodyPr>
          <a:lstStyle/>
          <a:p>
            <a:pPr marL="355600" marR="1514475" indent="-343535">
              <a:lnSpc>
                <a:spcPts val="3440"/>
              </a:lnSpc>
              <a:spcBef>
                <a:spcPts val="550"/>
              </a:spcBef>
            </a:pPr>
            <a:r>
              <a:rPr lang="es-ES" sz="3200" dirty="0" smtClean="0">
                <a:latin typeface="Arial MT"/>
                <a:cs typeface="Arial MT"/>
              </a:rPr>
              <a:t> 		</a:t>
            </a:r>
            <a:r>
              <a:rPr sz="3200" dirty="0" err="1" smtClean="0">
                <a:latin typeface="Arial MT"/>
                <a:cs typeface="Arial MT"/>
              </a:rPr>
              <a:t>Una</a:t>
            </a:r>
            <a:r>
              <a:rPr sz="3200" spc="-50" dirty="0" smtClean="0">
                <a:latin typeface="Arial MT"/>
                <a:cs typeface="Arial MT"/>
              </a:rPr>
              <a:t> </a:t>
            </a:r>
            <a:r>
              <a:rPr sz="3200" dirty="0">
                <a:latin typeface="Arial MT"/>
                <a:cs typeface="Arial MT"/>
              </a:rPr>
              <a:t>relación</a:t>
            </a:r>
            <a:r>
              <a:rPr sz="3200" spc="-50" dirty="0">
                <a:latin typeface="Arial MT"/>
                <a:cs typeface="Arial MT"/>
              </a:rPr>
              <a:t> </a:t>
            </a:r>
            <a:r>
              <a:rPr sz="3200" dirty="0">
                <a:latin typeface="Arial MT"/>
                <a:cs typeface="Arial MT"/>
              </a:rPr>
              <a:t>puede</a:t>
            </a:r>
            <a:r>
              <a:rPr sz="3200" spc="-50" dirty="0">
                <a:latin typeface="Arial MT"/>
                <a:cs typeface="Arial MT"/>
              </a:rPr>
              <a:t> </a:t>
            </a:r>
            <a:r>
              <a:rPr sz="3200" dirty="0" err="1">
                <a:latin typeface="Arial MT"/>
                <a:cs typeface="Arial MT"/>
              </a:rPr>
              <a:t>tener</a:t>
            </a:r>
            <a:r>
              <a:rPr sz="3200" spc="-55" dirty="0">
                <a:latin typeface="Arial MT"/>
                <a:cs typeface="Arial MT"/>
              </a:rPr>
              <a:t> </a:t>
            </a:r>
            <a:r>
              <a:rPr sz="2400" b="1" spc="-10" dirty="0" err="1" smtClean="0">
                <a:solidFill>
                  <a:srgbClr val="001F5F"/>
                </a:solidFill>
                <a:latin typeface="Arial"/>
                <a:cs typeface="Arial"/>
              </a:rPr>
              <a:t>atributos</a:t>
            </a:r>
            <a:r>
              <a:rPr lang="es-ES" sz="2400" b="1" spc="-10" dirty="0" smtClean="0">
                <a:solidFill>
                  <a:srgbClr val="001F5F"/>
                </a:solidFill>
                <a:latin typeface="Arial"/>
                <a:cs typeface="Arial"/>
              </a:rPr>
              <a:t> </a:t>
            </a:r>
            <a:r>
              <a:rPr sz="2400" b="1" spc="-10" dirty="0" err="1" smtClean="0">
                <a:solidFill>
                  <a:srgbClr val="001F5F"/>
                </a:solidFill>
                <a:latin typeface="Arial"/>
                <a:cs typeface="Arial"/>
              </a:rPr>
              <a:t>descriptivos</a:t>
            </a:r>
            <a:r>
              <a:rPr lang="es-ES" sz="2400" b="1" spc="-10" dirty="0" smtClean="0">
                <a:solidFill>
                  <a:srgbClr val="001F5F"/>
                </a:solidFill>
                <a:latin typeface="Arial"/>
                <a:cs typeface="Arial"/>
              </a:rPr>
              <a:t>.</a:t>
            </a:r>
            <a:endParaRPr sz="2400" dirty="0">
              <a:latin typeface="Arial"/>
              <a:cs typeface="Arial"/>
            </a:endParaRPr>
          </a:p>
          <a:p>
            <a:pPr>
              <a:lnSpc>
                <a:spcPct val="100000"/>
              </a:lnSpc>
              <a:spcBef>
                <a:spcPts val="830"/>
              </a:spcBef>
            </a:pPr>
            <a:endParaRPr sz="3200" dirty="0">
              <a:latin typeface="Arial"/>
              <a:cs typeface="Arial"/>
            </a:endParaRPr>
          </a:p>
          <a:p>
            <a:pPr marL="755015" indent="-285750">
              <a:lnSpc>
                <a:spcPct val="100000"/>
              </a:lnSpc>
              <a:buChar char="–"/>
              <a:tabLst>
                <a:tab pos="755015" algn="l"/>
              </a:tabLst>
            </a:pPr>
            <a:r>
              <a:rPr sz="2800" spc="-10" dirty="0">
                <a:latin typeface="Arial MT"/>
                <a:cs typeface="Arial MT"/>
              </a:rPr>
              <a:t>Ejemplos:</a:t>
            </a:r>
            <a:endParaRPr sz="2800" dirty="0">
              <a:latin typeface="Arial MT"/>
              <a:cs typeface="Arial MT"/>
            </a:endParaRPr>
          </a:p>
          <a:p>
            <a:pPr>
              <a:lnSpc>
                <a:spcPct val="100000"/>
              </a:lnSpc>
              <a:spcBef>
                <a:spcPts val="810"/>
              </a:spcBef>
              <a:buFont typeface="Arial MT"/>
              <a:buChar char="–"/>
            </a:pPr>
            <a:endParaRPr sz="2800" dirty="0">
              <a:latin typeface="Arial MT"/>
              <a:cs typeface="Arial MT"/>
            </a:endParaRPr>
          </a:p>
          <a:p>
            <a:pPr marL="1153795" lvl="1" indent="-227329">
              <a:lnSpc>
                <a:spcPct val="100000"/>
              </a:lnSpc>
              <a:buFont typeface="Arial MT"/>
              <a:buChar char="•"/>
              <a:tabLst>
                <a:tab pos="1153795" algn="l"/>
              </a:tabLst>
            </a:pPr>
            <a:r>
              <a:rPr sz="2800" b="1" i="1" spc="-10" dirty="0">
                <a:latin typeface="Arial"/>
                <a:cs typeface="Arial"/>
              </a:rPr>
              <a:t>fecha_préstamo</a:t>
            </a:r>
            <a:r>
              <a:rPr sz="2800" b="1" i="1" spc="-45" dirty="0">
                <a:latin typeface="Arial"/>
                <a:cs typeface="Arial"/>
              </a:rPr>
              <a:t> </a:t>
            </a:r>
            <a:r>
              <a:rPr sz="2800" dirty="0">
                <a:latin typeface="Arial MT"/>
                <a:cs typeface="Arial MT"/>
              </a:rPr>
              <a:t>de</a:t>
            </a:r>
            <a:r>
              <a:rPr sz="2800" spc="-30" dirty="0">
                <a:latin typeface="Arial MT"/>
                <a:cs typeface="Arial MT"/>
              </a:rPr>
              <a:t> </a:t>
            </a:r>
            <a:r>
              <a:rPr sz="2800" dirty="0">
                <a:latin typeface="Arial MT"/>
                <a:cs typeface="Arial MT"/>
              </a:rPr>
              <a:t>un</a:t>
            </a:r>
            <a:r>
              <a:rPr sz="2800" spc="-25" dirty="0">
                <a:latin typeface="Arial MT"/>
                <a:cs typeface="Arial MT"/>
              </a:rPr>
              <a:t> </a:t>
            </a:r>
            <a:r>
              <a:rPr sz="2800" dirty="0">
                <a:latin typeface="Arial MT"/>
                <a:cs typeface="Arial MT"/>
              </a:rPr>
              <a:t>libro</a:t>
            </a:r>
            <a:r>
              <a:rPr sz="2800" spc="-30" dirty="0">
                <a:latin typeface="Arial MT"/>
                <a:cs typeface="Arial MT"/>
              </a:rPr>
              <a:t> </a:t>
            </a:r>
            <a:r>
              <a:rPr sz="2800" dirty="0">
                <a:latin typeface="Arial MT"/>
                <a:cs typeface="Arial MT"/>
              </a:rPr>
              <a:t>a</a:t>
            </a:r>
            <a:r>
              <a:rPr sz="2800" spc="-25" dirty="0">
                <a:latin typeface="Arial MT"/>
                <a:cs typeface="Arial MT"/>
              </a:rPr>
              <a:t> </a:t>
            </a:r>
            <a:r>
              <a:rPr sz="2800" dirty="0">
                <a:latin typeface="Arial MT"/>
                <a:cs typeface="Arial MT"/>
              </a:rPr>
              <a:t>un</a:t>
            </a:r>
            <a:r>
              <a:rPr sz="2800" spc="-30" dirty="0">
                <a:latin typeface="Arial MT"/>
                <a:cs typeface="Arial MT"/>
              </a:rPr>
              <a:t> </a:t>
            </a:r>
            <a:r>
              <a:rPr sz="2800" spc="-10" dirty="0" smtClean="0">
                <a:latin typeface="Arial MT"/>
                <a:cs typeface="Arial MT"/>
              </a:rPr>
              <a:t>lector</a:t>
            </a:r>
            <a:r>
              <a:rPr lang="es-ES" sz="2800" spc="-10" dirty="0" smtClean="0">
                <a:latin typeface="Arial MT"/>
                <a:cs typeface="Arial MT"/>
              </a:rPr>
              <a:t>.</a:t>
            </a:r>
            <a:endParaRPr sz="2800" dirty="0">
              <a:latin typeface="Arial MT"/>
              <a:cs typeface="Arial MT"/>
            </a:endParaRPr>
          </a:p>
          <a:p>
            <a:pPr lvl="1">
              <a:lnSpc>
                <a:spcPct val="100000"/>
              </a:lnSpc>
              <a:spcBef>
                <a:spcPts val="1095"/>
              </a:spcBef>
              <a:buFont typeface="Arial MT"/>
              <a:buChar char="•"/>
            </a:pPr>
            <a:endParaRPr sz="2800" dirty="0">
              <a:latin typeface="Arial MT"/>
              <a:cs typeface="Arial MT"/>
            </a:endParaRPr>
          </a:p>
          <a:p>
            <a:pPr marL="1153795" marR="5080" lvl="1" indent="-227329">
              <a:lnSpc>
                <a:spcPct val="100200"/>
              </a:lnSpc>
              <a:buFont typeface="Arial MT"/>
              <a:buChar char="•"/>
              <a:tabLst>
                <a:tab pos="1155065" algn="l"/>
              </a:tabLst>
            </a:pPr>
            <a:r>
              <a:rPr sz="2800" b="1" i="1" dirty="0">
                <a:latin typeface="Arial"/>
                <a:cs typeface="Arial"/>
              </a:rPr>
              <a:t>fecha</a:t>
            </a:r>
            <a:r>
              <a:rPr sz="2800" b="1" i="1" spc="-55" dirty="0">
                <a:latin typeface="Arial"/>
                <a:cs typeface="Arial"/>
              </a:rPr>
              <a:t> </a:t>
            </a:r>
            <a:r>
              <a:rPr sz="2800" dirty="0">
                <a:latin typeface="Arial MT"/>
                <a:cs typeface="Arial MT"/>
              </a:rPr>
              <a:t>en</a:t>
            </a:r>
            <a:r>
              <a:rPr sz="2800" spc="-40" dirty="0">
                <a:latin typeface="Arial MT"/>
                <a:cs typeface="Arial MT"/>
              </a:rPr>
              <a:t> </a:t>
            </a:r>
            <a:r>
              <a:rPr sz="2800" dirty="0">
                <a:latin typeface="Arial MT"/>
                <a:cs typeface="Arial MT"/>
              </a:rPr>
              <a:t>CtaCli,</a:t>
            </a:r>
            <a:r>
              <a:rPr sz="2800" spc="670" dirty="0">
                <a:latin typeface="Arial MT"/>
                <a:cs typeface="Arial MT"/>
              </a:rPr>
              <a:t> </a:t>
            </a:r>
            <a:r>
              <a:rPr sz="2800" dirty="0">
                <a:latin typeface="Arial MT"/>
                <a:cs typeface="Arial MT"/>
              </a:rPr>
              <a:t>especifica</a:t>
            </a:r>
            <a:r>
              <a:rPr sz="2800" spc="-65" dirty="0">
                <a:latin typeface="Arial MT"/>
                <a:cs typeface="Arial MT"/>
              </a:rPr>
              <a:t> </a:t>
            </a:r>
            <a:r>
              <a:rPr sz="2800" dirty="0">
                <a:latin typeface="Arial MT"/>
                <a:cs typeface="Arial MT"/>
              </a:rPr>
              <a:t>la</a:t>
            </a:r>
            <a:r>
              <a:rPr sz="2800" spc="-50" dirty="0">
                <a:latin typeface="Arial MT"/>
                <a:cs typeface="Arial MT"/>
              </a:rPr>
              <a:t> </a:t>
            </a:r>
            <a:r>
              <a:rPr sz="2800" dirty="0" err="1">
                <a:latin typeface="Arial MT"/>
                <a:cs typeface="Arial MT"/>
              </a:rPr>
              <a:t>última</a:t>
            </a:r>
            <a:r>
              <a:rPr sz="2800" spc="-50" dirty="0">
                <a:latin typeface="Arial MT"/>
                <a:cs typeface="Arial MT"/>
              </a:rPr>
              <a:t> </a:t>
            </a:r>
            <a:r>
              <a:rPr sz="2800" spc="-10" dirty="0" err="1" smtClean="0">
                <a:latin typeface="Arial MT"/>
                <a:cs typeface="Arial MT"/>
              </a:rPr>
              <a:t>fecha</a:t>
            </a:r>
            <a:r>
              <a:rPr lang="es-ES" sz="2800" spc="-10" dirty="0" smtClean="0">
                <a:latin typeface="Arial MT"/>
                <a:cs typeface="Arial MT"/>
              </a:rPr>
              <a:t> </a:t>
            </a:r>
            <a:r>
              <a:rPr sz="2800" dirty="0" err="1" smtClean="0">
                <a:latin typeface="Arial MT"/>
                <a:cs typeface="Arial MT"/>
              </a:rPr>
              <a:t>en</a:t>
            </a:r>
            <a:r>
              <a:rPr sz="2800" spc="-40" dirty="0" smtClean="0">
                <a:latin typeface="Arial MT"/>
                <a:cs typeface="Arial MT"/>
              </a:rPr>
              <a:t> </a:t>
            </a:r>
            <a:r>
              <a:rPr sz="2800" dirty="0">
                <a:latin typeface="Arial MT"/>
                <a:cs typeface="Arial MT"/>
              </a:rPr>
              <a:t>la</a:t>
            </a:r>
            <a:r>
              <a:rPr sz="2800" spc="-40" dirty="0">
                <a:latin typeface="Arial MT"/>
                <a:cs typeface="Arial MT"/>
              </a:rPr>
              <a:t> </a:t>
            </a:r>
            <a:r>
              <a:rPr sz="2800" dirty="0">
                <a:latin typeface="Arial MT"/>
                <a:cs typeface="Arial MT"/>
              </a:rPr>
              <a:t>que</a:t>
            </a:r>
            <a:r>
              <a:rPr sz="2800" spc="-40" dirty="0">
                <a:latin typeface="Arial MT"/>
                <a:cs typeface="Arial MT"/>
              </a:rPr>
              <a:t> </a:t>
            </a:r>
            <a:r>
              <a:rPr sz="2800" dirty="0">
                <a:latin typeface="Arial MT"/>
                <a:cs typeface="Arial MT"/>
              </a:rPr>
              <a:t>un</a:t>
            </a:r>
            <a:r>
              <a:rPr sz="2800" spc="-40" dirty="0">
                <a:latin typeface="Arial MT"/>
                <a:cs typeface="Arial MT"/>
              </a:rPr>
              <a:t> </a:t>
            </a:r>
            <a:r>
              <a:rPr sz="2800" dirty="0">
                <a:latin typeface="Arial MT"/>
                <a:cs typeface="Arial MT"/>
              </a:rPr>
              <a:t>cliente</a:t>
            </a:r>
            <a:r>
              <a:rPr sz="2800" spc="-40" dirty="0">
                <a:latin typeface="Arial MT"/>
                <a:cs typeface="Arial MT"/>
              </a:rPr>
              <a:t> </a:t>
            </a:r>
            <a:r>
              <a:rPr sz="2800" dirty="0">
                <a:latin typeface="Arial MT"/>
                <a:cs typeface="Arial MT"/>
              </a:rPr>
              <a:t>tuvo</a:t>
            </a:r>
            <a:r>
              <a:rPr sz="2800" spc="-40" dirty="0">
                <a:latin typeface="Arial MT"/>
                <a:cs typeface="Arial MT"/>
              </a:rPr>
              <a:t> </a:t>
            </a:r>
            <a:r>
              <a:rPr sz="2800" dirty="0">
                <a:latin typeface="Arial MT"/>
                <a:cs typeface="Arial MT"/>
              </a:rPr>
              <a:t>acceso</a:t>
            </a:r>
            <a:r>
              <a:rPr sz="2800" spc="-40" dirty="0">
                <a:latin typeface="Arial MT"/>
                <a:cs typeface="Arial MT"/>
              </a:rPr>
              <a:t> </a:t>
            </a:r>
            <a:r>
              <a:rPr sz="2800" dirty="0">
                <a:latin typeface="Arial MT"/>
                <a:cs typeface="Arial MT"/>
              </a:rPr>
              <a:t>a</a:t>
            </a:r>
            <a:r>
              <a:rPr sz="2800" spc="-35" dirty="0">
                <a:latin typeface="Arial MT"/>
                <a:cs typeface="Arial MT"/>
              </a:rPr>
              <a:t> </a:t>
            </a:r>
            <a:r>
              <a:rPr sz="2800" spc="-25" dirty="0" err="1" smtClean="0">
                <a:latin typeface="Arial MT"/>
                <a:cs typeface="Arial MT"/>
              </a:rPr>
              <a:t>su</a:t>
            </a:r>
            <a:r>
              <a:rPr lang="es-ES" sz="2800" spc="-25" dirty="0" smtClean="0">
                <a:latin typeface="Arial MT"/>
                <a:cs typeface="Arial MT"/>
              </a:rPr>
              <a:t> </a:t>
            </a:r>
            <a:r>
              <a:rPr sz="2800" spc="-10" dirty="0" err="1" smtClean="0">
                <a:latin typeface="Arial MT"/>
                <a:cs typeface="Arial MT"/>
              </a:rPr>
              <a:t>cuenta</a:t>
            </a:r>
            <a:r>
              <a:rPr sz="2800" spc="-10" dirty="0">
                <a:latin typeface="Arial MT"/>
                <a:cs typeface="Arial MT"/>
              </a:rPr>
              <a:t>.</a:t>
            </a:r>
            <a:endParaRPr sz="2800" dirty="0">
              <a:latin typeface="Arial MT"/>
              <a:cs typeface="Arial M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84300" y="577850"/>
            <a:ext cx="5071745" cy="635000"/>
          </a:xfrm>
          <a:prstGeom prst="rect">
            <a:avLst/>
          </a:prstGeom>
        </p:spPr>
        <p:txBody>
          <a:bodyPr vert="horz" wrap="square" lIns="0" tIns="12065" rIns="0" bIns="0" rtlCol="0">
            <a:spAutoFit/>
          </a:bodyPr>
          <a:lstStyle/>
          <a:p>
            <a:pPr marL="12700">
              <a:lnSpc>
                <a:spcPct val="100000"/>
              </a:lnSpc>
              <a:spcBef>
                <a:spcPts val="95"/>
              </a:spcBef>
            </a:pPr>
            <a:r>
              <a:rPr sz="4000" b="1" dirty="0">
                <a:latin typeface="Arial"/>
                <a:cs typeface="Arial"/>
              </a:rPr>
              <a:t>¿Atributo</a:t>
            </a:r>
            <a:r>
              <a:rPr sz="4000" b="1" spc="-60" dirty="0">
                <a:latin typeface="Arial"/>
                <a:cs typeface="Arial"/>
              </a:rPr>
              <a:t> </a:t>
            </a:r>
            <a:r>
              <a:rPr sz="4000" b="1" dirty="0">
                <a:latin typeface="Arial"/>
                <a:cs typeface="Arial"/>
              </a:rPr>
              <a:t>o</a:t>
            </a:r>
            <a:r>
              <a:rPr sz="4000" b="1" spc="-60" dirty="0">
                <a:latin typeface="Arial"/>
                <a:cs typeface="Arial"/>
              </a:rPr>
              <a:t> </a:t>
            </a:r>
            <a:r>
              <a:rPr sz="4000" b="1" spc="-10" dirty="0">
                <a:latin typeface="Arial"/>
                <a:cs typeface="Arial"/>
              </a:rPr>
              <a:t>Entidad?</a:t>
            </a:r>
            <a:endParaRPr sz="4000" dirty="0">
              <a:latin typeface="Arial"/>
              <a:cs typeface="Arial"/>
            </a:endParaRPr>
          </a:p>
        </p:txBody>
      </p:sp>
      <p:sp>
        <p:nvSpPr>
          <p:cNvPr id="3" name="object 3"/>
          <p:cNvSpPr txBox="1"/>
          <p:nvPr/>
        </p:nvSpPr>
        <p:spPr>
          <a:xfrm>
            <a:off x="1003300" y="1416050"/>
            <a:ext cx="9067800" cy="5484194"/>
          </a:xfrm>
          <a:prstGeom prst="rect">
            <a:avLst/>
          </a:prstGeom>
        </p:spPr>
        <p:txBody>
          <a:bodyPr vert="horz" wrap="square" lIns="0" tIns="53975" rIns="0" bIns="0" rtlCol="0">
            <a:spAutoFit/>
          </a:bodyPr>
          <a:lstStyle/>
          <a:p>
            <a:pPr marL="355600" marR="618490" indent="-342900">
              <a:lnSpc>
                <a:spcPts val="2590"/>
              </a:lnSpc>
              <a:spcBef>
                <a:spcPts val="425"/>
              </a:spcBef>
              <a:buChar char="•"/>
              <a:tabLst>
                <a:tab pos="355600" algn="l"/>
              </a:tabLst>
            </a:pPr>
            <a:r>
              <a:rPr sz="2400" dirty="0">
                <a:latin typeface="Arial MT"/>
                <a:cs typeface="Arial MT"/>
              </a:rPr>
              <a:t>Se</a:t>
            </a:r>
            <a:r>
              <a:rPr sz="2400" spc="-60" dirty="0">
                <a:latin typeface="Arial MT"/>
                <a:cs typeface="Arial MT"/>
              </a:rPr>
              <a:t> </a:t>
            </a:r>
            <a:r>
              <a:rPr sz="2400" dirty="0">
                <a:latin typeface="Arial MT"/>
                <a:cs typeface="Arial MT"/>
              </a:rPr>
              <a:t>pueden</a:t>
            </a:r>
            <a:r>
              <a:rPr sz="2400" spc="-50" dirty="0">
                <a:latin typeface="Arial MT"/>
                <a:cs typeface="Arial MT"/>
              </a:rPr>
              <a:t> </a:t>
            </a:r>
            <a:r>
              <a:rPr sz="2400" dirty="0">
                <a:latin typeface="Arial MT"/>
                <a:cs typeface="Arial MT"/>
              </a:rPr>
              <a:t>definir</a:t>
            </a:r>
            <a:r>
              <a:rPr sz="2400" spc="-50" dirty="0">
                <a:latin typeface="Arial MT"/>
                <a:cs typeface="Arial MT"/>
              </a:rPr>
              <a:t> </a:t>
            </a:r>
            <a:r>
              <a:rPr sz="2400" dirty="0">
                <a:latin typeface="Arial MT"/>
                <a:cs typeface="Arial MT"/>
              </a:rPr>
              <a:t>entidades</a:t>
            </a:r>
            <a:r>
              <a:rPr sz="2400" spc="-60" dirty="0">
                <a:latin typeface="Arial MT"/>
                <a:cs typeface="Arial MT"/>
              </a:rPr>
              <a:t> </a:t>
            </a:r>
            <a:r>
              <a:rPr sz="2400" dirty="0">
                <a:latin typeface="Arial MT"/>
                <a:cs typeface="Arial MT"/>
              </a:rPr>
              <a:t>y</a:t>
            </a:r>
            <a:r>
              <a:rPr sz="2400" spc="-55" dirty="0">
                <a:latin typeface="Arial MT"/>
                <a:cs typeface="Arial MT"/>
              </a:rPr>
              <a:t> </a:t>
            </a:r>
            <a:r>
              <a:rPr sz="2400" dirty="0">
                <a:latin typeface="Arial MT"/>
                <a:cs typeface="Arial MT"/>
              </a:rPr>
              <a:t>sus</a:t>
            </a:r>
            <a:r>
              <a:rPr sz="2400" spc="-55" dirty="0">
                <a:latin typeface="Arial MT"/>
                <a:cs typeface="Arial MT"/>
              </a:rPr>
              <a:t> </a:t>
            </a:r>
            <a:r>
              <a:rPr sz="2400" dirty="0">
                <a:latin typeface="Arial MT"/>
                <a:cs typeface="Arial MT"/>
              </a:rPr>
              <a:t>relaciones</a:t>
            </a:r>
            <a:r>
              <a:rPr sz="2400" spc="-60" dirty="0">
                <a:latin typeface="Arial MT"/>
                <a:cs typeface="Arial MT"/>
              </a:rPr>
              <a:t> </a:t>
            </a:r>
            <a:r>
              <a:rPr sz="2400" dirty="0">
                <a:latin typeface="Arial MT"/>
                <a:cs typeface="Arial MT"/>
              </a:rPr>
              <a:t>de</a:t>
            </a:r>
            <a:r>
              <a:rPr sz="2400" spc="-55" dirty="0">
                <a:latin typeface="Arial MT"/>
                <a:cs typeface="Arial MT"/>
              </a:rPr>
              <a:t> </a:t>
            </a:r>
            <a:r>
              <a:rPr sz="2400" spc="-10" dirty="0">
                <a:latin typeface="Arial MT"/>
                <a:cs typeface="Arial MT"/>
              </a:rPr>
              <a:t>varias formas.</a:t>
            </a:r>
            <a:endParaRPr sz="2400" dirty="0">
              <a:latin typeface="Arial MT"/>
              <a:cs typeface="Arial MT"/>
            </a:endParaRPr>
          </a:p>
          <a:p>
            <a:pPr marL="355600" marR="689610" indent="-342900">
              <a:lnSpc>
                <a:spcPts val="2580"/>
              </a:lnSpc>
              <a:spcBef>
                <a:spcPts val="590"/>
              </a:spcBef>
              <a:buChar char="•"/>
              <a:tabLst>
                <a:tab pos="355600" algn="l"/>
              </a:tabLst>
            </a:pPr>
            <a:r>
              <a:rPr sz="2400" dirty="0">
                <a:latin typeface="Arial MT"/>
                <a:cs typeface="Arial MT"/>
              </a:rPr>
              <a:t>La</a:t>
            </a:r>
            <a:r>
              <a:rPr sz="2400" spc="-50" dirty="0">
                <a:latin typeface="Arial MT"/>
                <a:cs typeface="Arial MT"/>
              </a:rPr>
              <a:t> </a:t>
            </a:r>
            <a:r>
              <a:rPr sz="2400" dirty="0">
                <a:latin typeface="Arial MT"/>
                <a:cs typeface="Arial MT"/>
              </a:rPr>
              <a:t>principal</a:t>
            </a:r>
            <a:r>
              <a:rPr sz="2400" spc="-55" dirty="0">
                <a:latin typeface="Arial MT"/>
                <a:cs typeface="Arial MT"/>
              </a:rPr>
              <a:t> </a:t>
            </a:r>
            <a:r>
              <a:rPr sz="2400" dirty="0">
                <a:latin typeface="Arial MT"/>
                <a:cs typeface="Arial MT"/>
              </a:rPr>
              <a:t>diferencia</a:t>
            </a:r>
            <a:r>
              <a:rPr sz="2400" spc="-45" dirty="0">
                <a:latin typeface="Arial MT"/>
                <a:cs typeface="Arial MT"/>
              </a:rPr>
              <a:t> </a:t>
            </a:r>
            <a:r>
              <a:rPr sz="2400" dirty="0">
                <a:latin typeface="Arial MT"/>
                <a:cs typeface="Arial MT"/>
              </a:rPr>
              <a:t>es</a:t>
            </a:r>
            <a:r>
              <a:rPr sz="2400" spc="-50" dirty="0">
                <a:latin typeface="Arial MT"/>
                <a:cs typeface="Arial MT"/>
              </a:rPr>
              <a:t> </a:t>
            </a:r>
            <a:r>
              <a:rPr sz="2400" dirty="0">
                <a:latin typeface="Arial MT"/>
                <a:cs typeface="Arial MT"/>
              </a:rPr>
              <a:t>la</a:t>
            </a:r>
            <a:r>
              <a:rPr sz="2400" spc="-50" dirty="0">
                <a:latin typeface="Arial MT"/>
                <a:cs typeface="Arial MT"/>
              </a:rPr>
              <a:t> </a:t>
            </a:r>
            <a:r>
              <a:rPr sz="2400" dirty="0">
                <a:latin typeface="Arial MT"/>
                <a:cs typeface="Arial MT"/>
              </a:rPr>
              <a:t>forma</a:t>
            </a:r>
            <a:r>
              <a:rPr sz="2400" spc="-50" dirty="0">
                <a:latin typeface="Arial MT"/>
                <a:cs typeface="Arial MT"/>
              </a:rPr>
              <a:t> </a:t>
            </a:r>
            <a:r>
              <a:rPr sz="2400" dirty="0">
                <a:latin typeface="Arial MT"/>
                <a:cs typeface="Arial MT"/>
              </a:rPr>
              <a:t>en</a:t>
            </a:r>
            <a:r>
              <a:rPr sz="2400" spc="-50" dirty="0">
                <a:latin typeface="Arial MT"/>
                <a:cs typeface="Arial MT"/>
              </a:rPr>
              <a:t> </a:t>
            </a:r>
            <a:r>
              <a:rPr sz="2400" dirty="0">
                <a:latin typeface="Arial MT"/>
                <a:cs typeface="Arial MT"/>
              </a:rPr>
              <a:t>que</a:t>
            </a:r>
            <a:r>
              <a:rPr sz="2400" spc="-50" dirty="0">
                <a:latin typeface="Arial MT"/>
                <a:cs typeface="Arial MT"/>
              </a:rPr>
              <a:t> </a:t>
            </a:r>
            <a:r>
              <a:rPr sz="2400" dirty="0">
                <a:latin typeface="Arial MT"/>
                <a:cs typeface="Arial MT"/>
              </a:rPr>
              <a:t>se</a:t>
            </a:r>
            <a:r>
              <a:rPr sz="2400" spc="-50" dirty="0">
                <a:latin typeface="Arial MT"/>
                <a:cs typeface="Arial MT"/>
              </a:rPr>
              <a:t> </a:t>
            </a:r>
            <a:r>
              <a:rPr sz="2400" dirty="0">
                <a:latin typeface="Arial MT"/>
                <a:cs typeface="Arial MT"/>
              </a:rPr>
              <a:t>tratan</a:t>
            </a:r>
            <a:r>
              <a:rPr sz="2400" spc="-50" dirty="0">
                <a:latin typeface="Arial MT"/>
                <a:cs typeface="Arial MT"/>
              </a:rPr>
              <a:t> </a:t>
            </a:r>
            <a:r>
              <a:rPr sz="2400" spc="-25" dirty="0">
                <a:latin typeface="Arial MT"/>
                <a:cs typeface="Arial MT"/>
              </a:rPr>
              <a:t>los </a:t>
            </a:r>
            <a:r>
              <a:rPr sz="2400" spc="-10" dirty="0">
                <a:latin typeface="Arial MT"/>
                <a:cs typeface="Arial MT"/>
              </a:rPr>
              <a:t>atributos.</a:t>
            </a:r>
            <a:endParaRPr sz="2400" dirty="0">
              <a:latin typeface="Arial MT"/>
              <a:cs typeface="Arial MT"/>
            </a:endParaRPr>
          </a:p>
          <a:p>
            <a:pPr>
              <a:lnSpc>
                <a:spcPct val="100000"/>
              </a:lnSpc>
              <a:spcBef>
                <a:spcPts val="975"/>
              </a:spcBef>
              <a:buFont typeface="Arial MT"/>
              <a:buChar char="•"/>
            </a:pPr>
            <a:endParaRPr sz="2400" dirty="0">
              <a:latin typeface="Arial MT"/>
              <a:cs typeface="Arial MT"/>
            </a:endParaRPr>
          </a:p>
          <a:p>
            <a:pPr marL="355600" marR="942340" indent="-343535">
              <a:lnSpc>
                <a:spcPts val="2590"/>
              </a:lnSpc>
              <a:tabLst>
                <a:tab pos="1840864" algn="l"/>
              </a:tabLst>
            </a:pPr>
            <a:r>
              <a:rPr lang="es-ES" sz="2400" spc="-10" dirty="0" smtClean="0">
                <a:latin typeface="Arial MT"/>
                <a:cs typeface="Arial MT"/>
              </a:rPr>
              <a:t>	</a:t>
            </a:r>
            <a:r>
              <a:rPr sz="2400" spc="-10" dirty="0" err="1" smtClean="0">
                <a:latin typeface="Arial MT"/>
                <a:cs typeface="Arial MT"/>
              </a:rPr>
              <a:t>Ejemplo</a:t>
            </a:r>
            <a:r>
              <a:rPr sz="2400" spc="-10" dirty="0" smtClean="0">
                <a:latin typeface="Arial MT"/>
                <a:cs typeface="Arial MT"/>
              </a:rPr>
              <a:t>:</a:t>
            </a:r>
            <a:r>
              <a:rPr lang="es-ES" sz="2400" spc="-10" dirty="0" smtClean="0">
                <a:latin typeface="Arial MT"/>
                <a:cs typeface="Arial MT"/>
              </a:rPr>
              <a:t> </a:t>
            </a:r>
            <a:r>
              <a:rPr sz="2400" b="1" spc="-20" dirty="0" err="1" smtClean="0">
                <a:solidFill>
                  <a:srgbClr val="001F5F"/>
                </a:solidFill>
                <a:latin typeface="Arial"/>
                <a:cs typeface="Arial"/>
              </a:rPr>
              <a:t>Empleado</a:t>
            </a:r>
            <a:r>
              <a:rPr sz="2400" b="1" spc="-20" dirty="0" smtClean="0">
                <a:solidFill>
                  <a:srgbClr val="001F5F"/>
                </a:solidFill>
                <a:latin typeface="Arial"/>
                <a:cs typeface="Arial"/>
              </a:rPr>
              <a:t>(</a:t>
            </a:r>
            <a:r>
              <a:rPr sz="2400" b="1" spc="-20" dirty="0" err="1" smtClean="0">
                <a:solidFill>
                  <a:srgbClr val="001F5F"/>
                </a:solidFill>
                <a:latin typeface="Arial"/>
                <a:cs typeface="Arial"/>
              </a:rPr>
              <a:t>nombre-</a:t>
            </a:r>
            <a:r>
              <a:rPr sz="2400" b="1" dirty="0" err="1" smtClean="0">
                <a:solidFill>
                  <a:srgbClr val="001F5F"/>
                </a:solidFill>
                <a:latin typeface="Arial"/>
                <a:cs typeface="Arial"/>
              </a:rPr>
              <a:t>empleado</a:t>
            </a:r>
            <a:r>
              <a:rPr sz="2400" b="1" dirty="0">
                <a:solidFill>
                  <a:srgbClr val="001F5F"/>
                </a:solidFill>
                <a:latin typeface="Arial"/>
                <a:cs typeface="Arial"/>
              </a:rPr>
              <a:t>, </a:t>
            </a:r>
            <a:r>
              <a:rPr sz="2400" b="1" spc="-10" dirty="0" err="1">
                <a:solidFill>
                  <a:srgbClr val="001F5F"/>
                </a:solidFill>
                <a:latin typeface="Arial"/>
                <a:cs typeface="Arial"/>
              </a:rPr>
              <a:t>número-teléfono</a:t>
            </a:r>
            <a:r>
              <a:rPr sz="2400" b="1" spc="-10" dirty="0" smtClean="0">
                <a:solidFill>
                  <a:srgbClr val="001F5F"/>
                </a:solidFill>
                <a:latin typeface="Arial"/>
                <a:cs typeface="Arial"/>
              </a:rPr>
              <a:t>)</a:t>
            </a:r>
            <a:endParaRPr lang="es-ES" sz="2400" b="1" spc="-10" dirty="0" smtClean="0">
              <a:solidFill>
                <a:srgbClr val="001F5F"/>
              </a:solidFill>
              <a:latin typeface="Arial"/>
              <a:cs typeface="Arial"/>
            </a:endParaRPr>
          </a:p>
          <a:p>
            <a:pPr marL="355600" marR="942340" indent="-343535">
              <a:lnSpc>
                <a:spcPts val="2590"/>
              </a:lnSpc>
              <a:tabLst>
                <a:tab pos="1840864" algn="l"/>
              </a:tabLst>
            </a:pPr>
            <a:endParaRPr sz="2400" dirty="0">
              <a:latin typeface="Arial"/>
              <a:cs typeface="Arial"/>
            </a:endParaRPr>
          </a:p>
          <a:p>
            <a:pPr marL="355600" marR="288290" indent="-342900">
              <a:lnSpc>
                <a:spcPts val="2870"/>
              </a:lnSpc>
              <a:buChar char="•"/>
              <a:tabLst>
                <a:tab pos="355600" algn="l"/>
                <a:tab pos="3669665" algn="l"/>
              </a:tabLst>
            </a:pPr>
            <a:r>
              <a:rPr sz="2400" dirty="0">
                <a:latin typeface="Arial MT"/>
                <a:cs typeface="Arial MT"/>
              </a:rPr>
              <a:t>Se</a:t>
            </a:r>
            <a:r>
              <a:rPr sz="2400" spc="-60" dirty="0">
                <a:latin typeface="Arial MT"/>
                <a:cs typeface="Arial MT"/>
              </a:rPr>
              <a:t> </a:t>
            </a:r>
            <a:r>
              <a:rPr sz="2400" dirty="0">
                <a:latin typeface="Arial MT"/>
                <a:cs typeface="Arial MT"/>
              </a:rPr>
              <a:t>puede</a:t>
            </a:r>
            <a:r>
              <a:rPr sz="2400" spc="-60" dirty="0">
                <a:latin typeface="Arial MT"/>
                <a:cs typeface="Arial MT"/>
              </a:rPr>
              <a:t> </a:t>
            </a:r>
            <a:r>
              <a:rPr sz="2400" dirty="0">
                <a:latin typeface="Arial MT"/>
                <a:cs typeface="Arial MT"/>
              </a:rPr>
              <a:t>argumentar</a:t>
            </a:r>
            <a:r>
              <a:rPr sz="2400" spc="-50" dirty="0">
                <a:latin typeface="Arial MT"/>
                <a:cs typeface="Arial MT"/>
              </a:rPr>
              <a:t> </a:t>
            </a:r>
            <a:r>
              <a:rPr sz="2400" dirty="0">
                <a:latin typeface="Arial MT"/>
                <a:cs typeface="Arial MT"/>
              </a:rPr>
              <a:t>que</a:t>
            </a:r>
            <a:r>
              <a:rPr sz="2400" spc="-65" dirty="0">
                <a:latin typeface="Arial MT"/>
                <a:cs typeface="Arial MT"/>
              </a:rPr>
              <a:t> </a:t>
            </a:r>
            <a:r>
              <a:rPr sz="2400" b="1" dirty="0">
                <a:latin typeface="Arial"/>
                <a:cs typeface="Arial"/>
              </a:rPr>
              <a:t>teléfono</a:t>
            </a:r>
            <a:r>
              <a:rPr sz="2400" b="1" spc="-55" dirty="0">
                <a:latin typeface="Arial"/>
                <a:cs typeface="Arial"/>
              </a:rPr>
              <a:t> </a:t>
            </a:r>
            <a:r>
              <a:rPr sz="2400" dirty="0">
                <a:latin typeface="Arial MT"/>
                <a:cs typeface="Arial MT"/>
              </a:rPr>
              <a:t>es</a:t>
            </a:r>
            <a:r>
              <a:rPr sz="2400" spc="-70" dirty="0">
                <a:latin typeface="Arial MT"/>
                <a:cs typeface="Arial MT"/>
              </a:rPr>
              <a:t> </a:t>
            </a:r>
            <a:r>
              <a:rPr sz="2400" dirty="0">
                <a:latin typeface="Arial MT"/>
                <a:cs typeface="Arial MT"/>
              </a:rPr>
              <a:t>una</a:t>
            </a:r>
            <a:r>
              <a:rPr sz="2400" spc="-45" dirty="0">
                <a:latin typeface="Arial MT"/>
                <a:cs typeface="Arial MT"/>
              </a:rPr>
              <a:t> </a:t>
            </a:r>
            <a:r>
              <a:rPr sz="2400" b="1" dirty="0">
                <a:latin typeface="Arial"/>
                <a:cs typeface="Arial"/>
              </a:rPr>
              <a:t>entidad</a:t>
            </a:r>
            <a:r>
              <a:rPr sz="2400" b="1" spc="-60" dirty="0">
                <a:latin typeface="Arial"/>
                <a:cs typeface="Arial"/>
              </a:rPr>
              <a:t> </a:t>
            </a:r>
            <a:r>
              <a:rPr sz="2400" dirty="0">
                <a:latin typeface="Arial MT"/>
                <a:cs typeface="Arial MT"/>
              </a:rPr>
              <a:t>en</a:t>
            </a:r>
            <a:r>
              <a:rPr sz="2400" spc="-55" dirty="0">
                <a:latin typeface="Arial MT"/>
                <a:cs typeface="Arial MT"/>
              </a:rPr>
              <a:t> </a:t>
            </a:r>
            <a:r>
              <a:rPr sz="2400" spc="-25" dirty="0">
                <a:latin typeface="Arial MT"/>
                <a:cs typeface="Arial MT"/>
              </a:rPr>
              <a:t>sí </a:t>
            </a:r>
            <a:r>
              <a:rPr sz="2400" dirty="0">
                <a:latin typeface="Arial MT"/>
                <a:cs typeface="Arial MT"/>
              </a:rPr>
              <a:t>misma</a:t>
            </a:r>
            <a:r>
              <a:rPr sz="2400" spc="-40" dirty="0">
                <a:latin typeface="Arial MT"/>
                <a:cs typeface="Arial MT"/>
              </a:rPr>
              <a:t> </a:t>
            </a:r>
            <a:r>
              <a:rPr sz="2400" dirty="0">
                <a:latin typeface="Arial MT"/>
                <a:cs typeface="Arial MT"/>
              </a:rPr>
              <a:t>con</a:t>
            </a:r>
            <a:r>
              <a:rPr sz="2400" spc="-35" dirty="0">
                <a:latin typeface="Arial MT"/>
                <a:cs typeface="Arial MT"/>
              </a:rPr>
              <a:t> </a:t>
            </a:r>
            <a:r>
              <a:rPr sz="2400" b="1" spc="-10" dirty="0" err="1" smtClean="0">
                <a:latin typeface="Arial"/>
                <a:cs typeface="Arial"/>
              </a:rPr>
              <a:t>atributos:</a:t>
            </a:r>
            <a:r>
              <a:rPr sz="2400" b="1" dirty="0" err="1" smtClean="0">
                <a:latin typeface="Arial"/>
                <a:cs typeface="Arial"/>
              </a:rPr>
              <a:t>Teléfono</a:t>
            </a:r>
            <a:r>
              <a:rPr sz="2400" b="1" dirty="0" smtClean="0">
                <a:latin typeface="Arial"/>
                <a:cs typeface="Arial"/>
              </a:rPr>
              <a:t>(</a:t>
            </a:r>
            <a:r>
              <a:rPr sz="2400" b="1" dirty="0" err="1" smtClean="0">
                <a:latin typeface="Arial"/>
                <a:cs typeface="Arial"/>
              </a:rPr>
              <a:t>número</a:t>
            </a:r>
            <a:r>
              <a:rPr sz="2400" b="1" dirty="0">
                <a:latin typeface="Arial"/>
                <a:cs typeface="Arial"/>
              </a:rPr>
              <a:t>,</a:t>
            </a:r>
            <a:r>
              <a:rPr sz="2400" b="1" spc="509" dirty="0">
                <a:latin typeface="Arial"/>
                <a:cs typeface="Arial"/>
              </a:rPr>
              <a:t> </a:t>
            </a:r>
            <a:r>
              <a:rPr sz="2400" b="1" spc="-10" dirty="0">
                <a:latin typeface="Arial"/>
                <a:cs typeface="Arial"/>
              </a:rPr>
              <a:t>oficina)</a:t>
            </a:r>
            <a:r>
              <a:rPr sz="2400" spc="-10" dirty="0">
                <a:latin typeface="Arial MT"/>
                <a:cs typeface="Arial MT"/>
              </a:rPr>
              <a:t>.</a:t>
            </a:r>
            <a:endParaRPr sz="2400" dirty="0">
              <a:latin typeface="Arial MT"/>
              <a:cs typeface="Arial MT"/>
            </a:endParaRPr>
          </a:p>
          <a:p>
            <a:pPr marL="354965" indent="-342265">
              <a:lnSpc>
                <a:spcPct val="100000"/>
              </a:lnSpc>
              <a:spcBef>
                <a:spcPts val="480"/>
              </a:spcBef>
              <a:buChar char="•"/>
              <a:tabLst>
                <a:tab pos="354965" algn="l"/>
              </a:tabLst>
            </a:pPr>
            <a:r>
              <a:rPr sz="2400" dirty="0">
                <a:latin typeface="Arial MT"/>
                <a:cs typeface="Arial MT"/>
              </a:rPr>
              <a:t>Entonces,</a:t>
            </a:r>
            <a:r>
              <a:rPr sz="2400" spc="-75" dirty="0">
                <a:latin typeface="Arial MT"/>
                <a:cs typeface="Arial MT"/>
              </a:rPr>
              <a:t> </a:t>
            </a:r>
            <a:r>
              <a:rPr sz="2400" dirty="0">
                <a:latin typeface="Arial MT"/>
                <a:cs typeface="Arial MT"/>
              </a:rPr>
              <a:t>quedarían</a:t>
            </a:r>
            <a:r>
              <a:rPr sz="2400" spc="-80" dirty="0">
                <a:latin typeface="Arial MT"/>
                <a:cs typeface="Arial MT"/>
              </a:rPr>
              <a:t> </a:t>
            </a:r>
            <a:r>
              <a:rPr sz="2400" dirty="0">
                <a:latin typeface="Arial MT"/>
                <a:cs typeface="Arial MT"/>
              </a:rPr>
              <a:t>las</a:t>
            </a:r>
            <a:r>
              <a:rPr sz="2400" spc="-75" dirty="0">
                <a:latin typeface="Arial MT"/>
                <a:cs typeface="Arial MT"/>
              </a:rPr>
              <a:t> </a:t>
            </a:r>
            <a:r>
              <a:rPr sz="2400" spc="-10" dirty="0">
                <a:latin typeface="Arial MT"/>
                <a:cs typeface="Arial MT"/>
              </a:rPr>
              <a:t>entidades:</a:t>
            </a:r>
            <a:endParaRPr sz="2400" dirty="0">
              <a:latin typeface="Arial MT"/>
              <a:cs typeface="Arial MT"/>
            </a:endParaRPr>
          </a:p>
          <a:p>
            <a:pPr marL="1841500" marR="1503045">
              <a:lnSpc>
                <a:spcPts val="3460"/>
              </a:lnSpc>
              <a:spcBef>
                <a:spcPts val="195"/>
              </a:spcBef>
            </a:pPr>
            <a:r>
              <a:rPr sz="2400" b="1" spc="-20" dirty="0">
                <a:solidFill>
                  <a:srgbClr val="001F5F"/>
                </a:solidFill>
                <a:latin typeface="Arial"/>
                <a:cs typeface="Arial"/>
              </a:rPr>
              <a:t>Empleado(nombre-</a:t>
            </a:r>
            <a:r>
              <a:rPr sz="2400" b="1" spc="-10" dirty="0">
                <a:solidFill>
                  <a:srgbClr val="001F5F"/>
                </a:solidFill>
                <a:latin typeface="Arial"/>
                <a:cs typeface="Arial"/>
              </a:rPr>
              <a:t>empleado) Teléfono(número-</a:t>
            </a:r>
            <a:r>
              <a:rPr sz="2400" b="1" dirty="0">
                <a:solidFill>
                  <a:srgbClr val="001F5F"/>
                </a:solidFill>
                <a:latin typeface="Arial"/>
                <a:cs typeface="Arial"/>
              </a:rPr>
              <a:t>teléfono,</a:t>
            </a:r>
            <a:r>
              <a:rPr sz="2400" b="1" spc="-80" dirty="0">
                <a:solidFill>
                  <a:srgbClr val="001F5F"/>
                </a:solidFill>
                <a:latin typeface="Arial"/>
                <a:cs typeface="Arial"/>
              </a:rPr>
              <a:t> </a:t>
            </a:r>
            <a:r>
              <a:rPr sz="2400" b="1" spc="-10" dirty="0">
                <a:solidFill>
                  <a:srgbClr val="001F5F"/>
                </a:solidFill>
                <a:latin typeface="Arial"/>
                <a:cs typeface="Arial"/>
              </a:rPr>
              <a:t>oficina)</a:t>
            </a:r>
            <a:endParaRPr sz="2400" dirty="0">
              <a:latin typeface="Arial"/>
              <a:cs typeface="Arial"/>
            </a:endParaRPr>
          </a:p>
          <a:p>
            <a:pPr marL="97790">
              <a:lnSpc>
                <a:spcPct val="100000"/>
              </a:lnSpc>
              <a:spcBef>
                <a:spcPts val="350"/>
              </a:spcBef>
            </a:pPr>
            <a:r>
              <a:rPr sz="2400" dirty="0">
                <a:latin typeface="Arial MT"/>
                <a:cs typeface="Arial MT"/>
              </a:rPr>
              <a:t>y</a:t>
            </a:r>
            <a:r>
              <a:rPr sz="2400" spc="-45" dirty="0">
                <a:latin typeface="Arial MT"/>
                <a:cs typeface="Arial MT"/>
              </a:rPr>
              <a:t> </a:t>
            </a:r>
            <a:r>
              <a:rPr sz="2400" dirty="0">
                <a:latin typeface="Arial MT"/>
                <a:cs typeface="Arial MT"/>
              </a:rPr>
              <a:t>la</a:t>
            </a:r>
            <a:r>
              <a:rPr sz="2400" spc="-25" dirty="0">
                <a:latin typeface="Arial MT"/>
                <a:cs typeface="Arial MT"/>
              </a:rPr>
              <a:t> </a:t>
            </a:r>
            <a:r>
              <a:rPr sz="2400" spc="-20" dirty="0">
                <a:latin typeface="Arial MT"/>
                <a:cs typeface="Arial MT"/>
              </a:rPr>
              <a:t>relación:</a:t>
            </a:r>
            <a:r>
              <a:rPr sz="2400" spc="-415" dirty="0">
                <a:latin typeface="Arial MT"/>
                <a:cs typeface="Arial MT"/>
              </a:rPr>
              <a:t> </a:t>
            </a:r>
            <a:r>
              <a:rPr sz="2400" b="1" dirty="0">
                <a:solidFill>
                  <a:srgbClr val="001F5F"/>
                </a:solidFill>
                <a:latin typeface="Arial"/>
                <a:cs typeface="Arial"/>
              </a:rPr>
              <a:t>EmpTel</a:t>
            </a:r>
            <a:r>
              <a:rPr sz="2400" b="1" spc="-25" dirty="0">
                <a:solidFill>
                  <a:srgbClr val="001F5F"/>
                </a:solidFill>
                <a:latin typeface="Arial"/>
                <a:cs typeface="Arial"/>
              </a:rPr>
              <a:t>  </a:t>
            </a:r>
            <a:r>
              <a:rPr sz="2400" dirty="0">
                <a:latin typeface="Arial MT"/>
                <a:cs typeface="Arial MT"/>
              </a:rPr>
              <a:t>que</a:t>
            </a:r>
            <a:r>
              <a:rPr sz="2400" spc="-25" dirty="0">
                <a:latin typeface="Arial MT"/>
                <a:cs typeface="Arial MT"/>
              </a:rPr>
              <a:t> </a:t>
            </a:r>
            <a:r>
              <a:rPr sz="2400" dirty="0">
                <a:latin typeface="Arial MT"/>
                <a:cs typeface="Arial MT"/>
              </a:rPr>
              <a:t>asocia</a:t>
            </a:r>
            <a:r>
              <a:rPr sz="2400" spc="-30" dirty="0">
                <a:latin typeface="Arial MT"/>
                <a:cs typeface="Arial MT"/>
              </a:rPr>
              <a:t> </a:t>
            </a:r>
            <a:r>
              <a:rPr sz="2400" dirty="0">
                <a:latin typeface="Arial MT"/>
                <a:cs typeface="Arial MT"/>
              </a:rPr>
              <a:t>empleados</a:t>
            </a:r>
            <a:r>
              <a:rPr sz="2400" spc="-10" dirty="0">
                <a:latin typeface="Arial MT"/>
                <a:cs typeface="Arial MT"/>
              </a:rPr>
              <a:t> </a:t>
            </a:r>
            <a:r>
              <a:rPr sz="2400" dirty="0">
                <a:latin typeface="Arial MT"/>
                <a:cs typeface="Arial MT"/>
              </a:rPr>
              <a:t>y</a:t>
            </a:r>
            <a:r>
              <a:rPr sz="2400" spc="-35" dirty="0">
                <a:latin typeface="Arial MT"/>
                <a:cs typeface="Arial MT"/>
              </a:rPr>
              <a:t> </a:t>
            </a:r>
            <a:r>
              <a:rPr sz="2400" dirty="0">
                <a:latin typeface="Arial MT"/>
                <a:cs typeface="Arial MT"/>
              </a:rPr>
              <a:t>sus</a:t>
            </a:r>
            <a:r>
              <a:rPr sz="2400" spc="-35" dirty="0">
                <a:latin typeface="Arial MT"/>
                <a:cs typeface="Arial MT"/>
              </a:rPr>
              <a:t> </a:t>
            </a:r>
            <a:r>
              <a:rPr sz="2400" spc="-10" dirty="0">
                <a:latin typeface="Arial MT"/>
                <a:cs typeface="Arial MT"/>
              </a:rPr>
              <a:t>teléfonos.</a:t>
            </a:r>
            <a:endParaRPr sz="2400" dirty="0">
              <a:latin typeface="Arial MT"/>
              <a:cs typeface="Arial M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359284" y="840378"/>
            <a:ext cx="4740016" cy="627736"/>
          </a:xfrm>
          <a:prstGeom prst="rect">
            <a:avLst/>
          </a:prstGeom>
        </p:spPr>
        <p:txBody>
          <a:bodyPr vert="horz" wrap="square" lIns="0" tIns="12065" rIns="0" bIns="0" rtlCol="0">
            <a:spAutoFit/>
          </a:bodyPr>
          <a:lstStyle/>
          <a:p>
            <a:pPr marL="12700">
              <a:lnSpc>
                <a:spcPct val="100000"/>
              </a:lnSpc>
              <a:spcBef>
                <a:spcPts val="95"/>
              </a:spcBef>
            </a:pPr>
            <a:r>
              <a:rPr sz="4000" b="1" dirty="0">
                <a:latin typeface="Arial"/>
                <a:cs typeface="Arial"/>
              </a:rPr>
              <a:t>Caso</a:t>
            </a:r>
            <a:r>
              <a:rPr sz="4000" spc="-60" dirty="0"/>
              <a:t> </a:t>
            </a:r>
            <a:r>
              <a:rPr sz="4000" b="1" dirty="0">
                <a:latin typeface="Arial"/>
                <a:cs typeface="Arial"/>
              </a:rPr>
              <a:t>1 vs. Caso 2</a:t>
            </a:r>
          </a:p>
        </p:txBody>
      </p:sp>
      <p:sp>
        <p:nvSpPr>
          <p:cNvPr id="3" name="object 3"/>
          <p:cNvSpPr txBox="1"/>
          <p:nvPr/>
        </p:nvSpPr>
        <p:spPr>
          <a:xfrm>
            <a:off x="1067696" y="1802383"/>
            <a:ext cx="1655445" cy="817880"/>
          </a:xfrm>
          <a:prstGeom prst="rect">
            <a:avLst/>
          </a:prstGeom>
        </p:spPr>
        <p:txBody>
          <a:bodyPr vert="horz" wrap="square" lIns="0" tIns="12065" rIns="0" bIns="0" rtlCol="0">
            <a:spAutoFit/>
          </a:bodyPr>
          <a:lstStyle/>
          <a:p>
            <a:pPr marL="12700">
              <a:lnSpc>
                <a:spcPct val="100000"/>
              </a:lnSpc>
              <a:spcBef>
                <a:spcPts val="95"/>
              </a:spcBef>
            </a:pPr>
            <a:r>
              <a:rPr sz="2800" b="1" dirty="0" err="1">
                <a:latin typeface="Arial"/>
                <a:cs typeface="Arial"/>
              </a:rPr>
              <a:t>Caso</a:t>
            </a:r>
            <a:r>
              <a:rPr sz="2800" b="1" spc="-65" dirty="0">
                <a:latin typeface="Arial"/>
                <a:cs typeface="Arial"/>
              </a:rPr>
              <a:t> </a:t>
            </a:r>
            <a:r>
              <a:rPr sz="2800" b="1" spc="-25" dirty="0" smtClean="0">
                <a:latin typeface="Arial"/>
                <a:cs typeface="Arial"/>
              </a:rPr>
              <a:t>1</a:t>
            </a:r>
            <a:r>
              <a:rPr sz="2800" spc="-25" dirty="0" smtClean="0">
                <a:latin typeface="Arial MT"/>
                <a:cs typeface="Arial MT"/>
              </a:rPr>
              <a:t>:</a:t>
            </a:r>
            <a:endParaRPr sz="2800" dirty="0" smtClean="0">
              <a:latin typeface="Arial MT"/>
              <a:cs typeface="Arial MT"/>
            </a:endParaRPr>
          </a:p>
          <a:p>
            <a:pPr marL="354965">
              <a:lnSpc>
                <a:spcPct val="100000"/>
              </a:lnSpc>
              <a:spcBef>
                <a:spcPts val="5"/>
              </a:spcBef>
            </a:pPr>
            <a:endParaRPr sz="2400" dirty="0">
              <a:latin typeface="Arial"/>
              <a:cs typeface="Arial"/>
            </a:endParaRPr>
          </a:p>
        </p:txBody>
      </p:sp>
      <p:sp>
        <p:nvSpPr>
          <p:cNvPr id="4" name="object 4"/>
          <p:cNvSpPr txBox="1"/>
          <p:nvPr/>
        </p:nvSpPr>
        <p:spPr>
          <a:xfrm>
            <a:off x="2723142" y="1852675"/>
            <a:ext cx="5882644" cy="751488"/>
          </a:xfrm>
          <a:prstGeom prst="rect">
            <a:avLst/>
          </a:prstGeom>
        </p:spPr>
        <p:txBody>
          <a:bodyPr vert="horz" wrap="square" lIns="0" tIns="12700" rIns="0" bIns="0" rtlCol="0">
            <a:spAutoFit/>
          </a:bodyPr>
          <a:lstStyle/>
          <a:p>
            <a:pPr marL="12700">
              <a:lnSpc>
                <a:spcPct val="100000"/>
              </a:lnSpc>
              <a:spcBef>
                <a:spcPts val="100"/>
              </a:spcBef>
            </a:pPr>
            <a:r>
              <a:rPr sz="2400" b="1" spc="-20" dirty="0">
                <a:solidFill>
                  <a:srgbClr val="365F92"/>
                </a:solidFill>
                <a:latin typeface="Arial"/>
                <a:cs typeface="Arial"/>
              </a:rPr>
              <a:t>Empleado(nombre-</a:t>
            </a:r>
            <a:r>
              <a:rPr sz="2400" b="1" dirty="0">
                <a:solidFill>
                  <a:srgbClr val="365F92"/>
                </a:solidFill>
                <a:latin typeface="Arial"/>
                <a:cs typeface="Arial"/>
              </a:rPr>
              <a:t>empleado,</a:t>
            </a:r>
            <a:r>
              <a:rPr sz="2400" b="1" spc="50" dirty="0">
                <a:solidFill>
                  <a:srgbClr val="365F92"/>
                </a:solidFill>
                <a:latin typeface="Arial"/>
                <a:cs typeface="Arial"/>
              </a:rPr>
              <a:t> </a:t>
            </a:r>
            <a:r>
              <a:rPr sz="2400" b="1" spc="-10" dirty="0" err="1" smtClean="0">
                <a:solidFill>
                  <a:srgbClr val="365F92"/>
                </a:solidFill>
                <a:latin typeface="Arial"/>
                <a:cs typeface="Arial"/>
              </a:rPr>
              <a:t>número</a:t>
            </a:r>
            <a:r>
              <a:rPr sz="2400" b="1" spc="-10" dirty="0" smtClean="0">
                <a:solidFill>
                  <a:srgbClr val="365F92"/>
                </a:solidFill>
                <a:latin typeface="Arial"/>
                <a:cs typeface="Arial"/>
              </a:rPr>
              <a:t>-</a:t>
            </a:r>
            <a:r>
              <a:rPr lang="en-US" sz="2400" b="1" spc="-10" dirty="0" smtClean="0">
                <a:solidFill>
                  <a:srgbClr val="365F92"/>
                </a:solidFill>
                <a:latin typeface="Arial"/>
                <a:cs typeface="Arial"/>
              </a:rPr>
              <a:t> </a:t>
            </a:r>
            <a:r>
              <a:rPr lang="en-US" sz="2400" b="1" spc="-10" dirty="0" err="1" smtClean="0">
                <a:solidFill>
                  <a:srgbClr val="365F92"/>
                </a:solidFill>
                <a:latin typeface="Arial"/>
                <a:cs typeface="Arial"/>
              </a:rPr>
              <a:t>teléfono</a:t>
            </a:r>
            <a:r>
              <a:rPr lang="en-US" sz="2400" b="1" spc="-10" dirty="0" smtClean="0">
                <a:solidFill>
                  <a:srgbClr val="365F92"/>
                </a:solidFill>
                <a:latin typeface="Arial"/>
                <a:cs typeface="Arial"/>
              </a:rPr>
              <a:t>)</a:t>
            </a:r>
            <a:endParaRPr sz="2400" dirty="0">
              <a:latin typeface="Arial"/>
              <a:cs typeface="Arial"/>
            </a:endParaRPr>
          </a:p>
        </p:txBody>
      </p:sp>
      <p:sp>
        <p:nvSpPr>
          <p:cNvPr id="5" name="object 5"/>
          <p:cNvSpPr txBox="1"/>
          <p:nvPr/>
        </p:nvSpPr>
        <p:spPr>
          <a:xfrm>
            <a:off x="1067696" y="2680206"/>
            <a:ext cx="8274684" cy="878840"/>
          </a:xfrm>
          <a:prstGeom prst="rect">
            <a:avLst/>
          </a:prstGeom>
        </p:spPr>
        <p:txBody>
          <a:bodyPr vert="horz" wrap="square" lIns="0" tIns="12065" rIns="0" bIns="0" rtlCol="0">
            <a:spAutoFit/>
          </a:bodyPr>
          <a:lstStyle/>
          <a:p>
            <a:pPr marL="353695" marR="5080" indent="-341630">
              <a:lnSpc>
                <a:spcPct val="100000"/>
              </a:lnSpc>
              <a:spcBef>
                <a:spcPts val="95"/>
              </a:spcBef>
              <a:buChar char="•"/>
              <a:tabLst>
                <a:tab pos="354965" algn="l"/>
              </a:tabLst>
            </a:pPr>
            <a:r>
              <a:rPr sz="2800" dirty="0">
                <a:latin typeface="Arial MT"/>
                <a:cs typeface="Arial MT"/>
              </a:rPr>
              <a:t>cada</a:t>
            </a:r>
            <a:r>
              <a:rPr sz="2800" spc="-75" dirty="0">
                <a:latin typeface="Arial MT"/>
                <a:cs typeface="Arial MT"/>
              </a:rPr>
              <a:t> </a:t>
            </a:r>
            <a:r>
              <a:rPr sz="2800" dirty="0">
                <a:latin typeface="Arial MT"/>
                <a:cs typeface="Arial MT"/>
              </a:rPr>
              <a:t>empleado</a:t>
            </a:r>
            <a:r>
              <a:rPr sz="2800" spc="-75" dirty="0">
                <a:latin typeface="Arial MT"/>
                <a:cs typeface="Arial MT"/>
              </a:rPr>
              <a:t> </a:t>
            </a:r>
            <a:r>
              <a:rPr sz="2800" dirty="0">
                <a:latin typeface="Arial MT"/>
                <a:cs typeface="Arial MT"/>
              </a:rPr>
              <a:t>tiene</a:t>
            </a:r>
            <a:r>
              <a:rPr sz="2800" spc="-75" dirty="0">
                <a:latin typeface="Arial MT"/>
                <a:cs typeface="Arial MT"/>
              </a:rPr>
              <a:t> </a:t>
            </a:r>
            <a:r>
              <a:rPr sz="2800" b="1" dirty="0">
                <a:latin typeface="Arial"/>
                <a:cs typeface="Arial"/>
              </a:rPr>
              <a:t>exactamente</a:t>
            </a:r>
            <a:r>
              <a:rPr sz="2800" b="1" spc="-75" dirty="0">
                <a:latin typeface="Arial"/>
                <a:cs typeface="Arial"/>
              </a:rPr>
              <a:t> </a:t>
            </a:r>
            <a:r>
              <a:rPr sz="2800" b="1" dirty="0">
                <a:latin typeface="Arial"/>
                <a:cs typeface="Arial"/>
              </a:rPr>
              <a:t>un</a:t>
            </a:r>
            <a:r>
              <a:rPr sz="2800" b="1" spc="-85" dirty="0">
                <a:latin typeface="Arial"/>
                <a:cs typeface="Arial"/>
              </a:rPr>
              <a:t> </a:t>
            </a:r>
            <a:r>
              <a:rPr sz="2800" dirty="0">
                <a:latin typeface="Arial MT"/>
                <a:cs typeface="Arial MT"/>
              </a:rPr>
              <a:t>número</a:t>
            </a:r>
            <a:r>
              <a:rPr sz="2800" spc="-75" dirty="0">
                <a:latin typeface="Arial MT"/>
                <a:cs typeface="Arial MT"/>
              </a:rPr>
              <a:t> </a:t>
            </a:r>
            <a:r>
              <a:rPr sz="2800" spc="-25" dirty="0">
                <a:latin typeface="Arial MT"/>
                <a:cs typeface="Arial MT"/>
              </a:rPr>
              <a:t>de 	</a:t>
            </a:r>
            <a:r>
              <a:rPr sz="2800" spc="-10" dirty="0">
                <a:latin typeface="Arial MT"/>
                <a:cs typeface="Arial MT"/>
              </a:rPr>
              <a:t>teléfono</a:t>
            </a:r>
            <a:endParaRPr sz="2800" dirty="0">
              <a:latin typeface="Arial MT"/>
              <a:cs typeface="Arial MT"/>
            </a:endParaRPr>
          </a:p>
        </p:txBody>
      </p:sp>
      <p:sp>
        <p:nvSpPr>
          <p:cNvPr id="6" name="object 6"/>
          <p:cNvSpPr txBox="1"/>
          <p:nvPr/>
        </p:nvSpPr>
        <p:spPr>
          <a:xfrm>
            <a:off x="1067694" y="3949698"/>
            <a:ext cx="1291590" cy="452120"/>
          </a:xfrm>
          <a:prstGeom prst="rect">
            <a:avLst/>
          </a:prstGeom>
        </p:spPr>
        <p:txBody>
          <a:bodyPr vert="horz" wrap="square" lIns="0" tIns="12065" rIns="0" bIns="0" rtlCol="0">
            <a:spAutoFit/>
          </a:bodyPr>
          <a:lstStyle/>
          <a:p>
            <a:pPr marL="12700">
              <a:lnSpc>
                <a:spcPct val="100000"/>
              </a:lnSpc>
              <a:spcBef>
                <a:spcPts val="95"/>
              </a:spcBef>
            </a:pPr>
            <a:r>
              <a:rPr sz="2800" b="1" dirty="0">
                <a:latin typeface="Arial"/>
                <a:cs typeface="Arial"/>
              </a:rPr>
              <a:t>Caso</a:t>
            </a:r>
            <a:r>
              <a:rPr sz="2800" b="1" spc="-65" dirty="0">
                <a:latin typeface="Arial"/>
                <a:cs typeface="Arial"/>
              </a:rPr>
              <a:t> </a:t>
            </a:r>
            <a:r>
              <a:rPr sz="2800" b="1" spc="-25" dirty="0">
                <a:latin typeface="Arial"/>
                <a:cs typeface="Arial"/>
              </a:rPr>
              <a:t>2</a:t>
            </a:r>
            <a:r>
              <a:rPr sz="2800" spc="-25" dirty="0">
                <a:latin typeface="Arial MT"/>
                <a:cs typeface="Arial MT"/>
              </a:rPr>
              <a:t>:</a:t>
            </a:r>
            <a:endParaRPr sz="2800">
              <a:latin typeface="Arial MT"/>
              <a:cs typeface="Arial MT"/>
            </a:endParaRPr>
          </a:p>
        </p:txBody>
      </p:sp>
      <p:sp>
        <p:nvSpPr>
          <p:cNvPr id="7" name="object 7"/>
          <p:cNvSpPr txBox="1"/>
          <p:nvPr/>
        </p:nvSpPr>
        <p:spPr>
          <a:xfrm>
            <a:off x="2896500" y="3916170"/>
            <a:ext cx="5049520" cy="1434432"/>
          </a:xfrm>
          <a:prstGeom prst="rect">
            <a:avLst/>
          </a:prstGeom>
        </p:spPr>
        <p:txBody>
          <a:bodyPr vert="horz" wrap="square" lIns="0" tIns="19050" rIns="0" bIns="0" rtlCol="0">
            <a:spAutoFit/>
          </a:bodyPr>
          <a:lstStyle/>
          <a:p>
            <a:pPr marL="12700" marR="5080">
              <a:lnSpc>
                <a:spcPct val="121200"/>
              </a:lnSpc>
              <a:spcBef>
                <a:spcPts val="150"/>
              </a:spcBef>
            </a:pPr>
            <a:r>
              <a:rPr sz="2400" b="1" spc="-20" dirty="0">
                <a:solidFill>
                  <a:srgbClr val="365F92"/>
                </a:solidFill>
                <a:latin typeface="Arial"/>
                <a:cs typeface="Arial"/>
              </a:rPr>
              <a:t>Empleado(nombre-</a:t>
            </a:r>
            <a:r>
              <a:rPr sz="2400" b="1" spc="-10" dirty="0">
                <a:solidFill>
                  <a:srgbClr val="365F92"/>
                </a:solidFill>
                <a:latin typeface="Arial"/>
                <a:cs typeface="Arial"/>
              </a:rPr>
              <a:t>empleado) Teléfono(número-</a:t>
            </a:r>
            <a:r>
              <a:rPr sz="2400" b="1" dirty="0">
                <a:solidFill>
                  <a:srgbClr val="365F92"/>
                </a:solidFill>
                <a:latin typeface="Arial"/>
                <a:cs typeface="Arial"/>
              </a:rPr>
              <a:t>teléfono,</a:t>
            </a:r>
            <a:r>
              <a:rPr sz="2400" b="1" spc="-80" dirty="0">
                <a:solidFill>
                  <a:srgbClr val="365F92"/>
                </a:solidFill>
                <a:latin typeface="Arial"/>
                <a:cs typeface="Arial"/>
              </a:rPr>
              <a:t> </a:t>
            </a:r>
            <a:r>
              <a:rPr sz="2400" b="1" spc="-10" dirty="0">
                <a:solidFill>
                  <a:srgbClr val="365F92"/>
                </a:solidFill>
                <a:latin typeface="Arial"/>
                <a:cs typeface="Arial"/>
              </a:rPr>
              <a:t>oficina) </a:t>
            </a:r>
            <a:r>
              <a:rPr lang="es-ES" sz="2800" dirty="0">
                <a:latin typeface="Arial MT"/>
                <a:cs typeface="Arial MT"/>
              </a:rPr>
              <a:t>Relación</a:t>
            </a:r>
            <a:r>
              <a:rPr lang="es-ES" sz="2400" b="1" spc="-10" dirty="0" smtClean="0">
                <a:solidFill>
                  <a:srgbClr val="365F92"/>
                </a:solidFill>
                <a:latin typeface="Arial"/>
                <a:cs typeface="Arial"/>
              </a:rPr>
              <a:t> </a:t>
            </a:r>
            <a:r>
              <a:rPr sz="2400" b="1" spc="-10" dirty="0" err="1" smtClean="0">
                <a:solidFill>
                  <a:srgbClr val="365F92"/>
                </a:solidFill>
                <a:latin typeface="Arial"/>
                <a:cs typeface="Arial"/>
              </a:rPr>
              <a:t>EmpTel</a:t>
            </a:r>
            <a:r>
              <a:rPr lang="es-ES" sz="2400" b="1" spc="-10" dirty="0" smtClean="0">
                <a:solidFill>
                  <a:srgbClr val="365F92"/>
                </a:solidFill>
                <a:latin typeface="Arial"/>
                <a:cs typeface="Arial"/>
              </a:rPr>
              <a:t> </a:t>
            </a:r>
            <a:endParaRPr sz="2400" dirty="0">
              <a:latin typeface="Arial"/>
              <a:cs typeface="Arial"/>
            </a:endParaRPr>
          </a:p>
        </p:txBody>
      </p:sp>
      <p:sp>
        <p:nvSpPr>
          <p:cNvPr id="8" name="object 8"/>
          <p:cNvSpPr txBox="1"/>
          <p:nvPr/>
        </p:nvSpPr>
        <p:spPr>
          <a:xfrm>
            <a:off x="1410601" y="4886957"/>
            <a:ext cx="1094740" cy="391160"/>
          </a:xfrm>
          <a:prstGeom prst="rect">
            <a:avLst/>
          </a:prstGeom>
        </p:spPr>
        <p:txBody>
          <a:bodyPr vert="horz" wrap="square" lIns="0" tIns="12700" rIns="0" bIns="0" rtlCol="0">
            <a:spAutoFit/>
          </a:bodyPr>
          <a:lstStyle/>
          <a:p>
            <a:pPr marL="12700">
              <a:lnSpc>
                <a:spcPct val="100000"/>
              </a:lnSpc>
              <a:spcBef>
                <a:spcPts val="100"/>
              </a:spcBef>
            </a:pPr>
            <a:endParaRPr sz="2400" dirty="0">
              <a:latin typeface="Arial MT"/>
              <a:cs typeface="Arial MT"/>
            </a:endParaRPr>
          </a:p>
        </p:txBody>
      </p:sp>
      <p:sp>
        <p:nvSpPr>
          <p:cNvPr id="9" name="object 9"/>
          <p:cNvSpPr txBox="1"/>
          <p:nvPr/>
        </p:nvSpPr>
        <p:spPr>
          <a:xfrm>
            <a:off x="1067696" y="5339586"/>
            <a:ext cx="8110220" cy="873957"/>
          </a:xfrm>
          <a:prstGeom prst="rect">
            <a:avLst/>
          </a:prstGeom>
        </p:spPr>
        <p:txBody>
          <a:bodyPr vert="horz" wrap="square" lIns="0" tIns="12065" rIns="0" bIns="0" rtlCol="0">
            <a:spAutoFit/>
          </a:bodyPr>
          <a:lstStyle/>
          <a:p>
            <a:pPr marL="353695" marR="5080" indent="-341630">
              <a:lnSpc>
                <a:spcPct val="100000"/>
              </a:lnSpc>
              <a:spcBef>
                <a:spcPts val="95"/>
              </a:spcBef>
              <a:buChar char="•"/>
              <a:tabLst>
                <a:tab pos="355600" algn="l"/>
              </a:tabLst>
            </a:pPr>
            <a:r>
              <a:rPr sz="2800" dirty="0">
                <a:latin typeface="Arial MT"/>
                <a:cs typeface="Arial MT"/>
              </a:rPr>
              <a:t>los</a:t>
            </a:r>
            <a:r>
              <a:rPr sz="2800" spc="-85" dirty="0">
                <a:latin typeface="Arial MT"/>
                <a:cs typeface="Arial MT"/>
              </a:rPr>
              <a:t> </a:t>
            </a:r>
            <a:r>
              <a:rPr sz="2800" dirty="0">
                <a:latin typeface="Arial MT"/>
                <a:cs typeface="Arial MT"/>
              </a:rPr>
              <a:t>empleados</a:t>
            </a:r>
            <a:r>
              <a:rPr sz="2800" spc="-80" dirty="0">
                <a:latin typeface="Arial MT"/>
                <a:cs typeface="Arial MT"/>
              </a:rPr>
              <a:t> </a:t>
            </a:r>
            <a:r>
              <a:rPr sz="2800" dirty="0">
                <a:latin typeface="Arial MT"/>
                <a:cs typeface="Arial MT"/>
              </a:rPr>
              <a:t>pueden</a:t>
            </a:r>
            <a:r>
              <a:rPr sz="2800" spc="-80" dirty="0">
                <a:latin typeface="Arial MT"/>
                <a:cs typeface="Arial MT"/>
              </a:rPr>
              <a:t> </a:t>
            </a:r>
            <a:r>
              <a:rPr sz="2800" dirty="0">
                <a:latin typeface="Arial MT"/>
                <a:cs typeface="Arial MT"/>
              </a:rPr>
              <a:t>tener</a:t>
            </a:r>
            <a:r>
              <a:rPr sz="2800" spc="-75" dirty="0">
                <a:latin typeface="Arial MT"/>
                <a:cs typeface="Arial MT"/>
              </a:rPr>
              <a:t> </a:t>
            </a:r>
            <a:r>
              <a:rPr sz="2800" b="1" dirty="0">
                <a:latin typeface="Arial"/>
                <a:cs typeface="Arial"/>
              </a:rPr>
              <a:t>varios</a:t>
            </a:r>
            <a:r>
              <a:rPr sz="2800" b="1" spc="-80" dirty="0">
                <a:latin typeface="Arial"/>
                <a:cs typeface="Arial"/>
              </a:rPr>
              <a:t> </a:t>
            </a:r>
            <a:r>
              <a:rPr sz="2800" b="1" dirty="0">
                <a:latin typeface="Arial"/>
                <a:cs typeface="Arial"/>
              </a:rPr>
              <a:t>números</a:t>
            </a:r>
            <a:r>
              <a:rPr sz="2800" b="1" spc="-80" dirty="0">
                <a:latin typeface="Arial"/>
                <a:cs typeface="Arial"/>
              </a:rPr>
              <a:t> </a:t>
            </a:r>
            <a:r>
              <a:rPr sz="2800" spc="-25" dirty="0">
                <a:latin typeface="Arial MT"/>
                <a:cs typeface="Arial MT"/>
              </a:rPr>
              <a:t>de 	</a:t>
            </a:r>
            <a:r>
              <a:rPr sz="2800" spc="-10" dirty="0" err="1" smtClean="0">
                <a:latin typeface="Arial MT"/>
                <a:cs typeface="Arial MT"/>
              </a:rPr>
              <a:t>teléfono</a:t>
            </a:r>
            <a:endParaRPr sz="2800" dirty="0">
              <a:latin typeface="Arial MT"/>
              <a:cs typeface="Arial M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8900" y="577850"/>
            <a:ext cx="7705702" cy="1411351"/>
          </a:xfrm>
          <a:prstGeom prst="rect">
            <a:avLst/>
          </a:prstGeom>
        </p:spPr>
        <p:txBody>
          <a:bodyPr vert="horz" wrap="square" lIns="0" tIns="316865" rIns="0" bIns="0" rtlCol="0">
            <a:spAutoFit/>
          </a:bodyPr>
          <a:lstStyle/>
          <a:p>
            <a:pPr marL="1511935">
              <a:lnSpc>
                <a:spcPct val="100000"/>
              </a:lnSpc>
              <a:spcBef>
                <a:spcPts val="95"/>
              </a:spcBef>
            </a:pPr>
            <a:r>
              <a:rPr sz="4000" b="1" dirty="0">
                <a:latin typeface="Arial"/>
                <a:cs typeface="Arial"/>
              </a:rPr>
              <a:t>¿Atributo</a:t>
            </a:r>
            <a:r>
              <a:rPr sz="4000" b="1" spc="-60" dirty="0">
                <a:latin typeface="Arial"/>
                <a:cs typeface="Arial"/>
              </a:rPr>
              <a:t> </a:t>
            </a:r>
            <a:r>
              <a:rPr sz="4000" b="1" dirty="0">
                <a:latin typeface="Arial"/>
                <a:cs typeface="Arial"/>
              </a:rPr>
              <a:t>o</a:t>
            </a:r>
            <a:r>
              <a:rPr sz="4000" b="1" spc="-60" dirty="0">
                <a:latin typeface="Arial"/>
                <a:cs typeface="Arial"/>
              </a:rPr>
              <a:t> </a:t>
            </a:r>
            <a:r>
              <a:rPr sz="4000" b="1" spc="-10" dirty="0">
                <a:latin typeface="Arial"/>
                <a:cs typeface="Arial"/>
              </a:rPr>
              <a:t>Entidad?</a:t>
            </a:r>
            <a:endParaRPr sz="4000" dirty="0">
              <a:latin typeface="Arial"/>
              <a:cs typeface="Arial"/>
            </a:endParaRPr>
          </a:p>
        </p:txBody>
      </p:sp>
      <p:sp>
        <p:nvSpPr>
          <p:cNvPr id="3" name="object 3"/>
          <p:cNvSpPr txBox="1"/>
          <p:nvPr/>
        </p:nvSpPr>
        <p:spPr>
          <a:xfrm>
            <a:off x="1537094" y="2314447"/>
            <a:ext cx="7799705" cy="2512867"/>
          </a:xfrm>
          <a:prstGeom prst="rect">
            <a:avLst/>
          </a:prstGeom>
        </p:spPr>
        <p:txBody>
          <a:bodyPr vert="horz" wrap="square" lIns="0" tIns="12065" rIns="0" bIns="0" rtlCol="0">
            <a:spAutoFit/>
          </a:bodyPr>
          <a:lstStyle/>
          <a:p>
            <a:pPr marL="299085">
              <a:lnSpc>
                <a:spcPct val="100000"/>
              </a:lnSpc>
              <a:spcBef>
                <a:spcPts val="95"/>
              </a:spcBef>
            </a:pPr>
            <a:r>
              <a:rPr sz="2800" b="1" dirty="0">
                <a:latin typeface="Arial"/>
                <a:cs typeface="Arial"/>
              </a:rPr>
              <a:t>¿Qué</a:t>
            </a:r>
            <a:r>
              <a:rPr sz="2800" b="1" spc="-65" dirty="0">
                <a:latin typeface="Arial"/>
                <a:cs typeface="Arial"/>
              </a:rPr>
              <a:t> </a:t>
            </a:r>
            <a:r>
              <a:rPr sz="2800" b="1" dirty="0">
                <a:latin typeface="Arial"/>
                <a:cs typeface="Arial"/>
              </a:rPr>
              <a:t>constituye</a:t>
            </a:r>
            <a:r>
              <a:rPr sz="2800" b="1" spc="-50" dirty="0">
                <a:latin typeface="Arial"/>
                <a:cs typeface="Arial"/>
              </a:rPr>
              <a:t> </a:t>
            </a:r>
            <a:r>
              <a:rPr sz="2800" b="1" dirty="0">
                <a:latin typeface="Arial"/>
                <a:cs typeface="Arial"/>
              </a:rPr>
              <a:t>un</a:t>
            </a:r>
            <a:r>
              <a:rPr sz="2800" b="1" spc="-70" dirty="0">
                <a:latin typeface="Arial"/>
                <a:cs typeface="Arial"/>
              </a:rPr>
              <a:t> </a:t>
            </a:r>
            <a:r>
              <a:rPr sz="2800" b="1" dirty="0">
                <a:latin typeface="Arial"/>
                <a:cs typeface="Arial"/>
              </a:rPr>
              <a:t>atributo</a:t>
            </a:r>
            <a:r>
              <a:rPr sz="2800" b="1" spc="-70" dirty="0">
                <a:latin typeface="Arial"/>
                <a:cs typeface="Arial"/>
              </a:rPr>
              <a:t> </a:t>
            </a:r>
            <a:r>
              <a:rPr sz="2800" b="1" dirty="0">
                <a:latin typeface="Arial"/>
                <a:cs typeface="Arial"/>
              </a:rPr>
              <a:t>o</a:t>
            </a:r>
            <a:r>
              <a:rPr sz="2800" b="1" spc="-70" dirty="0">
                <a:latin typeface="Arial"/>
                <a:cs typeface="Arial"/>
              </a:rPr>
              <a:t> </a:t>
            </a:r>
            <a:r>
              <a:rPr sz="2800" b="1" dirty="0">
                <a:latin typeface="Arial"/>
                <a:cs typeface="Arial"/>
              </a:rPr>
              <a:t>una</a:t>
            </a:r>
            <a:r>
              <a:rPr sz="2800" b="1" spc="-50" dirty="0">
                <a:latin typeface="Arial"/>
                <a:cs typeface="Arial"/>
              </a:rPr>
              <a:t> </a:t>
            </a:r>
            <a:r>
              <a:rPr sz="2800" b="1" spc="-10" dirty="0">
                <a:latin typeface="Arial"/>
                <a:cs typeface="Arial"/>
              </a:rPr>
              <a:t>entidad?</a:t>
            </a:r>
            <a:endParaRPr sz="2800" dirty="0">
              <a:latin typeface="Arial"/>
              <a:cs typeface="Arial"/>
            </a:endParaRPr>
          </a:p>
          <a:p>
            <a:pPr>
              <a:lnSpc>
                <a:spcPct val="100000"/>
              </a:lnSpc>
              <a:spcBef>
                <a:spcPts val="2660"/>
              </a:spcBef>
            </a:pPr>
            <a:endParaRPr sz="2800" dirty="0">
              <a:latin typeface="Arial"/>
              <a:cs typeface="Arial"/>
            </a:endParaRPr>
          </a:p>
          <a:p>
            <a:pPr marL="12700">
              <a:lnSpc>
                <a:spcPct val="100000"/>
              </a:lnSpc>
            </a:pPr>
            <a:r>
              <a:rPr sz="2800" dirty="0" err="1">
                <a:latin typeface="Arial MT"/>
                <a:cs typeface="Arial MT"/>
              </a:rPr>
              <a:t>Depende</a:t>
            </a:r>
            <a:r>
              <a:rPr sz="2800" spc="-90" dirty="0">
                <a:latin typeface="Arial MT"/>
                <a:cs typeface="Arial MT"/>
              </a:rPr>
              <a:t> </a:t>
            </a:r>
            <a:r>
              <a:rPr sz="2800" spc="-25" dirty="0" smtClean="0">
                <a:latin typeface="Arial MT"/>
                <a:cs typeface="Arial MT"/>
              </a:rPr>
              <a:t>de</a:t>
            </a:r>
            <a:r>
              <a:rPr lang="es-ES" sz="2800" spc="-25" dirty="0" smtClean="0">
                <a:latin typeface="Arial MT"/>
                <a:cs typeface="Arial MT"/>
              </a:rPr>
              <a:t> </a:t>
            </a:r>
            <a:r>
              <a:rPr sz="2800" dirty="0" smtClean="0">
                <a:latin typeface="Arial MT"/>
                <a:cs typeface="Arial MT"/>
              </a:rPr>
              <a:t>la</a:t>
            </a:r>
            <a:r>
              <a:rPr sz="2800" spc="-55" dirty="0" smtClean="0">
                <a:latin typeface="Arial MT"/>
                <a:cs typeface="Arial MT"/>
              </a:rPr>
              <a:t> </a:t>
            </a:r>
            <a:r>
              <a:rPr sz="2800" dirty="0" err="1">
                <a:latin typeface="Arial MT"/>
                <a:cs typeface="Arial MT"/>
              </a:rPr>
              <a:t>estructura</a:t>
            </a:r>
            <a:r>
              <a:rPr sz="2800" spc="-50" dirty="0">
                <a:latin typeface="Arial MT"/>
                <a:cs typeface="Arial MT"/>
              </a:rPr>
              <a:t> </a:t>
            </a:r>
            <a:r>
              <a:rPr sz="2800" dirty="0" smtClean="0">
                <a:latin typeface="Arial MT"/>
                <a:cs typeface="Arial MT"/>
              </a:rPr>
              <a:t>de</a:t>
            </a:r>
            <a:r>
              <a:rPr lang="es-ES" sz="2800" spc="-50" dirty="0" smtClean="0">
                <a:latin typeface="Arial MT"/>
                <a:cs typeface="Arial MT"/>
              </a:rPr>
              <a:t>l modelo de negocio </a:t>
            </a:r>
            <a:r>
              <a:rPr sz="2800" dirty="0" smtClean="0">
                <a:latin typeface="Arial MT"/>
                <a:cs typeface="Arial MT"/>
              </a:rPr>
              <a:t>que</a:t>
            </a:r>
            <a:r>
              <a:rPr sz="2800" spc="-55" dirty="0" smtClean="0">
                <a:latin typeface="Arial MT"/>
                <a:cs typeface="Arial MT"/>
              </a:rPr>
              <a:t> </a:t>
            </a:r>
            <a:r>
              <a:rPr sz="2800" dirty="0">
                <a:latin typeface="Arial MT"/>
                <a:cs typeface="Arial MT"/>
              </a:rPr>
              <a:t>se</a:t>
            </a:r>
            <a:r>
              <a:rPr sz="2800" spc="-50" dirty="0">
                <a:latin typeface="Arial MT"/>
                <a:cs typeface="Arial MT"/>
              </a:rPr>
              <a:t> </a:t>
            </a:r>
            <a:r>
              <a:rPr sz="2800" dirty="0" err="1">
                <a:latin typeface="Arial MT"/>
                <a:cs typeface="Arial MT"/>
              </a:rPr>
              <a:t>modela</a:t>
            </a:r>
            <a:r>
              <a:rPr sz="2800" spc="-50" dirty="0">
                <a:latin typeface="Arial MT"/>
                <a:cs typeface="Arial MT"/>
              </a:rPr>
              <a:t> </a:t>
            </a:r>
            <a:r>
              <a:rPr sz="2800" spc="-50" dirty="0" smtClean="0">
                <a:latin typeface="Arial MT"/>
                <a:cs typeface="Arial MT"/>
              </a:rPr>
              <a:t>y</a:t>
            </a:r>
            <a:r>
              <a:rPr lang="es-ES" sz="2800" spc="-50" dirty="0" smtClean="0">
                <a:latin typeface="Arial MT"/>
                <a:cs typeface="Arial MT"/>
              </a:rPr>
              <a:t> </a:t>
            </a:r>
            <a:r>
              <a:rPr sz="2800" dirty="0" smtClean="0">
                <a:latin typeface="Arial MT"/>
                <a:cs typeface="Arial MT"/>
              </a:rPr>
              <a:t>la</a:t>
            </a:r>
            <a:r>
              <a:rPr sz="2800" spc="-60" dirty="0" smtClean="0">
                <a:latin typeface="Arial MT"/>
                <a:cs typeface="Arial MT"/>
              </a:rPr>
              <a:t> </a:t>
            </a:r>
            <a:r>
              <a:rPr sz="2800" dirty="0">
                <a:latin typeface="Arial MT"/>
                <a:cs typeface="Arial MT"/>
              </a:rPr>
              <a:t>semántica</a:t>
            </a:r>
            <a:r>
              <a:rPr sz="2800" spc="-60" dirty="0">
                <a:latin typeface="Arial MT"/>
                <a:cs typeface="Arial MT"/>
              </a:rPr>
              <a:t> </a:t>
            </a:r>
            <a:r>
              <a:rPr sz="2800" dirty="0">
                <a:latin typeface="Arial MT"/>
                <a:cs typeface="Arial MT"/>
              </a:rPr>
              <a:t>asociada</a:t>
            </a:r>
            <a:r>
              <a:rPr sz="2800" spc="-55" dirty="0">
                <a:latin typeface="Arial MT"/>
                <a:cs typeface="Arial MT"/>
              </a:rPr>
              <a:t> </a:t>
            </a:r>
            <a:r>
              <a:rPr sz="2800" dirty="0">
                <a:latin typeface="Arial MT"/>
                <a:cs typeface="Arial MT"/>
              </a:rPr>
              <a:t>con</a:t>
            </a:r>
            <a:r>
              <a:rPr sz="2800" spc="-60" dirty="0">
                <a:latin typeface="Arial MT"/>
                <a:cs typeface="Arial MT"/>
              </a:rPr>
              <a:t> </a:t>
            </a:r>
            <a:r>
              <a:rPr sz="2800" dirty="0">
                <a:latin typeface="Arial MT"/>
                <a:cs typeface="Arial MT"/>
              </a:rPr>
              <a:t>el</a:t>
            </a:r>
            <a:r>
              <a:rPr sz="2800" spc="-65" dirty="0">
                <a:latin typeface="Arial MT"/>
                <a:cs typeface="Arial MT"/>
              </a:rPr>
              <a:t> </a:t>
            </a:r>
            <a:r>
              <a:rPr sz="2800" dirty="0">
                <a:latin typeface="Arial MT"/>
                <a:cs typeface="Arial MT"/>
              </a:rPr>
              <a:t>atributo</a:t>
            </a:r>
            <a:r>
              <a:rPr sz="2800" spc="-55" dirty="0">
                <a:latin typeface="Arial MT"/>
                <a:cs typeface="Arial MT"/>
              </a:rPr>
              <a:t> </a:t>
            </a:r>
            <a:r>
              <a:rPr sz="2800" spc="-25" dirty="0">
                <a:latin typeface="Arial MT"/>
                <a:cs typeface="Arial MT"/>
              </a:rPr>
              <a:t>en 	</a:t>
            </a:r>
            <a:r>
              <a:rPr sz="2800" spc="-10" dirty="0">
                <a:latin typeface="Arial MT"/>
                <a:cs typeface="Arial MT"/>
              </a:rPr>
              <a:t>cuestión.</a:t>
            </a:r>
            <a:endParaRPr sz="2800" dirty="0">
              <a:latin typeface="Arial MT"/>
              <a:cs typeface="Arial M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99917" y="577850"/>
            <a:ext cx="7705702" cy="1411351"/>
          </a:xfrm>
          <a:prstGeom prst="rect">
            <a:avLst/>
          </a:prstGeom>
        </p:spPr>
        <p:txBody>
          <a:bodyPr vert="horz" wrap="square" lIns="0" tIns="12065" rIns="0" bIns="0" rtlCol="0">
            <a:spAutoFit/>
          </a:bodyPr>
          <a:lstStyle/>
          <a:p>
            <a:pPr marL="2829560" marR="5080" indent="-2202180">
              <a:lnSpc>
                <a:spcPct val="100000"/>
              </a:lnSpc>
              <a:spcBef>
                <a:spcPts val="95"/>
              </a:spcBef>
            </a:pPr>
            <a:r>
              <a:rPr sz="4000" b="1" dirty="0">
                <a:latin typeface="Arial"/>
                <a:cs typeface="Arial"/>
              </a:rPr>
              <a:t>Restricciones</a:t>
            </a:r>
            <a:r>
              <a:rPr sz="4000" b="1" spc="-130" dirty="0">
                <a:latin typeface="Arial"/>
                <a:cs typeface="Arial"/>
              </a:rPr>
              <a:t> </a:t>
            </a:r>
            <a:r>
              <a:rPr sz="4000" b="1" dirty="0">
                <a:latin typeface="Arial"/>
                <a:cs typeface="Arial"/>
              </a:rPr>
              <a:t>de</a:t>
            </a:r>
            <a:r>
              <a:rPr sz="4000" b="1" spc="-125" dirty="0">
                <a:latin typeface="Arial"/>
                <a:cs typeface="Arial"/>
              </a:rPr>
              <a:t> </a:t>
            </a:r>
            <a:r>
              <a:rPr sz="4000" b="1" spc="-10" dirty="0">
                <a:latin typeface="Arial"/>
                <a:cs typeface="Arial"/>
              </a:rPr>
              <a:t>asignación (mapping)</a:t>
            </a:r>
            <a:endParaRPr sz="4000" dirty="0">
              <a:latin typeface="Arial"/>
              <a:cs typeface="Arial"/>
            </a:endParaRPr>
          </a:p>
        </p:txBody>
      </p:sp>
      <p:sp>
        <p:nvSpPr>
          <p:cNvPr id="3" name="object 3"/>
          <p:cNvSpPr txBox="1">
            <a:spLocks noGrp="1"/>
          </p:cNvSpPr>
          <p:nvPr>
            <p:ph idx="1"/>
          </p:nvPr>
        </p:nvSpPr>
        <p:spPr>
          <a:xfrm>
            <a:off x="1384300" y="2254250"/>
            <a:ext cx="8596207" cy="3149388"/>
          </a:xfrm>
          <a:prstGeom prst="rect">
            <a:avLst/>
          </a:prstGeom>
        </p:spPr>
        <p:txBody>
          <a:bodyPr vert="horz" wrap="square" lIns="0" tIns="12065" rIns="0" bIns="0" rtlCol="0">
            <a:spAutoFit/>
          </a:bodyPr>
          <a:lstStyle/>
          <a:p>
            <a:pPr marL="440673" marR="666750" indent="0" algn="ctr">
              <a:spcBef>
                <a:spcPts val="95"/>
              </a:spcBef>
              <a:buNone/>
            </a:pPr>
            <a:r>
              <a:rPr b="0" dirty="0">
                <a:latin typeface="Arial MT"/>
                <a:cs typeface="Arial MT"/>
              </a:rPr>
              <a:t>La</a:t>
            </a:r>
            <a:r>
              <a:rPr b="0" spc="-85" dirty="0">
                <a:latin typeface="Arial MT"/>
                <a:cs typeface="Arial MT"/>
              </a:rPr>
              <a:t> </a:t>
            </a:r>
            <a:r>
              <a:rPr dirty="0"/>
              <a:t>cardinalidad</a:t>
            </a:r>
            <a:r>
              <a:rPr spc="-95" dirty="0"/>
              <a:t> </a:t>
            </a:r>
            <a:r>
              <a:rPr dirty="0"/>
              <a:t>de</a:t>
            </a:r>
            <a:r>
              <a:rPr spc="-80" dirty="0"/>
              <a:t> </a:t>
            </a:r>
            <a:r>
              <a:rPr dirty="0"/>
              <a:t>asignación</a:t>
            </a:r>
            <a:r>
              <a:rPr spc="-95" dirty="0"/>
              <a:t> </a:t>
            </a:r>
            <a:r>
              <a:rPr b="0" spc="-10" dirty="0">
                <a:latin typeface="Arial MT"/>
                <a:cs typeface="Arial MT"/>
              </a:rPr>
              <a:t>expresa </a:t>
            </a:r>
            <a:r>
              <a:rPr b="0" dirty="0">
                <a:latin typeface="Arial MT"/>
                <a:cs typeface="Arial MT"/>
              </a:rPr>
              <a:t>el</a:t>
            </a:r>
            <a:r>
              <a:rPr b="0" spc="-60" dirty="0">
                <a:latin typeface="Arial MT"/>
                <a:cs typeface="Arial MT"/>
              </a:rPr>
              <a:t> </a:t>
            </a:r>
            <a:r>
              <a:rPr dirty="0"/>
              <a:t>número</a:t>
            </a:r>
            <a:r>
              <a:rPr spc="-60" dirty="0"/>
              <a:t> </a:t>
            </a:r>
            <a:r>
              <a:rPr dirty="0"/>
              <a:t>de</a:t>
            </a:r>
            <a:r>
              <a:rPr spc="-50" dirty="0"/>
              <a:t> </a:t>
            </a:r>
            <a:r>
              <a:rPr spc="-10" dirty="0" err="1" smtClean="0"/>
              <a:t>entidades</a:t>
            </a:r>
            <a:r>
              <a:rPr lang="es-ES" spc="-10" dirty="0" smtClean="0"/>
              <a:t> </a:t>
            </a:r>
            <a:r>
              <a:rPr b="0" dirty="0" smtClean="0">
                <a:latin typeface="Arial MT"/>
                <a:cs typeface="Arial MT"/>
              </a:rPr>
              <a:t>con</a:t>
            </a:r>
            <a:r>
              <a:rPr b="0" spc="-45" dirty="0" smtClean="0">
                <a:latin typeface="Arial MT"/>
                <a:cs typeface="Arial MT"/>
              </a:rPr>
              <a:t> </a:t>
            </a:r>
            <a:r>
              <a:rPr b="0" dirty="0">
                <a:latin typeface="Arial MT"/>
                <a:cs typeface="Arial MT"/>
              </a:rPr>
              <a:t>las</a:t>
            </a:r>
            <a:r>
              <a:rPr b="0" spc="-45" dirty="0">
                <a:latin typeface="Arial MT"/>
                <a:cs typeface="Arial MT"/>
              </a:rPr>
              <a:t> </a:t>
            </a:r>
            <a:r>
              <a:rPr b="0" dirty="0">
                <a:latin typeface="Arial MT"/>
                <a:cs typeface="Arial MT"/>
              </a:rPr>
              <a:t>que</a:t>
            </a:r>
            <a:r>
              <a:rPr b="0" spc="-40" dirty="0">
                <a:latin typeface="Arial MT"/>
                <a:cs typeface="Arial MT"/>
              </a:rPr>
              <a:t> </a:t>
            </a:r>
            <a:r>
              <a:rPr b="0" dirty="0">
                <a:latin typeface="Arial MT"/>
                <a:cs typeface="Arial MT"/>
              </a:rPr>
              <a:t>se</a:t>
            </a:r>
            <a:r>
              <a:rPr b="0" spc="-45" dirty="0">
                <a:latin typeface="Arial MT"/>
                <a:cs typeface="Arial MT"/>
              </a:rPr>
              <a:t> </a:t>
            </a:r>
            <a:r>
              <a:rPr b="0" dirty="0">
                <a:latin typeface="Arial MT"/>
                <a:cs typeface="Arial MT"/>
              </a:rPr>
              <a:t>puede</a:t>
            </a:r>
            <a:r>
              <a:rPr b="0" spc="-50" dirty="0">
                <a:latin typeface="Arial MT"/>
                <a:cs typeface="Arial MT"/>
              </a:rPr>
              <a:t> </a:t>
            </a:r>
            <a:r>
              <a:rPr dirty="0"/>
              <a:t>asociar</a:t>
            </a:r>
            <a:r>
              <a:rPr spc="-45" dirty="0"/>
              <a:t> </a:t>
            </a:r>
            <a:r>
              <a:rPr b="0" dirty="0">
                <a:latin typeface="Arial MT"/>
                <a:cs typeface="Arial MT"/>
              </a:rPr>
              <a:t>otra</a:t>
            </a:r>
            <a:r>
              <a:rPr b="0" spc="-45" dirty="0">
                <a:latin typeface="Arial MT"/>
                <a:cs typeface="Arial MT"/>
              </a:rPr>
              <a:t> </a:t>
            </a:r>
            <a:r>
              <a:rPr b="0" spc="-10" dirty="0">
                <a:latin typeface="Arial MT"/>
                <a:cs typeface="Arial MT"/>
              </a:rPr>
              <a:t>entidad </a:t>
            </a:r>
            <a:r>
              <a:rPr b="0" dirty="0">
                <a:latin typeface="Arial MT"/>
                <a:cs typeface="Arial MT"/>
              </a:rPr>
              <a:t>a</a:t>
            </a:r>
            <a:r>
              <a:rPr b="0" spc="-40" dirty="0">
                <a:latin typeface="Arial MT"/>
                <a:cs typeface="Arial MT"/>
              </a:rPr>
              <a:t> </a:t>
            </a:r>
            <a:r>
              <a:rPr b="0" dirty="0">
                <a:latin typeface="Arial MT"/>
                <a:cs typeface="Arial MT"/>
              </a:rPr>
              <a:t>través</a:t>
            </a:r>
            <a:r>
              <a:rPr b="0" spc="-55" dirty="0">
                <a:latin typeface="Arial MT"/>
                <a:cs typeface="Arial MT"/>
              </a:rPr>
              <a:t> </a:t>
            </a:r>
            <a:r>
              <a:rPr b="0" dirty="0">
                <a:latin typeface="Arial MT"/>
                <a:cs typeface="Arial MT"/>
              </a:rPr>
              <a:t>de</a:t>
            </a:r>
            <a:r>
              <a:rPr b="0" spc="-40" dirty="0">
                <a:latin typeface="Arial MT"/>
                <a:cs typeface="Arial MT"/>
              </a:rPr>
              <a:t> </a:t>
            </a:r>
            <a:r>
              <a:rPr b="0" dirty="0">
                <a:latin typeface="Arial MT"/>
                <a:cs typeface="Arial MT"/>
              </a:rPr>
              <a:t>un</a:t>
            </a:r>
            <a:r>
              <a:rPr b="0" spc="-40" dirty="0">
                <a:latin typeface="Arial MT"/>
                <a:cs typeface="Arial MT"/>
              </a:rPr>
              <a:t> </a:t>
            </a:r>
            <a:r>
              <a:rPr b="0" dirty="0">
                <a:latin typeface="Arial MT"/>
                <a:cs typeface="Arial MT"/>
              </a:rPr>
              <a:t>conjunto</a:t>
            </a:r>
            <a:r>
              <a:rPr b="0" spc="-40" dirty="0">
                <a:latin typeface="Arial MT"/>
                <a:cs typeface="Arial MT"/>
              </a:rPr>
              <a:t> </a:t>
            </a:r>
            <a:r>
              <a:rPr b="0" dirty="0">
                <a:latin typeface="Arial MT"/>
                <a:cs typeface="Arial MT"/>
              </a:rPr>
              <a:t>de</a:t>
            </a:r>
            <a:r>
              <a:rPr b="0" spc="-40" dirty="0">
                <a:latin typeface="Arial MT"/>
                <a:cs typeface="Arial MT"/>
              </a:rPr>
              <a:t> </a:t>
            </a:r>
            <a:r>
              <a:rPr b="0" spc="-10" dirty="0" err="1">
                <a:latin typeface="Arial MT"/>
                <a:cs typeface="Arial MT"/>
              </a:rPr>
              <a:t>relaciones</a:t>
            </a:r>
            <a:r>
              <a:rPr b="0" spc="-10" dirty="0" smtClean="0">
                <a:latin typeface="Arial MT"/>
                <a:cs typeface="Arial MT"/>
              </a:rPr>
              <a:t>.</a:t>
            </a:r>
            <a:endParaRPr lang="es-ES" b="0" spc="-10" dirty="0" smtClean="0">
              <a:latin typeface="Arial MT"/>
              <a:cs typeface="Arial MT"/>
            </a:endParaRPr>
          </a:p>
          <a:p>
            <a:pPr marL="440673" marR="666750" indent="0" algn="ctr">
              <a:spcBef>
                <a:spcPts val="95"/>
              </a:spcBef>
              <a:buNone/>
            </a:pPr>
            <a:endParaRPr lang="es-ES" b="0" spc="-10" dirty="0" smtClean="0">
              <a:latin typeface="Arial MT"/>
              <a:cs typeface="Arial MT"/>
            </a:endParaRPr>
          </a:p>
          <a:p>
            <a:pPr marL="440673" marR="666750" indent="0" algn="ctr">
              <a:spcBef>
                <a:spcPts val="95"/>
              </a:spcBef>
              <a:buNone/>
            </a:pPr>
            <a:r>
              <a:rPr lang="es-ES" b="1" dirty="0" smtClean="0"/>
              <a:t>Es decir, que define</a:t>
            </a:r>
            <a:r>
              <a:rPr lang="es-ES" b="1" dirty="0"/>
              <a:t> cuántas veces una entidad puede estar relacionada con </a:t>
            </a:r>
            <a:r>
              <a:rPr lang="es-ES" b="1" dirty="0" smtClean="0"/>
              <a:t>otra.</a:t>
            </a:r>
            <a:endParaRPr b="1" spc="-10" dirty="0">
              <a:latin typeface="Arial MT"/>
              <a:cs typeface="Arial MT"/>
            </a:endParaRPr>
          </a:p>
          <a:p>
            <a:pPr>
              <a:lnSpc>
                <a:spcPct val="100000"/>
              </a:lnSpc>
              <a:spcBef>
                <a:spcPts val="2745"/>
              </a:spcBef>
            </a:pPr>
            <a:endParaRPr b="0" spc="-10" dirty="0">
              <a:latin typeface="Arial MT"/>
              <a:cs typeface="Arial MT"/>
            </a:endParaRPr>
          </a:p>
          <a:p>
            <a:pPr marL="354965" marR="5080" indent="-342900">
              <a:lnSpc>
                <a:spcPct val="80000"/>
              </a:lnSpc>
            </a:pPr>
            <a:r>
              <a:rPr b="0" dirty="0">
                <a:latin typeface="Arial MT"/>
                <a:cs typeface="Arial MT"/>
              </a:rPr>
              <a:t>En</a:t>
            </a:r>
            <a:r>
              <a:rPr b="0" spc="-50" dirty="0">
                <a:latin typeface="Arial MT"/>
                <a:cs typeface="Arial MT"/>
              </a:rPr>
              <a:t> </a:t>
            </a:r>
            <a:r>
              <a:rPr b="0" dirty="0">
                <a:latin typeface="Arial MT"/>
                <a:cs typeface="Arial MT"/>
              </a:rPr>
              <a:t>una</a:t>
            </a:r>
            <a:r>
              <a:rPr b="0" spc="-45" dirty="0">
                <a:latin typeface="Arial MT"/>
                <a:cs typeface="Arial MT"/>
              </a:rPr>
              <a:t> </a:t>
            </a:r>
            <a:r>
              <a:rPr b="0" dirty="0">
                <a:latin typeface="Arial MT"/>
                <a:cs typeface="Arial MT"/>
              </a:rPr>
              <a:t>relación</a:t>
            </a:r>
            <a:r>
              <a:rPr b="0" spc="-50" dirty="0">
                <a:latin typeface="Arial MT"/>
                <a:cs typeface="Arial MT"/>
              </a:rPr>
              <a:t> </a:t>
            </a:r>
            <a:r>
              <a:rPr dirty="0"/>
              <a:t>binaria</a:t>
            </a:r>
            <a:r>
              <a:rPr spc="-45" dirty="0"/>
              <a:t> </a:t>
            </a:r>
            <a:r>
              <a:rPr b="0" dirty="0">
                <a:latin typeface="Arial MT"/>
                <a:cs typeface="Arial MT"/>
              </a:rPr>
              <a:t>entre</a:t>
            </a:r>
            <a:r>
              <a:rPr b="0" spc="-45" dirty="0">
                <a:latin typeface="Arial MT"/>
                <a:cs typeface="Arial MT"/>
              </a:rPr>
              <a:t> </a:t>
            </a:r>
            <a:r>
              <a:rPr b="0" dirty="0">
                <a:latin typeface="Arial MT"/>
                <a:cs typeface="Arial MT"/>
              </a:rPr>
              <a:t>las</a:t>
            </a:r>
            <a:r>
              <a:rPr b="0" spc="-45" dirty="0">
                <a:latin typeface="Arial MT"/>
                <a:cs typeface="Arial MT"/>
              </a:rPr>
              <a:t> </a:t>
            </a:r>
            <a:r>
              <a:rPr b="0" dirty="0">
                <a:latin typeface="Arial MT"/>
                <a:cs typeface="Arial MT"/>
              </a:rPr>
              <a:t>entidades</a:t>
            </a:r>
            <a:r>
              <a:rPr b="0" spc="-50" dirty="0">
                <a:latin typeface="Arial MT"/>
                <a:cs typeface="Arial MT"/>
              </a:rPr>
              <a:t> </a:t>
            </a:r>
            <a:r>
              <a:rPr b="0" dirty="0">
                <a:latin typeface="Arial MT"/>
                <a:cs typeface="Arial MT"/>
              </a:rPr>
              <a:t>A</a:t>
            </a:r>
            <a:r>
              <a:rPr b="0" spc="-55" dirty="0">
                <a:latin typeface="Arial MT"/>
                <a:cs typeface="Arial MT"/>
              </a:rPr>
              <a:t> </a:t>
            </a:r>
            <a:r>
              <a:rPr b="0" dirty="0">
                <a:latin typeface="Arial MT"/>
                <a:cs typeface="Arial MT"/>
              </a:rPr>
              <a:t>y</a:t>
            </a:r>
            <a:r>
              <a:rPr b="0" spc="-45" dirty="0">
                <a:latin typeface="Arial MT"/>
                <a:cs typeface="Arial MT"/>
              </a:rPr>
              <a:t> </a:t>
            </a:r>
            <a:r>
              <a:rPr b="0" spc="-25" dirty="0">
                <a:latin typeface="Arial MT"/>
                <a:cs typeface="Arial MT"/>
              </a:rPr>
              <a:t>B, </a:t>
            </a:r>
            <a:r>
              <a:rPr b="0" spc="-25" dirty="0" smtClean="0">
                <a:latin typeface="Arial MT"/>
                <a:cs typeface="Arial MT"/>
              </a:rPr>
              <a:t>la</a:t>
            </a:r>
            <a:r>
              <a:rPr lang="es-ES" b="0" spc="-25" dirty="0" smtClean="0">
                <a:latin typeface="Arial MT"/>
                <a:cs typeface="Arial MT"/>
              </a:rPr>
              <a:t> </a:t>
            </a:r>
            <a:r>
              <a:rPr dirty="0" err="1" smtClean="0"/>
              <a:t>cardinalidad</a:t>
            </a:r>
            <a:r>
              <a:rPr spc="-65" dirty="0" smtClean="0"/>
              <a:t> </a:t>
            </a:r>
            <a:r>
              <a:rPr b="0" dirty="0">
                <a:latin typeface="Arial MT"/>
                <a:cs typeface="Arial MT"/>
              </a:rPr>
              <a:t>debe</a:t>
            </a:r>
            <a:r>
              <a:rPr b="0" spc="-45" dirty="0">
                <a:latin typeface="Arial MT"/>
                <a:cs typeface="Arial MT"/>
              </a:rPr>
              <a:t> </a:t>
            </a:r>
            <a:r>
              <a:rPr b="0" dirty="0">
                <a:latin typeface="Arial MT"/>
                <a:cs typeface="Arial MT"/>
              </a:rPr>
              <a:t>ser</a:t>
            </a:r>
            <a:r>
              <a:rPr b="0" spc="-55" dirty="0">
                <a:latin typeface="Arial MT"/>
                <a:cs typeface="Arial MT"/>
              </a:rPr>
              <a:t> </a:t>
            </a:r>
            <a:r>
              <a:rPr b="0" dirty="0">
                <a:latin typeface="Arial MT"/>
                <a:cs typeface="Arial MT"/>
              </a:rPr>
              <a:t>una</a:t>
            </a:r>
            <a:r>
              <a:rPr b="0" spc="-70" dirty="0">
                <a:latin typeface="Arial MT"/>
                <a:cs typeface="Arial MT"/>
              </a:rPr>
              <a:t> </a:t>
            </a:r>
            <a:r>
              <a:rPr b="0" dirty="0">
                <a:latin typeface="Arial MT"/>
                <a:cs typeface="Arial MT"/>
              </a:rPr>
              <a:t>de</a:t>
            </a:r>
            <a:r>
              <a:rPr b="0" spc="-55" dirty="0">
                <a:latin typeface="Arial MT"/>
                <a:cs typeface="Arial MT"/>
              </a:rPr>
              <a:t> </a:t>
            </a:r>
            <a:r>
              <a:rPr b="0" dirty="0">
                <a:latin typeface="Arial MT"/>
                <a:cs typeface="Arial MT"/>
              </a:rPr>
              <a:t>las</a:t>
            </a:r>
            <a:r>
              <a:rPr b="0" spc="-55" dirty="0">
                <a:latin typeface="Arial MT"/>
                <a:cs typeface="Arial MT"/>
              </a:rPr>
              <a:t> </a:t>
            </a:r>
            <a:r>
              <a:rPr b="0" spc="-10" dirty="0">
                <a:latin typeface="Arial MT"/>
                <a:cs typeface="Arial MT"/>
              </a:rPr>
              <a:t>siguientes:</a:t>
            </a:r>
          </a:p>
        </p:txBody>
      </p:sp>
      <p:sp>
        <p:nvSpPr>
          <p:cNvPr id="4" name="object 4"/>
          <p:cNvSpPr txBox="1"/>
          <p:nvPr/>
        </p:nvSpPr>
        <p:spPr>
          <a:xfrm>
            <a:off x="2224422" y="6150353"/>
            <a:ext cx="540385" cy="452120"/>
          </a:xfrm>
          <a:prstGeom prst="rect">
            <a:avLst/>
          </a:prstGeom>
        </p:spPr>
        <p:txBody>
          <a:bodyPr vert="horz" wrap="square" lIns="0" tIns="12065" rIns="0" bIns="0" rtlCol="0">
            <a:spAutoFit/>
          </a:bodyPr>
          <a:lstStyle/>
          <a:p>
            <a:pPr marL="12700">
              <a:lnSpc>
                <a:spcPct val="100000"/>
              </a:lnSpc>
              <a:spcBef>
                <a:spcPts val="95"/>
              </a:spcBef>
            </a:pPr>
            <a:r>
              <a:rPr sz="2800" b="1" spc="-25" dirty="0">
                <a:latin typeface="Arial"/>
                <a:cs typeface="Arial"/>
              </a:rPr>
              <a:t>1:1</a:t>
            </a:r>
            <a:endParaRPr sz="2800">
              <a:latin typeface="Arial"/>
              <a:cs typeface="Arial"/>
            </a:endParaRPr>
          </a:p>
        </p:txBody>
      </p:sp>
      <p:sp>
        <p:nvSpPr>
          <p:cNvPr id="5" name="object 5"/>
          <p:cNvSpPr txBox="1"/>
          <p:nvPr/>
        </p:nvSpPr>
        <p:spPr>
          <a:xfrm>
            <a:off x="4053328" y="6150353"/>
            <a:ext cx="599440" cy="452120"/>
          </a:xfrm>
          <a:prstGeom prst="rect">
            <a:avLst/>
          </a:prstGeom>
        </p:spPr>
        <p:txBody>
          <a:bodyPr vert="horz" wrap="square" lIns="0" tIns="12065" rIns="0" bIns="0" rtlCol="0">
            <a:spAutoFit/>
          </a:bodyPr>
          <a:lstStyle/>
          <a:p>
            <a:pPr marL="12700">
              <a:lnSpc>
                <a:spcPct val="100000"/>
              </a:lnSpc>
              <a:spcBef>
                <a:spcPts val="95"/>
              </a:spcBef>
            </a:pPr>
            <a:r>
              <a:rPr sz="2800" b="1" spc="-25" dirty="0">
                <a:latin typeface="Arial"/>
                <a:cs typeface="Arial"/>
              </a:rPr>
              <a:t>1:N</a:t>
            </a:r>
            <a:endParaRPr sz="2800">
              <a:latin typeface="Arial"/>
              <a:cs typeface="Arial"/>
            </a:endParaRPr>
          </a:p>
        </p:txBody>
      </p:sp>
      <p:sp>
        <p:nvSpPr>
          <p:cNvPr id="6" name="object 6"/>
          <p:cNvSpPr txBox="1"/>
          <p:nvPr/>
        </p:nvSpPr>
        <p:spPr>
          <a:xfrm>
            <a:off x="5882012" y="6150353"/>
            <a:ext cx="598170" cy="452120"/>
          </a:xfrm>
          <a:prstGeom prst="rect">
            <a:avLst/>
          </a:prstGeom>
        </p:spPr>
        <p:txBody>
          <a:bodyPr vert="horz" wrap="square" lIns="0" tIns="12065" rIns="0" bIns="0" rtlCol="0">
            <a:spAutoFit/>
          </a:bodyPr>
          <a:lstStyle/>
          <a:p>
            <a:pPr marL="12700">
              <a:lnSpc>
                <a:spcPct val="100000"/>
              </a:lnSpc>
              <a:spcBef>
                <a:spcPts val="95"/>
              </a:spcBef>
            </a:pPr>
            <a:r>
              <a:rPr sz="2800" b="1" spc="-25" dirty="0">
                <a:latin typeface="Arial"/>
                <a:cs typeface="Arial"/>
              </a:rPr>
              <a:t>N:1</a:t>
            </a:r>
            <a:endParaRPr sz="2800">
              <a:latin typeface="Arial"/>
              <a:cs typeface="Arial"/>
            </a:endParaRPr>
          </a:p>
        </p:txBody>
      </p:sp>
      <p:sp>
        <p:nvSpPr>
          <p:cNvPr id="7" name="object 7"/>
          <p:cNvSpPr txBox="1"/>
          <p:nvPr/>
        </p:nvSpPr>
        <p:spPr>
          <a:xfrm>
            <a:off x="7710923" y="6150353"/>
            <a:ext cx="658495" cy="452120"/>
          </a:xfrm>
          <a:prstGeom prst="rect">
            <a:avLst/>
          </a:prstGeom>
        </p:spPr>
        <p:txBody>
          <a:bodyPr vert="horz" wrap="square" lIns="0" tIns="12065" rIns="0" bIns="0" rtlCol="0">
            <a:spAutoFit/>
          </a:bodyPr>
          <a:lstStyle/>
          <a:p>
            <a:pPr marL="12700">
              <a:lnSpc>
                <a:spcPct val="100000"/>
              </a:lnSpc>
              <a:spcBef>
                <a:spcPts val="95"/>
              </a:spcBef>
            </a:pPr>
            <a:r>
              <a:rPr sz="2800" b="1" spc="-25" dirty="0">
                <a:latin typeface="Arial"/>
                <a:cs typeface="Arial"/>
              </a:rPr>
              <a:t>N:N</a:t>
            </a:r>
            <a:endParaRPr sz="280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612900" y="687677"/>
            <a:ext cx="9080500" cy="1411351"/>
          </a:xfrm>
        </p:spPr>
        <p:txBody>
          <a:bodyPr/>
          <a:lstStyle/>
          <a:p>
            <a:r>
              <a:rPr lang="es-ES" dirty="0" smtClean="0"/>
              <a:t>Ejemplo de esquema DER </a:t>
            </a:r>
            <a:r>
              <a:rPr lang="es-ES" sz="2000" dirty="0" smtClean="0"/>
              <a:t>con </a:t>
            </a:r>
            <a:r>
              <a:rPr lang="es-ES" sz="2000" dirty="0" err="1" smtClean="0"/>
              <a:t>cardinalidad</a:t>
            </a:r>
            <a:endParaRPr lang="en-US" sz="2000" dirty="0"/>
          </a:p>
        </p:txBody>
      </p:sp>
      <p:sp>
        <p:nvSpPr>
          <p:cNvPr id="5" name="Marcador de contenido 4"/>
          <p:cNvSpPr>
            <a:spLocks noGrp="1"/>
          </p:cNvSpPr>
          <p:nvPr>
            <p:ph idx="1"/>
          </p:nvPr>
        </p:nvSpPr>
        <p:spPr/>
        <p:txBody>
          <a:bodyPr/>
          <a:lstStyle/>
          <a:p>
            <a:endParaRPr lang="en-US"/>
          </a:p>
        </p:txBody>
      </p:sp>
      <p:pic>
        <p:nvPicPr>
          <p:cNvPr id="6" name="Imagen 5"/>
          <p:cNvPicPr>
            <a:picLocks noChangeAspect="1"/>
          </p:cNvPicPr>
          <p:nvPr/>
        </p:nvPicPr>
        <p:blipFill>
          <a:blip r:embed="rId3"/>
          <a:stretch>
            <a:fillRect/>
          </a:stretch>
        </p:blipFill>
        <p:spPr>
          <a:xfrm>
            <a:off x="1993900" y="1923945"/>
            <a:ext cx="7899495" cy="4589345"/>
          </a:xfrm>
          <a:prstGeom prst="rect">
            <a:avLst/>
          </a:prstGeom>
        </p:spPr>
      </p:pic>
    </p:spTree>
    <p:extLst>
      <p:ext uri="{BB962C8B-B14F-4D97-AF65-F5344CB8AC3E}">
        <p14:creationId xmlns:p14="http://schemas.microsoft.com/office/powerpoint/2010/main" val="2186722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50900" y="432602"/>
            <a:ext cx="9129607" cy="1243289"/>
          </a:xfrm>
          <a:prstGeom prst="rect">
            <a:avLst/>
          </a:prstGeom>
        </p:spPr>
        <p:txBody>
          <a:bodyPr vert="horz" wrap="square" lIns="0" tIns="12065" rIns="0" bIns="0" rtlCol="0">
            <a:spAutoFit/>
          </a:bodyPr>
          <a:lstStyle/>
          <a:p>
            <a:pPr marL="2889250" marR="5080" indent="-2018030">
              <a:lnSpc>
                <a:spcPct val="100000"/>
              </a:lnSpc>
              <a:spcBef>
                <a:spcPts val="95"/>
              </a:spcBef>
            </a:pPr>
            <a:r>
              <a:rPr sz="4000" dirty="0"/>
              <a:t>Restricciones</a:t>
            </a:r>
            <a:r>
              <a:rPr sz="4000" spc="-140" dirty="0"/>
              <a:t> </a:t>
            </a:r>
            <a:r>
              <a:rPr sz="4000" dirty="0"/>
              <a:t>de</a:t>
            </a:r>
            <a:r>
              <a:rPr sz="4000" spc="-140" dirty="0"/>
              <a:t> </a:t>
            </a:r>
            <a:r>
              <a:rPr sz="4000" spc="-10" dirty="0"/>
              <a:t>asignación (mapping)</a:t>
            </a:r>
            <a:endParaRPr sz="4000" dirty="0"/>
          </a:p>
        </p:txBody>
      </p:sp>
      <p:sp>
        <p:nvSpPr>
          <p:cNvPr id="3" name="object 3"/>
          <p:cNvSpPr txBox="1"/>
          <p:nvPr/>
        </p:nvSpPr>
        <p:spPr>
          <a:xfrm>
            <a:off x="1310017" y="1971547"/>
            <a:ext cx="613410" cy="513715"/>
          </a:xfrm>
          <a:prstGeom prst="rect">
            <a:avLst/>
          </a:prstGeom>
        </p:spPr>
        <p:txBody>
          <a:bodyPr vert="horz" wrap="square" lIns="0" tIns="12700" rIns="0" bIns="0" rtlCol="0">
            <a:spAutoFit/>
          </a:bodyPr>
          <a:lstStyle/>
          <a:p>
            <a:pPr marL="12700">
              <a:lnSpc>
                <a:spcPct val="100000"/>
              </a:lnSpc>
              <a:spcBef>
                <a:spcPts val="100"/>
              </a:spcBef>
            </a:pPr>
            <a:r>
              <a:rPr sz="3200" b="1" spc="-25" dirty="0">
                <a:latin typeface="Arial"/>
                <a:cs typeface="Arial"/>
              </a:rPr>
              <a:t>1:1</a:t>
            </a:r>
            <a:endParaRPr sz="3200">
              <a:latin typeface="Arial"/>
              <a:cs typeface="Arial"/>
            </a:endParaRPr>
          </a:p>
        </p:txBody>
      </p:sp>
      <p:sp>
        <p:nvSpPr>
          <p:cNvPr id="4" name="object 4"/>
          <p:cNvSpPr txBox="1"/>
          <p:nvPr/>
        </p:nvSpPr>
        <p:spPr>
          <a:xfrm>
            <a:off x="3793113" y="2193035"/>
            <a:ext cx="539750" cy="516890"/>
          </a:xfrm>
          <a:prstGeom prst="rect">
            <a:avLst/>
          </a:prstGeom>
          <a:ln w="9524">
            <a:solidFill>
              <a:srgbClr val="000000"/>
            </a:solidFill>
          </a:ln>
        </p:spPr>
        <p:txBody>
          <a:bodyPr vert="horz" wrap="square" lIns="0" tIns="45719" rIns="0" bIns="0" rtlCol="0">
            <a:spAutoFit/>
          </a:bodyPr>
          <a:lstStyle/>
          <a:p>
            <a:pPr marL="164465">
              <a:lnSpc>
                <a:spcPct val="100000"/>
              </a:lnSpc>
              <a:spcBef>
                <a:spcPts val="359"/>
              </a:spcBef>
            </a:pPr>
            <a:r>
              <a:rPr sz="1800" spc="-25" dirty="0">
                <a:latin typeface="Arial MT"/>
                <a:cs typeface="Arial MT"/>
              </a:rPr>
              <a:t>a</a:t>
            </a:r>
            <a:r>
              <a:rPr sz="1800" spc="-37" baseline="-23148" dirty="0">
                <a:latin typeface="Arial MT"/>
                <a:cs typeface="Arial MT"/>
              </a:rPr>
              <a:t>1</a:t>
            </a:r>
            <a:endParaRPr sz="1800" baseline="-23148">
              <a:latin typeface="Arial MT"/>
              <a:cs typeface="Arial MT"/>
            </a:endParaRPr>
          </a:p>
        </p:txBody>
      </p:sp>
      <p:sp>
        <p:nvSpPr>
          <p:cNvPr id="5" name="object 5"/>
          <p:cNvSpPr txBox="1"/>
          <p:nvPr/>
        </p:nvSpPr>
        <p:spPr>
          <a:xfrm>
            <a:off x="3793113" y="3052572"/>
            <a:ext cx="539750" cy="515620"/>
          </a:xfrm>
          <a:prstGeom prst="rect">
            <a:avLst/>
          </a:prstGeom>
          <a:ln w="9524">
            <a:solidFill>
              <a:srgbClr val="000000"/>
            </a:solidFill>
          </a:ln>
        </p:spPr>
        <p:txBody>
          <a:bodyPr vert="horz" wrap="square" lIns="0" tIns="45719" rIns="0" bIns="0" rtlCol="0">
            <a:spAutoFit/>
          </a:bodyPr>
          <a:lstStyle/>
          <a:p>
            <a:pPr marL="164465">
              <a:lnSpc>
                <a:spcPct val="100000"/>
              </a:lnSpc>
              <a:spcBef>
                <a:spcPts val="359"/>
              </a:spcBef>
            </a:pPr>
            <a:r>
              <a:rPr sz="1800" spc="-25" dirty="0">
                <a:latin typeface="Arial MT"/>
                <a:cs typeface="Arial MT"/>
              </a:rPr>
              <a:t>a</a:t>
            </a:r>
            <a:r>
              <a:rPr sz="1800" spc="-37" baseline="-23148" dirty="0">
                <a:latin typeface="Arial MT"/>
                <a:cs typeface="Arial MT"/>
              </a:rPr>
              <a:t>2</a:t>
            </a:r>
            <a:endParaRPr sz="1800" baseline="-23148">
              <a:latin typeface="Arial MT"/>
              <a:cs typeface="Arial MT"/>
            </a:endParaRPr>
          </a:p>
        </p:txBody>
      </p:sp>
      <p:sp>
        <p:nvSpPr>
          <p:cNvPr id="6" name="object 6"/>
          <p:cNvSpPr txBox="1"/>
          <p:nvPr/>
        </p:nvSpPr>
        <p:spPr>
          <a:xfrm>
            <a:off x="3793113" y="3913632"/>
            <a:ext cx="539750" cy="515620"/>
          </a:xfrm>
          <a:prstGeom prst="rect">
            <a:avLst/>
          </a:prstGeom>
          <a:ln w="9524">
            <a:solidFill>
              <a:srgbClr val="000000"/>
            </a:solidFill>
          </a:ln>
        </p:spPr>
        <p:txBody>
          <a:bodyPr vert="horz" wrap="square" lIns="0" tIns="43815" rIns="0" bIns="0" rtlCol="0">
            <a:spAutoFit/>
          </a:bodyPr>
          <a:lstStyle/>
          <a:p>
            <a:pPr marL="164465">
              <a:lnSpc>
                <a:spcPct val="100000"/>
              </a:lnSpc>
              <a:spcBef>
                <a:spcPts val="345"/>
              </a:spcBef>
            </a:pPr>
            <a:r>
              <a:rPr sz="1800" spc="-25" dirty="0">
                <a:latin typeface="Arial MT"/>
                <a:cs typeface="Arial MT"/>
              </a:rPr>
              <a:t>a</a:t>
            </a:r>
            <a:r>
              <a:rPr sz="1800" spc="-37" baseline="-23148" dirty="0">
                <a:latin typeface="Arial MT"/>
                <a:cs typeface="Arial MT"/>
              </a:rPr>
              <a:t>3</a:t>
            </a:r>
            <a:endParaRPr sz="1800" baseline="-23148">
              <a:latin typeface="Arial MT"/>
              <a:cs typeface="Arial MT"/>
            </a:endParaRPr>
          </a:p>
        </p:txBody>
      </p:sp>
      <p:sp>
        <p:nvSpPr>
          <p:cNvPr id="7" name="object 7"/>
          <p:cNvSpPr txBox="1"/>
          <p:nvPr/>
        </p:nvSpPr>
        <p:spPr>
          <a:xfrm>
            <a:off x="3793113" y="4773167"/>
            <a:ext cx="539750" cy="516890"/>
          </a:xfrm>
          <a:prstGeom prst="rect">
            <a:avLst/>
          </a:prstGeom>
          <a:ln w="9524">
            <a:solidFill>
              <a:srgbClr val="000000"/>
            </a:solidFill>
          </a:ln>
        </p:spPr>
        <p:txBody>
          <a:bodyPr vert="horz" wrap="square" lIns="0" tIns="45719" rIns="0" bIns="0" rtlCol="0">
            <a:spAutoFit/>
          </a:bodyPr>
          <a:lstStyle/>
          <a:p>
            <a:pPr marL="164465">
              <a:lnSpc>
                <a:spcPct val="100000"/>
              </a:lnSpc>
              <a:spcBef>
                <a:spcPts val="359"/>
              </a:spcBef>
            </a:pPr>
            <a:r>
              <a:rPr sz="1800" spc="-25" dirty="0">
                <a:latin typeface="Arial MT"/>
                <a:cs typeface="Arial MT"/>
              </a:rPr>
              <a:t>a</a:t>
            </a:r>
            <a:r>
              <a:rPr sz="1800" spc="-37" baseline="-23148" dirty="0">
                <a:latin typeface="Arial MT"/>
                <a:cs typeface="Arial MT"/>
              </a:rPr>
              <a:t>4</a:t>
            </a:r>
            <a:endParaRPr sz="1800" baseline="-23148">
              <a:latin typeface="Arial MT"/>
              <a:cs typeface="Arial MT"/>
            </a:endParaRPr>
          </a:p>
        </p:txBody>
      </p:sp>
      <p:sp>
        <p:nvSpPr>
          <p:cNvPr id="8" name="object 8"/>
          <p:cNvSpPr txBox="1"/>
          <p:nvPr/>
        </p:nvSpPr>
        <p:spPr>
          <a:xfrm>
            <a:off x="6894453" y="2193035"/>
            <a:ext cx="538480" cy="516890"/>
          </a:xfrm>
          <a:prstGeom prst="rect">
            <a:avLst/>
          </a:prstGeom>
          <a:ln w="9524">
            <a:solidFill>
              <a:srgbClr val="000000"/>
            </a:solidFill>
          </a:ln>
        </p:spPr>
        <p:txBody>
          <a:bodyPr vert="horz" wrap="square" lIns="0" tIns="45719" rIns="0" bIns="0" rtlCol="0">
            <a:spAutoFit/>
          </a:bodyPr>
          <a:lstStyle/>
          <a:p>
            <a:pPr marL="161290">
              <a:lnSpc>
                <a:spcPct val="100000"/>
              </a:lnSpc>
              <a:spcBef>
                <a:spcPts val="359"/>
              </a:spcBef>
            </a:pPr>
            <a:r>
              <a:rPr sz="1800" spc="-25" dirty="0">
                <a:latin typeface="Arial MT"/>
                <a:cs typeface="Arial MT"/>
              </a:rPr>
              <a:t>b</a:t>
            </a:r>
            <a:r>
              <a:rPr sz="1800" spc="-37" baseline="-23148" dirty="0">
                <a:latin typeface="Arial MT"/>
                <a:cs typeface="Arial MT"/>
              </a:rPr>
              <a:t>1</a:t>
            </a:r>
            <a:endParaRPr sz="1800" baseline="-23148">
              <a:latin typeface="Arial MT"/>
              <a:cs typeface="Arial MT"/>
            </a:endParaRPr>
          </a:p>
        </p:txBody>
      </p:sp>
      <p:sp>
        <p:nvSpPr>
          <p:cNvPr id="9" name="object 9"/>
          <p:cNvSpPr txBox="1"/>
          <p:nvPr/>
        </p:nvSpPr>
        <p:spPr>
          <a:xfrm>
            <a:off x="6894453" y="3052572"/>
            <a:ext cx="538480" cy="515620"/>
          </a:xfrm>
          <a:prstGeom prst="rect">
            <a:avLst/>
          </a:prstGeom>
          <a:ln w="9524">
            <a:solidFill>
              <a:srgbClr val="000000"/>
            </a:solidFill>
          </a:ln>
        </p:spPr>
        <p:txBody>
          <a:bodyPr vert="horz" wrap="square" lIns="0" tIns="45719" rIns="0" bIns="0" rtlCol="0">
            <a:spAutoFit/>
          </a:bodyPr>
          <a:lstStyle/>
          <a:p>
            <a:pPr marL="161290">
              <a:lnSpc>
                <a:spcPct val="100000"/>
              </a:lnSpc>
              <a:spcBef>
                <a:spcPts val="359"/>
              </a:spcBef>
            </a:pPr>
            <a:r>
              <a:rPr sz="1800" spc="-25" dirty="0">
                <a:latin typeface="Arial MT"/>
                <a:cs typeface="Arial MT"/>
              </a:rPr>
              <a:t>b</a:t>
            </a:r>
            <a:r>
              <a:rPr sz="1800" spc="-37" baseline="-23148" dirty="0">
                <a:latin typeface="Arial MT"/>
                <a:cs typeface="Arial MT"/>
              </a:rPr>
              <a:t>2</a:t>
            </a:r>
            <a:endParaRPr sz="1800" baseline="-23148">
              <a:latin typeface="Arial MT"/>
              <a:cs typeface="Arial MT"/>
            </a:endParaRPr>
          </a:p>
        </p:txBody>
      </p:sp>
      <p:sp>
        <p:nvSpPr>
          <p:cNvPr id="10" name="object 10"/>
          <p:cNvSpPr txBox="1"/>
          <p:nvPr/>
        </p:nvSpPr>
        <p:spPr>
          <a:xfrm>
            <a:off x="6894453" y="3913632"/>
            <a:ext cx="538480" cy="515620"/>
          </a:xfrm>
          <a:prstGeom prst="rect">
            <a:avLst/>
          </a:prstGeom>
          <a:ln w="9524">
            <a:solidFill>
              <a:srgbClr val="000000"/>
            </a:solidFill>
          </a:ln>
        </p:spPr>
        <p:txBody>
          <a:bodyPr vert="horz" wrap="square" lIns="0" tIns="43815" rIns="0" bIns="0" rtlCol="0">
            <a:spAutoFit/>
          </a:bodyPr>
          <a:lstStyle/>
          <a:p>
            <a:pPr marL="161290">
              <a:lnSpc>
                <a:spcPct val="100000"/>
              </a:lnSpc>
              <a:spcBef>
                <a:spcPts val="345"/>
              </a:spcBef>
            </a:pPr>
            <a:r>
              <a:rPr sz="1800" spc="-25" dirty="0">
                <a:latin typeface="Arial MT"/>
                <a:cs typeface="Arial MT"/>
              </a:rPr>
              <a:t>b</a:t>
            </a:r>
            <a:r>
              <a:rPr sz="1800" spc="-37" baseline="-23148" dirty="0">
                <a:latin typeface="Arial MT"/>
                <a:cs typeface="Arial MT"/>
              </a:rPr>
              <a:t>3</a:t>
            </a:r>
            <a:endParaRPr sz="1800" baseline="-23148">
              <a:latin typeface="Arial MT"/>
              <a:cs typeface="Arial MT"/>
            </a:endParaRPr>
          </a:p>
        </p:txBody>
      </p:sp>
      <p:sp>
        <p:nvSpPr>
          <p:cNvPr id="11" name="object 11"/>
          <p:cNvSpPr txBox="1"/>
          <p:nvPr/>
        </p:nvSpPr>
        <p:spPr>
          <a:xfrm>
            <a:off x="6894453" y="4773167"/>
            <a:ext cx="538480" cy="516890"/>
          </a:xfrm>
          <a:prstGeom prst="rect">
            <a:avLst/>
          </a:prstGeom>
          <a:ln w="9524">
            <a:solidFill>
              <a:srgbClr val="000000"/>
            </a:solidFill>
          </a:ln>
        </p:spPr>
        <p:txBody>
          <a:bodyPr vert="horz" wrap="square" lIns="0" tIns="45719" rIns="0" bIns="0" rtlCol="0">
            <a:spAutoFit/>
          </a:bodyPr>
          <a:lstStyle/>
          <a:p>
            <a:pPr marL="161290">
              <a:lnSpc>
                <a:spcPct val="100000"/>
              </a:lnSpc>
              <a:spcBef>
                <a:spcPts val="359"/>
              </a:spcBef>
            </a:pPr>
            <a:r>
              <a:rPr sz="1800" spc="-25" dirty="0">
                <a:latin typeface="Arial MT"/>
                <a:cs typeface="Arial MT"/>
              </a:rPr>
              <a:t>b</a:t>
            </a:r>
            <a:r>
              <a:rPr sz="1800" spc="-37" baseline="-23148" dirty="0">
                <a:latin typeface="Arial MT"/>
                <a:cs typeface="Arial MT"/>
              </a:rPr>
              <a:t>4</a:t>
            </a:r>
            <a:endParaRPr sz="1800" baseline="-23148">
              <a:latin typeface="Arial MT"/>
              <a:cs typeface="Arial MT"/>
            </a:endParaRPr>
          </a:p>
        </p:txBody>
      </p:sp>
      <p:sp>
        <p:nvSpPr>
          <p:cNvPr id="12" name="object 12"/>
          <p:cNvSpPr/>
          <p:nvPr/>
        </p:nvSpPr>
        <p:spPr>
          <a:xfrm>
            <a:off x="3060069" y="1848611"/>
            <a:ext cx="5143500" cy="3784600"/>
          </a:xfrm>
          <a:custGeom>
            <a:avLst/>
            <a:gdLst/>
            <a:ahLst/>
            <a:cxnLst/>
            <a:rect l="l" t="t" r="r" b="b"/>
            <a:pathLst>
              <a:path w="5143500" h="3784600">
                <a:moveTo>
                  <a:pt x="1010411" y="0"/>
                </a:moveTo>
                <a:lnTo>
                  <a:pt x="944004" y="4025"/>
                </a:lnTo>
                <a:lnTo>
                  <a:pt x="878740" y="15935"/>
                </a:lnTo>
                <a:lnTo>
                  <a:pt x="814752" y="35480"/>
                </a:lnTo>
                <a:lnTo>
                  <a:pt x="752174" y="62410"/>
                </a:lnTo>
                <a:lnTo>
                  <a:pt x="691140" y="96475"/>
                </a:lnTo>
                <a:lnTo>
                  <a:pt x="631781" y="137425"/>
                </a:lnTo>
                <a:lnTo>
                  <a:pt x="574233" y="185010"/>
                </a:lnTo>
                <a:lnTo>
                  <a:pt x="546180" y="211212"/>
                </a:lnTo>
                <a:lnTo>
                  <a:pt x="518629" y="238980"/>
                </a:lnTo>
                <a:lnTo>
                  <a:pt x="491597" y="268281"/>
                </a:lnTo>
                <a:lnTo>
                  <a:pt x="465101" y="299086"/>
                </a:lnTo>
                <a:lnTo>
                  <a:pt x="439158" y="331361"/>
                </a:lnTo>
                <a:lnTo>
                  <a:pt x="413784" y="365077"/>
                </a:lnTo>
                <a:lnTo>
                  <a:pt x="388996" y="400201"/>
                </a:lnTo>
                <a:lnTo>
                  <a:pt x="364810" y="436704"/>
                </a:lnTo>
                <a:lnTo>
                  <a:pt x="341244" y="474552"/>
                </a:lnTo>
                <a:lnTo>
                  <a:pt x="318314" y="513716"/>
                </a:lnTo>
                <a:lnTo>
                  <a:pt x="296036" y="554164"/>
                </a:lnTo>
                <a:lnTo>
                  <a:pt x="274428" y="595865"/>
                </a:lnTo>
                <a:lnTo>
                  <a:pt x="253506" y="638787"/>
                </a:lnTo>
                <a:lnTo>
                  <a:pt x="233287" y="682899"/>
                </a:lnTo>
                <a:lnTo>
                  <a:pt x="213787" y="728170"/>
                </a:lnTo>
                <a:lnTo>
                  <a:pt x="195023" y="774569"/>
                </a:lnTo>
                <a:lnTo>
                  <a:pt x="177011" y="822065"/>
                </a:lnTo>
                <a:lnTo>
                  <a:pt x="159770" y="870626"/>
                </a:lnTo>
                <a:lnTo>
                  <a:pt x="143314" y="920221"/>
                </a:lnTo>
                <a:lnTo>
                  <a:pt x="127661" y="970819"/>
                </a:lnTo>
                <a:lnTo>
                  <a:pt x="112827" y="1022389"/>
                </a:lnTo>
                <a:lnTo>
                  <a:pt x="98830" y="1074898"/>
                </a:lnTo>
                <a:lnTo>
                  <a:pt x="85685" y="1128317"/>
                </a:lnTo>
                <a:lnTo>
                  <a:pt x="73410" y="1182614"/>
                </a:lnTo>
                <a:lnTo>
                  <a:pt x="62021" y="1237758"/>
                </a:lnTo>
                <a:lnTo>
                  <a:pt x="51535" y="1293717"/>
                </a:lnTo>
                <a:lnTo>
                  <a:pt x="41968" y="1350460"/>
                </a:lnTo>
                <a:lnTo>
                  <a:pt x="33338" y="1407956"/>
                </a:lnTo>
                <a:lnTo>
                  <a:pt x="25661" y="1466174"/>
                </a:lnTo>
                <a:lnTo>
                  <a:pt x="18953" y="1525083"/>
                </a:lnTo>
                <a:lnTo>
                  <a:pt x="13231" y="1584650"/>
                </a:lnTo>
                <a:lnTo>
                  <a:pt x="8512" y="1644846"/>
                </a:lnTo>
                <a:lnTo>
                  <a:pt x="4813" y="1705638"/>
                </a:lnTo>
                <a:lnTo>
                  <a:pt x="2150" y="1766996"/>
                </a:lnTo>
                <a:lnTo>
                  <a:pt x="540" y="1828888"/>
                </a:lnTo>
                <a:lnTo>
                  <a:pt x="0" y="1891283"/>
                </a:lnTo>
                <a:lnTo>
                  <a:pt x="540" y="1953768"/>
                </a:lnTo>
                <a:lnTo>
                  <a:pt x="2150" y="2015747"/>
                </a:lnTo>
                <a:lnTo>
                  <a:pt x="4813" y="2077187"/>
                </a:lnTo>
                <a:lnTo>
                  <a:pt x="8512" y="2138059"/>
                </a:lnTo>
                <a:lnTo>
                  <a:pt x="13231" y="2198330"/>
                </a:lnTo>
                <a:lnTo>
                  <a:pt x="18953" y="2257970"/>
                </a:lnTo>
                <a:lnTo>
                  <a:pt x="25661" y="2316947"/>
                </a:lnTo>
                <a:lnTo>
                  <a:pt x="33338" y="2375231"/>
                </a:lnTo>
                <a:lnTo>
                  <a:pt x="41968" y="2432790"/>
                </a:lnTo>
                <a:lnTo>
                  <a:pt x="51535" y="2489594"/>
                </a:lnTo>
                <a:lnTo>
                  <a:pt x="62021" y="2545610"/>
                </a:lnTo>
                <a:lnTo>
                  <a:pt x="73410" y="2600808"/>
                </a:lnTo>
                <a:lnTo>
                  <a:pt x="85685" y="2655156"/>
                </a:lnTo>
                <a:lnTo>
                  <a:pt x="98830" y="2708624"/>
                </a:lnTo>
                <a:lnTo>
                  <a:pt x="112827" y="2761180"/>
                </a:lnTo>
                <a:lnTo>
                  <a:pt x="127661" y="2812793"/>
                </a:lnTo>
                <a:lnTo>
                  <a:pt x="143314" y="2863432"/>
                </a:lnTo>
                <a:lnTo>
                  <a:pt x="159770" y="2913065"/>
                </a:lnTo>
                <a:lnTo>
                  <a:pt x="177011" y="2961663"/>
                </a:lnTo>
                <a:lnTo>
                  <a:pt x="195023" y="3009192"/>
                </a:lnTo>
                <a:lnTo>
                  <a:pt x="213787" y="3055623"/>
                </a:lnTo>
                <a:lnTo>
                  <a:pt x="233287" y="3100924"/>
                </a:lnTo>
                <a:lnTo>
                  <a:pt x="253506" y="3145064"/>
                </a:lnTo>
                <a:lnTo>
                  <a:pt x="274428" y="3188012"/>
                </a:lnTo>
                <a:lnTo>
                  <a:pt x="296036" y="3229736"/>
                </a:lnTo>
                <a:lnTo>
                  <a:pt x="318314" y="3270206"/>
                </a:lnTo>
                <a:lnTo>
                  <a:pt x="341244" y="3309390"/>
                </a:lnTo>
                <a:lnTo>
                  <a:pt x="364810" y="3347258"/>
                </a:lnTo>
                <a:lnTo>
                  <a:pt x="388996" y="3383777"/>
                </a:lnTo>
                <a:lnTo>
                  <a:pt x="413784" y="3418917"/>
                </a:lnTo>
                <a:lnTo>
                  <a:pt x="439158" y="3452646"/>
                </a:lnTo>
                <a:lnTo>
                  <a:pt x="465101" y="3484934"/>
                </a:lnTo>
                <a:lnTo>
                  <a:pt x="491597" y="3515750"/>
                </a:lnTo>
                <a:lnTo>
                  <a:pt x="518629" y="3545061"/>
                </a:lnTo>
                <a:lnTo>
                  <a:pt x="546180" y="3572838"/>
                </a:lnTo>
                <a:lnTo>
                  <a:pt x="574233" y="3599048"/>
                </a:lnTo>
                <a:lnTo>
                  <a:pt x="631781" y="3646645"/>
                </a:lnTo>
                <a:lnTo>
                  <a:pt x="691140" y="3687604"/>
                </a:lnTo>
                <a:lnTo>
                  <a:pt x="752174" y="3721675"/>
                </a:lnTo>
                <a:lnTo>
                  <a:pt x="814752" y="3748608"/>
                </a:lnTo>
                <a:lnTo>
                  <a:pt x="878740" y="3768155"/>
                </a:lnTo>
                <a:lnTo>
                  <a:pt x="944004" y="3780066"/>
                </a:lnTo>
                <a:lnTo>
                  <a:pt x="1010411" y="3784091"/>
                </a:lnTo>
                <a:lnTo>
                  <a:pt x="1043750" y="3783080"/>
                </a:lnTo>
                <a:lnTo>
                  <a:pt x="1109602" y="3775080"/>
                </a:lnTo>
                <a:lnTo>
                  <a:pt x="1174245" y="3759320"/>
                </a:lnTo>
                <a:lnTo>
                  <a:pt x="1237544" y="3736049"/>
                </a:lnTo>
                <a:lnTo>
                  <a:pt x="1299367" y="3705516"/>
                </a:lnTo>
                <a:lnTo>
                  <a:pt x="1359580" y="3667970"/>
                </a:lnTo>
                <a:lnTo>
                  <a:pt x="1418050" y="3623661"/>
                </a:lnTo>
                <a:lnTo>
                  <a:pt x="1474643" y="3572838"/>
                </a:lnTo>
                <a:lnTo>
                  <a:pt x="1502194" y="3545061"/>
                </a:lnTo>
                <a:lnTo>
                  <a:pt x="1529226" y="3515750"/>
                </a:lnTo>
                <a:lnTo>
                  <a:pt x="1555722" y="3484934"/>
                </a:lnTo>
                <a:lnTo>
                  <a:pt x="1581665" y="3452646"/>
                </a:lnTo>
                <a:lnTo>
                  <a:pt x="1607039" y="3418917"/>
                </a:lnTo>
                <a:lnTo>
                  <a:pt x="1631827" y="3383777"/>
                </a:lnTo>
                <a:lnTo>
                  <a:pt x="1656013" y="3347258"/>
                </a:lnTo>
                <a:lnTo>
                  <a:pt x="1679579" y="3309390"/>
                </a:lnTo>
                <a:lnTo>
                  <a:pt x="1702509" y="3270206"/>
                </a:lnTo>
                <a:lnTo>
                  <a:pt x="1724786" y="3229736"/>
                </a:lnTo>
                <a:lnTo>
                  <a:pt x="1746395" y="3188012"/>
                </a:lnTo>
                <a:lnTo>
                  <a:pt x="1767317" y="3145064"/>
                </a:lnTo>
                <a:lnTo>
                  <a:pt x="1787536" y="3100924"/>
                </a:lnTo>
                <a:lnTo>
                  <a:pt x="1807036" y="3055623"/>
                </a:lnTo>
                <a:lnTo>
                  <a:pt x="1825800" y="3009192"/>
                </a:lnTo>
                <a:lnTo>
                  <a:pt x="1843811" y="2961663"/>
                </a:lnTo>
                <a:lnTo>
                  <a:pt x="1861053" y="2913065"/>
                </a:lnTo>
                <a:lnTo>
                  <a:pt x="1877509" y="2863432"/>
                </a:lnTo>
                <a:lnTo>
                  <a:pt x="1893162" y="2812793"/>
                </a:lnTo>
                <a:lnTo>
                  <a:pt x="1907996" y="2761180"/>
                </a:lnTo>
                <a:lnTo>
                  <a:pt x="1921993" y="2708624"/>
                </a:lnTo>
                <a:lnTo>
                  <a:pt x="1935138" y="2655156"/>
                </a:lnTo>
                <a:lnTo>
                  <a:pt x="1947413" y="2600808"/>
                </a:lnTo>
                <a:lnTo>
                  <a:pt x="1958802" y="2545610"/>
                </a:lnTo>
                <a:lnTo>
                  <a:pt x="1969288" y="2489594"/>
                </a:lnTo>
                <a:lnTo>
                  <a:pt x="1978854" y="2432790"/>
                </a:lnTo>
                <a:lnTo>
                  <a:pt x="1987485" y="2375231"/>
                </a:lnTo>
                <a:lnTo>
                  <a:pt x="1995162" y="2316947"/>
                </a:lnTo>
                <a:lnTo>
                  <a:pt x="2001870" y="2257970"/>
                </a:lnTo>
                <a:lnTo>
                  <a:pt x="2007592" y="2198330"/>
                </a:lnTo>
                <a:lnTo>
                  <a:pt x="2012311" y="2138059"/>
                </a:lnTo>
                <a:lnTo>
                  <a:pt x="2016010" y="2077187"/>
                </a:lnTo>
                <a:lnTo>
                  <a:pt x="2018673" y="2015747"/>
                </a:lnTo>
                <a:lnTo>
                  <a:pt x="2020283" y="1953768"/>
                </a:lnTo>
                <a:lnTo>
                  <a:pt x="2020823" y="1891283"/>
                </a:lnTo>
                <a:lnTo>
                  <a:pt x="2020283" y="1828888"/>
                </a:lnTo>
                <a:lnTo>
                  <a:pt x="2018673" y="1766996"/>
                </a:lnTo>
                <a:lnTo>
                  <a:pt x="2016010" y="1705638"/>
                </a:lnTo>
                <a:lnTo>
                  <a:pt x="2012311" y="1644846"/>
                </a:lnTo>
                <a:lnTo>
                  <a:pt x="2007592" y="1584650"/>
                </a:lnTo>
                <a:lnTo>
                  <a:pt x="2001870" y="1525083"/>
                </a:lnTo>
                <a:lnTo>
                  <a:pt x="1995162" y="1466174"/>
                </a:lnTo>
                <a:lnTo>
                  <a:pt x="1987485" y="1407956"/>
                </a:lnTo>
                <a:lnTo>
                  <a:pt x="1978854" y="1350460"/>
                </a:lnTo>
                <a:lnTo>
                  <a:pt x="1969288" y="1293717"/>
                </a:lnTo>
                <a:lnTo>
                  <a:pt x="1958802" y="1237758"/>
                </a:lnTo>
                <a:lnTo>
                  <a:pt x="1947413" y="1182614"/>
                </a:lnTo>
                <a:lnTo>
                  <a:pt x="1935138" y="1128317"/>
                </a:lnTo>
                <a:lnTo>
                  <a:pt x="1921993" y="1074898"/>
                </a:lnTo>
                <a:lnTo>
                  <a:pt x="1907996" y="1022389"/>
                </a:lnTo>
                <a:lnTo>
                  <a:pt x="1893162" y="970819"/>
                </a:lnTo>
                <a:lnTo>
                  <a:pt x="1877509" y="920221"/>
                </a:lnTo>
                <a:lnTo>
                  <a:pt x="1861053" y="870626"/>
                </a:lnTo>
                <a:lnTo>
                  <a:pt x="1843811" y="822065"/>
                </a:lnTo>
                <a:lnTo>
                  <a:pt x="1825800" y="774569"/>
                </a:lnTo>
                <a:lnTo>
                  <a:pt x="1807036" y="728170"/>
                </a:lnTo>
                <a:lnTo>
                  <a:pt x="1787536" y="682899"/>
                </a:lnTo>
                <a:lnTo>
                  <a:pt x="1767317" y="638787"/>
                </a:lnTo>
                <a:lnTo>
                  <a:pt x="1746395" y="595865"/>
                </a:lnTo>
                <a:lnTo>
                  <a:pt x="1724786" y="554164"/>
                </a:lnTo>
                <a:lnTo>
                  <a:pt x="1702509" y="513716"/>
                </a:lnTo>
                <a:lnTo>
                  <a:pt x="1679579" y="474552"/>
                </a:lnTo>
                <a:lnTo>
                  <a:pt x="1656013" y="436704"/>
                </a:lnTo>
                <a:lnTo>
                  <a:pt x="1631827" y="400201"/>
                </a:lnTo>
                <a:lnTo>
                  <a:pt x="1607039" y="365077"/>
                </a:lnTo>
                <a:lnTo>
                  <a:pt x="1581665" y="331361"/>
                </a:lnTo>
                <a:lnTo>
                  <a:pt x="1555722" y="299086"/>
                </a:lnTo>
                <a:lnTo>
                  <a:pt x="1529226" y="268281"/>
                </a:lnTo>
                <a:lnTo>
                  <a:pt x="1502194" y="238980"/>
                </a:lnTo>
                <a:lnTo>
                  <a:pt x="1474643" y="211212"/>
                </a:lnTo>
                <a:lnTo>
                  <a:pt x="1446590" y="185010"/>
                </a:lnTo>
                <a:lnTo>
                  <a:pt x="1389042" y="137425"/>
                </a:lnTo>
                <a:lnTo>
                  <a:pt x="1329683" y="96475"/>
                </a:lnTo>
                <a:lnTo>
                  <a:pt x="1268649" y="62410"/>
                </a:lnTo>
                <a:lnTo>
                  <a:pt x="1206071" y="35480"/>
                </a:lnTo>
                <a:lnTo>
                  <a:pt x="1142083" y="15935"/>
                </a:lnTo>
                <a:lnTo>
                  <a:pt x="1076819" y="4025"/>
                </a:lnTo>
                <a:lnTo>
                  <a:pt x="1010411" y="0"/>
                </a:lnTo>
                <a:close/>
              </a:path>
              <a:path w="5143500" h="3784600">
                <a:moveTo>
                  <a:pt x="4133087" y="0"/>
                </a:moveTo>
                <a:lnTo>
                  <a:pt x="4066680" y="4025"/>
                </a:lnTo>
                <a:lnTo>
                  <a:pt x="4001416" y="15935"/>
                </a:lnTo>
                <a:lnTo>
                  <a:pt x="3937428" y="35480"/>
                </a:lnTo>
                <a:lnTo>
                  <a:pt x="3874850" y="62410"/>
                </a:lnTo>
                <a:lnTo>
                  <a:pt x="3813816" y="96475"/>
                </a:lnTo>
                <a:lnTo>
                  <a:pt x="3754457" y="137425"/>
                </a:lnTo>
                <a:lnTo>
                  <a:pt x="3696909" y="185010"/>
                </a:lnTo>
                <a:lnTo>
                  <a:pt x="3668856" y="211212"/>
                </a:lnTo>
                <a:lnTo>
                  <a:pt x="3641305" y="238980"/>
                </a:lnTo>
                <a:lnTo>
                  <a:pt x="3614273" y="268281"/>
                </a:lnTo>
                <a:lnTo>
                  <a:pt x="3587777" y="299086"/>
                </a:lnTo>
                <a:lnTo>
                  <a:pt x="3561834" y="331361"/>
                </a:lnTo>
                <a:lnTo>
                  <a:pt x="3536460" y="365077"/>
                </a:lnTo>
                <a:lnTo>
                  <a:pt x="3511672" y="400201"/>
                </a:lnTo>
                <a:lnTo>
                  <a:pt x="3487486" y="436704"/>
                </a:lnTo>
                <a:lnTo>
                  <a:pt x="3463920" y="474552"/>
                </a:lnTo>
                <a:lnTo>
                  <a:pt x="3440990" y="513716"/>
                </a:lnTo>
                <a:lnTo>
                  <a:pt x="3418712" y="554164"/>
                </a:lnTo>
                <a:lnTo>
                  <a:pt x="3397104" y="595865"/>
                </a:lnTo>
                <a:lnTo>
                  <a:pt x="3376182" y="638787"/>
                </a:lnTo>
                <a:lnTo>
                  <a:pt x="3355963" y="682899"/>
                </a:lnTo>
                <a:lnTo>
                  <a:pt x="3336463" y="728170"/>
                </a:lnTo>
                <a:lnTo>
                  <a:pt x="3317699" y="774569"/>
                </a:lnTo>
                <a:lnTo>
                  <a:pt x="3299687" y="822065"/>
                </a:lnTo>
                <a:lnTo>
                  <a:pt x="3282446" y="870626"/>
                </a:lnTo>
                <a:lnTo>
                  <a:pt x="3265990" y="920221"/>
                </a:lnTo>
                <a:lnTo>
                  <a:pt x="3250337" y="970819"/>
                </a:lnTo>
                <a:lnTo>
                  <a:pt x="3235503" y="1022389"/>
                </a:lnTo>
                <a:lnTo>
                  <a:pt x="3221506" y="1074898"/>
                </a:lnTo>
                <a:lnTo>
                  <a:pt x="3208361" y="1128317"/>
                </a:lnTo>
                <a:lnTo>
                  <a:pt x="3196086" y="1182614"/>
                </a:lnTo>
                <a:lnTo>
                  <a:pt x="3184697" y="1237758"/>
                </a:lnTo>
                <a:lnTo>
                  <a:pt x="3174211" y="1293717"/>
                </a:lnTo>
                <a:lnTo>
                  <a:pt x="3164644" y="1350460"/>
                </a:lnTo>
                <a:lnTo>
                  <a:pt x="3156014" y="1407956"/>
                </a:lnTo>
                <a:lnTo>
                  <a:pt x="3148336" y="1466174"/>
                </a:lnTo>
                <a:lnTo>
                  <a:pt x="3141629" y="1525083"/>
                </a:lnTo>
                <a:lnTo>
                  <a:pt x="3135907" y="1584650"/>
                </a:lnTo>
                <a:lnTo>
                  <a:pt x="3131188" y="1644846"/>
                </a:lnTo>
                <a:lnTo>
                  <a:pt x="3127489" y="1705638"/>
                </a:lnTo>
                <a:lnTo>
                  <a:pt x="3124826" y="1766996"/>
                </a:lnTo>
                <a:lnTo>
                  <a:pt x="3123216" y="1828888"/>
                </a:lnTo>
                <a:lnTo>
                  <a:pt x="3122675" y="1891283"/>
                </a:lnTo>
                <a:lnTo>
                  <a:pt x="3123216" y="1953768"/>
                </a:lnTo>
                <a:lnTo>
                  <a:pt x="3124826" y="2015747"/>
                </a:lnTo>
                <a:lnTo>
                  <a:pt x="3127489" y="2077187"/>
                </a:lnTo>
                <a:lnTo>
                  <a:pt x="3131188" y="2138059"/>
                </a:lnTo>
                <a:lnTo>
                  <a:pt x="3135907" y="2198330"/>
                </a:lnTo>
                <a:lnTo>
                  <a:pt x="3141629" y="2257970"/>
                </a:lnTo>
                <a:lnTo>
                  <a:pt x="3148336" y="2316947"/>
                </a:lnTo>
                <a:lnTo>
                  <a:pt x="3156014" y="2375231"/>
                </a:lnTo>
                <a:lnTo>
                  <a:pt x="3164644" y="2432790"/>
                </a:lnTo>
                <a:lnTo>
                  <a:pt x="3174211" y="2489594"/>
                </a:lnTo>
                <a:lnTo>
                  <a:pt x="3184697" y="2545610"/>
                </a:lnTo>
                <a:lnTo>
                  <a:pt x="3196086" y="2600808"/>
                </a:lnTo>
                <a:lnTo>
                  <a:pt x="3208361" y="2655156"/>
                </a:lnTo>
                <a:lnTo>
                  <a:pt x="3221506" y="2708624"/>
                </a:lnTo>
                <a:lnTo>
                  <a:pt x="3235503" y="2761180"/>
                </a:lnTo>
                <a:lnTo>
                  <a:pt x="3250337" y="2812793"/>
                </a:lnTo>
                <a:lnTo>
                  <a:pt x="3265990" y="2863432"/>
                </a:lnTo>
                <a:lnTo>
                  <a:pt x="3282446" y="2913065"/>
                </a:lnTo>
                <a:lnTo>
                  <a:pt x="3299687" y="2961663"/>
                </a:lnTo>
                <a:lnTo>
                  <a:pt x="3317699" y="3009192"/>
                </a:lnTo>
                <a:lnTo>
                  <a:pt x="3336463" y="3055623"/>
                </a:lnTo>
                <a:lnTo>
                  <a:pt x="3355963" y="3100924"/>
                </a:lnTo>
                <a:lnTo>
                  <a:pt x="3376182" y="3145064"/>
                </a:lnTo>
                <a:lnTo>
                  <a:pt x="3397104" y="3188012"/>
                </a:lnTo>
                <a:lnTo>
                  <a:pt x="3418712" y="3229736"/>
                </a:lnTo>
                <a:lnTo>
                  <a:pt x="3440990" y="3270206"/>
                </a:lnTo>
                <a:lnTo>
                  <a:pt x="3463920" y="3309390"/>
                </a:lnTo>
                <a:lnTo>
                  <a:pt x="3487486" y="3347258"/>
                </a:lnTo>
                <a:lnTo>
                  <a:pt x="3511672" y="3383777"/>
                </a:lnTo>
                <a:lnTo>
                  <a:pt x="3536460" y="3418917"/>
                </a:lnTo>
                <a:lnTo>
                  <a:pt x="3561834" y="3452646"/>
                </a:lnTo>
                <a:lnTo>
                  <a:pt x="3587777" y="3484934"/>
                </a:lnTo>
                <a:lnTo>
                  <a:pt x="3614273" y="3515750"/>
                </a:lnTo>
                <a:lnTo>
                  <a:pt x="3641305" y="3545061"/>
                </a:lnTo>
                <a:lnTo>
                  <a:pt x="3668856" y="3572838"/>
                </a:lnTo>
                <a:lnTo>
                  <a:pt x="3696909" y="3599048"/>
                </a:lnTo>
                <a:lnTo>
                  <a:pt x="3754457" y="3646645"/>
                </a:lnTo>
                <a:lnTo>
                  <a:pt x="3813816" y="3687604"/>
                </a:lnTo>
                <a:lnTo>
                  <a:pt x="3874850" y="3721675"/>
                </a:lnTo>
                <a:lnTo>
                  <a:pt x="3937428" y="3748608"/>
                </a:lnTo>
                <a:lnTo>
                  <a:pt x="4001416" y="3768155"/>
                </a:lnTo>
                <a:lnTo>
                  <a:pt x="4066680" y="3780066"/>
                </a:lnTo>
                <a:lnTo>
                  <a:pt x="4133087" y="3784091"/>
                </a:lnTo>
                <a:lnTo>
                  <a:pt x="4166425" y="3783080"/>
                </a:lnTo>
                <a:lnTo>
                  <a:pt x="4232278" y="3775080"/>
                </a:lnTo>
                <a:lnTo>
                  <a:pt x="4296920" y="3759320"/>
                </a:lnTo>
                <a:lnTo>
                  <a:pt x="4360220" y="3736049"/>
                </a:lnTo>
                <a:lnTo>
                  <a:pt x="4422043" y="3705516"/>
                </a:lnTo>
                <a:lnTo>
                  <a:pt x="4482256" y="3667970"/>
                </a:lnTo>
                <a:lnTo>
                  <a:pt x="4540726" y="3623661"/>
                </a:lnTo>
                <a:lnTo>
                  <a:pt x="4597319" y="3572838"/>
                </a:lnTo>
                <a:lnTo>
                  <a:pt x="4624870" y="3545061"/>
                </a:lnTo>
                <a:lnTo>
                  <a:pt x="4651902" y="3515750"/>
                </a:lnTo>
                <a:lnTo>
                  <a:pt x="4678398" y="3484934"/>
                </a:lnTo>
                <a:lnTo>
                  <a:pt x="4704341" y="3452646"/>
                </a:lnTo>
                <a:lnTo>
                  <a:pt x="4729715" y="3418917"/>
                </a:lnTo>
                <a:lnTo>
                  <a:pt x="4754503" y="3383777"/>
                </a:lnTo>
                <a:lnTo>
                  <a:pt x="4778689" y="3347258"/>
                </a:lnTo>
                <a:lnTo>
                  <a:pt x="4802255" y="3309390"/>
                </a:lnTo>
                <a:lnTo>
                  <a:pt x="4825185" y="3270206"/>
                </a:lnTo>
                <a:lnTo>
                  <a:pt x="4847462" y="3229736"/>
                </a:lnTo>
                <a:lnTo>
                  <a:pt x="4869071" y="3188012"/>
                </a:lnTo>
                <a:lnTo>
                  <a:pt x="4889993" y="3145064"/>
                </a:lnTo>
                <a:lnTo>
                  <a:pt x="4910212" y="3100924"/>
                </a:lnTo>
                <a:lnTo>
                  <a:pt x="4929712" y="3055623"/>
                </a:lnTo>
                <a:lnTo>
                  <a:pt x="4948476" y="3009192"/>
                </a:lnTo>
                <a:lnTo>
                  <a:pt x="4966487" y="2961663"/>
                </a:lnTo>
                <a:lnTo>
                  <a:pt x="4983729" y="2913065"/>
                </a:lnTo>
                <a:lnTo>
                  <a:pt x="5000185" y="2863432"/>
                </a:lnTo>
                <a:lnTo>
                  <a:pt x="5015838" y="2812793"/>
                </a:lnTo>
                <a:lnTo>
                  <a:pt x="5030672" y="2761180"/>
                </a:lnTo>
                <a:lnTo>
                  <a:pt x="5044669" y="2708624"/>
                </a:lnTo>
                <a:lnTo>
                  <a:pt x="5057814" y="2655156"/>
                </a:lnTo>
                <a:lnTo>
                  <a:pt x="5070089" y="2600808"/>
                </a:lnTo>
                <a:lnTo>
                  <a:pt x="5081478" y="2545610"/>
                </a:lnTo>
                <a:lnTo>
                  <a:pt x="5091964" y="2489594"/>
                </a:lnTo>
                <a:lnTo>
                  <a:pt x="5101530" y="2432790"/>
                </a:lnTo>
                <a:lnTo>
                  <a:pt x="5110161" y="2375231"/>
                </a:lnTo>
                <a:lnTo>
                  <a:pt x="5117838" y="2316947"/>
                </a:lnTo>
                <a:lnTo>
                  <a:pt x="5124546" y="2257970"/>
                </a:lnTo>
                <a:lnTo>
                  <a:pt x="5130268" y="2198330"/>
                </a:lnTo>
                <a:lnTo>
                  <a:pt x="5134987" y="2138059"/>
                </a:lnTo>
                <a:lnTo>
                  <a:pt x="5138686" y="2077187"/>
                </a:lnTo>
                <a:lnTo>
                  <a:pt x="5141349" y="2015747"/>
                </a:lnTo>
                <a:lnTo>
                  <a:pt x="5142959" y="1953768"/>
                </a:lnTo>
                <a:lnTo>
                  <a:pt x="5143499" y="1891283"/>
                </a:lnTo>
                <a:lnTo>
                  <a:pt x="5142959" y="1828888"/>
                </a:lnTo>
                <a:lnTo>
                  <a:pt x="5141349" y="1766996"/>
                </a:lnTo>
                <a:lnTo>
                  <a:pt x="5138686" y="1705638"/>
                </a:lnTo>
                <a:lnTo>
                  <a:pt x="5134987" y="1644846"/>
                </a:lnTo>
                <a:lnTo>
                  <a:pt x="5130268" y="1584650"/>
                </a:lnTo>
                <a:lnTo>
                  <a:pt x="5124546" y="1525083"/>
                </a:lnTo>
                <a:lnTo>
                  <a:pt x="5117838" y="1466174"/>
                </a:lnTo>
                <a:lnTo>
                  <a:pt x="5110161" y="1407956"/>
                </a:lnTo>
                <a:lnTo>
                  <a:pt x="5101530" y="1350460"/>
                </a:lnTo>
                <a:lnTo>
                  <a:pt x="5091964" y="1293717"/>
                </a:lnTo>
                <a:lnTo>
                  <a:pt x="5081478" y="1237758"/>
                </a:lnTo>
                <a:lnTo>
                  <a:pt x="5070089" y="1182614"/>
                </a:lnTo>
                <a:lnTo>
                  <a:pt x="5057814" y="1128317"/>
                </a:lnTo>
                <a:lnTo>
                  <a:pt x="5044669" y="1074898"/>
                </a:lnTo>
                <a:lnTo>
                  <a:pt x="5030672" y="1022389"/>
                </a:lnTo>
                <a:lnTo>
                  <a:pt x="5015838" y="970819"/>
                </a:lnTo>
                <a:lnTo>
                  <a:pt x="5000185" y="920221"/>
                </a:lnTo>
                <a:lnTo>
                  <a:pt x="4983729" y="870626"/>
                </a:lnTo>
                <a:lnTo>
                  <a:pt x="4966487" y="822065"/>
                </a:lnTo>
                <a:lnTo>
                  <a:pt x="4948476" y="774569"/>
                </a:lnTo>
                <a:lnTo>
                  <a:pt x="4929712" y="728170"/>
                </a:lnTo>
                <a:lnTo>
                  <a:pt x="4910212" y="682899"/>
                </a:lnTo>
                <a:lnTo>
                  <a:pt x="4889993" y="638787"/>
                </a:lnTo>
                <a:lnTo>
                  <a:pt x="4869071" y="595865"/>
                </a:lnTo>
                <a:lnTo>
                  <a:pt x="4847462" y="554164"/>
                </a:lnTo>
                <a:lnTo>
                  <a:pt x="4825185" y="513716"/>
                </a:lnTo>
                <a:lnTo>
                  <a:pt x="4802255" y="474552"/>
                </a:lnTo>
                <a:lnTo>
                  <a:pt x="4778689" y="436704"/>
                </a:lnTo>
                <a:lnTo>
                  <a:pt x="4754503" y="400201"/>
                </a:lnTo>
                <a:lnTo>
                  <a:pt x="4729715" y="365077"/>
                </a:lnTo>
                <a:lnTo>
                  <a:pt x="4704341" y="331361"/>
                </a:lnTo>
                <a:lnTo>
                  <a:pt x="4678398" y="299086"/>
                </a:lnTo>
                <a:lnTo>
                  <a:pt x="4651902" y="268281"/>
                </a:lnTo>
                <a:lnTo>
                  <a:pt x="4624870" y="238980"/>
                </a:lnTo>
                <a:lnTo>
                  <a:pt x="4597319" y="211212"/>
                </a:lnTo>
                <a:lnTo>
                  <a:pt x="4569266" y="185010"/>
                </a:lnTo>
                <a:lnTo>
                  <a:pt x="4511717" y="137425"/>
                </a:lnTo>
                <a:lnTo>
                  <a:pt x="4452359" y="96475"/>
                </a:lnTo>
                <a:lnTo>
                  <a:pt x="4391324" y="62410"/>
                </a:lnTo>
                <a:lnTo>
                  <a:pt x="4328746" y="35480"/>
                </a:lnTo>
                <a:lnTo>
                  <a:pt x="4264759" y="15935"/>
                </a:lnTo>
                <a:lnTo>
                  <a:pt x="4199494" y="4025"/>
                </a:lnTo>
                <a:lnTo>
                  <a:pt x="4133087" y="0"/>
                </a:lnTo>
                <a:close/>
              </a:path>
              <a:path w="5143500" h="3784600">
                <a:moveTo>
                  <a:pt x="1272539" y="588263"/>
                </a:moveTo>
                <a:lnTo>
                  <a:pt x="3834383" y="588263"/>
                </a:lnTo>
              </a:path>
              <a:path w="5143500" h="3784600">
                <a:moveTo>
                  <a:pt x="1272539" y="1429511"/>
                </a:moveTo>
                <a:lnTo>
                  <a:pt x="3834383" y="1429511"/>
                </a:lnTo>
              </a:path>
              <a:path w="5143500" h="3784600">
                <a:moveTo>
                  <a:pt x="1272539" y="2287523"/>
                </a:moveTo>
                <a:lnTo>
                  <a:pt x="3834383" y="2287523"/>
                </a:lnTo>
              </a:path>
              <a:path w="5143500" h="3784600">
                <a:moveTo>
                  <a:pt x="1272539" y="3172967"/>
                </a:moveTo>
                <a:lnTo>
                  <a:pt x="3834383" y="3172967"/>
                </a:lnTo>
              </a:path>
            </a:pathLst>
          </a:custGeom>
          <a:ln w="9524">
            <a:solidFill>
              <a:srgbClr val="000000"/>
            </a:solidFill>
          </a:ln>
        </p:spPr>
        <p:txBody>
          <a:bodyPr wrap="square" lIns="0" tIns="0" rIns="0" bIns="0" rtlCol="0"/>
          <a:lstStyle/>
          <a:p>
            <a:endParaRPr/>
          </a:p>
        </p:txBody>
      </p:sp>
      <p:sp>
        <p:nvSpPr>
          <p:cNvPr id="13" name="object 13"/>
          <p:cNvSpPr txBox="1"/>
          <p:nvPr/>
        </p:nvSpPr>
        <p:spPr>
          <a:xfrm>
            <a:off x="3914531" y="6001001"/>
            <a:ext cx="3048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MT"/>
                <a:cs typeface="Arial MT"/>
              </a:rPr>
              <a:t>(a)</a:t>
            </a:r>
            <a:endParaRPr sz="1800">
              <a:latin typeface="Arial MT"/>
              <a:cs typeface="Arial MT"/>
            </a:endParaRPr>
          </a:p>
        </p:txBody>
      </p:sp>
      <p:sp>
        <p:nvSpPr>
          <p:cNvPr id="14" name="object 14"/>
          <p:cNvSpPr txBox="1"/>
          <p:nvPr/>
        </p:nvSpPr>
        <p:spPr>
          <a:xfrm>
            <a:off x="7009775" y="6004049"/>
            <a:ext cx="3048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MT"/>
                <a:cs typeface="Arial MT"/>
              </a:rPr>
              <a:t>(b)</a:t>
            </a:r>
            <a:endParaRPr sz="1800">
              <a:latin typeface="Arial MT"/>
              <a:cs typeface="Arial M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9900" y="366521"/>
            <a:ext cx="7705702" cy="1411351"/>
          </a:xfrm>
          <a:prstGeom prst="rect">
            <a:avLst/>
          </a:prstGeom>
        </p:spPr>
        <p:txBody>
          <a:bodyPr vert="horz" wrap="square" lIns="0" tIns="12065" rIns="0" bIns="0" rtlCol="0">
            <a:spAutoFit/>
          </a:bodyPr>
          <a:lstStyle/>
          <a:p>
            <a:pPr marL="2889250" marR="5080" indent="-2018030">
              <a:lnSpc>
                <a:spcPct val="100000"/>
              </a:lnSpc>
              <a:spcBef>
                <a:spcPts val="95"/>
              </a:spcBef>
            </a:pPr>
            <a:r>
              <a:rPr sz="4000" dirty="0"/>
              <a:t>Restricciones</a:t>
            </a:r>
            <a:r>
              <a:rPr sz="4000" spc="-140" dirty="0"/>
              <a:t> </a:t>
            </a:r>
            <a:r>
              <a:rPr sz="4000" dirty="0"/>
              <a:t>de</a:t>
            </a:r>
            <a:r>
              <a:rPr sz="4000" spc="-140" dirty="0"/>
              <a:t> </a:t>
            </a:r>
            <a:r>
              <a:rPr sz="4000" spc="-10" dirty="0"/>
              <a:t>asignación (mapping)</a:t>
            </a:r>
            <a:endParaRPr sz="4000" dirty="0"/>
          </a:p>
        </p:txBody>
      </p:sp>
      <p:sp>
        <p:nvSpPr>
          <p:cNvPr id="3" name="object 3"/>
          <p:cNvSpPr txBox="1"/>
          <p:nvPr/>
        </p:nvSpPr>
        <p:spPr>
          <a:xfrm>
            <a:off x="1310017" y="1971547"/>
            <a:ext cx="680720" cy="513715"/>
          </a:xfrm>
          <a:prstGeom prst="rect">
            <a:avLst/>
          </a:prstGeom>
        </p:spPr>
        <p:txBody>
          <a:bodyPr vert="horz" wrap="square" lIns="0" tIns="12700" rIns="0" bIns="0" rtlCol="0">
            <a:spAutoFit/>
          </a:bodyPr>
          <a:lstStyle/>
          <a:p>
            <a:pPr marL="12700">
              <a:lnSpc>
                <a:spcPct val="100000"/>
              </a:lnSpc>
              <a:spcBef>
                <a:spcPts val="100"/>
              </a:spcBef>
            </a:pPr>
            <a:r>
              <a:rPr sz="3200" b="1" spc="-25" dirty="0">
                <a:latin typeface="Arial"/>
                <a:cs typeface="Arial"/>
              </a:rPr>
              <a:t>1:N</a:t>
            </a:r>
            <a:endParaRPr sz="3200">
              <a:latin typeface="Arial"/>
              <a:cs typeface="Arial"/>
            </a:endParaRPr>
          </a:p>
        </p:txBody>
      </p:sp>
      <p:sp>
        <p:nvSpPr>
          <p:cNvPr id="4" name="object 4"/>
          <p:cNvSpPr txBox="1"/>
          <p:nvPr/>
        </p:nvSpPr>
        <p:spPr>
          <a:xfrm>
            <a:off x="3447165" y="2476500"/>
            <a:ext cx="599440" cy="525780"/>
          </a:xfrm>
          <a:prstGeom prst="rect">
            <a:avLst/>
          </a:prstGeom>
          <a:ln w="9524">
            <a:solidFill>
              <a:srgbClr val="000000"/>
            </a:solidFill>
          </a:ln>
        </p:spPr>
        <p:txBody>
          <a:bodyPr vert="horz" wrap="square" lIns="0" tIns="46355" rIns="0" bIns="0" rtlCol="0">
            <a:spAutoFit/>
          </a:bodyPr>
          <a:lstStyle/>
          <a:p>
            <a:pPr algn="ctr">
              <a:lnSpc>
                <a:spcPct val="100000"/>
              </a:lnSpc>
              <a:spcBef>
                <a:spcPts val="365"/>
              </a:spcBef>
            </a:pPr>
            <a:r>
              <a:rPr sz="1600" spc="-25" dirty="0">
                <a:latin typeface="Arial MT"/>
                <a:cs typeface="Arial MT"/>
              </a:rPr>
              <a:t>a</a:t>
            </a:r>
            <a:r>
              <a:rPr sz="1650" spc="-37" baseline="-20202" dirty="0">
                <a:latin typeface="Arial MT"/>
                <a:cs typeface="Arial MT"/>
              </a:rPr>
              <a:t>1</a:t>
            </a:r>
            <a:endParaRPr sz="1650" baseline="-20202">
              <a:latin typeface="Arial MT"/>
              <a:cs typeface="Arial MT"/>
            </a:endParaRPr>
          </a:p>
        </p:txBody>
      </p:sp>
      <p:sp>
        <p:nvSpPr>
          <p:cNvPr id="5" name="object 5"/>
          <p:cNvSpPr txBox="1"/>
          <p:nvPr/>
        </p:nvSpPr>
        <p:spPr>
          <a:xfrm>
            <a:off x="3447165" y="3526535"/>
            <a:ext cx="599440" cy="525780"/>
          </a:xfrm>
          <a:prstGeom prst="rect">
            <a:avLst/>
          </a:prstGeom>
          <a:ln w="9524">
            <a:solidFill>
              <a:srgbClr val="000000"/>
            </a:solidFill>
          </a:ln>
        </p:spPr>
        <p:txBody>
          <a:bodyPr vert="horz" wrap="square" lIns="0" tIns="46355" rIns="0" bIns="0" rtlCol="0">
            <a:spAutoFit/>
          </a:bodyPr>
          <a:lstStyle/>
          <a:p>
            <a:pPr algn="ctr">
              <a:lnSpc>
                <a:spcPct val="100000"/>
              </a:lnSpc>
              <a:spcBef>
                <a:spcPts val="365"/>
              </a:spcBef>
            </a:pPr>
            <a:r>
              <a:rPr sz="1600" spc="-25" dirty="0">
                <a:latin typeface="Arial MT"/>
                <a:cs typeface="Arial MT"/>
              </a:rPr>
              <a:t>a</a:t>
            </a:r>
            <a:r>
              <a:rPr sz="1650" spc="-37" baseline="-20202" dirty="0">
                <a:latin typeface="Arial MT"/>
                <a:cs typeface="Arial MT"/>
              </a:rPr>
              <a:t>2</a:t>
            </a:r>
            <a:endParaRPr sz="1650" baseline="-20202">
              <a:latin typeface="Arial MT"/>
              <a:cs typeface="Arial MT"/>
            </a:endParaRPr>
          </a:p>
        </p:txBody>
      </p:sp>
      <p:sp>
        <p:nvSpPr>
          <p:cNvPr id="6" name="object 6"/>
          <p:cNvSpPr txBox="1"/>
          <p:nvPr/>
        </p:nvSpPr>
        <p:spPr>
          <a:xfrm>
            <a:off x="3447165" y="4576571"/>
            <a:ext cx="599440" cy="525780"/>
          </a:xfrm>
          <a:prstGeom prst="rect">
            <a:avLst/>
          </a:prstGeom>
          <a:ln w="9524">
            <a:solidFill>
              <a:srgbClr val="000000"/>
            </a:solidFill>
          </a:ln>
        </p:spPr>
        <p:txBody>
          <a:bodyPr vert="horz" wrap="square" lIns="0" tIns="46355" rIns="0" bIns="0" rtlCol="0">
            <a:spAutoFit/>
          </a:bodyPr>
          <a:lstStyle/>
          <a:p>
            <a:pPr algn="ctr">
              <a:lnSpc>
                <a:spcPct val="100000"/>
              </a:lnSpc>
              <a:spcBef>
                <a:spcPts val="365"/>
              </a:spcBef>
            </a:pPr>
            <a:r>
              <a:rPr sz="1600" spc="-25" dirty="0">
                <a:latin typeface="Arial MT"/>
                <a:cs typeface="Arial MT"/>
              </a:rPr>
              <a:t>a</a:t>
            </a:r>
            <a:r>
              <a:rPr sz="1650" spc="-37" baseline="-20202" dirty="0">
                <a:latin typeface="Arial MT"/>
                <a:cs typeface="Arial MT"/>
              </a:rPr>
              <a:t>3</a:t>
            </a:r>
            <a:endParaRPr sz="1650" baseline="-20202">
              <a:latin typeface="Arial MT"/>
              <a:cs typeface="Arial MT"/>
            </a:endParaRPr>
          </a:p>
        </p:txBody>
      </p:sp>
      <p:sp>
        <p:nvSpPr>
          <p:cNvPr id="7" name="object 7"/>
          <p:cNvSpPr txBox="1"/>
          <p:nvPr/>
        </p:nvSpPr>
        <p:spPr>
          <a:xfrm>
            <a:off x="6891405" y="2302763"/>
            <a:ext cx="597535" cy="524510"/>
          </a:xfrm>
          <a:prstGeom prst="rect">
            <a:avLst/>
          </a:prstGeom>
          <a:ln w="9524">
            <a:solidFill>
              <a:srgbClr val="000000"/>
            </a:solidFill>
          </a:ln>
        </p:spPr>
        <p:txBody>
          <a:bodyPr vert="horz" wrap="square" lIns="0" tIns="46355" rIns="0" bIns="0" rtlCol="0">
            <a:spAutoFit/>
          </a:bodyPr>
          <a:lstStyle/>
          <a:p>
            <a:pPr algn="ctr">
              <a:lnSpc>
                <a:spcPct val="100000"/>
              </a:lnSpc>
              <a:spcBef>
                <a:spcPts val="365"/>
              </a:spcBef>
            </a:pPr>
            <a:r>
              <a:rPr sz="1600" spc="-25" dirty="0">
                <a:latin typeface="Arial MT"/>
                <a:cs typeface="Arial MT"/>
              </a:rPr>
              <a:t>b</a:t>
            </a:r>
            <a:r>
              <a:rPr sz="1650" spc="-37" baseline="-20202" dirty="0">
                <a:latin typeface="Arial MT"/>
                <a:cs typeface="Arial MT"/>
              </a:rPr>
              <a:t>1</a:t>
            </a:r>
            <a:endParaRPr sz="1650" baseline="-20202">
              <a:latin typeface="Arial MT"/>
              <a:cs typeface="Arial MT"/>
            </a:endParaRPr>
          </a:p>
        </p:txBody>
      </p:sp>
      <p:sp>
        <p:nvSpPr>
          <p:cNvPr id="8" name="object 8"/>
          <p:cNvSpPr txBox="1"/>
          <p:nvPr/>
        </p:nvSpPr>
        <p:spPr>
          <a:xfrm>
            <a:off x="6891405" y="3002279"/>
            <a:ext cx="597535" cy="524510"/>
          </a:xfrm>
          <a:prstGeom prst="rect">
            <a:avLst/>
          </a:prstGeom>
          <a:ln w="9524">
            <a:solidFill>
              <a:srgbClr val="000000"/>
            </a:solidFill>
          </a:ln>
        </p:spPr>
        <p:txBody>
          <a:bodyPr vert="horz" wrap="square" lIns="0" tIns="45085" rIns="0" bIns="0" rtlCol="0">
            <a:spAutoFit/>
          </a:bodyPr>
          <a:lstStyle/>
          <a:p>
            <a:pPr algn="ctr">
              <a:lnSpc>
                <a:spcPct val="100000"/>
              </a:lnSpc>
              <a:spcBef>
                <a:spcPts val="355"/>
              </a:spcBef>
            </a:pPr>
            <a:r>
              <a:rPr sz="1600" spc="-25" dirty="0">
                <a:latin typeface="Arial MT"/>
                <a:cs typeface="Arial MT"/>
              </a:rPr>
              <a:t>b</a:t>
            </a:r>
            <a:r>
              <a:rPr sz="1650" spc="-37" baseline="-20202" dirty="0">
                <a:latin typeface="Arial MT"/>
                <a:cs typeface="Arial MT"/>
              </a:rPr>
              <a:t>2</a:t>
            </a:r>
            <a:endParaRPr sz="1650" baseline="-20202">
              <a:latin typeface="Arial MT"/>
              <a:cs typeface="Arial MT"/>
            </a:endParaRPr>
          </a:p>
        </p:txBody>
      </p:sp>
      <p:sp>
        <p:nvSpPr>
          <p:cNvPr id="9" name="object 9"/>
          <p:cNvSpPr txBox="1"/>
          <p:nvPr/>
        </p:nvSpPr>
        <p:spPr>
          <a:xfrm>
            <a:off x="6891405" y="3701795"/>
            <a:ext cx="597535" cy="525780"/>
          </a:xfrm>
          <a:prstGeom prst="rect">
            <a:avLst/>
          </a:prstGeom>
          <a:ln w="9524">
            <a:solidFill>
              <a:srgbClr val="000000"/>
            </a:solidFill>
          </a:ln>
        </p:spPr>
        <p:txBody>
          <a:bodyPr vert="horz" wrap="square" lIns="0" tIns="46355" rIns="0" bIns="0" rtlCol="0">
            <a:spAutoFit/>
          </a:bodyPr>
          <a:lstStyle/>
          <a:p>
            <a:pPr algn="ctr">
              <a:lnSpc>
                <a:spcPct val="100000"/>
              </a:lnSpc>
              <a:spcBef>
                <a:spcPts val="365"/>
              </a:spcBef>
            </a:pPr>
            <a:r>
              <a:rPr sz="1600" spc="-25" dirty="0">
                <a:latin typeface="Arial MT"/>
                <a:cs typeface="Arial MT"/>
              </a:rPr>
              <a:t>b</a:t>
            </a:r>
            <a:r>
              <a:rPr sz="1650" spc="-37" baseline="-20202" dirty="0">
                <a:latin typeface="Arial MT"/>
                <a:cs typeface="Arial MT"/>
              </a:rPr>
              <a:t>3</a:t>
            </a:r>
            <a:endParaRPr sz="1650" baseline="-20202">
              <a:latin typeface="Arial MT"/>
              <a:cs typeface="Arial MT"/>
            </a:endParaRPr>
          </a:p>
        </p:txBody>
      </p:sp>
      <p:sp>
        <p:nvSpPr>
          <p:cNvPr id="10" name="object 10"/>
          <p:cNvSpPr txBox="1"/>
          <p:nvPr/>
        </p:nvSpPr>
        <p:spPr>
          <a:xfrm>
            <a:off x="6891405" y="4401311"/>
            <a:ext cx="597535" cy="525780"/>
          </a:xfrm>
          <a:prstGeom prst="rect">
            <a:avLst/>
          </a:prstGeom>
          <a:ln w="9524">
            <a:solidFill>
              <a:srgbClr val="000000"/>
            </a:solidFill>
          </a:ln>
        </p:spPr>
        <p:txBody>
          <a:bodyPr vert="horz" wrap="square" lIns="0" tIns="46355" rIns="0" bIns="0" rtlCol="0">
            <a:spAutoFit/>
          </a:bodyPr>
          <a:lstStyle/>
          <a:p>
            <a:pPr algn="ctr">
              <a:lnSpc>
                <a:spcPct val="100000"/>
              </a:lnSpc>
              <a:spcBef>
                <a:spcPts val="365"/>
              </a:spcBef>
            </a:pPr>
            <a:r>
              <a:rPr sz="1600" spc="-25" dirty="0">
                <a:latin typeface="Arial MT"/>
                <a:cs typeface="Arial MT"/>
              </a:rPr>
              <a:t>b</a:t>
            </a:r>
            <a:r>
              <a:rPr sz="1650" spc="-37" baseline="-20202" dirty="0">
                <a:latin typeface="Arial MT"/>
                <a:cs typeface="Arial MT"/>
              </a:rPr>
              <a:t>4</a:t>
            </a:r>
            <a:endParaRPr sz="1650" baseline="-20202">
              <a:latin typeface="Arial MT"/>
              <a:cs typeface="Arial MT"/>
            </a:endParaRPr>
          </a:p>
        </p:txBody>
      </p:sp>
      <p:grpSp>
        <p:nvGrpSpPr>
          <p:cNvPr id="11" name="object 11"/>
          <p:cNvGrpSpPr/>
          <p:nvPr/>
        </p:nvGrpSpPr>
        <p:grpSpPr>
          <a:xfrm>
            <a:off x="2627063" y="1772221"/>
            <a:ext cx="5724525" cy="4383405"/>
            <a:chOff x="2627063" y="1772221"/>
            <a:chExt cx="5724525" cy="4383405"/>
          </a:xfrm>
        </p:grpSpPr>
        <p:sp>
          <p:nvSpPr>
            <p:cNvPr id="12" name="object 12"/>
            <p:cNvSpPr/>
            <p:nvPr/>
          </p:nvSpPr>
          <p:spPr>
            <a:xfrm>
              <a:off x="2631825" y="1776983"/>
              <a:ext cx="5715000" cy="4373880"/>
            </a:xfrm>
            <a:custGeom>
              <a:avLst/>
              <a:gdLst/>
              <a:ahLst/>
              <a:cxnLst/>
              <a:rect l="l" t="t" r="r" b="b"/>
              <a:pathLst>
                <a:path w="5715000" h="4373880">
                  <a:moveTo>
                    <a:pt x="1123187" y="350519"/>
                  </a:moveTo>
                  <a:lnTo>
                    <a:pt x="1053490" y="354162"/>
                  </a:lnTo>
                  <a:lnTo>
                    <a:pt x="984920" y="364950"/>
                  </a:lnTo>
                  <a:lnTo>
                    <a:pt x="917602" y="382668"/>
                  </a:lnTo>
                  <a:lnTo>
                    <a:pt x="851658" y="407105"/>
                  </a:lnTo>
                  <a:lnTo>
                    <a:pt x="787215" y="438048"/>
                  </a:lnTo>
                  <a:lnTo>
                    <a:pt x="724396" y="475284"/>
                  </a:lnTo>
                  <a:lnTo>
                    <a:pt x="663325" y="518600"/>
                  </a:lnTo>
                  <a:lnTo>
                    <a:pt x="633484" y="542472"/>
                  </a:lnTo>
                  <a:lnTo>
                    <a:pt x="604127" y="567784"/>
                  </a:lnTo>
                  <a:lnTo>
                    <a:pt x="575269" y="594510"/>
                  </a:lnTo>
                  <a:lnTo>
                    <a:pt x="546926" y="622622"/>
                  </a:lnTo>
                  <a:lnTo>
                    <a:pt x="519114" y="652096"/>
                  </a:lnTo>
                  <a:lnTo>
                    <a:pt x="491847" y="682903"/>
                  </a:lnTo>
                  <a:lnTo>
                    <a:pt x="465142" y="715018"/>
                  </a:lnTo>
                  <a:lnTo>
                    <a:pt x="439014" y="748413"/>
                  </a:lnTo>
                  <a:lnTo>
                    <a:pt x="413478" y="783063"/>
                  </a:lnTo>
                  <a:lnTo>
                    <a:pt x="388550" y="818940"/>
                  </a:lnTo>
                  <a:lnTo>
                    <a:pt x="364246" y="856017"/>
                  </a:lnTo>
                  <a:lnTo>
                    <a:pt x="340581" y="894270"/>
                  </a:lnTo>
                  <a:lnTo>
                    <a:pt x="317571" y="933670"/>
                  </a:lnTo>
                  <a:lnTo>
                    <a:pt x="295231" y="974191"/>
                  </a:lnTo>
                  <a:lnTo>
                    <a:pt x="273576" y="1015807"/>
                  </a:lnTo>
                  <a:lnTo>
                    <a:pt x="252623" y="1058490"/>
                  </a:lnTo>
                  <a:lnTo>
                    <a:pt x="232387" y="1102216"/>
                  </a:lnTo>
                  <a:lnTo>
                    <a:pt x="212883" y="1146955"/>
                  </a:lnTo>
                  <a:lnTo>
                    <a:pt x="194127" y="1192684"/>
                  </a:lnTo>
                  <a:lnTo>
                    <a:pt x="176135" y="1239373"/>
                  </a:lnTo>
                  <a:lnTo>
                    <a:pt x="158921" y="1286998"/>
                  </a:lnTo>
                  <a:lnTo>
                    <a:pt x="142502" y="1335531"/>
                  </a:lnTo>
                  <a:lnTo>
                    <a:pt x="126893" y="1384946"/>
                  </a:lnTo>
                  <a:lnTo>
                    <a:pt x="112110" y="1435216"/>
                  </a:lnTo>
                  <a:lnTo>
                    <a:pt x="98168" y="1486314"/>
                  </a:lnTo>
                  <a:lnTo>
                    <a:pt x="85082" y="1538215"/>
                  </a:lnTo>
                  <a:lnTo>
                    <a:pt x="72869" y="1590891"/>
                  </a:lnTo>
                  <a:lnTo>
                    <a:pt x="61543" y="1644316"/>
                  </a:lnTo>
                  <a:lnTo>
                    <a:pt x="51121" y="1698463"/>
                  </a:lnTo>
                  <a:lnTo>
                    <a:pt x="41618" y="1753306"/>
                  </a:lnTo>
                  <a:lnTo>
                    <a:pt x="33049" y="1808818"/>
                  </a:lnTo>
                  <a:lnTo>
                    <a:pt x="25430" y="1864972"/>
                  </a:lnTo>
                  <a:lnTo>
                    <a:pt x="18776" y="1921743"/>
                  </a:lnTo>
                  <a:lnTo>
                    <a:pt x="13104" y="1979102"/>
                  </a:lnTo>
                  <a:lnTo>
                    <a:pt x="8428" y="2037024"/>
                  </a:lnTo>
                  <a:lnTo>
                    <a:pt x="4764" y="2095482"/>
                  </a:lnTo>
                  <a:lnTo>
                    <a:pt x="2127" y="2154450"/>
                  </a:lnTo>
                  <a:lnTo>
                    <a:pt x="534" y="2213901"/>
                  </a:lnTo>
                  <a:lnTo>
                    <a:pt x="0" y="2273807"/>
                  </a:lnTo>
                  <a:lnTo>
                    <a:pt x="534" y="2333716"/>
                  </a:lnTo>
                  <a:lnTo>
                    <a:pt x="2127" y="2393171"/>
                  </a:lnTo>
                  <a:lnTo>
                    <a:pt x="4764" y="2452147"/>
                  </a:lnTo>
                  <a:lnTo>
                    <a:pt x="8428" y="2510615"/>
                  </a:lnTo>
                  <a:lnTo>
                    <a:pt x="13104" y="2568551"/>
                  </a:lnTo>
                  <a:lnTo>
                    <a:pt x="18776" y="2625926"/>
                  </a:lnTo>
                  <a:lnTo>
                    <a:pt x="25430" y="2682715"/>
                  </a:lnTo>
                  <a:lnTo>
                    <a:pt x="33049" y="2738890"/>
                  </a:lnTo>
                  <a:lnTo>
                    <a:pt x="41618" y="2794426"/>
                  </a:lnTo>
                  <a:lnTo>
                    <a:pt x="51121" y="2849294"/>
                  </a:lnTo>
                  <a:lnTo>
                    <a:pt x="61543" y="2903468"/>
                  </a:lnTo>
                  <a:lnTo>
                    <a:pt x="72869" y="2956923"/>
                  </a:lnTo>
                  <a:lnTo>
                    <a:pt x="85082" y="3009630"/>
                  </a:lnTo>
                  <a:lnTo>
                    <a:pt x="98168" y="3061563"/>
                  </a:lnTo>
                  <a:lnTo>
                    <a:pt x="112110" y="3112696"/>
                  </a:lnTo>
                  <a:lnTo>
                    <a:pt x="126893" y="3163002"/>
                  </a:lnTo>
                  <a:lnTo>
                    <a:pt x="142502" y="3212454"/>
                  </a:lnTo>
                  <a:lnTo>
                    <a:pt x="158921" y="3261025"/>
                  </a:lnTo>
                  <a:lnTo>
                    <a:pt x="176135" y="3308689"/>
                  </a:lnTo>
                  <a:lnTo>
                    <a:pt x="194127" y="3355419"/>
                  </a:lnTo>
                  <a:lnTo>
                    <a:pt x="212883" y="3401188"/>
                  </a:lnTo>
                  <a:lnTo>
                    <a:pt x="232387" y="3445969"/>
                  </a:lnTo>
                  <a:lnTo>
                    <a:pt x="252623" y="3489736"/>
                  </a:lnTo>
                  <a:lnTo>
                    <a:pt x="273576" y="3532463"/>
                  </a:lnTo>
                  <a:lnTo>
                    <a:pt x="295231" y="3574121"/>
                  </a:lnTo>
                  <a:lnTo>
                    <a:pt x="317571" y="3614686"/>
                  </a:lnTo>
                  <a:lnTo>
                    <a:pt x="340581" y="3654129"/>
                  </a:lnTo>
                  <a:lnTo>
                    <a:pt x="364246" y="3692424"/>
                  </a:lnTo>
                  <a:lnTo>
                    <a:pt x="388550" y="3729545"/>
                  </a:lnTo>
                  <a:lnTo>
                    <a:pt x="413478" y="3765464"/>
                  </a:lnTo>
                  <a:lnTo>
                    <a:pt x="439014" y="3800156"/>
                  </a:lnTo>
                  <a:lnTo>
                    <a:pt x="465142" y="3833593"/>
                  </a:lnTo>
                  <a:lnTo>
                    <a:pt x="491847" y="3865749"/>
                  </a:lnTo>
                  <a:lnTo>
                    <a:pt x="519114" y="3896596"/>
                  </a:lnTo>
                  <a:lnTo>
                    <a:pt x="546926" y="3926108"/>
                  </a:lnTo>
                  <a:lnTo>
                    <a:pt x="575269" y="3954259"/>
                  </a:lnTo>
                  <a:lnTo>
                    <a:pt x="604127" y="3981022"/>
                  </a:lnTo>
                  <a:lnTo>
                    <a:pt x="633484" y="4006370"/>
                  </a:lnTo>
                  <a:lnTo>
                    <a:pt x="663325" y="4030276"/>
                  </a:lnTo>
                  <a:lnTo>
                    <a:pt x="724396" y="4073656"/>
                  </a:lnTo>
                  <a:lnTo>
                    <a:pt x="787215" y="4110949"/>
                  </a:lnTo>
                  <a:lnTo>
                    <a:pt x="851658" y="4141940"/>
                  </a:lnTo>
                  <a:lnTo>
                    <a:pt x="917602" y="4166417"/>
                  </a:lnTo>
                  <a:lnTo>
                    <a:pt x="984920" y="4184165"/>
                  </a:lnTo>
                  <a:lnTo>
                    <a:pt x="1053490" y="4194970"/>
                  </a:lnTo>
                  <a:lnTo>
                    <a:pt x="1123187" y="4198619"/>
                  </a:lnTo>
                  <a:lnTo>
                    <a:pt x="1158169" y="4197703"/>
                  </a:lnTo>
                  <a:lnTo>
                    <a:pt x="1227318" y="4190449"/>
                  </a:lnTo>
                  <a:lnTo>
                    <a:pt x="1295278" y="4176145"/>
                  </a:lnTo>
                  <a:lnTo>
                    <a:pt x="1361925" y="4155006"/>
                  </a:lnTo>
                  <a:lnTo>
                    <a:pt x="1427134" y="4127245"/>
                  </a:lnTo>
                  <a:lnTo>
                    <a:pt x="1490780" y="4093077"/>
                  </a:lnTo>
                  <a:lnTo>
                    <a:pt x="1552741" y="4052714"/>
                  </a:lnTo>
                  <a:lnTo>
                    <a:pt x="1612891" y="4006370"/>
                  </a:lnTo>
                  <a:lnTo>
                    <a:pt x="1642248" y="3981022"/>
                  </a:lnTo>
                  <a:lnTo>
                    <a:pt x="1671106" y="3954259"/>
                  </a:lnTo>
                  <a:lnTo>
                    <a:pt x="1699449" y="3926108"/>
                  </a:lnTo>
                  <a:lnTo>
                    <a:pt x="1727261" y="3896596"/>
                  </a:lnTo>
                  <a:lnTo>
                    <a:pt x="1754528" y="3865749"/>
                  </a:lnTo>
                  <a:lnTo>
                    <a:pt x="1781233" y="3833593"/>
                  </a:lnTo>
                  <a:lnTo>
                    <a:pt x="1807361" y="3800156"/>
                  </a:lnTo>
                  <a:lnTo>
                    <a:pt x="1832897" y="3765464"/>
                  </a:lnTo>
                  <a:lnTo>
                    <a:pt x="1857825" y="3729545"/>
                  </a:lnTo>
                  <a:lnTo>
                    <a:pt x="1882129" y="3692424"/>
                  </a:lnTo>
                  <a:lnTo>
                    <a:pt x="1905794" y="3654129"/>
                  </a:lnTo>
                  <a:lnTo>
                    <a:pt x="1928804" y="3614686"/>
                  </a:lnTo>
                  <a:lnTo>
                    <a:pt x="1951144" y="3574121"/>
                  </a:lnTo>
                  <a:lnTo>
                    <a:pt x="1972799" y="3532463"/>
                  </a:lnTo>
                  <a:lnTo>
                    <a:pt x="1993752" y="3489736"/>
                  </a:lnTo>
                  <a:lnTo>
                    <a:pt x="2013988" y="3445969"/>
                  </a:lnTo>
                  <a:lnTo>
                    <a:pt x="2033492" y="3401188"/>
                  </a:lnTo>
                  <a:lnTo>
                    <a:pt x="2052248" y="3355419"/>
                  </a:lnTo>
                  <a:lnTo>
                    <a:pt x="2070240" y="3308689"/>
                  </a:lnTo>
                  <a:lnTo>
                    <a:pt x="2087454" y="3261025"/>
                  </a:lnTo>
                  <a:lnTo>
                    <a:pt x="2103873" y="3212454"/>
                  </a:lnTo>
                  <a:lnTo>
                    <a:pt x="2119482" y="3163002"/>
                  </a:lnTo>
                  <a:lnTo>
                    <a:pt x="2134265" y="3112696"/>
                  </a:lnTo>
                  <a:lnTo>
                    <a:pt x="2148207" y="3061563"/>
                  </a:lnTo>
                  <a:lnTo>
                    <a:pt x="2161293" y="3009630"/>
                  </a:lnTo>
                  <a:lnTo>
                    <a:pt x="2173506" y="2956923"/>
                  </a:lnTo>
                  <a:lnTo>
                    <a:pt x="2184831" y="2903468"/>
                  </a:lnTo>
                  <a:lnTo>
                    <a:pt x="2195254" y="2849294"/>
                  </a:lnTo>
                  <a:lnTo>
                    <a:pt x="2204757" y="2794426"/>
                  </a:lnTo>
                  <a:lnTo>
                    <a:pt x="2213326" y="2738890"/>
                  </a:lnTo>
                  <a:lnTo>
                    <a:pt x="2220945" y="2682715"/>
                  </a:lnTo>
                  <a:lnTo>
                    <a:pt x="2227599" y="2625926"/>
                  </a:lnTo>
                  <a:lnTo>
                    <a:pt x="2233271" y="2568551"/>
                  </a:lnTo>
                  <a:lnTo>
                    <a:pt x="2237947" y="2510615"/>
                  </a:lnTo>
                  <a:lnTo>
                    <a:pt x="2241611" y="2452147"/>
                  </a:lnTo>
                  <a:lnTo>
                    <a:pt x="2244248" y="2393171"/>
                  </a:lnTo>
                  <a:lnTo>
                    <a:pt x="2245841" y="2333716"/>
                  </a:lnTo>
                  <a:lnTo>
                    <a:pt x="2246375" y="2273807"/>
                  </a:lnTo>
                  <a:lnTo>
                    <a:pt x="2245841" y="2213901"/>
                  </a:lnTo>
                  <a:lnTo>
                    <a:pt x="2244248" y="2154450"/>
                  </a:lnTo>
                  <a:lnTo>
                    <a:pt x="2241611" y="2095482"/>
                  </a:lnTo>
                  <a:lnTo>
                    <a:pt x="2237947" y="2037024"/>
                  </a:lnTo>
                  <a:lnTo>
                    <a:pt x="2233271" y="1979102"/>
                  </a:lnTo>
                  <a:lnTo>
                    <a:pt x="2227599" y="1921743"/>
                  </a:lnTo>
                  <a:lnTo>
                    <a:pt x="2220945" y="1864972"/>
                  </a:lnTo>
                  <a:lnTo>
                    <a:pt x="2213326" y="1808818"/>
                  </a:lnTo>
                  <a:lnTo>
                    <a:pt x="2204757" y="1753306"/>
                  </a:lnTo>
                  <a:lnTo>
                    <a:pt x="2195254" y="1698463"/>
                  </a:lnTo>
                  <a:lnTo>
                    <a:pt x="2184831" y="1644316"/>
                  </a:lnTo>
                  <a:lnTo>
                    <a:pt x="2173506" y="1590891"/>
                  </a:lnTo>
                  <a:lnTo>
                    <a:pt x="2161293" y="1538215"/>
                  </a:lnTo>
                  <a:lnTo>
                    <a:pt x="2148207" y="1486314"/>
                  </a:lnTo>
                  <a:lnTo>
                    <a:pt x="2134265" y="1435216"/>
                  </a:lnTo>
                  <a:lnTo>
                    <a:pt x="2119482" y="1384946"/>
                  </a:lnTo>
                  <a:lnTo>
                    <a:pt x="2103873" y="1335531"/>
                  </a:lnTo>
                  <a:lnTo>
                    <a:pt x="2087454" y="1286998"/>
                  </a:lnTo>
                  <a:lnTo>
                    <a:pt x="2070240" y="1239373"/>
                  </a:lnTo>
                  <a:lnTo>
                    <a:pt x="2052248" y="1192684"/>
                  </a:lnTo>
                  <a:lnTo>
                    <a:pt x="2033492" y="1146955"/>
                  </a:lnTo>
                  <a:lnTo>
                    <a:pt x="2013988" y="1102216"/>
                  </a:lnTo>
                  <a:lnTo>
                    <a:pt x="1993752" y="1058490"/>
                  </a:lnTo>
                  <a:lnTo>
                    <a:pt x="1972799" y="1015807"/>
                  </a:lnTo>
                  <a:lnTo>
                    <a:pt x="1951144" y="974191"/>
                  </a:lnTo>
                  <a:lnTo>
                    <a:pt x="1928804" y="933670"/>
                  </a:lnTo>
                  <a:lnTo>
                    <a:pt x="1905794" y="894270"/>
                  </a:lnTo>
                  <a:lnTo>
                    <a:pt x="1882129" y="856017"/>
                  </a:lnTo>
                  <a:lnTo>
                    <a:pt x="1857825" y="818940"/>
                  </a:lnTo>
                  <a:lnTo>
                    <a:pt x="1832897" y="783063"/>
                  </a:lnTo>
                  <a:lnTo>
                    <a:pt x="1807361" y="748413"/>
                  </a:lnTo>
                  <a:lnTo>
                    <a:pt x="1781233" y="715018"/>
                  </a:lnTo>
                  <a:lnTo>
                    <a:pt x="1754528" y="682903"/>
                  </a:lnTo>
                  <a:lnTo>
                    <a:pt x="1727261" y="652096"/>
                  </a:lnTo>
                  <a:lnTo>
                    <a:pt x="1699449" y="622622"/>
                  </a:lnTo>
                  <a:lnTo>
                    <a:pt x="1671106" y="594510"/>
                  </a:lnTo>
                  <a:lnTo>
                    <a:pt x="1642248" y="567784"/>
                  </a:lnTo>
                  <a:lnTo>
                    <a:pt x="1612891" y="542472"/>
                  </a:lnTo>
                  <a:lnTo>
                    <a:pt x="1583050" y="518600"/>
                  </a:lnTo>
                  <a:lnTo>
                    <a:pt x="1521979" y="475284"/>
                  </a:lnTo>
                  <a:lnTo>
                    <a:pt x="1459160" y="438048"/>
                  </a:lnTo>
                  <a:lnTo>
                    <a:pt x="1394717" y="407105"/>
                  </a:lnTo>
                  <a:lnTo>
                    <a:pt x="1328773" y="382668"/>
                  </a:lnTo>
                  <a:lnTo>
                    <a:pt x="1261455" y="364950"/>
                  </a:lnTo>
                  <a:lnTo>
                    <a:pt x="1192884" y="354162"/>
                  </a:lnTo>
                  <a:lnTo>
                    <a:pt x="1123187" y="350519"/>
                  </a:lnTo>
                  <a:close/>
                </a:path>
                <a:path w="5715000" h="4373880">
                  <a:moveTo>
                    <a:pt x="4591811" y="0"/>
                  </a:moveTo>
                  <a:lnTo>
                    <a:pt x="4528080" y="3464"/>
                  </a:lnTo>
                  <a:lnTo>
                    <a:pt x="4465281" y="13735"/>
                  </a:lnTo>
                  <a:lnTo>
                    <a:pt x="4403509" y="30626"/>
                  </a:lnTo>
                  <a:lnTo>
                    <a:pt x="4342858" y="53953"/>
                  </a:lnTo>
                  <a:lnTo>
                    <a:pt x="4283424" y="83531"/>
                  </a:lnTo>
                  <a:lnTo>
                    <a:pt x="4225302" y="119173"/>
                  </a:lnTo>
                  <a:lnTo>
                    <a:pt x="4168586" y="160696"/>
                  </a:lnTo>
                  <a:lnTo>
                    <a:pt x="4113371" y="207913"/>
                  </a:lnTo>
                  <a:lnTo>
                    <a:pt x="4059752" y="260639"/>
                  </a:lnTo>
                  <a:lnTo>
                    <a:pt x="4033571" y="289011"/>
                  </a:lnTo>
                  <a:lnTo>
                    <a:pt x="4007824" y="318690"/>
                  </a:lnTo>
                  <a:lnTo>
                    <a:pt x="3982524" y="349655"/>
                  </a:lnTo>
                  <a:lnTo>
                    <a:pt x="3957682" y="381880"/>
                  </a:lnTo>
                  <a:lnTo>
                    <a:pt x="3933310" y="415345"/>
                  </a:lnTo>
                  <a:lnTo>
                    <a:pt x="3909421" y="450024"/>
                  </a:lnTo>
                  <a:lnTo>
                    <a:pt x="3886025" y="485896"/>
                  </a:lnTo>
                  <a:lnTo>
                    <a:pt x="3863135" y="522937"/>
                  </a:lnTo>
                  <a:lnTo>
                    <a:pt x="3840762" y="561123"/>
                  </a:lnTo>
                  <a:lnTo>
                    <a:pt x="3818919" y="600433"/>
                  </a:lnTo>
                  <a:lnTo>
                    <a:pt x="3797617" y="640841"/>
                  </a:lnTo>
                  <a:lnTo>
                    <a:pt x="3776868" y="682327"/>
                  </a:lnTo>
                  <a:lnTo>
                    <a:pt x="3756685" y="724865"/>
                  </a:lnTo>
                  <a:lnTo>
                    <a:pt x="3737078" y="768434"/>
                  </a:lnTo>
                  <a:lnTo>
                    <a:pt x="3718060" y="813009"/>
                  </a:lnTo>
                  <a:lnTo>
                    <a:pt x="3699642" y="858569"/>
                  </a:lnTo>
                  <a:lnTo>
                    <a:pt x="3681837" y="905089"/>
                  </a:lnTo>
                  <a:lnTo>
                    <a:pt x="3664656" y="952546"/>
                  </a:lnTo>
                  <a:lnTo>
                    <a:pt x="3648112" y="1000918"/>
                  </a:lnTo>
                  <a:lnTo>
                    <a:pt x="3632215" y="1050181"/>
                  </a:lnTo>
                  <a:lnTo>
                    <a:pt x="3616978" y="1100312"/>
                  </a:lnTo>
                  <a:lnTo>
                    <a:pt x="3602413" y="1151288"/>
                  </a:lnTo>
                  <a:lnTo>
                    <a:pt x="3588532" y="1203086"/>
                  </a:lnTo>
                  <a:lnTo>
                    <a:pt x="3575346" y="1255682"/>
                  </a:lnTo>
                  <a:lnTo>
                    <a:pt x="3562867" y="1309054"/>
                  </a:lnTo>
                  <a:lnTo>
                    <a:pt x="3551107" y="1363178"/>
                  </a:lnTo>
                  <a:lnTo>
                    <a:pt x="3540079" y="1418031"/>
                  </a:lnTo>
                  <a:lnTo>
                    <a:pt x="3529793" y="1473590"/>
                  </a:lnTo>
                  <a:lnTo>
                    <a:pt x="3520262" y="1529832"/>
                  </a:lnTo>
                  <a:lnTo>
                    <a:pt x="3511497" y="1586734"/>
                  </a:lnTo>
                  <a:lnTo>
                    <a:pt x="3503511" y="1644272"/>
                  </a:lnTo>
                  <a:lnTo>
                    <a:pt x="3496316" y="1702424"/>
                  </a:lnTo>
                  <a:lnTo>
                    <a:pt x="3489922" y="1761166"/>
                  </a:lnTo>
                  <a:lnTo>
                    <a:pt x="3484343" y="1820474"/>
                  </a:lnTo>
                  <a:lnTo>
                    <a:pt x="3479589" y="1880327"/>
                  </a:lnTo>
                  <a:lnTo>
                    <a:pt x="3475673" y="1940701"/>
                  </a:lnTo>
                  <a:lnTo>
                    <a:pt x="3472607" y="2001572"/>
                  </a:lnTo>
                  <a:lnTo>
                    <a:pt x="3470402" y="2062917"/>
                  </a:lnTo>
                  <a:lnTo>
                    <a:pt x="3469070" y="2124714"/>
                  </a:lnTo>
                  <a:lnTo>
                    <a:pt x="3468623" y="2186939"/>
                  </a:lnTo>
                  <a:lnTo>
                    <a:pt x="3469070" y="2249241"/>
                  </a:lnTo>
                  <a:lnTo>
                    <a:pt x="3470402" y="2311108"/>
                  </a:lnTo>
                  <a:lnTo>
                    <a:pt x="3472607" y="2372520"/>
                  </a:lnTo>
                  <a:lnTo>
                    <a:pt x="3475673" y="2433452"/>
                  </a:lnTo>
                  <a:lnTo>
                    <a:pt x="3479589" y="2493881"/>
                  </a:lnTo>
                  <a:lnTo>
                    <a:pt x="3484343" y="2553785"/>
                  </a:lnTo>
                  <a:lnTo>
                    <a:pt x="3489922" y="2613140"/>
                  </a:lnTo>
                  <a:lnTo>
                    <a:pt x="3496316" y="2671924"/>
                  </a:lnTo>
                  <a:lnTo>
                    <a:pt x="3503511" y="2730113"/>
                  </a:lnTo>
                  <a:lnTo>
                    <a:pt x="3511497" y="2787685"/>
                  </a:lnTo>
                  <a:lnTo>
                    <a:pt x="3520262" y="2844616"/>
                  </a:lnTo>
                  <a:lnTo>
                    <a:pt x="3529793" y="2900883"/>
                  </a:lnTo>
                  <a:lnTo>
                    <a:pt x="3540079" y="2956464"/>
                  </a:lnTo>
                  <a:lnTo>
                    <a:pt x="3551107" y="3011336"/>
                  </a:lnTo>
                  <a:lnTo>
                    <a:pt x="3562867" y="3065475"/>
                  </a:lnTo>
                  <a:lnTo>
                    <a:pt x="3575346" y="3118858"/>
                  </a:lnTo>
                  <a:lnTo>
                    <a:pt x="3588532" y="3171462"/>
                  </a:lnTo>
                  <a:lnTo>
                    <a:pt x="3602413" y="3223265"/>
                  </a:lnTo>
                  <a:lnTo>
                    <a:pt x="3616978" y="3274244"/>
                  </a:lnTo>
                  <a:lnTo>
                    <a:pt x="3632215" y="3324374"/>
                  </a:lnTo>
                  <a:lnTo>
                    <a:pt x="3648112" y="3373634"/>
                  </a:lnTo>
                  <a:lnTo>
                    <a:pt x="3664656" y="3422001"/>
                  </a:lnTo>
                  <a:lnTo>
                    <a:pt x="3681837" y="3469450"/>
                  </a:lnTo>
                  <a:lnTo>
                    <a:pt x="3699642" y="3515960"/>
                  </a:lnTo>
                  <a:lnTo>
                    <a:pt x="3718060" y="3561507"/>
                  </a:lnTo>
                  <a:lnTo>
                    <a:pt x="3737078" y="3606069"/>
                  </a:lnTo>
                  <a:lnTo>
                    <a:pt x="3756685" y="3649622"/>
                  </a:lnTo>
                  <a:lnTo>
                    <a:pt x="3776868" y="3692143"/>
                  </a:lnTo>
                  <a:lnTo>
                    <a:pt x="3797617" y="3733609"/>
                  </a:lnTo>
                  <a:lnTo>
                    <a:pt x="3818919" y="3773997"/>
                  </a:lnTo>
                  <a:lnTo>
                    <a:pt x="3840762" y="3813285"/>
                  </a:lnTo>
                  <a:lnTo>
                    <a:pt x="3863135" y="3851449"/>
                  </a:lnTo>
                  <a:lnTo>
                    <a:pt x="3886025" y="3888466"/>
                  </a:lnTo>
                  <a:lnTo>
                    <a:pt x="3909421" y="3924314"/>
                  </a:lnTo>
                  <a:lnTo>
                    <a:pt x="3933310" y="3958968"/>
                  </a:lnTo>
                  <a:lnTo>
                    <a:pt x="3957682" y="3992407"/>
                  </a:lnTo>
                  <a:lnTo>
                    <a:pt x="3982524" y="4024607"/>
                  </a:lnTo>
                  <a:lnTo>
                    <a:pt x="4007824" y="4055545"/>
                  </a:lnTo>
                  <a:lnTo>
                    <a:pt x="4033571" y="4085198"/>
                  </a:lnTo>
                  <a:lnTo>
                    <a:pt x="4059752" y="4113543"/>
                  </a:lnTo>
                  <a:lnTo>
                    <a:pt x="4113371" y="4166218"/>
                  </a:lnTo>
                  <a:lnTo>
                    <a:pt x="4168586" y="4213385"/>
                  </a:lnTo>
                  <a:lnTo>
                    <a:pt x="4225302" y="4254861"/>
                  </a:lnTo>
                  <a:lnTo>
                    <a:pt x="4283424" y="4290461"/>
                  </a:lnTo>
                  <a:lnTo>
                    <a:pt x="4342858" y="4320000"/>
                  </a:lnTo>
                  <a:lnTo>
                    <a:pt x="4403509" y="4343296"/>
                  </a:lnTo>
                  <a:lnTo>
                    <a:pt x="4465281" y="4360164"/>
                  </a:lnTo>
                  <a:lnTo>
                    <a:pt x="4528080" y="4370420"/>
                  </a:lnTo>
                  <a:lnTo>
                    <a:pt x="4591811" y="4373879"/>
                  </a:lnTo>
                  <a:lnTo>
                    <a:pt x="4623788" y="4373011"/>
                  </a:lnTo>
                  <a:lnTo>
                    <a:pt x="4687065" y="4366130"/>
                  </a:lnTo>
                  <a:lnTo>
                    <a:pt x="4749362" y="4352545"/>
                  </a:lnTo>
                  <a:lnTo>
                    <a:pt x="4810585" y="4332440"/>
                  </a:lnTo>
                  <a:lnTo>
                    <a:pt x="4870640" y="4306000"/>
                  </a:lnTo>
                  <a:lnTo>
                    <a:pt x="4929430" y="4273407"/>
                  </a:lnTo>
                  <a:lnTo>
                    <a:pt x="4986861" y="4234846"/>
                  </a:lnTo>
                  <a:lnTo>
                    <a:pt x="5042838" y="4190502"/>
                  </a:lnTo>
                  <a:lnTo>
                    <a:pt x="5097267" y="4140557"/>
                  </a:lnTo>
                  <a:lnTo>
                    <a:pt x="5150052" y="4085198"/>
                  </a:lnTo>
                  <a:lnTo>
                    <a:pt x="5175799" y="4055545"/>
                  </a:lnTo>
                  <a:lnTo>
                    <a:pt x="5201099" y="4024607"/>
                  </a:lnTo>
                  <a:lnTo>
                    <a:pt x="5225941" y="3992407"/>
                  </a:lnTo>
                  <a:lnTo>
                    <a:pt x="5250312" y="3958968"/>
                  </a:lnTo>
                  <a:lnTo>
                    <a:pt x="5274202" y="3924314"/>
                  </a:lnTo>
                  <a:lnTo>
                    <a:pt x="5297598" y="3888466"/>
                  </a:lnTo>
                  <a:lnTo>
                    <a:pt x="5320488" y="3851449"/>
                  </a:lnTo>
                  <a:lnTo>
                    <a:pt x="5342861" y="3813285"/>
                  </a:lnTo>
                  <a:lnTo>
                    <a:pt x="5364704" y="3773997"/>
                  </a:lnTo>
                  <a:lnTo>
                    <a:pt x="5386006" y="3733609"/>
                  </a:lnTo>
                  <a:lnTo>
                    <a:pt x="5406755" y="3692143"/>
                  </a:lnTo>
                  <a:lnTo>
                    <a:pt x="5426938" y="3649622"/>
                  </a:lnTo>
                  <a:lnTo>
                    <a:pt x="5446545" y="3606069"/>
                  </a:lnTo>
                  <a:lnTo>
                    <a:pt x="5465563" y="3561507"/>
                  </a:lnTo>
                  <a:lnTo>
                    <a:pt x="5483981" y="3515960"/>
                  </a:lnTo>
                  <a:lnTo>
                    <a:pt x="5501786" y="3469450"/>
                  </a:lnTo>
                  <a:lnTo>
                    <a:pt x="5518967" y="3422001"/>
                  </a:lnTo>
                  <a:lnTo>
                    <a:pt x="5535511" y="3373634"/>
                  </a:lnTo>
                  <a:lnTo>
                    <a:pt x="5551408" y="3324374"/>
                  </a:lnTo>
                  <a:lnTo>
                    <a:pt x="5566645" y="3274244"/>
                  </a:lnTo>
                  <a:lnTo>
                    <a:pt x="5581210" y="3223265"/>
                  </a:lnTo>
                  <a:lnTo>
                    <a:pt x="5595091" y="3171462"/>
                  </a:lnTo>
                  <a:lnTo>
                    <a:pt x="5608277" y="3118858"/>
                  </a:lnTo>
                  <a:lnTo>
                    <a:pt x="5620756" y="3065475"/>
                  </a:lnTo>
                  <a:lnTo>
                    <a:pt x="5632516" y="3011336"/>
                  </a:lnTo>
                  <a:lnTo>
                    <a:pt x="5643544" y="2956464"/>
                  </a:lnTo>
                  <a:lnTo>
                    <a:pt x="5653830" y="2900883"/>
                  </a:lnTo>
                  <a:lnTo>
                    <a:pt x="5663361" y="2844616"/>
                  </a:lnTo>
                  <a:lnTo>
                    <a:pt x="5672125" y="2787685"/>
                  </a:lnTo>
                  <a:lnTo>
                    <a:pt x="5680111" y="2730113"/>
                  </a:lnTo>
                  <a:lnTo>
                    <a:pt x="5687307" y="2671924"/>
                  </a:lnTo>
                  <a:lnTo>
                    <a:pt x="5693701" y="2613140"/>
                  </a:lnTo>
                  <a:lnTo>
                    <a:pt x="5699280" y="2553785"/>
                  </a:lnTo>
                  <a:lnTo>
                    <a:pt x="5704034" y="2493881"/>
                  </a:lnTo>
                  <a:lnTo>
                    <a:pt x="5707950" y="2433452"/>
                  </a:lnTo>
                  <a:lnTo>
                    <a:pt x="5711016" y="2372520"/>
                  </a:lnTo>
                  <a:lnTo>
                    <a:pt x="5713221" y="2311108"/>
                  </a:lnTo>
                  <a:lnTo>
                    <a:pt x="5714553" y="2249241"/>
                  </a:lnTo>
                  <a:lnTo>
                    <a:pt x="5714999" y="2186939"/>
                  </a:lnTo>
                  <a:lnTo>
                    <a:pt x="5714553" y="2124714"/>
                  </a:lnTo>
                  <a:lnTo>
                    <a:pt x="5713221" y="2062917"/>
                  </a:lnTo>
                  <a:lnTo>
                    <a:pt x="5711016" y="2001572"/>
                  </a:lnTo>
                  <a:lnTo>
                    <a:pt x="5707950" y="1940701"/>
                  </a:lnTo>
                  <a:lnTo>
                    <a:pt x="5704034" y="1880327"/>
                  </a:lnTo>
                  <a:lnTo>
                    <a:pt x="5699280" y="1820474"/>
                  </a:lnTo>
                  <a:lnTo>
                    <a:pt x="5693701" y="1761166"/>
                  </a:lnTo>
                  <a:lnTo>
                    <a:pt x="5687307" y="1702424"/>
                  </a:lnTo>
                  <a:lnTo>
                    <a:pt x="5680111" y="1644272"/>
                  </a:lnTo>
                  <a:lnTo>
                    <a:pt x="5672125" y="1586734"/>
                  </a:lnTo>
                  <a:lnTo>
                    <a:pt x="5663361" y="1529832"/>
                  </a:lnTo>
                  <a:lnTo>
                    <a:pt x="5653830" y="1473590"/>
                  </a:lnTo>
                  <a:lnTo>
                    <a:pt x="5643544" y="1418031"/>
                  </a:lnTo>
                  <a:lnTo>
                    <a:pt x="5632516" y="1363178"/>
                  </a:lnTo>
                  <a:lnTo>
                    <a:pt x="5620756" y="1309054"/>
                  </a:lnTo>
                  <a:lnTo>
                    <a:pt x="5608277" y="1255682"/>
                  </a:lnTo>
                  <a:lnTo>
                    <a:pt x="5595091" y="1203086"/>
                  </a:lnTo>
                  <a:lnTo>
                    <a:pt x="5581210" y="1151288"/>
                  </a:lnTo>
                  <a:lnTo>
                    <a:pt x="5566645" y="1100312"/>
                  </a:lnTo>
                  <a:lnTo>
                    <a:pt x="5551408" y="1050181"/>
                  </a:lnTo>
                  <a:lnTo>
                    <a:pt x="5535511" y="1000918"/>
                  </a:lnTo>
                  <a:lnTo>
                    <a:pt x="5518967" y="952546"/>
                  </a:lnTo>
                  <a:lnTo>
                    <a:pt x="5501786" y="905089"/>
                  </a:lnTo>
                  <a:lnTo>
                    <a:pt x="5483981" y="858569"/>
                  </a:lnTo>
                  <a:lnTo>
                    <a:pt x="5465563" y="813009"/>
                  </a:lnTo>
                  <a:lnTo>
                    <a:pt x="5446545" y="768434"/>
                  </a:lnTo>
                  <a:lnTo>
                    <a:pt x="5426938" y="724865"/>
                  </a:lnTo>
                  <a:lnTo>
                    <a:pt x="5406755" y="682327"/>
                  </a:lnTo>
                  <a:lnTo>
                    <a:pt x="5386006" y="640841"/>
                  </a:lnTo>
                  <a:lnTo>
                    <a:pt x="5364704" y="600433"/>
                  </a:lnTo>
                  <a:lnTo>
                    <a:pt x="5342861" y="561123"/>
                  </a:lnTo>
                  <a:lnTo>
                    <a:pt x="5320488" y="522937"/>
                  </a:lnTo>
                  <a:lnTo>
                    <a:pt x="5297598" y="485896"/>
                  </a:lnTo>
                  <a:lnTo>
                    <a:pt x="5274202" y="450024"/>
                  </a:lnTo>
                  <a:lnTo>
                    <a:pt x="5250312" y="415345"/>
                  </a:lnTo>
                  <a:lnTo>
                    <a:pt x="5225941" y="381880"/>
                  </a:lnTo>
                  <a:lnTo>
                    <a:pt x="5201099" y="349655"/>
                  </a:lnTo>
                  <a:lnTo>
                    <a:pt x="5175799" y="318690"/>
                  </a:lnTo>
                  <a:lnTo>
                    <a:pt x="5150052" y="289011"/>
                  </a:lnTo>
                  <a:lnTo>
                    <a:pt x="5123871" y="260639"/>
                  </a:lnTo>
                  <a:lnTo>
                    <a:pt x="5070252" y="207913"/>
                  </a:lnTo>
                  <a:lnTo>
                    <a:pt x="5015037" y="160696"/>
                  </a:lnTo>
                  <a:lnTo>
                    <a:pt x="4958321" y="119173"/>
                  </a:lnTo>
                  <a:lnTo>
                    <a:pt x="4900198" y="83531"/>
                  </a:lnTo>
                  <a:lnTo>
                    <a:pt x="4840765" y="53953"/>
                  </a:lnTo>
                  <a:lnTo>
                    <a:pt x="4780114" y="30626"/>
                  </a:lnTo>
                  <a:lnTo>
                    <a:pt x="4718342" y="13735"/>
                  </a:lnTo>
                  <a:lnTo>
                    <a:pt x="4655543" y="3464"/>
                  </a:lnTo>
                  <a:lnTo>
                    <a:pt x="4591811" y="0"/>
                  </a:lnTo>
                  <a:close/>
                </a:path>
                <a:path w="5715000" h="4373880">
                  <a:moveTo>
                    <a:pt x="1414271" y="946403"/>
                  </a:moveTo>
                  <a:lnTo>
                    <a:pt x="4259579" y="701039"/>
                  </a:lnTo>
                </a:path>
                <a:path w="5715000" h="4373880">
                  <a:moveTo>
                    <a:pt x="1414271" y="1050035"/>
                  </a:moveTo>
                  <a:lnTo>
                    <a:pt x="4259579" y="1575815"/>
                  </a:lnTo>
                </a:path>
                <a:path w="5715000" h="4373880">
                  <a:moveTo>
                    <a:pt x="1414271" y="1924811"/>
                  </a:moveTo>
                  <a:lnTo>
                    <a:pt x="4259579" y="2202179"/>
                  </a:lnTo>
                </a:path>
                <a:path w="5715000" h="4373880">
                  <a:moveTo>
                    <a:pt x="1414271" y="3150107"/>
                  </a:moveTo>
                  <a:lnTo>
                    <a:pt x="4259579" y="3575303"/>
                  </a:lnTo>
                </a:path>
              </a:pathLst>
            </a:custGeom>
            <a:ln w="9524">
              <a:solidFill>
                <a:srgbClr val="000000"/>
              </a:solidFill>
            </a:ln>
          </p:spPr>
          <p:txBody>
            <a:bodyPr wrap="square" lIns="0" tIns="0" rIns="0" bIns="0" rtlCol="0"/>
            <a:lstStyle/>
            <a:p>
              <a:endParaRPr/>
            </a:p>
          </p:txBody>
        </p:sp>
        <p:sp>
          <p:nvSpPr>
            <p:cNvPr id="13" name="object 13"/>
            <p:cNvSpPr/>
            <p:nvPr/>
          </p:nvSpPr>
          <p:spPr>
            <a:xfrm>
              <a:off x="6891405" y="5102351"/>
              <a:ext cx="597535" cy="524510"/>
            </a:xfrm>
            <a:custGeom>
              <a:avLst/>
              <a:gdLst/>
              <a:ahLst/>
              <a:cxnLst/>
              <a:rect l="l" t="t" r="r" b="b"/>
              <a:pathLst>
                <a:path w="597534" h="524510">
                  <a:moveTo>
                    <a:pt x="597407" y="524255"/>
                  </a:moveTo>
                  <a:lnTo>
                    <a:pt x="597407" y="0"/>
                  </a:lnTo>
                  <a:lnTo>
                    <a:pt x="0" y="0"/>
                  </a:lnTo>
                  <a:lnTo>
                    <a:pt x="0" y="524255"/>
                  </a:lnTo>
                  <a:lnTo>
                    <a:pt x="597407" y="524255"/>
                  </a:lnTo>
                  <a:close/>
                </a:path>
              </a:pathLst>
            </a:custGeom>
            <a:solidFill>
              <a:srgbClr val="FFFFFF"/>
            </a:solidFill>
          </p:spPr>
          <p:txBody>
            <a:bodyPr wrap="square" lIns="0" tIns="0" rIns="0" bIns="0" rtlCol="0"/>
            <a:lstStyle/>
            <a:p>
              <a:endParaRPr/>
            </a:p>
          </p:txBody>
        </p:sp>
      </p:grpSp>
      <p:sp>
        <p:nvSpPr>
          <p:cNvPr id="14" name="object 14"/>
          <p:cNvSpPr txBox="1"/>
          <p:nvPr/>
        </p:nvSpPr>
        <p:spPr>
          <a:xfrm>
            <a:off x="3612780" y="6349997"/>
            <a:ext cx="274320" cy="269240"/>
          </a:xfrm>
          <a:prstGeom prst="rect">
            <a:avLst/>
          </a:prstGeom>
        </p:spPr>
        <p:txBody>
          <a:bodyPr vert="horz" wrap="square" lIns="0" tIns="12065" rIns="0" bIns="0" rtlCol="0">
            <a:spAutoFit/>
          </a:bodyPr>
          <a:lstStyle/>
          <a:p>
            <a:pPr marL="12700">
              <a:lnSpc>
                <a:spcPct val="100000"/>
              </a:lnSpc>
              <a:spcBef>
                <a:spcPts val="95"/>
              </a:spcBef>
            </a:pPr>
            <a:r>
              <a:rPr sz="1600" spc="-25" dirty="0">
                <a:latin typeface="Arial MT"/>
                <a:cs typeface="Arial MT"/>
              </a:rPr>
              <a:t>(a)</a:t>
            </a:r>
            <a:endParaRPr sz="1600">
              <a:latin typeface="Arial MT"/>
              <a:cs typeface="Arial MT"/>
            </a:endParaRPr>
          </a:p>
        </p:txBody>
      </p:sp>
      <p:sp>
        <p:nvSpPr>
          <p:cNvPr id="15" name="object 15"/>
          <p:cNvSpPr txBox="1"/>
          <p:nvPr/>
        </p:nvSpPr>
        <p:spPr>
          <a:xfrm>
            <a:off x="7052447" y="6353045"/>
            <a:ext cx="274320" cy="269240"/>
          </a:xfrm>
          <a:prstGeom prst="rect">
            <a:avLst/>
          </a:prstGeom>
        </p:spPr>
        <p:txBody>
          <a:bodyPr vert="horz" wrap="square" lIns="0" tIns="12065" rIns="0" bIns="0" rtlCol="0">
            <a:spAutoFit/>
          </a:bodyPr>
          <a:lstStyle/>
          <a:p>
            <a:pPr marL="12700">
              <a:lnSpc>
                <a:spcPct val="100000"/>
              </a:lnSpc>
              <a:spcBef>
                <a:spcPts val="95"/>
              </a:spcBef>
            </a:pPr>
            <a:r>
              <a:rPr sz="1600" spc="-25" dirty="0">
                <a:latin typeface="Arial MT"/>
                <a:cs typeface="Arial MT"/>
              </a:rPr>
              <a:t>(b)</a:t>
            </a:r>
            <a:endParaRPr sz="1600">
              <a:latin typeface="Arial MT"/>
              <a:cs typeface="Arial MT"/>
            </a:endParaRPr>
          </a:p>
        </p:txBody>
      </p:sp>
      <p:sp>
        <p:nvSpPr>
          <p:cNvPr id="16" name="object 16"/>
          <p:cNvSpPr txBox="1"/>
          <p:nvPr/>
        </p:nvSpPr>
        <p:spPr>
          <a:xfrm>
            <a:off x="6891405" y="5102351"/>
            <a:ext cx="597535" cy="523240"/>
          </a:xfrm>
          <a:prstGeom prst="rect">
            <a:avLst/>
          </a:prstGeom>
          <a:ln w="9524">
            <a:solidFill>
              <a:srgbClr val="000000"/>
            </a:solidFill>
          </a:ln>
        </p:spPr>
        <p:txBody>
          <a:bodyPr vert="horz" wrap="square" lIns="0" tIns="46355" rIns="0" bIns="0" rtlCol="0">
            <a:spAutoFit/>
          </a:bodyPr>
          <a:lstStyle/>
          <a:p>
            <a:pPr algn="ctr">
              <a:lnSpc>
                <a:spcPct val="100000"/>
              </a:lnSpc>
              <a:spcBef>
                <a:spcPts val="365"/>
              </a:spcBef>
            </a:pPr>
            <a:r>
              <a:rPr sz="1600" spc="-25" dirty="0">
                <a:latin typeface="Arial MT"/>
                <a:cs typeface="Arial MT"/>
              </a:rPr>
              <a:t>b</a:t>
            </a:r>
            <a:r>
              <a:rPr sz="1650" spc="-37" baseline="-20202" dirty="0">
                <a:latin typeface="Arial MT"/>
                <a:cs typeface="Arial MT"/>
              </a:rPr>
              <a:t>5</a:t>
            </a:r>
            <a:endParaRPr sz="1650" baseline="-20202">
              <a:latin typeface="Arial MT"/>
              <a:cs typeface="Arial MT"/>
            </a:endParaRPr>
          </a:p>
        </p:txBody>
      </p:sp>
      <p:sp>
        <p:nvSpPr>
          <p:cNvPr id="17" name="object 17"/>
          <p:cNvSpPr/>
          <p:nvPr/>
        </p:nvSpPr>
        <p:spPr>
          <a:xfrm>
            <a:off x="4046097" y="3877055"/>
            <a:ext cx="2845435" cy="875030"/>
          </a:xfrm>
          <a:custGeom>
            <a:avLst/>
            <a:gdLst/>
            <a:ahLst/>
            <a:cxnLst/>
            <a:rect l="l" t="t" r="r" b="b"/>
            <a:pathLst>
              <a:path w="2845434" h="875029">
                <a:moveTo>
                  <a:pt x="0" y="0"/>
                </a:moveTo>
                <a:lnTo>
                  <a:pt x="2845307" y="874775"/>
                </a:lnTo>
              </a:path>
            </a:pathLst>
          </a:custGeom>
          <a:ln w="9524">
            <a:solidFill>
              <a:srgbClr val="000000"/>
            </a:solidFill>
          </a:ln>
        </p:spPr>
        <p:txBody>
          <a:bodyPr wrap="square" lIns="0" tIns="0" rIns="0" bIns="0" rtlCol="0"/>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2889250" marR="5080" indent="-2018030">
              <a:lnSpc>
                <a:spcPct val="100000"/>
              </a:lnSpc>
              <a:spcBef>
                <a:spcPts val="95"/>
              </a:spcBef>
            </a:pPr>
            <a:r>
              <a:rPr sz="4000" dirty="0"/>
              <a:t>Restricciones</a:t>
            </a:r>
            <a:r>
              <a:rPr sz="4000" spc="-140" dirty="0"/>
              <a:t> </a:t>
            </a:r>
            <a:r>
              <a:rPr sz="4000" dirty="0"/>
              <a:t>de</a:t>
            </a:r>
            <a:r>
              <a:rPr sz="4000" spc="-140" dirty="0"/>
              <a:t> </a:t>
            </a:r>
            <a:r>
              <a:rPr sz="4000" spc="-10" dirty="0"/>
              <a:t>asignación (mapping)</a:t>
            </a:r>
            <a:endParaRPr sz="4000"/>
          </a:p>
        </p:txBody>
      </p:sp>
      <p:sp>
        <p:nvSpPr>
          <p:cNvPr id="3" name="object 3"/>
          <p:cNvSpPr txBox="1"/>
          <p:nvPr/>
        </p:nvSpPr>
        <p:spPr>
          <a:xfrm>
            <a:off x="1310017" y="1971547"/>
            <a:ext cx="681990" cy="513715"/>
          </a:xfrm>
          <a:prstGeom prst="rect">
            <a:avLst/>
          </a:prstGeom>
        </p:spPr>
        <p:txBody>
          <a:bodyPr vert="horz" wrap="square" lIns="0" tIns="12700" rIns="0" bIns="0" rtlCol="0">
            <a:spAutoFit/>
          </a:bodyPr>
          <a:lstStyle/>
          <a:p>
            <a:pPr marL="12700">
              <a:lnSpc>
                <a:spcPct val="100000"/>
              </a:lnSpc>
              <a:spcBef>
                <a:spcPts val="100"/>
              </a:spcBef>
            </a:pPr>
            <a:r>
              <a:rPr sz="3200" b="1" spc="-25" dirty="0">
                <a:latin typeface="Arial"/>
                <a:cs typeface="Arial"/>
              </a:rPr>
              <a:t>N:1</a:t>
            </a:r>
            <a:endParaRPr sz="3200">
              <a:latin typeface="Arial"/>
              <a:cs typeface="Arial"/>
            </a:endParaRPr>
          </a:p>
        </p:txBody>
      </p:sp>
      <p:sp>
        <p:nvSpPr>
          <p:cNvPr id="4" name="object 4"/>
          <p:cNvSpPr txBox="1"/>
          <p:nvPr/>
        </p:nvSpPr>
        <p:spPr>
          <a:xfrm>
            <a:off x="3915033" y="2182367"/>
            <a:ext cx="524510" cy="500380"/>
          </a:xfrm>
          <a:prstGeom prst="rect">
            <a:avLst/>
          </a:prstGeom>
          <a:ln w="9524">
            <a:solidFill>
              <a:srgbClr val="000000"/>
            </a:solidFill>
          </a:ln>
        </p:spPr>
        <p:txBody>
          <a:bodyPr vert="horz" wrap="square" lIns="0" tIns="46355" rIns="0" bIns="0" rtlCol="0">
            <a:spAutoFit/>
          </a:bodyPr>
          <a:lstStyle/>
          <a:p>
            <a:pPr marL="167640">
              <a:lnSpc>
                <a:spcPct val="100000"/>
              </a:lnSpc>
              <a:spcBef>
                <a:spcPts val="365"/>
              </a:spcBef>
            </a:pPr>
            <a:r>
              <a:rPr sz="1600" spc="-25" dirty="0">
                <a:latin typeface="Arial MT"/>
                <a:cs typeface="Arial MT"/>
              </a:rPr>
              <a:t>a</a:t>
            </a:r>
            <a:r>
              <a:rPr sz="1650" spc="-37" baseline="-20202" dirty="0">
                <a:latin typeface="Arial MT"/>
                <a:cs typeface="Arial MT"/>
              </a:rPr>
              <a:t>1</a:t>
            </a:r>
            <a:endParaRPr sz="1650" baseline="-20202">
              <a:latin typeface="Arial MT"/>
              <a:cs typeface="Arial MT"/>
            </a:endParaRPr>
          </a:p>
        </p:txBody>
      </p:sp>
      <p:sp>
        <p:nvSpPr>
          <p:cNvPr id="5" name="object 5"/>
          <p:cNvSpPr txBox="1"/>
          <p:nvPr/>
        </p:nvSpPr>
        <p:spPr>
          <a:xfrm>
            <a:off x="3915033" y="2872739"/>
            <a:ext cx="524510" cy="500380"/>
          </a:xfrm>
          <a:prstGeom prst="rect">
            <a:avLst/>
          </a:prstGeom>
          <a:ln w="9524">
            <a:solidFill>
              <a:srgbClr val="000000"/>
            </a:solidFill>
          </a:ln>
        </p:spPr>
        <p:txBody>
          <a:bodyPr vert="horz" wrap="square" lIns="0" tIns="46355" rIns="0" bIns="0" rtlCol="0">
            <a:spAutoFit/>
          </a:bodyPr>
          <a:lstStyle/>
          <a:p>
            <a:pPr marL="167640">
              <a:lnSpc>
                <a:spcPct val="100000"/>
              </a:lnSpc>
              <a:spcBef>
                <a:spcPts val="365"/>
              </a:spcBef>
            </a:pPr>
            <a:r>
              <a:rPr sz="1600" spc="-25" dirty="0">
                <a:latin typeface="Arial MT"/>
                <a:cs typeface="Arial MT"/>
              </a:rPr>
              <a:t>a</a:t>
            </a:r>
            <a:r>
              <a:rPr sz="1650" spc="-37" baseline="-20202" dirty="0">
                <a:latin typeface="Arial MT"/>
                <a:cs typeface="Arial MT"/>
              </a:rPr>
              <a:t>2</a:t>
            </a:r>
            <a:endParaRPr sz="1650" baseline="-20202">
              <a:latin typeface="Arial MT"/>
              <a:cs typeface="Arial MT"/>
            </a:endParaRPr>
          </a:p>
        </p:txBody>
      </p:sp>
      <p:sp>
        <p:nvSpPr>
          <p:cNvPr id="6" name="object 6"/>
          <p:cNvSpPr txBox="1"/>
          <p:nvPr/>
        </p:nvSpPr>
        <p:spPr>
          <a:xfrm>
            <a:off x="3915033" y="3587495"/>
            <a:ext cx="524510" cy="500380"/>
          </a:xfrm>
          <a:prstGeom prst="rect">
            <a:avLst/>
          </a:prstGeom>
          <a:ln w="9524">
            <a:solidFill>
              <a:srgbClr val="000000"/>
            </a:solidFill>
          </a:ln>
        </p:spPr>
        <p:txBody>
          <a:bodyPr vert="horz" wrap="square" lIns="0" tIns="46355" rIns="0" bIns="0" rtlCol="0">
            <a:spAutoFit/>
          </a:bodyPr>
          <a:lstStyle/>
          <a:p>
            <a:pPr marL="167640">
              <a:lnSpc>
                <a:spcPct val="100000"/>
              </a:lnSpc>
              <a:spcBef>
                <a:spcPts val="365"/>
              </a:spcBef>
            </a:pPr>
            <a:r>
              <a:rPr sz="1600" spc="-25" dirty="0">
                <a:latin typeface="Arial MT"/>
                <a:cs typeface="Arial MT"/>
              </a:rPr>
              <a:t>a</a:t>
            </a:r>
            <a:r>
              <a:rPr sz="1650" spc="-37" baseline="-20202" dirty="0">
                <a:latin typeface="Arial MT"/>
                <a:cs typeface="Arial MT"/>
              </a:rPr>
              <a:t>3</a:t>
            </a:r>
            <a:endParaRPr sz="1650" baseline="-20202">
              <a:latin typeface="Arial MT"/>
              <a:cs typeface="Arial MT"/>
            </a:endParaRPr>
          </a:p>
        </p:txBody>
      </p:sp>
      <p:sp>
        <p:nvSpPr>
          <p:cNvPr id="7" name="object 7"/>
          <p:cNvSpPr txBox="1"/>
          <p:nvPr/>
        </p:nvSpPr>
        <p:spPr>
          <a:xfrm>
            <a:off x="3915033" y="4300727"/>
            <a:ext cx="524510" cy="501650"/>
          </a:xfrm>
          <a:prstGeom prst="rect">
            <a:avLst/>
          </a:prstGeom>
          <a:ln w="9524">
            <a:solidFill>
              <a:srgbClr val="000000"/>
            </a:solidFill>
          </a:ln>
        </p:spPr>
        <p:txBody>
          <a:bodyPr vert="horz" wrap="square" lIns="0" tIns="45085" rIns="0" bIns="0" rtlCol="0">
            <a:spAutoFit/>
          </a:bodyPr>
          <a:lstStyle/>
          <a:p>
            <a:pPr marL="167640">
              <a:lnSpc>
                <a:spcPct val="100000"/>
              </a:lnSpc>
              <a:spcBef>
                <a:spcPts val="355"/>
              </a:spcBef>
            </a:pPr>
            <a:r>
              <a:rPr sz="1600" spc="-25" dirty="0">
                <a:latin typeface="Arial MT"/>
                <a:cs typeface="Arial MT"/>
              </a:rPr>
              <a:t>a</a:t>
            </a:r>
            <a:r>
              <a:rPr sz="1650" spc="-37" baseline="-20202" dirty="0">
                <a:latin typeface="Arial MT"/>
                <a:cs typeface="Arial MT"/>
              </a:rPr>
              <a:t>4</a:t>
            </a:r>
            <a:endParaRPr sz="1650" baseline="-20202">
              <a:latin typeface="Arial MT"/>
              <a:cs typeface="Arial MT"/>
            </a:endParaRPr>
          </a:p>
        </p:txBody>
      </p:sp>
      <p:sp>
        <p:nvSpPr>
          <p:cNvPr id="8" name="object 8"/>
          <p:cNvSpPr txBox="1"/>
          <p:nvPr/>
        </p:nvSpPr>
        <p:spPr>
          <a:xfrm>
            <a:off x="6931029" y="2465831"/>
            <a:ext cx="523240" cy="500380"/>
          </a:xfrm>
          <a:prstGeom prst="rect">
            <a:avLst/>
          </a:prstGeom>
          <a:ln w="9524">
            <a:solidFill>
              <a:srgbClr val="000000"/>
            </a:solidFill>
          </a:ln>
        </p:spPr>
        <p:txBody>
          <a:bodyPr vert="horz" wrap="square" lIns="0" tIns="45085" rIns="0" bIns="0" rtlCol="0">
            <a:spAutoFit/>
          </a:bodyPr>
          <a:lstStyle/>
          <a:p>
            <a:pPr marL="165735">
              <a:lnSpc>
                <a:spcPct val="100000"/>
              </a:lnSpc>
              <a:spcBef>
                <a:spcPts val="355"/>
              </a:spcBef>
            </a:pPr>
            <a:r>
              <a:rPr sz="1600" spc="-25" dirty="0">
                <a:latin typeface="Arial MT"/>
                <a:cs typeface="Arial MT"/>
              </a:rPr>
              <a:t>b</a:t>
            </a:r>
            <a:r>
              <a:rPr sz="1650" spc="-37" baseline="-20202" dirty="0">
                <a:latin typeface="Arial MT"/>
                <a:cs typeface="Arial MT"/>
              </a:rPr>
              <a:t>1</a:t>
            </a:r>
            <a:endParaRPr sz="1650" baseline="-20202">
              <a:latin typeface="Arial MT"/>
              <a:cs typeface="Arial MT"/>
            </a:endParaRPr>
          </a:p>
        </p:txBody>
      </p:sp>
      <p:sp>
        <p:nvSpPr>
          <p:cNvPr id="9" name="object 9"/>
          <p:cNvSpPr txBox="1"/>
          <p:nvPr/>
        </p:nvSpPr>
        <p:spPr>
          <a:xfrm>
            <a:off x="6931029" y="3587495"/>
            <a:ext cx="523240" cy="500380"/>
          </a:xfrm>
          <a:prstGeom prst="rect">
            <a:avLst/>
          </a:prstGeom>
          <a:ln w="9524">
            <a:solidFill>
              <a:srgbClr val="000000"/>
            </a:solidFill>
          </a:ln>
        </p:spPr>
        <p:txBody>
          <a:bodyPr vert="horz" wrap="square" lIns="0" tIns="46355" rIns="0" bIns="0" rtlCol="0">
            <a:spAutoFit/>
          </a:bodyPr>
          <a:lstStyle/>
          <a:p>
            <a:pPr marL="165735">
              <a:lnSpc>
                <a:spcPct val="100000"/>
              </a:lnSpc>
              <a:spcBef>
                <a:spcPts val="365"/>
              </a:spcBef>
            </a:pPr>
            <a:r>
              <a:rPr sz="1600" spc="-25" dirty="0">
                <a:latin typeface="Arial MT"/>
                <a:cs typeface="Arial MT"/>
              </a:rPr>
              <a:t>b</a:t>
            </a:r>
            <a:r>
              <a:rPr sz="1650" spc="-37" baseline="-20202" dirty="0">
                <a:latin typeface="Arial MT"/>
                <a:cs typeface="Arial MT"/>
              </a:rPr>
              <a:t>2</a:t>
            </a:r>
            <a:endParaRPr sz="1650" baseline="-20202">
              <a:latin typeface="Arial MT"/>
              <a:cs typeface="Arial MT"/>
            </a:endParaRPr>
          </a:p>
        </p:txBody>
      </p:sp>
      <p:sp>
        <p:nvSpPr>
          <p:cNvPr id="10" name="object 10"/>
          <p:cNvSpPr txBox="1"/>
          <p:nvPr/>
        </p:nvSpPr>
        <p:spPr>
          <a:xfrm>
            <a:off x="6931029" y="4639055"/>
            <a:ext cx="523240" cy="501650"/>
          </a:xfrm>
          <a:prstGeom prst="rect">
            <a:avLst/>
          </a:prstGeom>
          <a:ln w="9524">
            <a:solidFill>
              <a:srgbClr val="000000"/>
            </a:solidFill>
          </a:ln>
        </p:spPr>
        <p:txBody>
          <a:bodyPr vert="horz" wrap="square" lIns="0" tIns="45085" rIns="0" bIns="0" rtlCol="0">
            <a:spAutoFit/>
          </a:bodyPr>
          <a:lstStyle/>
          <a:p>
            <a:pPr marL="165735">
              <a:lnSpc>
                <a:spcPct val="100000"/>
              </a:lnSpc>
              <a:spcBef>
                <a:spcPts val="355"/>
              </a:spcBef>
            </a:pPr>
            <a:r>
              <a:rPr sz="1600" spc="-25" dirty="0">
                <a:latin typeface="Arial MT"/>
                <a:cs typeface="Arial MT"/>
              </a:rPr>
              <a:t>b</a:t>
            </a:r>
            <a:r>
              <a:rPr sz="1650" spc="-37" baseline="-20202" dirty="0">
                <a:latin typeface="Arial MT"/>
                <a:cs typeface="Arial MT"/>
              </a:rPr>
              <a:t>3</a:t>
            </a:r>
            <a:endParaRPr sz="1650" baseline="-20202">
              <a:latin typeface="Arial MT"/>
              <a:cs typeface="Arial MT"/>
            </a:endParaRPr>
          </a:p>
        </p:txBody>
      </p:sp>
      <p:grpSp>
        <p:nvGrpSpPr>
          <p:cNvPr id="11" name="object 11"/>
          <p:cNvGrpSpPr/>
          <p:nvPr/>
        </p:nvGrpSpPr>
        <p:grpSpPr>
          <a:xfrm>
            <a:off x="3198563" y="1843849"/>
            <a:ext cx="5010150" cy="4180840"/>
            <a:chOff x="3198563" y="1843849"/>
            <a:chExt cx="5010150" cy="4180840"/>
          </a:xfrm>
        </p:grpSpPr>
        <p:sp>
          <p:nvSpPr>
            <p:cNvPr id="12" name="object 12"/>
            <p:cNvSpPr/>
            <p:nvPr/>
          </p:nvSpPr>
          <p:spPr>
            <a:xfrm>
              <a:off x="3203325" y="1848611"/>
              <a:ext cx="5000625" cy="4171315"/>
            </a:xfrm>
            <a:custGeom>
              <a:avLst/>
              <a:gdLst/>
              <a:ahLst/>
              <a:cxnLst/>
              <a:rect l="l" t="t" r="r" b="b"/>
              <a:pathLst>
                <a:path w="5000625" h="4171315">
                  <a:moveTo>
                    <a:pt x="982979" y="0"/>
                  </a:moveTo>
                  <a:lnTo>
                    <a:pt x="922977" y="3808"/>
                  </a:lnTo>
                  <a:lnTo>
                    <a:pt x="863942" y="15086"/>
                  </a:lnTo>
                  <a:lnTo>
                    <a:pt x="805976" y="33617"/>
                  </a:lnTo>
                  <a:lnTo>
                    <a:pt x="749181" y="59182"/>
                  </a:lnTo>
                  <a:lnTo>
                    <a:pt x="693658" y="91563"/>
                  </a:lnTo>
                  <a:lnTo>
                    <a:pt x="639509" y="130541"/>
                  </a:lnTo>
                  <a:lnTo>
                    <a:pt x="586836" y="175898"/>
                  </a:lnTo>
                  <a:lnTo>
                    <a:pt x="535741" y="227415"/>
                  </a:lnTo>
                  <a:lnTo>
                    <a:pt x="486325" y="284875"/>
                  </a:lnTo>
                  <a:lnTo>
                    <a:pt x="462278" y="315765"/>
                  </a:lnTo>
                  <a:lnTo>
                    <a:pt x="438690" y="348058"/>
                  </a:lnTo>
                  <a:lnTo>
                    <a:pt x="415572" y="381728"/>
                  </a:lnTo>
                  <a:lnTo>
                    <a:pt x="392938" y="416747"/>
                  </a:lnTo>
                  <a:lnTo>
                    <a:pt x="370800" y="453088"/>
                  </a:lnTo>
                  <a:lnTo>
                    <a:pt x="349171" y="490723"/>
                  </a:lnTo>
                  <a:lnTo>
                    <a:pt x="328064" y="529626"/>
                  </a:lnTo>
                  <a:lnTo>
                    <a:pt x="307490" y="569768"/>
                  </a:lnTo>
                  <a:lnTo>
                    <a:pt x="287464" y="611123"/>
                  </a:lnTo>
                  <a:lnTo>
                    <a:pt x="267997" y="653664"/>
                  </a:lnTo>
                  <a:lnTo>
                    <a:pt x="249103" y="697362"/>
                  </a:lnTo>
                  <a:lnTo>
                    <a:pt x="230795" y="742192"/>
                  </a:lnTo>
                  <a:lnTo>
                    <a:pt x="213084" y="788124"/>
                  </a:lnTo>
                  <a:lnTo>
                    <a:pt x="195983" y="835133"/>
                  </a:lnTo>
                  <a:lnTo>
                    <a:pt x="179506" y="883191"/>
                  </a:lnTo>
                  <a:lnTo>
                    <a:pt x="163665" y="932270"/>
                  </a:lnTo>
                  <a:lnTo>
                    <a:pt x="148473" y="982344"/>
                  </a:lnTo>
                  <a:lnTo>
                    <a:pt x="133942" y="1033384"/>
                  </a:lnTo>
                  <a:lnTo>
                    <a:pt x="120086" y="1085365"/>
                  </a:lnTo>
                  <a:lnTo>
                    <a:pt x="106916" y="1138257"/>
                  </a:lnTo>
                  <a:lnTo>
                    <a:pt x="94446" y="1192035"/>
                  </a:lnTo>
                  <a:lnTo>
                    <a:pt x="82688" y="1246671"/>
                  </a:lnTo>
                  <a:lnTo>
                    <a:pt x="71656" y="1302137"/>
                  </a:lnTo>
                  <a:lnTo>
                    <a:pt x="61361" y="1358406"/>
                  </a:lnTo>
                  <a:lnTo>
                    <a:pt x="51817" y="1415451"/>
                  </a:lnTo>
                  <a:lnTo>
                    <a:pt x="43035" y="1473245"/>
                  </a:lnTo>
                  <a:lnTo>
                    <a:pt x="35030" y="1531761"/>
                  </a:lnTo>
                  <a:lnTo>
                    <a:pt x="27814" y="1590970"/>
                  </a:lnTo>
                  <a:lnTo>
                    <a:pt x="21399" y="1650846"/>
                  </a:lnTo>
                  <a:lnTo>
                    <a:pt x="15798" y="1711362"/>
                  </a:lnTo>
                  <a:lnTo>
                    <a:pt x="11023" y="1772489"/>
                  </a:lnTo>
                  <a:lnTo>
                    <a:pt x="7089" y="1834202"/>
                  </a:lnTo>
                  <a:lnTo>
                    <a:pt x="4006" y="1896472"/>
                  </a:lnTo>
                  <a:lnTo>
                    <a:pt x="1789" y="1959273"/>
                  </a:lnTo>
                  <a:lnTo>
                    <a:pt x="449" y="2022576"/>
                  </a:lnTo>
                  <a:lnTo>
                    <a:pt x="0" y="2086355"/>
                  </a:lnTo>
                  <a:lnTo>
                    <a:pt x="449" y="2150052"/>
                  </a:lnTo>
                  <a:lnTo>
                    <a:pt x="1789" y="2213275"/>
                  </a:lnTo>
                  <a:lnTo>
                    <a:pt x="4006" y="2275999"/>
                  </a:lnTo>
                  <a:lnTo>
                    <a:pt x="7089" y="2338195"/>
                  </a:lnTo>
                  <a:lnTo>
                    <a:pt x="11023" y="2399836"/>
                  </a:lnTo>
                  <a:lnTo>
                    <a:pt x="15798" y="2460896"/>
                  </a:lnTo>
                  <a:lnTo>
                    <a:pt x="21399" y="2521346"/>
                  </a:lnTo>
                  <a:lnTo>
                    <a:pt x="27814" y="2581159"/>
                  </a:lnTo>
                  <a:lnTo>
                    <a:pt x="35030" y="2640308"/>
                  </a:lnTo>
                  <a:lnTo>
                    <a:pt x="43035" y="2698766"/>
                  </a:lnTo>
                  <a:lnTo>
                    <a:pt x="51817" y="2756505"/>
                  </a:lnTo>
                  <a:lnTo>
                    <a:pt x="61361" y="2813498"/>
                  </a:lnTo>
                  <a:lnTo>
                    <a:pt x="71656" y="2869717"/>
                  </a:lnTo>
                  <a:lnTo>
                    <a:pt x="82688" y="2925136"/>
                  </a:lnTo>
                  <a:lnTo>
                    <a:pt x="94446" y="2979726"/>
                  </a:lnTo>
                  <a:lnTo>
                    <a:pt x="106916" y="3033461"/>
                  </a:lnTo>
                  <a:lnTo>
                    <a:pt x="120086" y="3086313"/>
                  </a:lnTo>
                  <a:lnTo>
                    <a:pt x="133942" y="3138254"/>
                  </a:lnTo>
                  <a:lnTo>
                    <a:pt x="148473" y="3189258"/>
                  </a:lnTo>
                  <a:lnTo>
                    <a:pt x="163665" y="3239297"/>
                  </a:lnTo>
                  <a:lnTo>
                    <a:pt x="179506" y="3288344"/>
                  </a:lnTo>
                  <a:lnTo>
                    <a:pt x="195983" y="3336371"/>
                  </a:lnTo>
                  <a:lnTo>
                    <a:pt x="213084" y="3383351"/>
                  </a:lnTo>
                  <a:lnTo>
                    <a:pt x="230795" y="3429257"/>
                  </a:lnTo>
                  <a:lnTo>
                    <a:pt x="249103" y="3474061"/>
                  </a:lnTo>
                  <a:lnTo>
                    <a:pt x="267997" y="3517735"/>
                  </a:lnTo>
                  <a:lnTo>
                    <a:pt x="287464" y="3560254"/>
                  </a:lnTo>
                  <a:lnTo>
                    <a:pt x="307490" y="3601589"/>
                  </a:lnTo>
                  <a:lnTo>
                    <a:pt x="328064" y="3641712"/>
                  </a:lnTo>
                  <a:lnTo>
                    <a:pt x="349171" y="3680597"/>
                  </a:lnTo>
                  <a:lnTo>
                    <a:pt x="370800" y="3718217"/>
                  </a:lnTo>
                  <a:lnTo>
                    <a:pt x="392938" y="3754543"/>
                  </a:lnTo>
                  <a:lnTo>
                    <a:pt x="415572" y="3789548"/>
                  </a:lnTo>
                  <a:lnTo>
                    <a:pt x="438690" y="3823206"/>
                  </a:lnTo>
                  <a:lnTo>
                    <a:pt x="462278" y="3855489"/>
                  </a:lnTo>
                  <a:lnTo>
                    <a:pt x="486325" y="3886369"/>
                  </a:lnTo>
                  <a:lnTo>
                    <a:pt x="510816" y="3915819"/>
                  </a:lnTo>
                  <a:lnTo>
                    <a:pt x="561085" y="3970320"/>
                  </a:lnTo>
                  <a:lnTo>
                    <a:pt x="612981" y="4018773"/>
                  </a:lnTo>
                  <a:lnTo>
                    <a:pt x="666405" y="4060959"/>
                  </a:lnTo>
                  <a:lnTo>
                    <a:pt x="721254" y="4096660"/>
                  </a:lnTo>
                  <a:lnTo>
                    <a:pt x="777426" y="4125656"/>
                  </a:lnTo>
                  <a:lnTo>
                    <a:pt x="834819" y="4147729"/>
                  </a:lnTo>
                  <a:lnTo>
                    <a:pt x="893332" y="4162660"/>
                  </a:lnTo>
                  <a:lnTo>
                    <a:pt x="952864" y="4170231"/>
                  </a:lnTo>
                  <a:lnTo>
                    <a:pt x="982979" y="4171187"/>
                  </a:lnTo>
                  <a:lnTo>
                    <a:pt x="1013012" y="4170231"/>
                  </a:lnTo>
                  <a:lnTo>
                    <a:pt x="1072386" y="4162660"/>
                  </a:lnTo>
                  <a:lnTo>
                    <a:pt x="1130755" y="4147729"/>
                  </a:lnTo>
                  <a:lnTo>
                    <a:pt x="1188014" y="4125656"/>
                  </a:lnTo>
                  <a:lnTo>
                    <a:pt x="1244063" y="4096660"/>
                  </a:lnTo>
                  <a:lnTo>
                    <a:pt x="1298799" y="4060959"/>
                  </a:lnTo>
                  <a:lnTo>
                    <a:pt x="1352121" y="4018773"/>
                  </a:lnTo>
                  <a:lnTo>
                    <a:pt x="1403924" y="3970320"/>
                  </a:lnTo>
                  <a:lnTo>
                    <a:pt x="1454109" y="3915819"/>
                  </a:lnTo>
                  <a:lnTo>
                    <a:pt x="1478562" y="3886369"/>
                  </a:lnTo>
                  <a:lnTo>
                    <a:pt x="1502571" y="3855489"/>
                  </a:lnTo>
                  <a:lnTo>
                    <a:pt x="1526125" y="3823206"/>
                  </a:lnTo>
                  <a:lnTo>
                    <a:pt x="1549210" y="3789548"/>
                  </a:lnTo>
                  <a:lnTo>
                    <a:pt x="1571814" y="3754543"/>
                  </a:lnTo>
                  <a:lnTo>
                    <a:pt x="1593923" y="3718217"/>
                  </a:lnTo>
                  <a:lnTo>
                    <a:pt x="1615525" y="3680597"/>
                  </a:lnTo>
                  <a:lnTo>
                    <a:pt x="1636607" y="3641712"/>
                  </a:lnTo>
                  <a:lnTo>
                    <a:pt x="1657157" y="3601589"/>
                  </a:lnTo>
                  <a:lnTo>
                    <a:pt x="1677161" y="3560254"/>
                  </a:lnTo>
                  <a:lnTo>
                    <a:pt x="1696608" y="3517735"/>
                  </a:lnTo>
                  <a:lnTo>
                    <a:pt x="1715483" y="3474061"/>
                  </a:lnTo>
                  <a:lnTo>
                    <a:pt x="1733774" y="3429257"/>
                  </a:lnTo>
                  <a:lnTo>
                    <a:pt x="1751469" y="3383351"/>
                  </a:lnTo>
                  <a:lnTo>
                    <a:pt x="1768555" y="3336371"/>
                  </a:lnTo>
                  <a:lnTo>
                    <a:pt x="1785018" y="3288344"/>
                  </a:lnTo>
                  <a:lnTo>
                    <a:pt x="1800847" y="3239297"/>
                  </a:lnTo>
                  <a:lnTo>
                    <a:pt x="1816028" y="3189258"/>
                  </a:lnTo>
                  <a:lnTo>
                    <a:pt x="1830549" y="3138254"/>
                  </a:lnTo>
                  <a:lnTo>
                    <a:pt x="1844397" y="3086313"/>
                  </a:lnTo>
                  <a:lnTo>
                    <a:pt x="1857559" y="3033461"/>
                  </a:lnTo>
                  <a:lnTo>
                    <a:pt x="1870022" y="2979726"/>
                  </a:lnTo>
                  <a:lnTo>
                    <a:pt x="1881773" y="2925136"/>
                  </a:lnTo>
                  <a:lnTo>
                    <a:pt x="1892801" y="2869717"/>
                  </a:lnTo>
                  <a:lnTo>
                    <a:pt x="1903091" y="2813498"/>
                  </a:lnTo>
                  <a:lnTo>
                    <a:pt x="1912631" y="2756505"/>
                  </a:lnTo>
                  <a:lnTo>
                    <a:pt x="1921409" y="2698766"/>
                  </a:lnTo>
                  <a:lnTo>
                    <a:pt x="1929412" y="2640308"/>
                  </a:lnTo>
                  <a:lnTo>
                    <a:pt x="1936626" y="2581159"/>
                  </a:lnTo>
                  <a:lnTo>
                    <a:pt x="1943040" y="2521346"/>
                  </a:lnTo>
                  <a:lnTo>
                    <a:pt x="1948639" y="2460896"/>
                  </a:lnTo>
                  <a:lnTo>
                    <a:pt x="1953413" y="2399836"/>
                  </a:lnTo>
                  <a:lnTo>
                    <a:pt x="1957347" y="2338195"/>
                  </a:lnTo>
                  <a:lnTo>
                    <a:pt x="1960429" y="2275999"/>
                  </a:lnTo>
                  <a:lnTo>
                    <a:pt x="1962646" y="2213275"/>
                  </a:lnTo>
                  <a:lnTo>
                    <a:pt x="1963986" y="2150052"/>
                  </a:lnTo>
                  <a:lnTo>
                    <a:pt x="1964435" y="2086355"/>
                  </a:lnTo>
                  <a:lnTo>
                    <a:pt x="1963986" y="2022576"/>
                  </a:lnTo>
                  <a:lnTo>
                    <a:pt x="1962646" y="1959273"/>
                  </a:lnTo>
                  <a:lnTo>
                    <a:pt x="1960429" y="1896472"/>
                  </a:lnTo>
                  <a:lnTo>
                    <a:pt x="1957347" y="1834202"/>
                  </a:lnTo>
                  <a:lnTo>
                    <a:pt x="1953413" y="1772489"/>
                  </a:lnTo>
                  <a:lnTo>
                    <a:pt x="1948639" y="1711362"/>
                  </a:lnTo>
                  <a:lnTo>
                    <a:pt x="1943040" y="1650846"/>
                  </a:lnTo>
                  <a:lnTo>
                    <a:pt x="1936626" y="1590970"/>
                  </a:lnTo>
                  <a:lnTo>
                    <a:pt x="1929412" y="1531761"/>
                  </a:lnTo>
                  <a:lnTo>
                    <a:pt x="1921409" y="1473245"/>
                  </a:lnTo>
                  <a:lnTo>
                    <a:pt x="1912631" y="1415451"/>
                  </a:lnTo>
                  <a:lnTo>
                    <a:pt x="1903091" y="1358406"/>
                  </a:lnTo>
                  <a:lnTo>
                    <a:pt x="1892801" y="1302137"/>
                  </a:lnTo>
                  <a:lnTo>
                    <a:pt x="1881773" y="1246671"/>
                  </a:lnTo>
                  <a:lnTo>
                    <a:pt x="1870022" y="1192035"/>
                  </a:lnTo>
                  <a:lnTo>
                    <a:pt x="1857559" y="1138257"/>
                  </a:lnTo>
                  <a:lnTo>
                    <a:pt x="1844397" y="1085365"/>
                  </a:lnTo>
                  <a:lnTo>
                    <a:pt x="1830549" y="1033384"/>
                  </a:lnTo>
                  <a:lnTo>
                    <a:pt x="1816028" y="982344"/>
                  </a:lnTo>
                  <a:lnTo>
                    <a:pt x="1800847" y="932270"/>
                  </a:lnTo>
                  <a:lnTo>
                    <a:pt x="1785018" y="883191"/>
                  </a:lnTo>
                  <a:lnTo>
                    <a:pt x="1768555" y="835133"/>
                  </a:lnTo>
                  <a:lnTo>
                    <a:pt x="1751469" y="788124"/>
                  </a:lnTo>
                  <a:lnTo>
                    <a:pt x="1733774" y="742192"/>
                  </a:lnTo>
                  <a:lnTo>
                    <a:pt x="1715483" y="697362"/>
                  </a:lnTo>
                  <a:lnTo>
                    <a:pt x="1696608" y="653664"/>
                  </a:lnTo>
                  <a:lnTo>
                    <a:pt x="1677161" y="611123"/>
                  </a:lnTo>
                  <a:lnTo>
                    <a:pt x="1657157" y="569768"/>
                  </a:lnTo>
                  <a:lnTo>
                    <a:pt x="1636607" y="529626"/>
                  </a:lnTo>
                  <a:lnTo>
                    <a:pt x="1615525" y="490723"/>
                  </a:lnTo>
                  <a:lnTo>
                    <a:pt x="1593923" y="453088"/>
                  </a:lnTo>
                  <a:lnTo>
                    <a:pt x="1571814" y="416747"/>
                  </a:lnTo>
                  <a:lnTo>
                    <a:pt x="1549210" y="381728"/>
                  </a:lnTo>
                  <a:lnTo>
                    <a:pt x="1526125" y="348058"/>
                  </a:lnTo>
                  <a:lnTo>
                    <a:pt x="1502571" y="315765"/>
                  </a:lnTo>
                  <a:lnTo>
                    <a:pt x="1478562" y="284875"/>
                  </a:lnTo>
                  <a:lnTo>
                    <a:pt x="1454109" y="255416"/>
                  </a:lnTo>
                  <a:lnTo>
                    <a:pt x="1403924" y="200900"/>
                  </a:lnTo>
                  <a:lnTo>
                    <a:pt x="1352121" y="152436"/>
                  </a:lnTo>
                  <a:lnTo>
                    <a:pt x="1298799" y="110241"/>
                  </a:lnTo>
                  <a:lnTo>
                    <a:pt x="1244063" y="74534"/>
                  </a:lnTo>
                  <a:lnTo>
                    <a:pt x="1188014" y="45534"/>
                  </a:lnTo>
                  <a:lnTo>
                    <a:pt x="1130755" y="23459"/>
                  </a:lnTo>
                  <a:lnTo>
                    <a:pt x="1072386" y="8527"/>
                  </a:lnTo>
                  <a:lnTo>
                    <a:pt x="1013012" y="956"/>
                  </a:lnTo>
                  <a:lnTo>
                    <a:pt x="982979" y="0"/>
                  </a:lnTo>
                  <a:close/>
                </a:path>
                <a:path w="5000625" h="4171315">
                  <a:moveTo>
                    <a:pt x="4017263" y="281939"/>
                  </a:moveTo>
                  <a:lnTo>
                    <a:pt x="3951363" y="286002"/>
                  </a:lnTo>
                  <a:lnTo>
                    <a:pt x="3886621" y="298019"/>
                  </a:lnTo>
                  <a:lnTo>
                    <a:pt x="3823176" y="317733"/>
                  </a:lnTo>
                  <a:lnTo>
                    <a:pt x="3761165" y="344888"/>
                  </a:lnTo>
                  <a:lnTo>
                    <a:pt x="3700728" y="379226"/>
                  </a:lnTo>
                  <a:lnTo>
                    <a:pt x="3642001" y="420492"/>
                  </a:lnTo>
                  <a:lnTo>
                    <a:pt x="3585123" y="468427"/>
                  </a:lnTo>
                  <a:lnTo>
                    <a:pt x="3557420" y="494816"/>
                  </a:lnTo>
                  <a:lnTo>
                    <a:pt x="3530232" y="522776"/>
                  </a:lnTo>
                  <a:lnTo>
                    <a:pt x="3503574" y="552276"/>
                  </a:lnTo>
                  <a:lnTo>
                    <a:pt x="3477466" y="583282"/>
                  </a:lnTo>
                  <a:lnTo>
                    <a:pt x="3451923" y="615763"/>
                  </a:lnTo>
                  <a:lnTo>
                    <a:pt x="3426962" y="649687"/>
                  </a:lnTo>
                  <a:lnTo>
                    <a:pt x="3402603" y="685022"/>
                  </a:lnTo>
                  <a:lnTo>
                    <a:pt x="3378860" y="721735"/>
                  </a:lnTo>
                  <a:lnTo>
                    <a:pt x="3355753" y="759795"/>
                  </a:lnTo>
                  <a:lnTo>
                    <a:pt x="3333297" y="799170"/>
                  </a:lnTo>
                  <a:lnTo>
                    <a:pt x="3311511" y="839827"/>
                  </a:lnTo>
                  <a:lnTo>
                    <a:pt x="3290411" y="881734"/>
                  </a:lnTo>
                  <a:lnTo>
                    <a:pt x="3270015" y="924859"/>
                  </a:lnTo>
                  <a:lnTo>
                    <a:pt x="3250340" y="969170"/>
                  </a:lnTo>
                  <a:lnTo>
                    <a:pt x="3231404" y="1014635"/>
                  </a:lnTo>
                  <a:lnTo>
                    <a:pt x="3213223" y="1061222"/>
                  </a:lnTo>
                  <a:lnTo>
                    <a:pt x="3195814" y="1108899"/>
                  </a:lnTo>
                  <a:lnTo>
                    <a:pt x="3179196" y="1157634"/>
                  </a:lnTo>
                  <a:lnTo>
                    <a:pt x="3163385" y="1207394"/>
                  </a:lnTo>
                  <a:lnTo>
                    <a:pt x="3148399" y="1258147"/>
                  </a:lnTo>
                  <a:lnTo>
                    <a:pt x="3134254" y="1309862"/>
                  </a:lnTo>
                  <a:lnTo>
                    <a:pt x="3120969" y="1362506"/>
                  </a:lnTo>
                  <a:lnTo>
                    <a:pt x="3108560" y="1416047"/>
                  </a:lnTo>
                  <a:lnTo>
                    <a:pt x="3097044" y="1470453"/>
                  </a:lnTo>
                  <a:lnTo>
                    <a:pt x="3086439" y="1525693"/>
                  </a:lnTo>
                  <a:lnTo>
                    <a:pt x="3076763" y="1581733"/>
                  </a:lnTo>
                  <a:lnTo>
                    <a:pt x="3068031" y="1638542"/>
                  </a:lnTo>
                  <a:lnTo>
                    <a:pt x="3060263" y="1696087"/>
                  </a:lnTo>
                  <a:lnTo>
                    <a:pt x="3053474" y="1754337"/>
                  </a:lnTo>
                  <a:lnTo>
                    <a:pt x="3047682" y="1813260"/>
                  </a:lnTo>
                  <a:lnTo>
                    <a:pt x="3042904" y="1872822"/>
                  </a:lnTo>
                  <a:lnTo>
                    <a:pt x="3039159" y="1932994"/>
                  </a:lnTo>
                  <a:lnTo>
                    <a:pt x="3036462" y="1993741"/>
                  </a:lnTo>
                  <a:lnTo>
                    <a:pt x="3034831" y="2055032"/>
                  </a:lnTo>
                  <a:lnTo>
                    <a:pt x="3034283" y="2116835"/>
                  </a:lnTo>
                  <a:lnTo>
                    <a:pt x="3034831" y="2178730"/>
                  </a:lnTo>
                  <a:lnTo>
                    <a:pt x="3036462" y="2240109"/>
                  </a:lnTo>
                  <a:lnTo>
                    <a:pt x="3039159" y="2300940"/>
                  </a:lnTo>
                  <a:lnTo>
                    <a:pt x="3042904" y="2361192"/>
                  </a:lnTo>
                  <a:lnTo>
                    <a:pt x="3047682" y="2420832"/>
                  </a:lnTo>
                  <a:lnTo>
                    <a:pt x="3053474" y="2479828"/>
                  </a:lnTo>
                  <a:lnTo>
                    <a:pt x="3060263" y="2538148"/>
                  </a:lnTo>
                  <a:lnTo>
                    <a:pt x="3068031" y="2595761"/>
                  </a:lnTo>
                  <a:lnTo>
                    <a:pt x="3076763" y="2652633"/>
                  </a:lnTo>
                  <a:lnTo>
                    <a:pt x="3086439" y="2708734"/>
                  </a:lnTo>
                  <a:lnTo>
                    <a:pt x="3097044" y="2764031"/>
                  </a:lnTo>
                  <a:lnTo>
                    <a:pt x="3108560" y="2818492"/>
                  </a:lnTo>
                  <a:lnTo>
                    <a:pt x="3120969" y="2872085"/>
                  </a:lnTo>
                  <a:lnTo>
                    <a:pt x="3134254" y="2924778"/>
                  </a:lnTo>
                  <a:lnTo>
                    <a:pt x="3148399" y="2976539"/>
                  </a:lnTo>
                  <a:lnTo>
                    <a:pt x="3163385" y="3027336"/>
                  </a:lnTo>
                  <a:lnTo>
                    <a:pt x="3179196" y="3077137"/>
                  </a:lnTo>
                  <a:lnTo>
                    <a:pt x="3195814" y="3125910"/>
                  </a:lnTo>
                  <a:lnTo>
                    <a:pt x="3213223" y="3173623"/>
                  </a:lnTo>
                  <a:lnTo>
                    <a:pt x="3231404" y="3220244"/>
                  </a:lnTo>
                  <a:lnTo>
                    <a:pt x="3250340" y="3265740"/>
                  </a:lnTo>
                  <a:lnTo>
                    <a:pt x="3270015" y="3310081"/>
                  </a:lnTo>
                  <a:lnTo>
                    <a:pt x="3290411" y="3353234"/>
                  </a:lnTo>
                  <a:lnTo>
                    <a:pt x="3311511" y="3395166"/>
                  </a:lnTo>
                  <a:lnTo>
                    <a:pt x="3333297" y="3435846"/>
                  </a:lnTo>
                  <a:lnTo>
                    <a:pt x="3355753" y="3475242"/>
                  </a:lnTo>
                  <a:lnTo>
                    <a:pt x="3378860" y="3513322"/>
                  </a:lnTo>
                  <a:lnTo>
                    <a:pt x="3402603" y="3550053"/>
                  </a:lnTo>
                  <a:lnTo>
                    <a:pt x="3426962" y="3585404"/>
                  </a:lnTo>
                  <a:lnTo>
                    <a:pt x="3451923" y="3619343"/>
                  </a:lnTo>
                  <a:lnTo>
                    <a:pt x="3477466" y="3651838"/>
                  </a:lnTo>
                  <a:lnTo>
                    <a:pt x="3503574" y="3682856"/>
                  </a:lnTo>
                  <a:lnTo>
                    <a:pt x="3530232" y="3712366"/>
                  </a:lnTo>
                  <a:lnTo>
                    <a:pt x="3557420" y="3740335"/>
                  </a:lnTo>
                  <a:lnTo>
                    <a:pt x="3585123" y="3766732"/>
                  </a:lnTo>
                  <a:lnTo>
                    <a:pt x="3642001" y="3814681"/>
                  </a:lnTo>
                  <a:lnTo>
                    <a:pt x="3700728" y="3855956"/>
                  </a:lnTo>
                  <a:lnTo>
                    <a:pt x="3761165" y="3890300"/>
                  </a:lnTo>
                  <a:lnTo>
                    <a:pt x="3823176" y="3917459"/>
                  </a:lnTo>
                  <a:lnTo>
                    <a:pt x="3886621" y="3937175"/>
                  </a:lnTo>
                  <a:lnTo>
                    <a:pt x="3951363" y="3949193"/>
                  </a:lnTo>
                  <a:lnTo>
                    <a:pt x="4017263" y="3953255"/>
                  </a:lnTo>
                  <a:lnTo>
                    <a:pt x="4050350" y="3952234"/>
                  </a:lnTo>
                  <a:lnTo>
                    <a:pt x="4115688" y="3944162"/>
                  </a:lnTo>
                  <a:lnTo>
                    <a:pt x="4179799" y="3928263"/>
                  </a:lnTo>
                  <a:lnTo>
                    <a:pt x="4242544" y="3904794"/>
                  </a:lnTo>
                  <a:lnTo>
                    <a:pt x="4303786" y="3874010"/>
                  </a:lnTo>
                  <a:lnTo>
                    <a:pt x="4363385" y="3836168"/>
                  </a:lnTo>
                  <a:lnTo>
                    <a:pt x="4421205" y="3791525"/>
                  </a:lnTo>
                  <a:lnTo>
                    <a:pt x="4477107" y="3740335"/>
                  </a:lnTo>
                  <a:lnTo>
                    <a:pt x="4504295" y="3712366"/>
                  </a:lnTo>
                  <a:lnTo>
                    <a:pt x="4530952" y="3682856"/>
                  </a:lnTo>
                  <a:lnTo>
                    <a:pt x="4557061" y="3651838"/>
                  </a:lnTo>
                  <a:lnTo>
                    <a:pt x="4582604" y="3619343"/>
                  </a:lnTo>
                  <a:lnTo>
                    <a:pt x="4607564" y="3585404"/>
                  </a:lnTo>
                  <a:lnTo>
                    <a:pt x="4631924" y="3550053"/>
                  </a:lnTo>
                  <a:lnTo>
                    <a:pt x="4655666" y="3513322"/>
                  </a:lnTo>
                  <a:lnTo>
                    <a:pt x="4678774" y="3475242"/>
                  </a:lnTo>
                  <a:lnTo>
                    <a:pt x="4701230" y="3435846"/>
                  </a:lnTo>
                  <a:lnTo>
                    <a:pt x="4723016" y="3395166"/>
                  </a:lnTo>
                  <a:lnTo>
                    <a:pt x="4744116" y="3353234"/>
                  </a:lnTo>
                  <a:lnTo>
                    <a:pt x="4764511" y="3310081"/>
                  </a:lnTo>
                  <a:lnTo>
                    <a:pt x="4784186" y="3265740"/>
                  </a:lnTo>
                  <a:lnTo>
                    <a:pt x="4803123" y="3220244"/>
                  </a:lnTo>
                  <a:lnTo>
                    <a:pt x="4821304" y="3173623"/>
                  </a:lnTo>
                  <a:lnTo>
                    <a:pt x="4838712" y="3125910"/>
                  </a:lnTo>
                  <a:lnTo>
                    <a:pt x="4855331" y="3077137"/>
                  </a:lnTo>
                  <a:lnTo>
                    <a:pt x="4871142" y="3027336"/>
                  </a:lnTo>
                  <a:lnTo>
                    <a:pt x="4886128" y="2976539"/>
                  </a:lnTo>
                  <a:lnTo>
                    <a:pt x="4900273" y="2924778"/>
                  </a:lnTo>
                  <a:lnTo>
                    <a:pt x="4913558" y="2872085"/>
                  </a:lnTo>
                  <a:lnTo>
                    <a:pt x="4925967" y="2818492"/>
                  </a:lnTo>
                  <a:lnTo>
                    <a:pt x="4937483" y="2764031"/>
                  </a:lnTo>
                  <a:lnTo>
                    <a:pt x="4948088" y="2708734"/>
                  </a:lnTo>
                  <a:lnTo>
                    <a:pt x="4957764" y="2652633"/>
                  </a:lnTo>
                  <a:lnTo>
                    <a:pt x="4966496" y="2595761"/>
                  </a:lnTo>
                  <a:lnTo>
                    <a:pt x="4974264" y="2538148"/>
                  </a:lnTo>
                  <a:lnTo>
                    <a:pt x="4981053" y="2479828"/>
                  </a:lnTo>
                  <a:lnTo>
                    <a:pt x="4986845" y="2420832"/>
                  </a:lnTo>
                  <a:lnTo>
                    <a:pt x="4991622" y="2361192"/>
                  </a:lnTo>
                  <a:lnTo>
                    <a:pt x="4995368" y="2300940"/>
                  </a:lnTo>
                  <a:lnTo>
                    <a:pt x="4998065" y="2240109"/>
                  </a:lnTo>
                  <a:lnTo>
                    <a:pt x="4999696" y="2178730"/>
                  </a:lnTo>
                  <a:lnTo>
                    <a:pt x="5000243" y="2116835"/>
                  </a:lnTo>
                  <a:lnTo>
                    <a:pt x="4999696" y="2055032"/>
                  </a:lnTo>
                  <a:lnTo>
                    <a:pt x="4998065" y="1993741"/>
                  </a:lnTo>
                  <a:lnTo>
                    <a:pt x="4995368" y="1932994"/>
                  </a:lnTo>
                  <a:lnTo>
                    <a:pt x="4991622" y="1872822"/>
                  </a:lnTo>
                  <a:lnTo>
                    <a:pt x="4986845" y="1813260"/>
                  </a:lnTo>
                  <a:lnTo>
                    <a:pt x="4981053" y="1754337"/>
                  </a:lnTo>
                  <a:lnTo>
                    <a:pt x="4974264" y="1696087"/>
                  </a:lnTo>
                  <a:lnTo>
                    <a:pt x="4966496" y="1638542"/>
                  </a:lnTo>
                  <a:lnTo>
                    <a:pt x="4957764" y="1581733"/>
                  </a:lnTo>
                  <a:lnTo>
                    <a:pt x="4948088" y="1525693"/>
                  </a:lnTo>
                  <a:lnTo>
                    <a:pt x="4937483" y="1470453"/>
                  </a:lnTo>
                  <a:lnTo>
                    <a:pt x="4925967" y="1416047"/>
                  </a:lnTo>
                  <a:lnTo>
                    <a:pt x="4913558" y="1362506"/>
                  </a:lnTo>
                  <a:lnTo>
                    <a:pt x="4900273" y="1309862"/>
                  </a:lnTo>
                  <a:lnTo>
                    <a:pt x="4886128" y="1258147"/>
                  </a:lnTo>
                  <a:lnTo>
                    <a:pt x="4871142" y="1207394"/>
                  </a:lnTo>
                  <a:lnTo>
                    <a:pt x="4855331" y="1157634"/>
                  </a:lnTo>
                  <a:lnTo>
                    <a:pt x="4838712" y="1108899"/>
                  </a:lnTo>
                  <a:lnTo>
                    <a:pt x="4821304" y="1061222"/>
                  </a:lnTo>
                  <a:lnTo>
                    <a:pt x="4803123" y="1014635"/>
                  </a:lnTo>
                  <a:lnTo>
                    <a:pt x="4784186" y="969170"/>
                  </a:lnTo>
                  <a:lnTo>
                    <a:pt x="4764511" y="924859"/>
                  </a:lnTo>
                  <a:lnTo>
                    <a:pt x="4744116" y="881734"/>
                  </a:lnTo>
                  <a:lnTo>
                    <a:pt x="4723016" y="839827"/>
                  </a:lnTo>
                  <a:lnTo>
                    <a:pt x="4701230" y="799170"/>
                  </a:lnTo>
                  <a:lnTo>
                    <a:pt x="4678774" y="759795"/>
                  </a:lnTo>
                  <a:lnTo>
                    <a:pt x="4655666" y="721735"/>
                  </a:lnTo>
                  <a:lnTo>
                    <a:pt x="4631924" y="685022"/>
                  </a:lnTo>
                  <a:lnTo>
                    <a:pt x="4607564" y="649687"/>
                  </a:lnTo>
                  <a:lnTo>
                    <a:pt x="4582604" y="615763"/>
                  </a:lnTo>
                  <a:lnTo>
                    <a:pt x="4557061" y="583282"/>
                  </a:lnTo>
                  <a:lnTo>
                    <a:pt x="4530952" y="552276"/>
                  </a:lnTo>
                  <a:lnTo>
                    <a:pt x="4504295" y="522776"/>
                  </a:lnTo>
                  <a:lnTo>
                    <a:pt x="4477107" y="494816"/>
                  </a:lnTo>
                  <a:lnTo>
                    <a:pt x="4449404" y="468427"/>
                  </a:lnTo>
                  <a:lnTo>
                    <a:pt x="4392526" y="420492"/>
                  </a:lnTo>
                  <a:lnTo>
                    <a:pt x="4333799" y="379226"/>
                  </a:lnTo>
                  <a:lnTo>
                    <a:pt x="4273362" y="344888"/>
                  </a:lnTo>
                  <a:lnTo>
                    <a:pt x="4211351" y="317733"/>
                  </a:lnTo>
                  <a:lnTo>
                    <a:pt x="4147906" y="298019"/>
                  </a:lnTo>
                  <a:lnTo>
                    <a:pt x="4083164" y="286002"/>
                  </a:lnTo>
                  <a:lnTo>
                    <a:pt x="4017263" y="281939"/>
                  </a:lnTo>
                  <a:close/>
                </a:path>
                <a:path w="5000625" h="4171315">
                  <a:moveTo>
                    <a:pt x="1235963" y="499871"/>
                  </a:moveTo>
                  <a:lnTo>
                    <a:pt x="3727703" y="851915"/>
                  </a:lnTo>
                </a:path>
                <a:path w="5000625" h="4171315">
                  <a:moveTo>
                    <a:pt x="1235963" y="1335023"/>
                  </a:moveTo>
                  <a:lnTo>
                    <a:pt x="3727703" y="833627"/>
                  </a:lnTo>
                </a:path>
                <a:path w="5000625" h="4171315">
                  <a:moveTo>
                    <a:pt x="1235963" y="2002535"/>
                  </a:moveTo>
                  <a:lnTo>
                    <a:pt x="3727703" y="2002535"/>
                  </a:lnTo>
                </a:path>
                <a:path w="5000625" h="4171315">
                  <a:moveTo>
                    <a:pt x="1235963" y="2670047"/>
                  </a:moveTo>
                  <a:lnTo>
                    <a:pt x="3727703" y="3003803"/>
                  </a:lnTo>
                </a:path>
              </a:pathLst>
            </a:custGeom>
            <a:ln w="9524">
              <a:solidFill>
                <a:srgbClr val="000000"/>
              </a:solidFill>
            </a:ln>
          </p:spPr>
          <p:txBody>
            <a:bodyPr wrap="square" lIns="0" tIns="0" rIns="0" bIns="0" rtlCol="0"/>
            <a:lstStyle/>
            <a:p>
              <a:endParaRPr/>
            </a:p>
          </p:txBody>
        </p:sp>
        <p:sp>
          <p:nvSpPr>
            <p:cNvPr id="13" name="object 13"/>
            <p:cNvSpPr/>
            <p:nvPr/>
          </p:nvSpPr>
          <p:spPr>
            <a:xfrm>
              <a:off x="3915033" y="5020055"/>
              <a:ext cx="524510" cy="500380"/>
            </a:xfrm>
            <a:custGeom>
              <a:avLst/>
              <a:gdLst/>
              <a:ahLst/>
              <a:cxnLst/>
              <a:rect l="l" t="t" r="r" b="b"/>
              <a:pathLst>
                <a:path w="524510" h="500379">
                  <a:moveTo>
                    <a:pt x="524255" y="499871"/>
                  </a:moveTo>
                  <a:lnTo>
                    <a:pt x="524255" y="0"/>
                  </a:lnTo>
                  <a:lnTo>
                    <a:pt x="0" y="0"/>
                  </a:lnTo>
                  <a:lnTo>
                    <a:pt x="0" y="499871"/>
                  </a:lnTo>
                  <a:lnTo>
                    <a:pt x="524255" y="499871"/>
                  </a:lnTo>
                  <a:close/>
                </a:path>
              </a:pathLst>
            </a:custGeom>
            <a:solidFill>
              <a:srgbClr val="FFFFFF"/>
            </a:solidFill>
          </p:spPr>
          <p:txBody>
            <a:bodyPr wrap="square" lIns="0" tIns="0" rIns="0" bIns="0" rtlCol="0"/>
            <a:lstStyle/>
            <a:p>
              <a:endParaRPr/>
            </a:p>
          </p:txBody>
        </p:sp>
      </p:grpSp>
      <p:sp>
        <p:nvSpPr>
          <p:cNvPr id="14" name="object 14"/>
          <p:cNvSpPr txBox="1"/>
          <p:nvPr/>
        </p:nvSpPr>
        <p:spPr>
          <a:xfrm>
            <a:off x="4044072" y="6161021"/>
            <a:ext cx="274320" cy="269240"/>
          </a:xfrm>
          <a:prstGeom prst="rect">
            <a:avLst/>
          </a:prstGeom>
        </p:spPr>
        <p:txBody>
          <a:bodyPr vert="horz" wrap="square" lIns="0" tIns="12065" rIns="0" bIns="0" rtlCol="0">
            <a:spAutoFit/>
          </a:bodyPr>
          <a:lstStyle/>
          <a:p>
            <a:pPr marL="12700">
              <a:lnSpc>
                <a:spcPct val="100000"/>
              </a:lnSpc>
              <a:spcBef>
                <a:spcPts val="95"/>
              </a:spcBef>
            </a:pPr>
            <a:r>
              <a:rPr sz="1600" spc="-25" dirty="0">
                <a:latin typeface="Arial MT"/>
                <a:cs typeface="Arial MT"/>
              </a:rPr>
              <a:t>(a)</a:t>
            </a:r>
            <a:endParaRPr sz="1600">
              <a:latin typeface="Arial MT"/>
              <a:cs typeface="Arial MT"/>
            </a:endParaRPr>
          </a:p>
        </p:txBody>
      </p:sp>
      <p:sp>
        <p:nvSpPr>
          <p:cNvPr id="15" name="object 15"/>
          <p:cNvSpPr txBox="1"/>
          <p:nvPr/>
        </p:nvSpPr>
        <p:spPr>
          <a:xfrm>
            <a:off x="7055494" y="6165593"/>
            <a:ext cx="274320" cy="269240"/>
          </a:xfrm>
          <a:prstGeom prst="rect">
            <a:avLst/>
          </a:prstGeom>
        </p:spPr>
        <p:txBody>
          <a:bodyPr vert="horz" wrap="square" lIns="0" tIns="12065" rIns="0" bIns="0" rtlCol="0">
            <a:spAutoFit/>
          </a:bodyPr>
          <a:lstStyle/>
          <a:p>
            <a:pPr marL="12700">
              <a:lnSpc>
                <a:spcPct val="100000"/>
              </a:lnSpc>
              <a:spcBef>
                <a:spcPts val="95"/>
              </a:spcBef>
            </a:pPr>
            <a:r>
              <a:rPr sz="1600" spc="-25" dirty="0">
                <a:latin typeface="Arial MT"/>
                <a:cs typeface="Arial MT"/>
              </a:rPr>
              <a:t>(b)</a:t>
            </a:r>
            <a:endParaRPr sz="1600">
              <a:latin typeface="Arial MT"/>
              <a:cs typeface="Arial MT"/>
            </a:endParaRPr>
          </a:p>
        </p:txBody>
      </p:sp>
      <p:sp>
        <p:nvSpPr>
          <p:cNvPr id="16" name="object 16"/>
          <p:cNvSpPr txBox="1"/>
          <p:nvPr/>
        </p:nvSpPr>
        <p:spPr>
          <a:xfrm>
            <a:off x="3915033" y="5020055"/>
            <a:ext cx="524510" cy="500380"/>
          </a:xfrm>
          <a:prstGeom prst="rect">
            <a:avLst/>
          </a:prstGeom>
          <a:ln w="9524">
            <a:solidFill>
              <a:srgbClr val="000000"/>
            </a:solidFill>
          </a:ln>
        </p:spPr>
        <p:txBody>
          <a:bodyPr vert="horz" wrap="square" lIns="0" tIns="45085" rIns="0" bIns="0" rtlCol="0">
            <a:spAutoFit/>
          </a:bodyPr>
          <a:lstStyle/>
          <a:p>
            <a:pPr marL="167640">
              <a:lnSpc>
                <a:spcPct val="100000"/>
              </a:lnSpc>
              <a:spcBef>
                <a:spcPts val="355"/>
              </a:spcBef>
            </a:pPr>
            <a:r>
              <a:rPr sz="1600" spc="-25" dirty="0">
                <a:latin typeface="Arial MT"/>
                <a:cs typeface="Arial MT"/>
              </a:rPr>
              <a:t>a</a:t>
            </a:r>
            <a:r>
              <a:rPr sz="1650" spc="-37" baseline="-20202" dirty="0">
                <a:latin typeface="Arial MT"/>
                <a:cs typeface="Arial MT"/>
              </a:rPr>
              <a:t>5</a:t>
            </a:r>
            <a:endParaRPr sz="1650" baseline="-20202">
              <a:latin typeface="Arial MT"/>
              <a:cs typeface="Arial MT"/>
            </a:endParaRPr>
          </a:p>
        </p:txBody>
      </p:sp>
      <p:sp>
        <p:nvSpPr>
          <p:cNvPr id="17" name="object 17"/>
          <p:cNvSpPr/>
          <p:nvPr/>
        </p:nvSpPr>
        <p:spPr>
          <a:xfrm>
            <a:off x="4439289" y="4852415"/>
            <a:ext cx="2491740" cy="334010"/>
          </a:xfrm>
          <a:custGeom>
            <a:avLst/>
            <a:gdLst/>
            <a:ahLst/>
            <a:cxnLst/>
            <a:rect l="l" t="t" r="r" b="b"/>
            <a:pathLst>
              <a:path w="2491740" h="334010">
                <a:moveTo>
                  <a:pt x="0" y="333755"/>
                </a:moveTo>
                <a:lnTo>
                  <a:pt x="2491739" y="0"/>
                </a:lnTo>
              </a:path>
            </a:pathLst>
          </a:custGeom>
          <a:ln w="9524">
            <a:solidFill>
              <a:srgbClr val="000000"/>
            </a:solidFill>
          </a:ln>
        </p:spPr>
        <p:txBody>
          <a:bodyPr wrap="square" lIns="0" tIns="0" rIns="0" bIns="0" rtlCol="0"/>
          <a:lstStyle/>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74856" y="381125"/>
            <a:ext cx="7705702" cy="1411351"/>
          </a:xfrm>
          <a:prstGeom prst="rect">
            <a:avLst/>
          </a:prstGeom>
        </p:spPr>
        <p:txBody>
          <a:bodyPr vert="horz" wrap="square" lIns="0" tIns="12065" rIns="0" bIns="0" rtlCol="0">
            <a:spAutoFit/>
          </a:bodyPr>
          <a:lstStyle/>
          <a:p>
            <a:pPr marL="2889250" marR="5080" indent="-2018030">
              <a:lnSpc>
                <a:spcPct val="100000"/>
              </a:lnSpc>
              <a:spcBef>
                <a:spcPts val="95"/>
              </a:spcBef>
            </a:pPr>
            <a:r>
              <a:rPr sz="4000" dirty="0"/>
              <a:t>Restricciones</a:t>
            </a:r>
            <a:r>
              <a:rPr sz="4000" spc="-140" dirty="0"/>
              <a:t> </a:t>
            </a:r>
            <a:r>
              <a:rPr sz="4000" dirty="0"/>
              <a:t>de</a:t>
            </a:r>
            <a:r>
              <a:rPr sz="4000" spc="-140" dirty="0"/>
              <a:t> </a:t>
            </a:r>
            <a:r>
              <a:rPr sz="4000" spc="-10" dirty="0"/>
              <a:t>asignación (mapping)</a:t>
            </a:r>
            <a:endParaRPr sz="4000" dirty="0"/>
          </a:p>
        </p:txBody>
      </p:sp>
      <p:sp>
        <p:nvSpPr>
          <p:cNvPr id="3" name="object 3"/>
          <p:cNvSpPr txBox="1"/>
          <p:nvPr/>
        </p:nvSpPr>
        <p:spPr>
          <a:xfrm>
            <a:off x="1310017" y="1971547"/>
            <a:ext cx="749300" cy="513715"/>
          </a:xfrm>
          <a:prstGeom prst="rect">
            <a:avLst/>
          </a:prstGeom>
        </p:spPr>
        <p:txBody>
          <a:bodyPr vert="horz" wrap="square" lIns="0" tIns="12700" rIns="0" bIns="0" rtlCol="0">
            <a:spAutoFit/>
          </a:bodyPr>
          <a:lstStyle/>
          <a:p>
            <a:pPr marL="12700">
              <a:lnSpc>
                <a:spcPct val="100000"/>
              </a:lnSpc>
              <a:spcBef>
                <a:spcPts val="100"/>
              </a:spcBef>
            </a:pPr>
            <a:r>
              <a:rPr sz="3200" b="1" spc="-25" dirty="0">
                <a:latin typeface="Arial"/>
                <a:cs typeface="Arial"/>
              </a:rPr>
              <a:t>N:N</a:t>
            </a:r>
            <a:endParaRPr sz="3200">
              <a:latin typeface="Arial"/>
              <a:cs typeface="Arial"/>
            </a:endParaRPr>
          </a:p>
        </p:txBody>
      </p:sp>
      <p:sp>
        <p:nvSpPr>
          <p:cNvPr id="4" name="object 4"/>
          <p:cNvSpPr/>
          <p:nvPr/>
        </p:nvSpPr>
        <p:spPr>
          <a:xfrm>
            <a:off x="3733677" y="2336291"/>
            <a:ext cx="494030" cy="1374775"/>
          </a:xfrm>
          <a:custGeom>
            <a:avLst/>
            <a:gdLst/>
            <a:ahLst/>
            <a:cxnLst/>
            <a:rect l="l" t="t" r="r" b="b"/>
            <a:pathLst>
              <a:path w="494029" h="1374775">
                <a:moveTo>
                  <a:pt x="0" y="0"/>
                </a:moveTo>
                <a:lnTo>
                  <a:pt x="0" y="516635"/>
                </a:lnTo>
                <a:lnTo>
                  <a:pt x="493775" y="516635"/>
                </a:lnTo>
                <a:lnTo>
                  <a:pt x="493775" y="0"/>
                </a:lnTo>
                <a:lnTo>
                  <a:pt x="0" y="0"/>
                </a:lnTo>
                <a:close/>
              </a:path>
              <a:path w="494029" h="1374775">
                <a:moveTo>
                  <a:pt x="0" y="859535"/>
                </a:moveTo>
                <a:lnTo>
                  <a:pt x="0" y="1374647"/>
                </a:lnTo>
                <a:lnTo>
                  <a:pt x="493775" y="1374647"/>
                </a:lnTo>
                <a:lnTo>
                  <a:pt x="493775" y="859535"/>
                </a:lnTo>
                <a:lnTo>
                  <a:pt x="0" y="859535"/>
                </a:lnTo>
                <a:close/>
              </a:path>
            </a:pathLst>
          </a:custGeom>
          <a:ln w="9524">
            <a:solidFill>
              <a:srgbClr val="000000"/>
            </a:solidFill>
          </a:ln>
        </p:spPr>
        <p:txBody>
          <a:bodyPr wrap="square" lIns="0" tIns="0" rIns="0" bIns="0" rtlCol="0"/>
          <a:lstStyle/>
          <a:p>
            <a:endParaRPr/>
          </a:p>
        </p:txBody>
      </p:sp>
      <p:sp>
        <p:nvSpPr>
          <p:cNvPr id="5" name="object 5"/>
          <p:cNvSpPr txBox="1"/>
          <p:nvPr/>
        </p:nvSpPr>
        <p:spPr>
          <a:xfrm>
            <a:off x="3846460" y="3228846"/>
            <a:ext cx="267335" cy="269240"/>
          </a:xfrm>
          <a:prstGeom prst="rect">
            <a:avLst/>
          </a:prstGeom>
        </p:spPr>
        <p:txBody>
          <a:bodyPr vert="horz" wrap="square" lIns="0" tIns="12065" rIns="0" bIns="0" rtlCol="0">
            <a:spAutoFit/>
          </a:bodyPr>
          <a:lstStyle/>
          <a:p>
            <a:pPr marL="38100">
              <a:lnSpc>
                <a:spcPct val="100000"/>
              </a:lnSpc>
              <a:spcBef>
                <a:spcPts val="95"/>
              </a:spcBef>
            </a:pPr>
            <a:r>
              <a:rPr sz="1600" spc="-25" dirty="0">
                <a:latin typeface="Arial MT"/>
                <a:cs typeface="Arial MT"/>
              </a:rPr>
              <a:t>a</a:t>
            </a:r>
            <a:r>
              <a:rPr sz="1650" spc="-37" baseline="-20202" dirty="0">
                <a:latin typeface="Arial MT"/>
                <a:cs typeface="Arial MT"/>
              </a:rPr>
              <a:t>2</a:t>
            </a:r>
            <a:endParaRPr sz="1650" baseline="-20202">
              <a:latin typeface="Arial MT"/>
              <a:cs typeface="Arial MT"/>
            </a:endParaRPr>
          </a:p>
        </p:txBody>
      </p:sp>
      <p:sp>
        <p:nvSpPr>
          <p:cNvPr id="6" name="object 6"/>
          <p:cNvSpPr/>
          <p:nvPr/>
        </p:nvSpPr>
        <p:spPr>
          <a:xfrm>
            <a:off x="3733677" y="4055364"/>
            <a:ext cx="494030" cy="516890"/>
          </a:xfrm>
          <a:custGeom>
            <a:avLst/>
            <a:gdLst/>
            <a:ahLst/>
            <a:cxnLst/>
            <a:rect l="l" t="t" r="r" b="b"/>
            <a:pathLst>
              <a:path w="494029" h="516889">
                <a:moveTo>
                  <a:pt x="0" y="0"/>
                </a:moveTo>
                <a:lnTo>
                  <a:pt x="0" y="516635"/>
                </a:lnTo>
                <a:lnTo>
                  <a:pt x="493775" y="516635"/>
                </a:lnTo>
                <a:lnTo>
                  <a:pt x="493775" y="0"/>
                </a:lnTo>
                <a:lnTo>
                  <a:pt x="0" y="0"/>
                </a:lnTo>
                <a:close/>
              </a:path>
            </a:pathLst>
          </a:custGeom>
          <a:ln w="9524">
            <a:solidFill>
              <a:srgbClr val="000000"/>
            </a:solidFill>
          </a:ln>
        </p:spPr>
        <p:txBody>
          <a:bodyPr wrap="square" lIns="0" tIns="0" rIns="0" bIns="0" rtlCol="0"/>
          <a:lstStyle/>
          <a:p>
            <a:endParaRPr/>
          </a:p>
        </p:txBody>
      </p:sp>
      <p:sp>
        <p:nvSpPr>
          <p:cNvPr id="7" name="object 7"/>
          <p:cNvSpPr txBox="1"/>
          <p:nvPr/>
        </p:nvSpPr>
        <p:spPr>
          <a:xfrm>
            <a:off x="3846460" y="4089906"/>
            <a:ext cx="267335" cy="269240"/>
          </a:xfrm>
          <a:prstGeom prst="rect">
            <a:avLst/>
          </a:prstGeom>
        </p:spPr>
        <p:txBody>
          <a:bodyPr vert="horz" wrap="square" lIns="0" tIns="12065" rIns="0" bIns="0" rtlCol="0">
            <a:spAutoFit/>
          </a:bodyPr>
          <a:lstStyle/>
          <a:p>
            <a:pPr marL="38100">
              <a:lnSpc>
                <a:spcPct val="100000"/>
              </a:lnSpc>
              <a:spcBef>
                <a:spcPts val="95"/>
              </a:spcBef>
            </a:pPr>
            <a:r>
              <a:rPr sz="1600" spc="-25" dirty="0">
                <a:latin typeface="Arial MT"/>
                <a:cs typeface="Arial MT"/>
              </a:rPr>
              <a:t>a</a:t>
            </a:r>
            <a:r>
              <a:rPr sz="1650" spc="-37" baseline="-20202" dirty="0">
                <a:latin typeface="Arial MT"/>
                <a:cs typeface="Arial MT"/>
              </a:rPr>
              <a:t>3</a:t>
            </a:r>
            <a:endParaRPr sz="1650" baseline="-20202">
              <a:latin typeface="Arial MT"/>
              <a:cs typeface="Arial MT"/>
            </a:endParaRPr>
          </a:p>
        </p:txBody>
      </p:sp>
      <p:sp>
        <p:nvSpPr>
          <p:cNvPr id="8" name="object 8"/>
          <p:cNvSpPr/>
          <p:nvPr/>
        </p:nvSpPr>
        <p:spPr>
          <a:xfrm>
            <a:off x="3733677" y="4916423"/>
            <a:ext cx="494030" cy="515620"/>
          </a:xfrm>
          <a:custGeom>
            <a:avLst/>
            <a:gdLst/>
            <a:ahLst/>
            <a:cxnLst/>
            <a:rect l="l" t="t" r="r" b="b"/>
            <a:pathLst>
              <a:path w="494029" h="515620">
                <a:moveTo>
                  <a:pt x="0" y="0"/>
                </a:moveTo>
                <a:lnTo>
                  <a:pt x="0" y="515111"/>
                </a:lnTo>
                <a:lnTo>
                  <a:pt x="493775" y="515111"/>
                </a:lnTo>
                <a:lnTo>
                  <a:pt x="493775" y="0"/>
                </a:lnTo>
                <a:lnTo>
                  <a:pt x="0" y="0"/>
                </a:lnTo>
                <a:close/>
              </a:path>
            </a:pathLst>
          </a:custGeom>
          <a:ln w="9524">
            <a:solidFill>
              <a:srgbClr val="000000"/>
            </a:solidFill>
          </a:ln>
        </p:spPr>
        <p:txBody>
          <a:bodyPr wrap="square" lIns="0" tIns="0" rIns="0" bIns="0" rtlCol="0"/>
          <a:lstStyle/>
          <a:p>
            <a:endParaRPr/>
          </a:p>
        </p:txBody>
      </p:sp>
      <p:sp>
        <p:nvSpPr>
          <p:cNvPr id="9" name="object 9"/>
          <p:cNvSpPr txBox="1"/>
          <p:nvPr/>
        </p:nvSpPr>
        <p:spPr>
          <a:xfrm>
            <a:off x="3846460" y="4950966"/>
            <a:ext cx="267335" cy="269240"/>
          </a:xfrm>
          <a:prstGeom prst="rect">
            <a:avLst/>
          </a:prstGeom>
        </p:spPr>
        <p:txBody>
          <a:bodyPr vert="horz" wrap="square" lIns="0" tIns="12065" rIns="0" bIns="0" rtlCol="0">
            <a:spAutoFit/>
          </a:bodyPr>
          <a:lstStyle/>
          <a:p>
            <a:pPr marL="38100">
              <a:lnSpc>
                <a:spcPct val="100000"/>
              </a:lnSpc>
              <a:spcBef>
                <a:spcPts val="95"/>
              </a:spcBef>
            </a:pPr>
            <a:r>
              <a:rPr sz="1600" spc="-25" dirty="0">
                <a:latin typeface="Arial MT"/>
                <a:cs typeface="Arial MT"/>
              </a:rPr>
              <a:t>a</a:t>
            </a:r>
            <a:r>
              <a:rPr sz="1650" spc="-37" baseline="-20202" dirty="0">
                <a:latin typeface="Arial MT"/>
                <a:cs typeface="Arial MT"/>
              </a:rPr>
              <a:t>4</a:t>
            </a:r>
            <a:endParaRPr sz="1650" baseline="-20202">
              <a:latin typeface="Arial MT"/>
              <a:cs typeface="Arial MT"/>
            </a:endParaRPr>
          </a:p>
        </p:txBody>
      </p:sp>
      <p:sp>
        <p:nvSpPr>
          <p:cNvPr id="10" name="object 10"/>
          <p:cNvSpPr/>
          <p:nvPr/>
        </p:nvSpPr>
        <p:spPr>
          <a:xfrm>
            <a:off x="6572890" y="2336291"/>
            <a:ext cx="495300" cy="516890"/>
          </a:xfrm>
          <a:custGeom>
            <a:avLst/>
            <a:gdLst/>
            <a:ahLst/>
            <a:cxnLst/>
            <a:rect l="l" t="t" r="r" b="b"/>
            <a:pathLst>
              <a:path w="495300" h="516889">
                <a:moveTo>
                  <a:pt x="0" y="0"/>
                </a:moveTo>
                <a:lnTo>
                  <a:pt x="0" y="516635"/>
                </a:lnTo>
                <a:lnTo>
                  <a:pt x="495299" y="516635"/>
                </a:lnTo>
                <a:lnTo>
                  <a:pt x="495299" y="0"/>
                </a:lnTo>
                <a:lnTo>
                  <a:pt x="0" y="0"/>
                </a:lnTo>
                <a:close/>
              </a:path>
            </a:pathLst>
          </a:custGeom>
          <a:ln w="9524">
            <a:solidFill>
              <a:srgbClr val="000000"/>
            </a:solidFill>
          </a:ln>
        </p:spPr>
        <p:txBody>
          <a:bodyPr wrap="square" lIns="0" tIns="0" rIns="0" bIns="0" rtlCol="0"/>
          <a:lstStyle/>
          <a:p>
            <a:endParaRPr/>
          </a:p>
        </p:txBody>
      </p:sp>
      <p:sp>
        <p:nvSpPr>
          <p:cNvPr id="11" name="object 11"/>
          <p:cNvSpPr txBox="1"/>
          <p:nvPr/>
        </p:nvSpPr>
        <p:spPr>
          <a:xfrm>
            <a:off x="3833760" y="2370835"/>
            <a:ext cx="3133725" cy="269240"/>
          </a:xfrm>
          <a:prstGeom prst="rect">
            <a:avLst/>
          </a:prstGeom>
        </p:spPr>
        <p:txBody>
          <a:bodyPr vert="horz" wrap="square" lIns="0" tIns="12065" rIns="0" bIns="0" rtlCol="0">
            <a:spAutoFit/>
          </a:bodyPr>
          <a:lstStyle/>
          <a:p>
            <a:pPr marL="50800">
              <a:lnSpc>
                <a:spcPct val="100000"/>
              </a:lnSpc>
              <a:spcBef>
                <a:spcPts val="95"/>
              </a:spcBef>
              <a:tabLst>
                <a:tab pos="393065" algn="l"/>
                <a:tab pos="2791460" algn="l"/>
              </a:tabLst>
            </a:pPr>
            <a:r>
              <a:rPr sz="1600" spc="-25" dirty="0">
                <a:latin typeface="Arial MT"/>
                <a:cs typeface="Arial MT"/>
              </a:rPr>
              <a:t>a</a:t>
            </a:r>
            <a:r>
              <a:rPr sz="1650" spc="-37" baseline="-20202" dirty="0">
                <a:latin typeface="Arial MT"/>
                <a:cs typeface="Arial MT"/>
              </a:rPr>
              <a:t>1</a:t>
            </a:r>
            <a:r>
              <a:rPr sz="1650" baseline="-20202" dirty="0">
                <a:latin typeface="Arial MT"/>
                <a:cs typeface="Arial MT"/>
              </a:rPr>
              <a:t>	</a:t>
            </a:r>
            <a:r>
              <a:rPr sz="1600" u="sng" dirty="0">
                <a:uFill>
                  <a:solidFill>
                    <a:srgbClr val="000000"/>
                  </a:solidFill>
                </a:uFill>
                <a:latin typeface="Arial MT"/>
                <a:cs typeface="Arial MT"/>
              </a:rPr>
              <a:t>	</a:t>
            </a:r>
            <a:r>
              <a:rPr sz="1600" spc="500" dirty="0">
                <a:latin typeface="Arial MT"/>
                <a:cs typeface="Arial MT"/>
              </a:rPr>
              <a:t> </a:t>
            </a:r>
            <a:r>
              <a:rPr sz="1600" dirty="0">
                <a:latin typeface="Arial MT"/>
                <a:cs typeface="Arial MT"/>
              </a:rPr>
              <a:t>b</a:t>
            </a:r>
            <a:r>
              <a:rPr sz="1650" baseline="-20202" dirty="0">
                <a:latin typeface="Arial MT"/>
                <a:cs typeface="Arial MT"/>
              </a:rPr>
              <a:t>1</a:t>
            </a:r>
            <a:endParaRPr sz="1650" baseline="-20202">
              <a:latin typeface="Arial MT"/>
              <a:cs typeface="Arial MT"/>
            </a:endParaRPr>
          </a:p>
        </p:txBody>
      </p:sp>
      <p:sp>
        <p:nvSpPr>
          <p:cNvPr id="12" name="object 12"/>
          <p:cNvSpPr/>
          <p:nvPr/>
        </p:nvSpPr>
        <p:spPr>
          <a:xfrm>
            <a:off x="6572890" y="3195827"/>
            <a:ext cx="495300" cy="515620"/>
          </a:xfrm>
          <a:custGeom>
            <a:avLst/>
            <a:gdLst/>
            <a:ahLst/>
            <a:cxnLst/>
            <a:rect l="l" t="t" r="r" b="b"/>
            <a:pathLst>
              <a:path w="495300" h="515620">
                <a:moveTo>
                  <a:pt x="0" y="0"/>
                </a:moveTo>
                <a:lnTo>
                  <a:pt x="0" y="515111"/>
                </a:lnTo>
                <a:lnTo>
                  <a:pt x="495299" y="515111"/>
                </a:lnTo>
                <a:lnTo>
                  <a:pt x="495299" y="0"/>
                </a:lnTo>
                <a:lnTo>
                  <a:pt x="0" y="0"/>
                </a:lnTo>
                <a:close/>
              </a:path>
            </a:pathLst>
          </a:custGeom>
          <a:ln w="9524">
            <a:solidFill>
              <a:srgbClr val="000000"/>
            </a:solidFill>
          </a:ln>
        </p:spPr>
        <p:txBody>
          <a:bodyPr wrap="square" lIns="0" tIns="0" rIns="0" bIns="0" rtlCol="0"/>
          <a:lstStyle/>
          <a:p>
            <a:endParaRPr/>
          </a:p>
        </p:txBody>
      </p:sp>
      <p:sp>
        <p:nvSpPr>
          <p:cNvPr id="13" name="object 13"/>
          <p:cNvSpPr txBox="1"/>
          <p:nvPr/>
        </p:nvSpPr>
        <p:spPr>
          <a:xfrm>
            <a:off x="6687194" y="3228846"/>
            <a:ext cx="267335" cy="269240"/>
          </a:xfrm>
          <a:prstGeom prst="rect">
            <a:avLst/>
          </a:prstGeom>
        </p:spPr>
        <p:txBody>
          <a:bodyPr vert="horz" wrap="square" lIns="0" tIns="12065" rIns="0" bIns="0" rtlCol="0">
            <a:spAutoFit/>
          </a:bodyPr>
          <a:lstStyle/>
          <a:p>
            <a:pPr marL="38100">
              <a:lnSpc>
                <a:spcPct val="100000"/>
              </a:lnSpc>
              <a:spcBef>
                <a:spcPts val="95"/>
              </a:spcBef>
            </a:pPr>
            <a:r>
              <a:rPr sz="1600" spc="-25" dirty="0">
                <a:latin typeface="Arial MT"/>
                <a:cs typeface="Arial MT"/>
              </a:rPr>
              <a:t>b</a:t>
            </a:r>
            <a:r>
              <a:rPr sz="1650" spc="-37" baseline="-20202" dirty="0">
                <a:latin typeface="Arial MT"/>
                <a:cs typeface="Arial MT"/>
              </a:rPr>
              <a:t>2</a:t>
            </a:r>
            <a:endParaRPr sz="1650" baseline="-20202">
              <a:latin typeface="Arial MT"/>
              <a:cs typeface="Arial MT"/>
            </a:endParaRPr>
          </a:p>
        </p:txBody>
      </p:sp>
      <p:sp>
        <p:nvSpPr>
          <p:cNvPr id="14" name="object 14"/>
          <p:cNvSpPr/>
          <p:nvPr/>
        </p:nvSpPr>
        <p:spPr>
          <a:xfrm>
            <a:off x="6572890" y="4055364"/>
            <a:ext cx="495300" cy="516890"/>
          </a:xfrm>
          <a:custGeom>
            <a:avLst/>
            <a:gdLst/>
            <a:ahLst/>
            <a:cxnLst/>
            <a:rect l="l" t="t" r="r" b="b"/>
            <a:pathLst>
              <a:path w="495300" h="516889">
                <a:moveTo>
                  <a:pt x="0" y="0"/>
                </a:moveTo>
                <a:lnTo>
                  <a:pt x="0" y="516635"/>
                </a:lnTo>
                <a:lnTo>
                  <a:pt x="495299" y="516635"/>
                </a:lnTo>
                <a:lnTo>
                  <a:pt x="495299" y="0"/>
                </a:lnTo>
                <a:lnTo>
                  <a:pt x="0" y="0"/>
                </a:lnTo>
                <a:close/>
              </a:path>
            </a:pathLst>
          </a:custGeom>
          <a:ln w="9524">
            <a:solidFill>
              <a:srgbClr val="000000"/>
            </a:solidFill>
          </a:ln>
        </p:spPr>
        <p:txBody>
          <a:bodyPr wrap="square" lIns="0" tIns="0" rIns="0" bIns="0" rtlCol="0"/>
          <a:lstStyle/>
          <a:p>
            <a:endParaRPr/>
          </a:p>
        </p:txBody>
      </p:sp>
      <p:sp>
        <p:nvSpPr>
          <p:cNvPr id="15" name="object 15"/>
          <p:cNvSpPr txBox="1"/>
          <p:nvPr/>
        </p:nvSpPr>
        <p:spPr>
          <a:xfrm>
            <a:off x="6687194" y="4089906"/>
            <a:ext cx="267335" cy="269240"/>
          </a:xfrm>
          <a:prstGeom prst="rect">
            <a:avLst/>
          </a:prstGeom>
        </p:spPr>
        <p:txBody>
          <a:bodyPr vert="horz" wrap="square" lIns="0" tIns="12065" rIns="0" bIns="0" rtlCol="0">
            <a:spAutoFit/>
          </a:bodyPr>
          <a:lstStyle/>
          <a:p>
            <a:pPr marL="38100">
              <a:lnSpc>
                <a:spcPct val="100000"/>
              </a:lnSpc>
              <a:spcBef>
                <a:spcPts val="95"/>
              </a:spcBef>
            </a:pPr>
            <a:r>
              <a:rPr sz="1600" spc="-25" dirty="0">
                <a:latin typeface="Arial MT"/>
                <a:cs typeface="Arial MT"/>
              </a:rPr>
              <a:t>b</a:t>
            </a:r>
            <a:r>
              <a:rPr sz="1650" spc="-37" baseline="-20202" dirty="0">
                <a:latin typeface="Arial MT"/>
                <a:cs typeface="Arial MT"/>
              </a:rPr>
              <a:t>3</a:t>
            </a:r>
            <a:endParaRPr sz="1650" baseline="-20202">
              <a:latin typeface="Arial MT"/>
              <a:cs typeface="Arial MT"/>
            </a:endParaRPr>
          </a:p>
        </p:txBody>
      </p:sp>
      <p:sp>
        <p:nvSpPr>
          <p:cNvPr id="16" name="object 16"/>
          <p:cNvSpPr/>
          <p:nvPr/>
        </p:nvSpPr>
        <p:spPr>
          <a:xfrm>
            <a:off x="6572890" y="4916423"/>
            <a:ext cx="495300" cy="515620"/>
          </a:xfrm>
          <a:custGeom>
            <a:avLst/>
            <a:gdLst/>
            <a:ahLst/>
            <a:cxnLst/>
            <a:rect l="l" t="t" r="r" b="b"/>
            <a:pathLst>
              <a:path w="495300" h="515620">
                <a:moveTo>
                  <a:pt x="0" y="0"/>
                </a:moveTo>
                <a:lnTo>
                  <a:pt x="0" y="515111"/>
                </a:lnTo>
                <a:lnTo>
                  <a:pt x="495299" y="515111"/>
                </a:lnTo>
                <a:lnTo>
                  <a:pt x="495299" y="0"/>
                </a:lnTo>
                <a:lnTo>
                  <a:pt x="0" y="0"/>
                </a:lnTo>
                <a:close/>
              </a:path>
            </a:pathLst>
          </a:custGeom>
          <a:ln w="9524">
            <a:solidFill>
              <a:srgbClr val="000000"/>
            </a:solidFill>
          </a:ln>
        </p:spPr>
        <p:txBody>
          <a:bodyPr wrap="square" lIns="0" tIns="0" rIns="0" bIns="0" rtlCol="0"/>
          <a:lstStyle/>
          <a:p>
            <a:endParaRPr/>
          </a:p>
        </p:txBody>
      </p:sp>
      <p:sp>
        <p:nvSpPr>
          <p:cNvPr id="17" name="object 17"/>
          <p:cNvSpPr txBox="1"/>
          <p:nvPr/>
        </p:nvSpPr>
        <p:spPr>
          <a:xfrm>
            <a:off x="6687194" y="4950966"/>
            <a:ext cx="267335" cy="269240"/>
          </a:xfrm>
          <a:prstGeom prst="rect">
            <a:avLst/>
          </a:prstGeom>
        </p:spPr>
        <p:txBody>
          <a:bodyPr vert="horz" wrap="square" lIns="0" tIns="12065" rIns="0" bIns="0" rtlCol="0">
            <a:spAutoFit/>
          </a:bodyPr>
          <a:lstStyle/>
          <a:p>
            <a:pPr marL="38100">
              <a:lnSpc>
                <a:spcPct val="100000"/>
              </a:lnSpc>
              <a:spcBef>
                <a:spcPts val="95"/>
              </a:spcBef>
            </a:pPr>
            <a:r>
              <a:rPr sz="1600" spc="-25" dirty="0">
                <a:latin typeface="Arial MT"/>
                <a:cs typeface="Arial MT"/>
              </a:rPr>
              <a:t>b</a:t>
            </a:r>
            <a:r>
              <a:rPr sz="1650" spc="-37" baseline="-20202" dirty="0">
                <a:latin typeface="Arial MT"/>
                <a:cs typeface="Arial MT"/>
              </a:rPr>
              <a:t>4</a:t>
            </a:r>
            <a:endParaRPr sz="1650" baseline="-20202">
              <a:latin typeface="Arial MT"/>
              <a:cs typeface="Arial MT"/>
            </a:endParaRPr>
          </a:p>
        </p:txBody>
      </p:sp>
      <p:sp>
        <p:nvSpPr>
          <p:cNvPr id="18" name="object 18"/>
          <p:cNvSpPr/>
          <p:nvPr/>
        </p:nvSpPr>
        <p:spPr>
          <a:xfrm>
            <a:off x="3060069" y="1991867"/>
            <a:ext cx="4715510" cy="3782695"/>
          </a:xfrm>
          <a:custGeom>
            <a:avLst/>
            <a:gdLst/>
            <a:ahLst/>
            <a:cxnLst/>
            <a:rect l="l" t="t" r="r" b="b"/>
            <a:pathLst>
              <a:path w="4715509" h="3782695">
                <a:moveTo>
                  <a:pt x="926591" y="0"/>
                </a:moveTo>
                <a:lnTo>
                  <a:pt x="864399" y="4190"/>
                </a:lnTo>
                <a:lnTo>
                  <a:pt x="803310" y="16585"/>
                </a:lnTo>
                <a:lnTo>
                  <a:pt x="743456" y="36919"/>
                </a:lnTo>
                <a:lnTo>
                  <a:pt x="684964" y="64927"/>
                </a:lnTo>
                <a:lnTo>
                  <a:pt x="627964" y="100342"/>
                </a:lnTo>
                <a:lnTo>
                  <a:pt x="572586" y="142900"/>
                </a:lnTo>
                <a:lnTo>
                  <a:pt x="518959" y="192335"/>
                </a:lnTo>
                <a:lnTo>
                  <a:pt x="467213" y="248381"/>
                </a:lnTo>
                <a:lnTo>
                  <a:pt x="442085" y="278800"/>
                </a:lnTo>
                <a:lnTo>
                  <a:pt x="417475" y="310773"/>
                </a:lnTo>
                <a:lnTo>
                  <a:pt x="393401" y="344265"/>
                </a:lnTo>
                <a:lnTo>
                  <a:pt x="369877" y="379245"/>
                </a:lnTo>
                <a:lnTo>
                  <a:pt x="346921" y="415678"/>
                </a:lnTo>
                <a:lnTo>
                  <a:pt x="324547" y="453532"/>
                </a:lnTo>
                <a:lnTo>
                  <a:pt x="302773" y="492773"/>
                </a:lnTo>
                <a:lnTo>
                  <a:pt x="281615" y="533369"/>
                </a:lnTo>
                <a:lnTo>
                  <a:pt x="261088" y="575285"/>
                </a:lnTo>
                <a:lnTo>
                  <a:pt x="241209" y="618489"/>
                </a:lnTo>
                <a:lnTo>
                  <a:pt x="221995" y="662948"/>
                </a:lnTo>
                <a:lnTo>
                  <a:pt x="203460" y="708628"/>
                </a:lnTo>
                <a:lnTo>
                  <a:pt x="185622" y="755497"/>
                </a:lnTo>
                <a:lnTo>
                  <a:pt x="168497" y="803520"/>
                </a:lnTo>
                <a:lnTo>
                  <a:pt x="152100" y="852666"/>
                </a:lnTo>
                <a:lnTo>
                  <a:pt x="136448" y="902900"/>
                </a:lnTo>
                <a:lnTo>
                  <a:pt x="121557" y="954189"/>
                </a:lnTo>
                <a:lnTo>
                  <a:pt x="107443" y="1006501"/>
                </a:lnTo>
                <a:lnTo>
                  <a:pt x="94123" y="1059802"/>
                </a:lnTo>
                <a:lnTo>
                  <a:pt x="81612" y="1114058"/>
                </a:lnTo>
                <a:lnTo>
                  <a:pt x="69928" y="1169238"/>
                </a:lnTo>
                <a:lnTo>
                  <a:pt x="59085" y="1225307"/>
                </a:lnTo>
                <a:lnTo>
                  <a:pt x="49100" y="1282232"/>
                </a:lnTo>
                <a:lnTo>
                  <a:pt x="39989" y="1339981"/>
                </a:lnTo>
                <a:lnTo>
                  <a:pt x="31768" y="1398519"/>
                </a:lnTo>
                <a:lnTo>
                  <a:pt x="24455" y="1457814"/>
                </a:lnTo>
                <a:lnTo>
                  <a:pt x="18064" y="1517833"/>
                </a:lnTo>
                <a:lnTo>
                  <a:pt x="12611" y="1578542"/>
                </a:lnTo>
                <a:lnTo>
                  <a:pt x="8114" y="1639909"/>
                </a:lnTo>
                <a:lnTo>
                  <a:pt x="4588" y="1701900"/>
                </a:lnTo>
                <a:lnTo>
                  <a:pt x="2050" y="1764481"/>
                </a:lnTo>
                <a:lnTo>
                  <a:pt x="515" y="1827620"/>
                </a:lnTo>
                <a:lnTo>
                  <a:pt x="0" y="1891283"/>
                </a:lnTo>
                <a:lnTo>
                  <a:pt x="515" y="1955037"/>
                </a:lnTo>
                <a:lnTo>
                  <a:pt x="2050" y="2018258"/>
                </a:lnTo>
                <a:lnTo>
                  <a:pt x="4588" y="2080914"/>
                </a:lnTo>
                <a:lnTo>
                  <a:pt x="8114" y="2142973"/>
                </a:lnTo>
                <a:lnTo>
                  <a:pt x="12611" y="2204401"/>
                </a:lnTo>
                <a:lnTo>
                  <a:pt x="18064" y="2265165"/>
                </a:lnTo>
                <a:lnTo>
                  <a:pt x="24455" y="2325232"/>
                </a:lnTo>
                <a:lnTo>
                  <a:pt x="31768" y="2384570"/>
                </a:lnTo>
                <a:lnTo>
                  <a:pt x="39989" y="2443146"/>
                </a:lnTo>
                <a:lnTo>
                  <a:pt x="49100" y="2500926"/>
                </a:lnTo>
                <a:lnTo>
                  <a:pt x="59085" y="2557877"/>
                </a:lnTo>
                <a:lnTo>
                  <a:pt x="69928" y="2613968"/>
                </a:lnTo>
                <a:lnTo>
                  <a:pt x="81612" y="2669163"/>
                </a:lnTo>
                <a:lnTo>
                  <a:pt x="94123" y="2723432"/>
                </a:lnTo>
                <a:lnTo>
                  <a:pt x="107443" y="2776740"/>
                </a:lnTo>
                <a:lnTo>
                  <a:pt x="121557" y="2829055"/>
                </a:lnTo>
                <a:lnTo>
                  <a:pt x="136448" y="2880344"/>
                </a:lnTo>
                <a:lnTo>
                  <a:pt x="152100" y="2930574"/>
                </a:lnTo>
                <a:lnTo>
                  <a:pt x="168497" y="2979711"/>
                </a:lnTo>
                <a:lnTo>
                  <a:pt x="185622" y="3027724"/>
                </a:lnTo>
                <a:lnTo>
                  <a:pt x="203460" y="3074578"/>
                </a:lnTo>
                <a:lnTo>
                  <a:pt x="221995" y="3120242"/>
                </a:lnTo>
                <a:lnTo>
                  <a:pt x="241209" y="3164682"/>
                </a:lnTo>
                <a:lnTo>
                  <a:pt x="261088" y="3207865"/>
                </a:lnTo>
                <a:lnTo>
                  <a:pt x="281615" y="3249758"/>
                </a:lnTo>
                <a:lnTo>
                  <a:pt x="302773" y="3290328"/>
                </a:lnTo>
                <a:lnTo>
                  <a:pt x="324547" y="3329543"/>
                </a:lnTo>
                <a:lnTo>
                  <a:pt x="346921" y="3367369"/>
                </a:lnTo>
                <a:lnTo>
                  <a:pt x="369877" y="3403773"/>
                </a:lnTo>
                <a:lnTo>
                  <a:pt x="393401" y="3438723"/>
                </a:lnTo>
                <a:lnTo>
                  <a:pt x="417475" y="3472185"/>
                </a:lnTo>
                <a:lnTo>
                  <a:pt x="442085" y="3504126"/>
                </a:lnTo>
                <a:lnTo>
                  <a:pt x="467213" y="3534515"/>
                </a:lnTo>
                <a:lnTo>
                  <a:pt x="492843" y="3563316"/>
                </a:lnTo>
                <a:lnTo>
                  <a:pt x="545546" y="3616029"/>
                </a:lnTo>
                <a:lnTo>
                  <a:pt x="600064" y="3662001"/>
                </a:lnTo>
                <a:lnTo>
                  <a:pt x="656269" y="3700968"/>
                </a:lnTo>
                <a:lnTo>
                  <a:pt x="714031" y="3732666"/>
                </a:lnTo>
                <a:lnTo>
                  <a:pt x="773221" y="3756833"/>
                </a:lnTo>
                <a:lnTo>
                  <a:pt x="833708" y="3773204"/>
                </a:lnTo>
                <a:lnTo>
                  <a:pt x="895365" y="3781516"/>
                </a:lnTo>
                <a:lnTo>
                  <a:pt x="926591" y="3782567"/>
                </a:lnTo>
                <a:lnTo>
                  <a:pt x="957728" y="3781516"/>
                </a:lnTo>
                <a:lnTo>
                  <a:pt x="1019228" y="3773204"/>
                </a:lnTo>
                <a:lnTo>
                  <a:pt x="1079586" y="3756833"/>
                </a:lnTo>
                <a:lnTo>
                  <a:pt x="1138672" y="3732666"/>
                </a:lnTo>
                <a:lnTo>
                  <a:pt x="1196354" y="3700968"/>
                </a:lnTo>
                <a:lnTo>
                  <a:pt x="1252501" y="3662001"/>
                </a:lnTo>
                <a:lnTo>
                  <a:pt x="1306982" y="3616029"/>
                </a:lnTo>
                <a:lnTo>
                  <a:pt x="1359666" y="3563316"/>
                </a:lnTo>
                <a:lnTo>
                  <a:pt x="1385293" y="3534515"/>
                </a:lnTo>
                <a:lnTo>
                  <a:pt x="1410422" y="3504126"/>
                </a:lnTo>
                <a:lnTo>
                  <a:pt x="1435035" y="3472185"/>
                </a:lnTo>
                <a:lnTo>
                  <a:pt x="1459118" y="3438723"/>
                </a:lnTo>
                <a:lnTo>
                  <a:pt x="1482652" y="3403773"/>
                </a:lnTo>
                <a:lnTo>
                  <a:pt x="1505623" y="3367369"/>
                </a:lnTo>
                <a:lnTo>
                  <a:pt x="1528013" y="3329543"/>
                </a:lnTo>
                <a:lnTo>
                  <a:pt x="1549806" y="3290328"/>
                </a:lnTo>
                <a:lnTo>
                  <a:pt x="1570985" y="3249758"/>
                </a:lnTo>
                <a:lnTo>
                  <a:pt x="1591535" y="3207865"/>
                </a:lnTo>
                <a:lnTo>
                  <a:pt x="1611439" y="3164682"/>
                </a:lnTo>
                <a:lnTo>
                  <a:pt x="1630680" y="3120242"/>
                </a:lnTo>
                <a:lnTo>
                  <a:pt x="1649243" y="3074578"/>
                </a:lnTo>
                <a:lnTo>
                  <a:pt x="1667110" y="3027724"/>
                </a:lnTo>
                <a:lnTo>
                  <a:pt x="1684266" y="2979711"/>
                </a:lnTo>
                <a:lnTo>
                  <a:pt x="1700693" y="2930574"/>
                </a:lnTo>
                <a:lnTo>
                  <a:pt x="1716376" y="2880344"/>
                </a:lnTo>
                <a:lnTo>
                  <a:pt x="1731298" y="2829055"/>
                </a:lnTo>
                <a:lnTo>
                  <a:pt x="1745442" y="2776740"/>
                </a:lnTo>
                <a:lnTo>
                  <a:pt x="1758793" y="2723432"/>
                </a:lnTo>
                <a:lnTo>
                  <a:pt x="1771334" y="2669163"/>
                </a:lnTo>
                <a:lnTo>
                  <a:pt x="1783048" y="2613968"/>
                </a:lnTo>
                <a:lnTo>
                  <a:pt x="1793920" y="2557877"/>
                </a:lnTo>
                <a:lnTo>
                  <a:pt x="1803932" y="2500926"/>
                </a:lnTo>
                <a:lnTo>
                  <a:pt x="1813068" y="2443146"/>
                </a:lnTo>
                <a:lnTo>
                  <a:pt x="1821313" y="2384570"/>
                </a:lnTo>
                <a:lnTo>
                  <a:pt x="1828648" y="2325232"/>
                </a:lnTo>
                <a:lnTo>
                  <a:pt x="1835059" y="2265165"/>
                </a:lnTo>
                <a:lnTo>
                  <a:pt x="1840529" y="2204401"/>
                </a:lnTo>
                <a:lnTo>
                  <a:pt x="1845041" y="2142973"/>
                </a:lnTo>
                <a:lnTo>
                  <a:pt x="1848579" y="2080914"/>
                </a:lnTo>
                <a:lnTo>
                  <a:pt x="1851126" y="2018258"/>
                </a:lnTo>
                <a:lnTo>
                  <a:pt x="1852666" y="1955037"/>
                </a:lnTo>
                <a:lnTo>
                  <a:pt x="1853183" y="1891283"/>
                </a:lnTo>
                <a:lnTo>
                  <a:pt x="1852666" y="1827620"/>
                </a:lnTo>
                <a:lnTo>
                  <a:pt x="1851126" y="1764481"/>
                </a:lnTo>
                <a:lnTo>
                  <a:pt x="1848579" y="1701900"/>
                </a:lnTo>
                <a:lnTo>
                  <a:pt x="1845041" y="1639909"/>
                </a:lnTo>
                <a:lnTo>
                  <a:pt x="1840529" y="1578542"/>
                </a:lnTo>
                <a:lnTo>
                  <a:pt x="1835059" y="1517833"/>
                </a:lnTo>
                <a:lnTo>
                  <a:pt x="1828648" y="1457814"/>
                </a:lnTo>
                <a:lnTo>
                  <a:pt x="1821313" y="1398519"/>
                </a:lnTo>
                <a:lnTo>
                  <a:pt x="1813068" y="1339981"/>
                </a:lnTo>
                <a:lnTo>
                  <a:pt x="1803932" y="1282232"/>
                </a:lnTo>
                <a:lnTo>
                  <a:pt x="1793920" y="1225307"/>
                </a:lnTo>
                <a:lnTo>
                  <a:pt x="1783048" y="1169238"/>
                </a:lnTo>
                <a:lnTo>
                  <a:pt x="1771334" y="1114058"/>
                </a:lnTo>
                <a:lnTo>
                  <a:pt x="1758793" y="1059802"/>
                </a:lnTo>
                <a:lnTo>
                  <a:pt x="1745442" y="1006501"/>
                </a:lnTo>
                <a:lnTo>
                  <a:pt x="1731298" y="954189"/>
                </a:lnTo>
                <a:lnTo>
                  <a:pt x="1716376" y="902900"/>
                </a:lnTo>
                <a:lnTo>
                  <a:pt x="1700693" y="852666"/>
                </a:lnTo>
                <a:lnTo>
                  <a:pt x="1684266" y="803520"/>
                </a:lnTo>
                <a:lnTo>
                  <a:pt x="1667110" y="755497"/>
                </a:lnTo>
                <a:lnTo>
                  <a:pt x="1649243" y="708628"/>
                </a:lnTo>
                <a:lnTo>
                  <a:pt x="1630680" y="662948"/>
                </a:lnTo>
                <a:lnTo>
                  <a:pt x="1611439" y="618489"/>
                </a:lnTo>
                <a:lnTo>
                  <a:pt x="1591535" y="575285"/>
                </a:lnTo>
                <a:lnTo>
                  <a:pt x="1570985" y="533369"/>
                </a:lnTo>
                <a:lnTo>
                  <a:pt x="1549806" y="492773"/>
                </a:lnTo>
                <a:lnTo>
                  <a:pt x="1528013" y="453532"/>
                </a:lnTo>
                <a:lnTo>
                  <a:pt x="1505623" y="415678"/>
                </a:lnTo>
                <a:lnTo>
                  <a:pt x="1482652" y="379245"/>
                </a:lnTo>
                <a:lnTo>
                  <a:pt x="1459118" y="344265"/>
                </a:lnTo>
                <a:lnTo>
                  <a:pt x="1435035" y="310773"/>
                </a:lnTo>
                <a:lnTo>
                  <a:pt x="1410422" y="278800"/>
                </a:lnTo>
                <a:lnTo>
                  <a:pt x="1385293" y="248381"/>
                </a:lnTo>
                <a:lnTo>
                  <a:pt x="1359666" y="219548"/>
                </a:lnTo>
                <a:lnTo>
                  <a:pt x="1306982" y="166774"/>
                </a:lnTo>
                <a:lnTo>
                  <a:pt x="1252501" y="120745"/>
                </a:lnTo>
                <a:lnTo>
                  <a:pt x="1196354" y="81725"/>
                </a:lnTo>
                <a:lnTo>
                  <a:pt x="1138672" y="49980"/>
                </a:lnTo>
                <a:lnTo>
                  <a:pt x="1079586" y="25777"/>
                </a:lnTo>
                <a:lnTo>
                  <a:pt x="1019228" y="9379"/>
                </a:lnTo>
                <a:lnTo>
                  <a:pt x="957728" y="1053"/>
                </a:lnTo>
                <a:lnTo>
                  <a:pt x="926591" y="0"/>
                </a:lnTo>
                <a:close/>
              </a:path>
              <a:path w="4715509" h="3782695">
                <a:moveTo>
                  <a:pt x="3788663" y="0"/>
                </a:moveTo>
                <a:lnTo>
                  <a:pt x="3726471" y="4190"/>
                </a:lnTo>
                <a:lnTo>
                  <a:pt x="3665382" y="16585"/>
                </a:lnTo>
                <a:lnTo>
                  <a:pt x="3605528" y="36919"/>
                </a:lnTo>
                <a:lnTo>
                  <a:pt x="3547036" y="64927"/>
                </a:lnTo>
                <a:lnTo>
                  <a:pt x="3490036" y="100342"/>
                </a:lnTo>
                <a:lnTo>
                  <a:pt x="3434658" y="142900"/>
                </a:lnTo>
                <a:lnTo>
                  <a:pt x="3381031" y="192335"/>
                </a:lnTo>
                <a:lnTo>
                  <a:pt x="3329284" y="248381"/>
                </a:lnTo>
                <a:lnTo>
                  <a:pt x="3304157" y="278800"/>
                </a:lnTo>
                <a:lnTo>
                  <a:pt x="3279547" y="310773"/>
                </a:lnTo>
                <a:lnTo>
                  <a:pt x="3255473" y="344265"/>
                </a:lnTo>
                <a:lnTo>
                  <a:pt x="3231949" y="379245"/>
                </a:lnTo>
                <a:lnTo>
                  <a:pt x="3208992" y="415678"/>
                </a:lnTo>
                <a:lnTo>
                  <a:pt x="3186619" y="453532"/>
                </a:lnTo>
                <a:lnTo>
                  <a:pt x="3164845" y="492773"/>
                </a:lnTo>
                <a:lnTo>
                  <a:pt x="3143687" y="533369"/>
                </a:lnTo>
                <a:lnTo>
                  <a:pt x="3123160" y="575285"/>
                </a:lnTo>
                <a:lnTo>
                  <a:pt x="3103281" y="618489"/>
                </a:lnTo>
                <a:lnTo>
                  <a:pt x="3084067" y="662948"/>
                </a:lnTo>
                <a:lnTo>
                  <a:pt x="3065532" y="708628"/>
                </a:lnTo>
                <a:lnTo>
                  <a:pt x="3047694" y="755497"/>
                </a:lnTo>
                <a:lnTo>
                  <a:pt x="3030568" y="803520"/>
                </a:lnTo>
                <a:lnTo>
                  <a:pt x="3014172" y="852666"/>
                </a:lnTo>
                <a:lnTo>
                  <a:pt x="2998520" y="902900"/>
                </a:lnTo>
                <a:lnTo>
                  <a:pt x="2983629" y="954189"/>
                </a:lnTo>
                <a:lnTo>
                  <a:pt x="2969515" y="1006501"/>
                </a:lnTo>
                <a:lnTo>
                  <a:pt x="2956195" y="1059802"/>
                </a:lnTo>
                <a:lnTo>
                  <a:pt x="2943684" y="1114058"/>
                </a:lnTo>
                <a:lnTo>
                  <a:pt x="2931999" y="1169238"/>
                </a:lnTo>
                <a:lnTo>
                  <a:pt x="2921156" y="1225307"/>
                </a:lnTo>
                <a:lnTo>
                  <a:pt x="2911171" y="1282232"/>
                </a:lnTo>
                <a:lnTo>
                  <a:pt x="2902061" y="1339981"/>
                </a:lnTo>
                <a:lnTo>
                  <a:pt x="2893840" y="1398519"/>
                </a:lnTo>
                <a:lnTo>
                  <a:pt x="2886527" y="1457814"/>
                </a:lnTo>
                <a:lnTo>
                  <a:pt x="2880135" y="1517833"/>
                </a:lnTo>
                <a:lnTo>
                  <a:pt x="2874683" y="1578542"/>
                </a:lnTo>
                <a:lnTo>
                  <a:pt x="2870186" y="1639909"/>
                </a:lnTo>
                <a:lnTo>
                  <a:pt x="2866660" y="1701900"/>
                </a:lnTo>
                <a:lnTo>
                  <a:pt x="2864122" y="1764481"/>
                </a:lnTo>
                <a:lnTo>
                  <a:pt x="2862587" y="1827620"/>
                </a:lnTo>
                <a:lnTo>
                  <a:pt x="2862071" y="1891283"/>
                </a:lnTo>
                <a:lnTo>
                  <a:pt x="2862587" y="1955037"/>
                </a:lnTo>
                <a:lnTo>
                  <a:pt x="2864122" y="2018258"/>
                </a:lnTo>
                <a:lnTo>
                  <a:pt x="2866660" y="2080914"/>
                </a:lnTo>
                <a:lnTo>
                  <a:pt x="2870186" y="2142973"/>
                </a:lnTo>
                <a:lnTo>
                  <a:pt x="2874683" y="2204401"/>
                </a:lnTo>
                <a:lnTo>
                  <a:pt x="2880135" y="2265165"/>
                </a:lnTo>
                <a:lnTo>
                  <a:pt x="2886527" y="2325232"/>
                </a:lnTo>
                <a:lnTo>
                  <a:pt x="2893840" y="2384570"/>
                </a:lnTo>
                <a:lnTo>
                  <a:pt x="2902061" y="2443146"/>
                </a:lnTo>
                <a:lnTo>
                  <a:pt x="2911171" y="2500926"/>
                </a:lnTo>
                <a:lnTo>
                  <a:pt x="2921156" y="2557877"/>
                </a:lnTo>
                <a:lnTo>
                  <a:pt x="2931999" y="2613968"/>
                </a:lnTo>
                <a:lnTo>
                  <a:pt x="2943684" y="2669163"/>
                </a:lnTo>
                <a:lnTo>
                  <a:pt x="2956195" y="2723432"/>
                </a:lnTo>
                <a:lnTo>
                  <a:pt x="2969515" y="2776740"/>
                </a:lnTo>
                <a:lnTo>
                  <a:pt x="2983629" y="2829055"/>
                </a:lnTo>
                <a:lnTo>
                  <a:pt x="2998520" y="2880344"/>
                </a:lnTo>
                <a:lnTo>
                  <a:pt x="3014172" y="2930574"/>
                </a:lnTo>
                <a:lnTo>
                  <a:pt x="3030568" y="2979711"/>
                </a:lnTo>
                <a:lnTo>
                  <a:pt x="3047694" y="3027724"/>
                </a:lnTo>
                <a:lnTo>
                  <a:pt x="3065532" y="3074578"/>
                </a:lnTo>
                <a:lnTo>
                  <a:pt x="3084067" y="3120242"/>
                </a:lnTo>
                <a:lnTo>
                  <a:pt x="3103281" y="3164682"/>
                </a:lnTo>
                <a:lnTo>
                  <a:pt x="3123160" y="3207865"/>
                </a:lnTo>
                <a:lnTo>
                  <a:pt x="3143687" y="3249758"/>
                </a:lnTo>
                <a:lnTo>
                  <a:pt x="3164845" y="3290328"/>
                </a:lnTo>
                <a:lnTo>
                  <a:pt x="3186619" y="3329543"/>
                </a:lnTo>
                <a:lnTo>
                  <a:pt x="3208992" y="3367369"/>
                </a:lnTo>
                <a:lnTo>
                  <a:pt x="3231949" y="3403773"/>
                </a:lnTo>
                <a:lnTo>
                  <a:pt x="3255473" y="3438723"/>
                </a:lnTo>
                <a:lnTo>
                  <a:pt x="3279547" y="3472185"/>
                </a:lnTo>
                <a:lnTo>
                  <a:pt x="3304157" y="3504126"/>
                </a:lnTo>
                <a:lnTo>
                  <a:pt x="3329284" y="3534515"/>
                </a:lnTo>
                <a:lnTo>
                  <a:pt x="3354915" y="3563316"/>
                </a:lnTo>
                <a:lnTo>
                  <a:pt x="3407618" y="3616029"/>
                </a:lnTo>
                <a:lnTo>
                  <a:pt x="3462136" y="3662001"/>
                </a:lnTo>
                <a:lnTo>
                  <a:pt x="3518341" y="3700968"/>
                </a:lnTo>
                <a:lnTo>
                  <a:pt x="3576103" y="3732666"/>
                </a:lnTo>
                <a:lnTo>
                  <a:pt x="3635293" y="3756833"/>
                </a:lnTo>
                <a:lnTo>
                  <a:pt x="3695780" y="3773204"/>
                </a:lnTo>
                <a:lnTo>
                  <a:pt x="3757437" y="3781516"/>
                </a:lnTo>
                <a:lnTo>
                  <a:pt x="3788663" y="3782567"/>
                </a:lnTo>
                <a:lnTo>
                  <a:pt x="3819890" y="3781516"/>
                </a:lnTo>
                <a:lnTo>
                  <a:pt x="3881546" y="3773204"/>
                </a:lnTo>
                <a:lnTo>
                  <a:pt x="3942034" y="3756833"/>
                </a:lnTo>
                <a:lnTo>
                  <a:pt x="4001224" y="3732666"/>
                </a:lnTo>
                <a:lnTo>
                  <a:pt x="4058986" y="3700968"/>
                </a:lnTo>
                <a:lnTo>
                  <a:pt x="4115190" y="3662001"/>
                </a:lnTo>
                <a:lnTo>
                  <a:pt x="4169709" y="3616029"/>
                </a:lnTo>
                <a:lnTo>
                  <a:pt x="4222412" y="3563316"/>
                </a:lnTo>
                <a:lnTo>
                  <a:pt x="4248042" y="3534515"/>
                </a:lnTo>
                <a:lnTo>
                  <a:pt x="4273170" y="3504126"/>
                </a:lnTo>
                <a:lnTo>
                  <a:pt x="4297780" y="3472185"/>
                </a:lnTo>
                <a:lnTo>
                  <a:pt x="4321854" y="3438723"/>
                </a:lnTo>
                <a:lnTo>
                  <a:pt x="4345378" y="3403773"/>
                </a:lnTo>
                <a:lnTo>
                  <a:pt x="4368334" y="3367369"/>
                </a:lnTo>
                <a:lnTo>
                  <a:pt x="4390708" y="3329543"/>
                </a:lnTo>
                <a:lnTo>
                  <a:pt x="4412482" y="3290328"/>
                </a:lnTo>
                <a:lnTo>
                  <a:pt x="4433640" y="3249758"/>
                </a:lnTo>
                <a:lnTo>
                  <a:pt x="4454167" y="3207865"/>
                </a:lnTo>
                <a:lnTo>
                  <a:pt x="4474046" y="3164682"/>
                </a:lnTo>
                <a:lnTo>
                  <a:pt x="4493260" y="3120242"/>
                </a:lnTo>
                <a:lnTo>
                  <a:pt x="4511795" y="3074578"/>
                </a:lnTo>
                <a:lnTo>
                  <a:pt x="4529633" y="3027724"/>
                </a:lnTo>
                <a:lnTo>
                  <a:pt x="4546758" y="2979711"/>
                </a:lnTo>
                <a:lnTo>
                  <a:pt x="4563155" y="2930574"/>
                </a:lnTo>
                <a:lnTo>
                  <a:pt x="4578807" y="2880344"/>
                </a:lnTo>
                <a:lnTo>
                  <a:pt x="4593698" y="2829055"/>
                </a:lnTo>
                <a:lnTo>
                  <a:pt x="4607812" y="2776740"/>
                </a:lnTo>
                <a:lnTo>
                  <a:pt x="4621132" y="2723432"/>
                </a:lnTo>
                <a:lnTo>
                  <a:pt x="4633642" y="2669163"/>
                </a:lnTo>
                <a:lnTo>
                  <a:pt x="4645327" y="2613968"/>
                </a:lnTo>
                <a:lnTo>
                  <a:pt x="4656170" y="2557877"/>
                </a:lnTo>
                <a:lnTo>
                  <a:pt x="4666155" y="2500926"/>
                </a:lnTo>
                <a:lnTo>
                  <a:pt x="4675266" y="2443146"/>
                </a:lnTo>
                <a:lnTo>
                  <a:pt x="4683486" y="2384570"/>
                </a:lnTo>
                <a:lnTo>
                  <a:pt x="4690800" y="2325232"/>
                </a:lnTo>
                <a:lnTo>
                  <a:pt x="4697191" y="2265165"/>
                </a:lnTo>
                <a:lnTo>
                  <a:pt x="4702644" y="2204401"/>
                </a:lnTo>
                <a:lnTo>
                  <a:pt x="4707141" y="2142973"/>
                </a:lnTo>
                <a:lnTo>
                  <a:pt x="4710667" y="2080914"/>
                </a:lnTo>
                <a:lnTo>
                  <a:pt x="4713205" y="2018258"/>
                </a:lnTo>
                <a:lnTo>
                  <a:pt x="4714740" y="1955037"/>
                </a:lnTo>
                <a:lnTo>
                  <a:pt x="4715255" y="1891283"/>
                </a:lnTo>
                <a:lnTo>
                  <a:pt x="4714740" y="1827620"/>
                </a:lnTo>
                <a:lnTo>
                  <a:pt x="4713205" y="1764481"/>
                </a:lnTo>
                <a:lnTo>
                  <a:pt x="4710667" y="1701900"/>
                </a:lnTo>
                <a:lnTo>
                  <a:pt x="4707141" y="1639909"/>
                </a:lnTo>
                <a:lnTo>
                  <a:pt x="4702644" y="1578542"/>
                </a:lnTo>
                <a:lnTo>
                  <a:pt x="4697191" y="1517833"/>
                </a:lnTo>
                <a:lnTo>
                  <a:pt x="4690800" y="1457814"/>
                </a:lnTo>
                <a:lnTo>
                  <a:pt x="4683486" y="1398519"/>
                </a:lnTo>
                <a:lnTo>
                  <a:pt x="4675266" y="1339981"/>
                </a:lnTo>
                <a:lnTo>
                  <a:pt x="4666155" y="1282232"/>
                </a:lnTo>
                <a:lnTo>
                  <a:pt x="4656170" y="1225307"/>
                </a:lnTo>
                <a:lnTo>
                  <a:pt x="4645327" y="1169238"/>
                </a:lnTo>
                <a:lnTo>
                  <a:pt x="4633642" y="1114058"/>
                </a:lnTo>
                <a:lnTo>
                  <a:pt x="4621132" y="1059802"/>
                </a:lnTo>
                <a:lnTo>
                  <a:pt x="4607812" y="1006501"/>
                </a:lnTo>
                <a:lnTo>
                  <a:pt x="4593698" y="954189"/>
                </a:lnTo>
                <a:lnTo>
                  <a:pt x="4578807" y="902900"/>
                </a:lnTo>
                <a:lnTo>
                  <a:pt x="4563155" y="852666"/>
                </a:lnTo>
                <a:lnTo>
                  <a:pt x="4546758" y="803520"/>
                </a:lnTo>
                <a:lnTo>
                  <a:pt x="4529633" y="755497"/>
                </a:lnTo>
                <a:lnTo>
                  <a:pt x="4511795" y="708628"/>
                </a:lnTo>
                <a:lnTo>
                  <a:pt x="4493260" y="662948"/>
                </a:lnTo>
                <a:lnTo>
                  <a:pt x="4474046" y="618489"/>
                </a:lnTo>
                <a:lnTo>
                  <a:pt x="4454167" y="575285"/>
                </a:lnTo>
                <a:lnTo>
                  <a:pt x="4433640" y="533369"/>
                </a:lnTo>
                <a:lnTo>
                  <a:pt x="4412482" y="492773"/>
                </a:lnTo>
                <a:lnTo>
                  <a:pt x="4390708" y="453532"/>
                </a:lnTo>
                <a:lnTo>
                  <a:pt x="4368334" y="415678"/>
                </a:lnTo>
                <a:lnTo>
                  <a:pt x="4345378" y="379245"/>
                </a:lnTo>
                <a:lnTo>
                  <a:pt x="4321854" y="344265"/>
                </a:lnTo>
                <a:lnTo>
                  <a:pt x="4297780" y="310773"/>
                </a:lnTo>
                <a:lnTo>
                  <a:pt x="4273170" y="278800"/>
                </a:lnTo>
                <a:lnTo>
                  <a:pt x="4248042" y="248381"/>
                </a:lnTo>
                <a:lnTo>
                  <a:pt x="4222412" y="219548"/>
                </a:lnTo>
                <a:lnTo>
                  <a:pt x="4169709" y="166774"/>
                </a:lnTo>
                <a:lnTo>
                  <a:pt x="4115190" y="120745"/>
                </a:lnTo>
                <a:lnTo>
                  <a:pt x="4058986" y="81725"/>
                </a:lnTo>
                <a:lnTo>
                  <a:pt x="4001224" y="49980"/>
                </a:lnTo>
                <a:lnTo>
                  <a:pt x="3942034" y="25777"/>
                </a:lnTo>
                <a:lnTo>
                  <a:pt x="3881546" y="9379"/>
                </a:lnTo>
                <a:lnTo>
                  <a:pt x="3819890" y="1053"/>
                </a:lnTo>
                <a:lnTo>
                  <a:pt x="3788663" y="0"/>
                </a:lnTo>
                <a:close/>
              </a:path>
              <a:path w="4715509" h="3782695">
                <a:moveTo>
                  <a:pt x="1167383" y="1429511"/>
                </a:moveTo>
                <a:lnTo>
                  <a:pt x="3512819" y="569975"/>
                </a:lnTo>
              </a:path>
              <a:path w="4715509" h="3782695">
                <a:moveTo>
                  <a:pt x="1167383" y="2287523"/>
                </a:moveTo>
                <a:lnTo>
                  <a:pt x="3512819" y="2287523"/>
                </a:lnTo>
              </a:path>
              <a:path w="4715509" h="3782695">
                <a:moveTo>
                  <a:pt x="1167383" y="2289047"/>
                </a:moveTo>
                <a:lnTo>
                  <a:pt x="3512819" y="3171443"/>
                </a:lnTo>
              </a:path>
              <a:path w="4715509" h="3782695">
                <a:moveTo>
                  <a:pt x="1167383" y="569975"/>
                </a:moveTo>
                <a:lnTo>
                  <a:pt x="3512819" y="1431035"/>
                </a:lnTo>
              </a:path>
              <a:path w="4715509" h="3782695">
                <a:moveTo>
                  <a:pt x="1167383" y="3150107"/>
                </a:moveTo>
                <a:lnTo>
                  <a:pt x="3512819" y="2289047"/>
                </a:lnTo>
              </a:path>
            </a:pathLst>
          </a:custGeom>
          <a:ln w="9524">
            <a:solidFill>
              <a:srgbClr val="000000"/>
            </a:solidFill>
          </a:ln>
        </p:spPr>
        <p:txBody>
          <a:bodyPr wrap="square" lIns="0" tIns="0" rIns="0" bIns="0" rtlCol="0"/>
          <a:lstStyle/>
          <a:p>
            <a:endParaRPr/>
          </a:p>
        </p:txBody>
      </p:sp>
      <p:sp>
        <p:nvSpPr>
          <p:cNvPr id="19" name="object 19"/>
          <p:cNvSpPr txBox="1"/>
          <p:nvPr/>
        </p:nvSpPr>
        <p:spPr>
          <a:xfrm>
            <a:off x="3844428" y="6145781"/>
            <a:ext cx="274320" cy="269240"/>
          </a:xfrm>
          <a:prstGeom prst="rect">
            <a:avLst/>
          </a:prstGeom>
        </p:spPr>
        <p:txBody>
          <a:bodyPr vert="horz" wrap="square" lIns="0" tIns="12065" rIns="0" bIns="0" rtlCol="0">
            <a:spAutoFit/>
          </a:bodyPr>
          <a:lstStyle/>
          <a:p>
            <a:pPr marL="12700">
              <a:lnSpc>
                <a:spcPct val="100000"/>
              </a:lnSpc>
              <a:spcBef>
                <a:spcPts val="95"/>
              </a:spcBef>
            </a:pPr>
            <a:r>
              <a:rPr sz="1600" spc="-25" dirty="0">
                <a:latin typeface="Arial MT"/>
                <a:cs typeface="Arial MT"/>
              </a:rPr>
              <a:t>(a)</a:t>
            </a:r>
            <a:endParaRPr sz="1600">
              <a:latin typeface="Arial MT"/>
              <a:cs typeface="Arial MT"/>
            </a:endParaRPr>
          </a:p>
        </p:txBody>
      </p:sp>
      <p:sp>
        <p:nvSpPr>
          <p:cNvPr id="20" name="object 20"/>
          <p:cNvSpPr txBox="1"/>
          <p:nvPr/>
        </p:nvSpPr>
        <p:spPr>
          <a:xfrm>
            <a:off x="6683639" y="6148829"/>
            <a:ext cx="274320" cy="269240"/>
          </a:xfrm>
          <a:prstGeom prst="rect">
            <a:avLst/>
          </a:prstGeom>
        </p:spPr>
        <p:txBody>
          <a:bodyPr vert="horz" wrap="square" lIns="0" tIns="12065" rIns="0" bIns="0" rtlCol="0">
            <a:spAutoFit/>
          </a:bodyPr>
          <a:lstStyle/>
          <a:p>
            <a:pPr marL="12700">
              <a:lnSpc>
                <a:spcPct val="100000"/>
              </a:lnSpc>
              <a:spcBef>
                <a:spcPts val="95"/>
              </a:spcBef>
            </a:pPr>
            <a:r>
              <a:rPr sz="1600" spc="-25" dirty="0">
                <a:latin typeface="Arial MT"/>
                <a:cs typeface="Arial MT"/>
              </a:rPr>
              <a:t>(b)</a:t>
            </a:r>
            <a:endParaRPr sz="1600">
              <a:latin typeface="Arial MT"/>
              <a:cs typeface="Arial M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3700" y="425450"/>
            <a:ext cx="7705702" cy="1243289"/>
          </a:xfrm>
          <a:prstGeom prst="rect">
            <a:avLst/>
          </a:prstGeom>
        </p:spPr>
        <p:txBody>
          <a:bodyPr vert="horz" wrap="square" lIns="0" tIns="12065" rIns="0" bIns="0" rtlCol="0">
            <a:spAutoFit/>
          </a:bodyPr>
          <a:lstStyle/>
          <a:p>
            <a:pPr marL="2829560" marR="5080" indent="-2202180">
              <a:lnSpc>
                <a:spcPct val="100000"/>
              </a:lnSpc>
              <a:spcBef>
                <a:spcPts val="95"/>
              </a:spcBef>
            </a:pPr>
            <a:r>
              <a:rPr sz="4000" dirty="0"/>
              <a:t>Restricciones de asignación (mapping)</a:t>
            </a:r>
          </a:p>
        </p:txBody>
      </p:sp>
      <p:sp>
        <p:nvSpPr>
          <p:cNvPr id="3" name="object 3"/>
          <p:cNvSpPr txBox="1"/>
          <p:nvPr/>
        </p:nvSpPr>
        <p:spPr>
          <a:xfrm>
            <a:off x="1310008" y="1973071"/>
            <a:ext cx="8456291" cy="4778231"/>
          </a:xfrm>
          <a:prstGeom prst="rect">
            <a:avLst/>
          </a:prstGeom>
        </p:spPr>
        <p:txBody>
          <a:bodyPr vert="horz" wrap="square" lIns="0" tIns="10160" rIns="0" bIns="0" rtlCol="0">
            <a:spAutoFit/>
          </a:bodyPr>
          <a:lstStyle/>
          <a:p>
            <a:pPr marL="353695" marR="416559" indent="-341630">
              <a:lnSpc>
                <a:spcPct val="100400"/>
              </a:lnSpc>
              <a:spcBef>
                <a:spcPts val="80"/>
              </a:spcBef>
              <a:buChar char="•"/>
              <a:tabLst>
                <a:tab pos="354965" algn="l"/>
              </a:tabLst>
            </a:pPr>
            <a:r>
              <a:rPr sz="2800" dirty="0">
                <a:latin typeface="Arial MT"/>
                <a:cs typeface="Arial MT"/>
              </a:rPr>
              <a:t>La</a:t>
            </a:r>
            <a:r>
              <a:rPr sz="2800" spc="-70" dirty="0">
                <a:latin typeface="Arial MT"/>
                <a:cs typeface="Arial MT"/>
              </a:rPr>
              <a:t> </a:t>
            </a:r>
            <a:r>
              <a:rPr sz="2800" b="1" dirty="0">
                <a:latin typeface="Arial"/>
                <a:cs typeface="Arial"/>
              </a:rPr>
              <a:t>cardinalidad</a:t>
            </a:r>
            <a:r>
              <a:rPr sz="2800" b="1" spc="-80" dirty="0">
                <a:latin typeface="Arial"/>
                <a:cs typeface="Arial"/>
              </a:rPr>
              <a:t> </a:t>
            </a:r>
            <a:r>
              <a:rPr sz="2800" dirty="0">
                <a:latin typeface="Arial MT"/>
                <a:cs typeface="Arial MT"/>
              </a:rPr>
              <a:t>depende</a:t>
            </a:r>
            <a:r>
              <a:rPr sz="2800" spc="-70" dirty="0">
                <a:latin typeface="Arial MT"/>
                <a:cs typeface="Arial MT"/>
              </a:rPr>
              <a:t> </a:t>
            </a:r>
            <a:r>
              <a:rPr sz="2800" dirty="0">
                <a:latin typeface="Arial MT"/>
                <a:cs typeface="Arial MT"/>
              </a:rPr>
              <a:t>del</a:t>
            </a:r>
            <a:r>
              <a:rPr sz="2800" spc="-75" dirty="0">
                <a:latin typeface="Arial MT"/>
                <a:cs typeface="Arial MT"/>
              </a:rPr>
              <a:t> </a:t>
            </a:r>
            <a:r>
              <a:rPr sz="2800" dirty="0">
                <a:latin typeface="Arial MT"/>
                <a:cs typeface="Arial MT"/>
              </a:rPr>
              <a:t>mundo</a:t>
            </a:r>
            <a:r>
              <a:rPr sz="2800" spc="-60" dirty="0">
                <a:latin typeface="Arial MT"/>
                <a:cs typeface="Arial MT"/>
              </a:rPr>
              <a:t> </a:t>
            </a:r>
            <a:r>
              <a:rPr sz="2800" dirty="0">
                <a:latin typeface="Arial MT"/>
                <a:cs typeface="Arial MT"/>
              </a:rPr>
              <a:t>real</a:t>
            </a:r>
            <a:r>
              <a:rPr sz="2800" spc="-75" dirty="0">
                <a:latin typeface="Arial MT"/>
                <a:cs typeface="Arial MT"/>
              </a:rPr>
              <a:t> </a:t>
            </a:r>
            <a:r>
              <a:rPr sz="2800" spc="-25" dirty="0">
                <a:latin typeface="Arial MT"/>
                <a:cs typeface="Arial MT"/>
              </a:rPr>
              <a:t>que 	</a:t>
            </a:r>
            <a:r>
              <a:rPr sz="2800" dirty="0">
                <a:latin typeface="Arial MT"/>
                <a:cs typeface="Arial MT"/>
              </a:rPr>
              <a:t>se</a:t>
            </a:r>
            <a:r>
              <a:rPr sz="2800" spc="-30" dirty="0">
                <a:latin typeface="Arial MT"/>
                <a:cs typeface="Arial MT"/>
              </a:rPr>
              <a:t> </a:t>
            </a:r>
            <a:r>
              <a:rPr sz="2800" dirty="0">
                <a:latin typeface="Arial MT"/>
                <a:cs typeface="Arial MT"/>
              </a:rPr>
              <a:t>está</a:t>
            </a:r>
            <a:r>
              <a:rPr sz="2800" spc="-25" dirty="0">
                <a:latin typeface="Arial MT"/>
                <a:cs typeface="Arial MT"/>
              </a:rPr>
              <a:t> </a:t>
            </a:r>
            <a:r>
              <a:rPr sz="2800" spc="-10" dirty="0">
                <a:latin typeface="Arial MT"/>
                <a:cs typeface="Arial MT"/>
              </a:rPr>
              <a:t>modelando.</a:t>
            </a:r>
            <a:endParaRPr sz="2800" dirty="0">
              <a:latin typeface="Arial MT"/>
              <a:cs typeface="Arial MT"/>
            </a:endParaRPr>
          </a:p>
          <a:p>
            <a:pPr marL="12700">
              <a:lnSpc>
                <a:spcPct val="100000"/>
              </a:lnSpc>
              <a:spcBef>
                <a:spcPts val="675"/>
              </a:spcBef>
            </a:pPr>
            <a:r>
              <a:rPr sz="2800" b="1" spc="-10" dirty="0">
                <a:latin typeface="Arial"/>
                <a:cs typeface="Arial"/>
              </a:rPr>
              <a:t>Ejemplo:</a:t>
            </a:r>
            <a:endParaRPr sz="2800" dirty="0">
              <a:latin typeface="Arial"/>
              <a:cs typeface="Arial"/>
            </a:endParaRPr>
          </a:p>
          <a:p>
            <a:pPr marL="354965">
              <a:lnSpc>
                <a:spcPct val="100000"/>
              </a:lnSpc>
              <a:spcBef>
                <a:spcPts val="680"/>
              </a:spcBef>
            </a:pPr>
            <a:r>
              <a:rPr sz="2800" dirty="0">
                <a:latin typeface="Arial MT"/>
                <a:cs typeface="Arial MT"/>
              </a:rPr>
              <a:t>Para</a:t>
            </a:r>
            <a:r>
              <a:rPr sz="2800" spc="-50" dirty="0">
                <a:latin typeface="Arial MT"/>
                <a:cs typeface="Arial MT"/>
              </a:rPr>
              <a:t> </a:t>
            </a:r>
            <a:r>
              <a:rPr sz="2800" dirty="0">
                <a:latin typeface="Arial MT"/>
                <a:cs typeface="Arial MT"/>
              </a:rPr>
              <a:t>la</a:t>
            </a:r>
            <a:r>
              <a:rPr sz="2800" spc="-45" dirty="0">
                <a:latin typeface="Arial MT"/>
                <a:cs typeface="Arial MT"/>
              </a:rPr>
              <a:t> </a:t>
            </a:r>
            <a:r>
              <a:rPr sz="2800" dirty="0">
                <a:latin typeface="Arial MT"/>
                <a:cs typeface="Arial MT"/>
              </a:rPr>
              <a:t>relación</a:t>
            </a:r>
            <a:r>
              <a:rPr sz="2800" spc="-50" dirty="0">
                <a:latin typeface="Arial MT"/>
                <a:cs typeface="Arial MT"/>
              </a:rPr>
              <a:t> </a:t>
            </a:r>
            <a:r>
              <a:rPr sz="2800" i="1" spc="-10" dirty="0">
                <a:latin typeface="Arial"/>
                <a:cs typeface="Arial"/>
              </a:rPr>
              <a:t>CtaCli</a:t>
            </a:r>
            <a:endParaRPr sz="2800" dirty="0">
              <a:latin typeface="Arial"/>
              <a:cs typeface="Arial"/>
            </a:endParaRPr>
          </a:p>
          <a:p>
            <a:pPr marL="355600" marR="715010" indent="-342900">
              <a:lnSpc>
                <a:spcPct val="100000"/>
              </a:lnSpc>
              <a:spcBef>
                <a:spcPts val="570"/>
              </a:spcBef>
              <a:buChar char="•"/>
              <a:tabLst>
                <a:tab pos="355600" algn="l"/>
              </a:tabLst>
            </a:pPr>
            <a:r>
              <a:rPr sz="2400" dirty="0">
                <a:latin typeface="Arial MT"/>
                <a:cs typeface="Arial MT"/>
              </a:rPr>
              <a:t>Si</a:t>
            </a:r>
            <a:r>
              <a:rPr sz="2400" spc="-70" dirty="0">
                <a:latin typeface="Arial MT"/>
                <a:cs typeface="Arial MT"/>
              </a:rPr>
              <a:t> </a:t>
            </a:r>
            <a:r>
              <a:rPr sz="2400" b="1" dirty="0">
                <a:latin typeface="Arial"/>
                <a:cs typeface="Arial"/>
              </a:rPr>
              <a:t>una</a:t>
            </a:r>
            <a:r>
              <a:rPr sz="2400" b="1" spc="-60" dirty="0">
                <a:latin typeface="Arial"/>
                <a:cs typeface="Arial"/>
              </a:rPr>
              <a:t> </a:t>
            </a:r>
            <a:r>
              <a:rPr sz="2400" b="1" dirty="0">
                <a:latin typeface="Arial"/>
                <a:cs typeface="Arial"/>
              </a:rPr>
              <a:t>cuenta</a:t>
            </a:r>
            <a:r>
              <a:rPr sz="2400" b="1" spc="-60" dirty="0">
                <a:latin typeface="Arial"/>
                <a:cs typeface="Arial"/>
              </a:rPr>
              <a:t> </a:t>
            </a:r>
            <a:r>
              <a:rPr sz="2400" dirty="0">
                <a:latin typeface="Arial MT"/>
                <a:cs typeface="Arial MT"/>
              </a:rPr>
              <a:t>puede</a:t>
            </a:r>
            <a:r>
              <a:rPr sz="2400" spc="-50" dirty="0">
                <a:latin typeface="Arial MT"/>
                <a:cs typeface="Arial MT"/>
              </a:rPr>
              <a:t> </a:t>
            </a:r>
            <a:r>
              <a:rPr sz="2400" dirty="0">
                <a:latin typeface="Arial MT"/>
                <a:cs typeface="Arial MT"/>
              </a:rPr>
              <a:t>pertenecer</a:t>
            </a:r>
            <a:r>
              <a:rPr sz="2400" spc="-70" dirty="0">
                <a:latin typeface="Arial MT"/>
                <a:cs typeface="Arial MT"/>
              </a:rPr>
              <a:t> </a:t>
            </a:r>
            <a:r>
              <a:rPr sz="2400" b="1" dirty="0">
                <a:latin typeface="Arial"/>
                <a:cs typeface="Arial"/>
              </a:rPr>
              <a:t>únicamente</a:t>
            </a:r>
            <a:r>
              <a:rPr sz="2400" b="1" spc="-65" dirty="0">
                <a:latin typeface="Arial"/>
                <a:cs typeface="Arial"/>
              </a:rPr>
              <a:t> </a:t>
            </a:r>
            <a:r>
              <a:rPr sz="2400" b="1" dirty="0">
                <a:latin typeface="Arial"/>
                <a:cs typeface="Arial"/>
              </a:rPr>
              <a:t>a</a:t>
            </a:r>
            <a:r>
              <a:rPr sz="2400" b="1" spc="-60" dirty="0">
                <a:latin typeface="Arial"/>
                <a:cs typeface="Arial"/>
              </a:rPr>
              <a:t> </a:t>
            </a:r>
            <a:r>
              <a:rPr sz="2400" b="1" spc="-25" dirty="0">
                <a:latin typeface="Arial"/>
                <a:cs typeface="Arial"/>
              </a:rPr>
              <a:t>un </a:t>
            </a:r>
            <a:r>
              <a:rPr sz="2400" b="1" dirty="0">
                <a:latin typeface="Arial"/>
                <a:cs typeface="Arial"/>
              </a:rPr>
              <a:t>cliente</a:t>
            </a:r>
            <a:r>
              <a:rPr sz="2400" dirty="0">
                <a:latin typeface="Arial MT"/>
                <a:cs typeface="Arial MT"/>
              </a:rPr>
              <a:t>,</a:t>
            </a:r>
            <a:r>
              <a:rPr sz="2400" spc="-60" dirty="0">
                <a:latin typeface="Arial MT"/>
                <a:cs typeface="Arial MT"/>
              </a:rPr>
              <a:t> </a:t>
            </a:r>
            <a:r>
              <a:rPr sz="2400" dirty="0">
                <a:latin typeface="Arial MT"/>
                <a:cs typeface="Arial MT"/>
              </a:rPr>
              <a:t>y</a:t>
            </a:r>
            <a:r>
              <a:rPr sz="2400" spc="-65" dirty="0">
                <a:latin typeface="Arial MT"/>
                <a:cs typeface="Arial MT"/>
              </a:rPr>
              <a:t> </a:t>
            </a:r>
            <a:r>
              <a:rPr sz="2400" dirty="0">
                <a:latin typeface="Arial MT"/>
                <a:cs typeface="Arial MT"/>
              </a:rPr>
              <a:t>un</a:t>
            </a:r>
            <a:r>
              <a:rPr sz="2400" spc="-55" dirty="0">
                <a:latin typeface="Arial MT"/>
                <a:cs typeface="Arial MT"/>
              </a:rPr>
              <a:t> </a:t>
            </a:r>
            <a:r>
              <a:rPr sz="2400" b="1" dirty="0">
                <a:latin typeface="Arial"/>
                <a:cs typeface="Arial"/>
              </a:rPr>
              <a:t>cliente</a:t>
            </a:r>
            <a:r>
              <a:rPr sz="2400" b="1" spc="-65" dirty="0">
                <a:latin typeface="Arial"/>
                <a:cs typeface="Arial"/>
              </a:rPr>
              <a:t> </a:t>
            </a:r>
            <a:r>
              <a:rPr sz="2400" b="1" dirty="0">
                <a:latin typeface="Arial"/>
                <a:cs typeface="Arial"/>
              </a:rPr>
              <a:t>puede</a:t>
            </a:r>
            <a:r>
              <a:rPr sz="2400" b="1" spc="-55" dirty="0">
                <a:latin typeface="Arial"/>
                <a:cs typeface="Arial"/>
              </a:rPr>
              <a:t> </a:t>
            </a:r>
            <a:r>
              <a:rPr sz="2400" b="1" dirty="0">
                <a:latin typeface="Arial"/>
                <a:cs typeface="Arial"/>
              </a:rPr>
              <a:t>tener</a:t>
            </a:r>
            <a:r>
              <a:rPr sz="2400" b="1" spc="-50" dirty="0">
                <a:latin typeface="Arial"/>
                <a:cs typeface="Arial"/>
              </a:rPr>
              <a:t> </a:t>
            </a:r>
            <a:r>
              <a:rPr sz="2400" b="1" dirty="0">
                <a:latin typeface="Arial"/>
                <a:cs typeface="Arial"/>
              </a:rPr>
              <a:t>varias</a:t>
            </a:r>
            <a:r>
              <a:rPr sz="2400" b="1" spc="-55" dirty="0">
                <a:latin typeface="Arial"/>
                <a:cs typeface="Arial"/>
              </a:rPr>
              <a:t> </a:t>
            </a:r>
            <a:r>
              <a:rPr sz="2400" b="1" spc="-10" dirty="0">
                <a:latin typeface="Arial"/>
                <a:cs typeface="Arial"/>
              </a:rPr>
              <a:t>cuentas</a:t>
            </a:r>
            <a:endParaRPr sz="2400" dirty="0">
              <a:latin typeface="Arial"/>
              <a:cs typeface="Arial"/>
            </a:endParaRPr>
          </a:p>
          <a:p>
            <a:pPr marL="59690" algn="ctr">
              <a:lnSpc>
                <a:spcPct val="100000"/>
              </a:lnSpc>
              <a:spcBef>
                <a:spcPts val="705"/>
              </a:spcBef>
              <a:tabLst>
                <a:tab pos="974090" algn="l"/>
                <a:tab pos="2185670" algn="l"/>
              </a:tabLst>
            </a:pPr>
            <a:r>
              <a:rPr sz="2800" spc="-50" dirty="0">
                <a:latin typeface="Symbol"/>
                <a:cs typeface="Symbol"/>
              </a:rPr>
              <a:t></a:t>
            </a:r>
            <a:r>
              <a:rPr sz="2800" dirty="0">
                <a:latin typeface="Times New Roman"/>
                <a:cs typeface="Times New Roman"/>
              </a:rPr>
              <a:t>	</a:t>
            </a:r>
            <a:r>
              <a:rPr sz="2800" b="1" spc="-25" dirty="0">
                <a:latin typeface="Arial"/>
                <a:cs typeface="Arial"/>
              </a:rPr>
              <a:t>1:N</a:t>
            </a:r>
            <a:r>
              <a:rPr sz="2800" b="1" dirty="0">
                <a:latin typeface="Arial"/>
                <a:cs typeface="Arial"/>
              </a:rPr>
              <a:t>	</a:t>
            </a:r>
            <a:r>
              <a:rPr sz="2800" dirty="0">
                <a:latin typeface="Arial MT"/>
                <a:cs typeface="Arial MT"/>
              </a:rPr>
              <a:t>de</a:t>
            </a:r>
            <a:r>
              <a:rPr sz="2800" spc="-40" dirty="0">
                <a:latin typeface="Arial MT"/>
                <a:cs typeface="Arial MT"/>
              </a:rPr>
              <a:t> </a:t>
            </a:r>
            <a:r>
              <a:rPr sz="2800" i="1" dirty="0">
                <a:latin typeface="Arial"/>
                <a:cs typeface="Arial"/>
              </a:rPr>
              <a:t>Cliente</a:t>
            </a:r>
            <a:r>
              <a:rPr sz="2800" i="1" spc="-45" dirty="0">
                <a:latin typeface="Arial"/>
                <a:cs typeface="Arial"/>
              </a:rPr>
              <a:t> </a:t>
            </a:r>
            <a:r>
              <a:rPr sz="2800" dirty="0">
                <a:latin typeface="Arial MT"/>
                <a:cs typeface="Arial MT"/>
              </a:rPr>
              <a:t>a</a:t>
            </a:r>
            <a:r>
              <a:rPr sz="2800" spc="-40" dirty="0">
                <a:latin typeface="Arial MT"/>
                <a:cs typeface="Arial MT"/>
              </a:rPr>
              <a:t> </a:t>
            </a:r>
            <a:r>
              <a:rPr sz="2800" i="1" spc="-10" dirty="0">
                <a:latin typeface="Arial"/>
                <a:cs typeface="Arial"/>
              </a:rPr>
              <a:t>Cuenta</a:t>
            </a:r>
            <a:r>
              <a:rPr sz="2800" spc="-10" dirty="0">
                <a:latin typeface="Arial MT"/>
                <a:cs typeface="Arial MT"/>
              </a:rPr>
              <a:t>.</a:t>
            </a:r>
            <a:endParaRPr sz="2800" dirty="0">
              <a:latin typeface="Arial MT"/>
              <a:cs typeface="Arial MT"/>
            </a:endParaRPr>
          </a:p>
          <a:p>
            <a:pPr marL="354965" indent="-342265">
              <a:lnSpc>
                <a:spcPct val="100000"/>
              </a:lnSpc>
              <a:spcBef>
                <a:spcPts val="2845"/>
              </a:spcBef>
              <a:buChar char="•"/>
              <a:tabLst>
                <a:tab pos="354965" algn="l"/>
              </a:tabLst>
            </a:pPr>
            <a:r>
              <a:rPr sz="2400" dirty="0">
                <a:latin typeface="Arial MT"/>
                <a:cs typeface="Arial MT"/>
              </a:rPr>
              <a:t>Si</a:t>
            </a:r>
            <a:r>
              <a:rPr sz="2400" spc="-60" dirty="0">
                <a:latin typeface="Arial MT"/>
                <a:cs typeface="Arial MT"/>
              </a:rPr>
              <a:t> </a:t>
            </a:r>
            <a:r>
              <a:rPr sz="2400" b="1" dirty="0">
                <a:latin typeface="Arial"/>
                <a:cs typeface="Arial"/>
              </a:rPr>
              <a:t>una</a:t>
            </a:r>
            <a:r>
              <a:rPr sz="2400" b="1" spc="-55" dirty="0">
                <a:latin typeface="Arial"/>
                <a:cs typeface="Arial"/>
              </a:rPr>
              <a:t> </a:t>
            </a:r>
            <a:r>
              <a:rPr sz="2400" b="1" dirty="0">
                <a:latin typeface="Arial"/>
                <a:cs typeface="Arial"/>
              </a:rPr>
              <a:t>cuenta</a:t>
            </a:r>
            <a:r>
              <a:rPr sz="2400" b="1" spc="-50" dirty="0">
                <a:latin typeface="Arial"/>
                <a:cs typeface="Arial"/>
              </a:rPr>
              <a:t> </a:t>
            </a:r>
            <a:r>
              <a:rPr sz="2400" dirty="0">
                <a:latin typeface="Arial MT"/>
                <a:cs typeface="Arial MT"/>
              </a:rPr>
              <a:t>puede</a:t>
            </a:r>
            <a:r>
              <a:rPr sz="2400" spc="-45" dirty="0">
                <a:latin typeface="Arial MT"/>
                <a:cs typeface="Arial MT"/>
              </a:rPr>
              <a:t> </a:t>
            </a:r>
            <a:r>
              <a:rPr sz="2400" dirty="0">
                <a:latin typeface="Arial MT"/>
                <a:cs typeface="Arial MT"/>
              </a:rPr>
              <a:t>pertenecer</a:t>
            </a:r>
            <a:r>
              <a:rPr sz="2400" spc="-60" dirty="0">
                <a:latin typeface="Arial MT"/>
                <a:cs typeface="Arial MT"/>
              </a:rPr>
              <a:t> </a:t>
            </a:r>
            <a:r>
              <a:rPr sz="2400" b="1" dirty="0">
                <a:latin typeface="Arial"/>
                <a:cs typeface="Arial"/>
              </a:rPr>
              <a:t>a</a:t>
            </a:r>
            <a:r>
              <a:rPr sz="2400" b="1" spc="-55" dirty="0">
                <a:latin typeface="Arial"/>
                <a:cs typeface="Arial"/>
              </a:rPr>
              <a:t> </a:t>
            </a:r>
            <a:r>
              <a:rPr sz="2400" b="1" dirty="0">
                <a:latin typeface="Arial"/>
                <a:cs typeface="Arial"/>
              </a:rPr>
              <a:t>varios</a:t>
            </a:r>
            <a:r>
              <a:rPr sz="2400" b="1" spc="-50" dirty="0">
                <a:latin typeface="Arial"/>
                <a:cs typeface="Arial"/>
              </a:rPr>
              <a:t> </a:t>
            </a:r>
            <a:r>
              <a:rPr sz="2400" b="1" dirty="0">
                <a:latin typeface="Arial"/>
                <a:cs typeface="Arial"/>
              </a:rPr>
              <a:t>clientes</a:t>
            </a:r>
            <a:r>
              <a:rPr sz="2400" dirty="0">
                <a:latin typeface="Arial MT"/>
                <a:cs typeface="Arial MT"/>
              </a:rPr>
              <a:t>,</a:t>
            </a:r>
            <a:r>
              <a:rPr sz="2400" spc="-50" dirty="0">
                <a:latin typeface="Arial MT"/>
                <a:cs typeface="Arial MT"/>
              </a:rPr>
              <a:t> </a:t>
            </a:r>
            <a:r>
              <a:rPr sz="2400" dirty="0">
                <a:latin typeface="Arial MT"/>
                <a:cs typeface="Arial MT"/>
              </a:rPr>
              <a:t>y</a:t>
            </a:r>
            <a:r>
              <a:rPr sz="2400" spc="-60" dirty="0">
                <a:latin typeface="Arial MT"/>
                <a:cs typeface="Arial MT"/>
              </a:rPr>
              <a:t> </a:t>
            </a:r>
            <a:r>
              <a:rPr sz="2400" spc="-25" dirty="0">
                <a:latin typeface="Arial MT"/>
                <a:cs typeface="Arial MT"/>
              </a:rPr>
              <a:t>un</a:t>
            </a:r>
            <a:endParaRPr sz="2400" dirty="0">
              <a:latin typeface="Arial MT"/>
              <a:cs typeface="Arial MT"/>
            </a:endParaRPr>
          </a:p>
          <a:p>
            <a:pPr marL="355600">
              <a:lnSpc>
                <a:spcPct val="100000"/>
              </a:lnSpc>
            </a:pPr>
            <a:r>
              <a:rPr sz="2400" b="1" dirty="0">
                <a:latin typeface="Arial"/>
                <a:cs typeface="Arial"/>
              </a:rPr>
              <a:t>cliente</a:t>
            </a:r>
            <a:r>
              <a:rPr sz="2400" b="1" spc="-80" dirty="0">
                <a:latin typeface="Arial"/>
                <a:cs typeface="Arial"/>
              </a:rPr>
              <a:t> </a:t>
            </a:r>
            <a:r>
              <a:rPr sz="2400" b="1" dirty="0">
                <a:latin typeface="Arial"/>
                <a:cs typeface="Arial"/>
              </a:rPr>
              <a:t>puede</a:t>
            </a:r>
            <a:r>
              <a:rPr sz="2400" b="1" spc="-65" dirty="0">
                <a:latin typeface="Arial"/>
                <a:cs typeface="Arial"/>
              </a:rPr>
              <a:t> </a:t>
            </a:r>
            <a:r>
              <a:rPr sz="2400" b="1" dirty="0">
                <a:latin typeface="Arial"/>
                <a:cs typeface="Arial"/>
              </a:rPr>
              <a:t>tener</a:t>
            </a:r>
            <a:r>
              <a:rPr sz="2400" b="1" spc="-65" dirty="0">
                <a:latin typeface="Arial"/>
                <a:cs typeface="Arial"/>
              </a:rPr>
              <a:t> </a:t>
            </a:r>
            <a:r>
              <a:rPr sz="2400" b="1" dirty="0" err="1">
                <a:latin typeface="Arial"/>
                <a:cs typeface="Arial"/>
              </a:rPr>
              <a:t>varias</a:t>
            </a:r>
            <a:r>
              <a:rPr sz="2400" b="1" spc="-65" dirty="0">
                <a:latin typeface="Arial"/>
                <a:cs typeface="Arial"/>
              </a:rPr>
              <a:t> </a:t>
            </a:r>
            <a:r>
              <a:rPr sz="2400" b="1" spc="-10" dirty="0" err="1" smtClean="0">
                <a:latin typeface="Arial"/>
                <a:cs typeface="Arial"/>
              </a:rPr>
              <a:t>cuentas</a:t>
            </a:r>
            <a:endParaRPr lang="es-ES" sz="2400" dirty="0">
              <a:latin typeface="Arial"/>
              <a:cs typeface="Arial"/>
            </a:endParaRPr>
          </a:p>
          <a:p>
            <a:pPr marL="355600">
              <a:lnSpc>
                <a:spcPct val="100000"/>
              </a:lnSpc>
            </a:pPr>
            <a:r>
              <a:rPr lang="es-ES" sz="2400" spc="-50" dirty="0">
                <a:latin typeface="Arial"/>
                <a:cs typeface="Arial"/>
              </a:rPr>
              <a:t>	</a:t>
            </a:r>
            <a:r>
              <a:rPr lang="es-ES" sz="2400" spc="-50" dirty="0">
                <a:latin typeface="Arial"/>
                <a:cs typeface="Arial"/>
              </a:rPr>
              <a:t> </a:t>
            </a:r>
            <a:r>
              <a:rPr lang="es-ES" sz="2400" spc="-50" dirty="0" smtClean="0">
                <a:latin typeface="Arial"/>
                <a:cs typeface="Arial"/>
              </a:rPr>
              <a:t>       </a:t>
            </a:r>
            <a:r>
              <a:rPr sz="2800" spc="-50" dirty="0" smtClean="0">
                <a:latin typeface="Symbol"/>
                <a:cs typeface="Symbol"/>
              </a:rPr>
              <a:t></a:t>
            </a:r>
            <a:r>
              <a:rPr sz="2800" dirty="0">
                <a:latin typeface="Times New Roman"/>
                <a:cs typeface="Times New Roman"/>
              </a:rPr>
              <a:t>	</a:t>
            </a:r>
            <a:r>
              <a:rPr sz="2800" b="1" spc="-25" dirty="0">
                <a:latin typeface="Arial"/>
                <a:cs typeface="Arial"/>
              </a:rPr>
              <a:t>N:N</a:t>
            </a:r>
            <a:endParaRPr sz="2800" dirty="0">
              <a:latin typeface="Arial"/>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3700" y="577850"/>
            <a:ext cx="7705702" cy="1411351"/>
          </a:xfrm>
          <a:prstGeom prst="rect">
            <a:avLst/>
          </a:prstGeom>
        </p:spPr>
        <p:txBody>
          <a:bodyPr vert="horz" wrap="square" lIns="0" tIns="316865" rIns="0" bIns="0" rtlCol="0">
            <a:spAutoFit/>
          </a:bodyPr>
          <a:lstStyle/>
          <a:p>
            <a:pPr marL="647700">
              <a:lnSpc>
                <a:spcPct val="100000"/>
              </a:lnSpc>
              <a:spcBef>
                <a:spcPts val="95"/>
              </a:spcBef>
            </a:pPr>
            <a:r>
              <a:rPr sz="4000" b="1" dirty="0">
                <a:latin typeface="Arial"/>
                <a:cs typeface="Arial"/>
              </a:rPr>
              <a:t>Dependencias</a:t>
            </a:r>
            <a:r>
              <a:rPr sz="4000" b="1" spc="-120" dirty="0">
                <a:latin typeface="Arial"/>
                <a:cs typeface="Arial"/>
              </a:rPr>
              <a:t> </a:t>
            </a:r>
            <a:r>
              <a:rPr sz="4000" b="1" dirty="0">
                <a:latin typeface="Arial"/>
                <a:cs typeface="Arial"/>
              </a:rPr>
              <a:t>de</a:t>
            </a:r>
            <a:r>
              <a:rPr sz="4000" b="1" spc="-110" dirty="0">
                <a:latin typeface="Arial"/>
                <a:cs typeface="Arial"/>
              </a:rPr>
              <a:t> </a:t>
            </a:r>
            <a:r>
              <a:rPr sz="4000" b="1" spc="-10" dirty="0">
                <a:latin typeface="Arial"/>
                <a:cs typeface="Arial"/>
              </a:rPr>
              <a:t>existencia</a:t>
            </a:r>
            <a:endParaRPr sz="4000" dirty="0">
              <a:latin typeface="Arial"/>
              <a:cs typeface="Arial"/>
            </a:endParaRPr>
          </a:p>
        </p:txBody>
      </p:sp>
      <p:sp>
        <p:nvSpPr>
          <p:cNvPr id="3" name="object 3"/>
          <p:cNvSpPr txBox="1"/>
          <p:nvPr/>
        </p:nvSpPr>
        <p:spPr>
          <a:xfrm>
            <a:off x="1463941" y="1803907"/>
            <a:ext cx="7834630" cy="5523948"/>
          </a:xfrm>
          <a:prstGeom prst="rect">
            <a:avLst/>
          </a:prstGeom>
        </p:spPr>
        <p:txBody>
          <a:bodyPr vert="horz" wrap="square" lIns="0" tIns="12065" rIns="0" bIns="0" rtlCol="0">
            <a:spAutoFit/>
          </a:bodyPr>
          <a:lstStyle/>
          <a:p>
            <a:pPr marL="354330" indent="-341630">
              <a:lnSpc>
                <a:spcPct val="100000"/>
              </a:lnSpc>
              <a:spcBef>
                <a:spcPts val="95"/>
              </a:spcBef>
              <a:buChar char="•"/>
              <a:tabLst>
                <a:tab pos="354330" algn="l"/>
              </a:tabLst>
            </a:pPr>
            <a:r>
              <a:rPr sz="2800" dirty="0">
                <a:latin typeface="Arial MT"/>
                <a:cs typeface="Arial MT"/>
              </a:rPr>
              <a:t>Es</a:t>
            </a:r>
            <a:r>
              <a:rPr sz="2800" spc="-40" dirty="0">
                <a:latin typeface="Arial MT"/>
                <a:cs typeface="Arial MT"/>
              </a:rPr>
              <a:t> </a:t>
            </a:r>
            <a:r>
              <a:rPr sz="2800" dirty="0">
                <a:latin typeface="Arial MT"/>
                <a:cs typeface="Arial MT"/>
              </a:rPr>
              <a:t>otra</a:t>
            </a:r>
            <a:r>
              <a:rPr sz="2800" spc="-35" dirty="0">
                <a:latin typeface="Arial MT"/>
                <a:cs typeface="Arial MT"/>
              </a:rPr>
              <a:t> </a:t>
            </a:r>
            <a:r>
              <a:rPr sz="2800" dirty="0">
                <a:latin typeface="Arial MT"/>
                <a:cs typeface="Arial MT"/>
              </a:rPr>
              <a:t>clase</a:t>
            </a:r>
            <a:r>
              <a:rPr sz="2800" spc="-35" dirty="0">
                <a:latin typeface="Arial MT"/>
                <a:cs typeface="Arial MT"/>
              </a:rPr>
              <a:t> </a:t>
            </a:r>
            <a:r>
              <a:rPr sz="2800" dirty="0">
                <a:latin typeface="Arial MT"/>
                <a:cs typeface="Arial MT"/>
              </a:rPr>
              <a:t>de</a:t>
            </a:r>
            <a:r>
              <a:rPr sz="2800" spc="-35" dirty="0">
                <a:latin typeface="Arial MT"/>
                <a:cs typeface="Arial MT"/>
              </a:rPr>
              <a:t> </a:t>
            </a:r>
            <a:r>
              <a:rPr sz="2800" spc="-10" dirty="0" err="1" smtClean="0">
                <a:latin typeface="Arial MT"/>
                <a:cs typeface="Arial MT"/>
              </a:rPr>
              <a:t>restricción</a:t>
            </a:r>
            <a:r>
              <a:rPr sz="2800" spc="-10" dirty="0" smtClean="0">
                <a:latin typeface="Arial MT"/>
                <a:cs typeface="Arial MT"/>
              </a:rPr>
              <a:t>.</a:t>
            </a:r>
            <a:endParaRPr lang="es-ES" sz="2800" dirty="0">
              <a:latin typeface="Arial MT"/>
              <a:cs typeface="Arial MT"/>
            </a:endParaRPr>
          </a:p>
          <a:p>
            <a:pPr marL="12700">
              <a:lnSpc>
                <a:spcPct val="100000"/>
              </a:lnSpc>
              <a:spcBef>
                <a:spcPts val="95"/>
              </a:spcBef>
              <a:tabLst>
                <a:tab pos="354330" algn="l"/>
              </a:tabLst>
            </a:pPr>
            <a:endParaRPr lang="es-ES" sz="2800" dirty="0">
              <a:latin typeface="Arial MT"/>
              <a:cs typeface="Arial MT"/>
            </a:endParaRPr>
          </a:p>
          <a:p>
            <a:pPr marL="12700">
              <a:lnSpc>
                <a:spcPct val="100000"/>
              </a:lnSpc>
              <a:spcBef>
                <a:spcPts val="95"/>
              </a:spcBef>
              <a:tabLst>
                <a:tab pos="354330" algn="l"/>
              </a:tabLst>
            </a:pPr>
            <a:r>
              <a:rPr sz="2800" dirty="0" smtClean="0">
                <a:latin typeface="Arial MT"/>
                <a:cs typeface="Arial MT"/>
              </a:rPr>
              <a:t>Si</a:t>
            </a:r>
            <a:r>
              <a:rPr sz="2800" spc="-50" dirty="0" smtClean="0">
                <a:latin typeface="Arial MT"/>
                <a:cs typeface="Arial MT"/>
              </a:rPr>
              <a:t> </a:t>
            </a:r>
            <a:r>
              <a:rPr sz="2800" dirty="0">
                <a:latin typeface="Arial MT"/>
                <a:cs typeface="Arial MT"/>
              </a:rPr>
              <a:t>la</a:t>
            </a:r>
            <a:r>
              <a:rPr sz="2800" spc="-45" dirty="0">
                <a:latin typeface="Arial MT"/>
                <a:cs typeface="Arial MT"/>
              </a:rPr>
              <a:t> </a:t>
            </a:r>
            <a:r>
              <a:rPr sz="2800" b="1" dirty="0">
                <a:latin typeface="Arial"/>
                <a:cs typeface="Arial"/>
              </a:rPr>
              <a:t>existencia</a:t>
            </a:r>
            <a:r>
              <a:rPr sz="2800" b="1" spc="-45" dirty="0">
                <a:latin typeface="Arial"/>
                <a:cs typeface="Arial"/>
              </a:rPr>
              <a:t> </a:t>
            </a:r>
            <a:r>
              <a:rPr sz="2800" b="1" dirty="0">
                <a:latin typeface="Arial"/>
                <a:cs typeface="Arial"/>
              </a:rPr>
              <a:t>de</a:t>
            </a:r>
            <a:r>
              <a:rPr sz="2800" b="1" spc="-30" dirty="0">
                <a:latin typeface="Arial"/>
                <a:cs typeface="Arial"/>
              </a:rPr>
              <a:t> </a:t>
            </a:r>
            <a:r>
              <a:rPr sz="2800" b="1" dirty="0">
                <a:latin typeface="Arial"/>
                <a:cs typeface="Arial"/>
              </a:rPr>
              <a:t>la</a:t>
            </a:r>
            <a:r>
              <a:rPr sz="2800" b="1" spc="-45" dirty="0">
                <a:latin typeface="Arial"/>
                <a:cs typeface="Arial"/>
              </a:rPr>
              <a:t> </a:t>
            </a:r>
            <a:r>
              <a:rPr sz="2800" b="1" dirty="0">
                <a:latin typeface="Arial"/>
                <a:cs typeface="Arial"/>
              </a:rPr>
              <a:t>entidad</a:t>
            </a:r>
            <a:r>
              <a:rPr sz="2800" b="1" spc="-55" dirty="0">
                <a:latin typeface="Arial"/>
                <a:cs typeface="Arial"/>
              </a:rPr>
              <a:t> </a:t>
            </a:r>
            <a:r>
              <a:rPr sz="2800" b="1" dirty="0">
                <a:latin typeface="Arial"/>
                <a:cs typeface="Arial"/>
              </a:rPr>
              <a:t>x</a:t>
            </a:r>
            <a:r>
              <a:rPr sz="2800" b="1" spc="-40" dirty="0">
                <a:latin typeface="Arial"/>
                <a:cs typeface="Arial"/>
              </a:rPr>
              <a:t> </a:t>
            </a:r>
            <a:r>
              <a:rPr sz="2400" spc="-10" dirty="0">
                <a:latin typeface="Arial MT"/>
                <a:cs typeface="Arial MT"/>
              </a:rPr>
              <a:t>(entidad</a:t>
            </a:r>
            <a:endParaRPr sz="2400" dirty="0">
              <a:latin typeface="Arial MT"/>
              <a:cs typeface="Arial MT"/>
            </a:endParaRPr>
          </a:p>
          <a:p>
            <a:pPr marL="340995" algn="ctr">
              <a:lnSpc>
                <a:spcPct val="100000"/>
              </a:lnSpc>
              <a:spcBef>
                <a:spcPts val="5"/>
              </a:spcBef>
            </a:pPr>
            <a:r>
              <a:rPr sz="2400" spc="-10" dirty="0">
                <a:latin typeface="Arial MT"/>
                <a:cs typeface="Arial MT"/>
              </a:rPr>
              <a:t>subordinada)</a:t>
            </a:r>
            <a:endParaRPr sz="2400" dirty="0">
              <a:latin typeface="Arial MT"/>
              <a:cs typeface="Arial MT"/>
            </a:endParaRPr>
          </a:p>
          <a:p>
            <a:pPr algn="ctr">
              <a:lnSpc>
                <a:spcPct val="100000"/>
              </a:lnSpc>
              <a:spcBef>
                <a:spcPts val="1195"/>
              </a:spcBef>
            </a:pPr>
            <a:r>
              <a:rPr sz="2800" b="1" dirty="0">
                <a:latin typeface="Arial"/>
                <a:cs typeface="Arial"/>
              </a:rPr>
              <a:t>depende</a:t>
            </a:r>
            <a:r>
              <a:rPr sz="2800" b="1" spc="-114" dirty="0">
                <a:latin typeface="Arial"/>
                <a:cs typeface="Arial"/>
              </a:rPr>
              <a:t> </a:t>
            </a:r>
            <a:r>
              <a:rPr sz="2800" b="1" spc="-25" dirty="0">
                <a:latin typeface="Arial"/>
                <a:cs typeface="Arial"/>
              </a:rPr>
              <a:t>de</a:t>
            </a:r>
            <a:endParaRPr sz="2800" dirty="0">
              <a:latin typeface="Arial"/>
              <a:cs typeface="Arial"/>
            </a:endParaRPr>
          </a:p>
          <a:p>
            <a:pPr algn="ctr">
              <a:lnSpc>
                <a:spcPct val="100000"/>
              </a:lnSpc>
              <a:spcBef>
                <a:spcPts val="1200"/>
              </a:spcBef>
            </a:pPr>
            <a:r>
              <a:rPr sz="2800" dirty="0">
                <a:latin typeface="Arial MT"/>
                <a:cs typeface="Arial MT"/>
              </a:rPr>
              <a:t>la</a:t>
            </a:r>
            <a:r>
              <a:rPr sz="2800" spc="-55" dirty="0">
                <a:latin typeface="Arial MT"/>
                <a:cs typeface="Arial MT"/>
              </a:rPr>
              <a:t> </a:t>
            </a:r>
            <a:r>
              <a:rPr sz="2800" b="1" dirty="0">
                <a:latin typeface="Arial"/>
                <a:cs typeface="Arial"/>
              </a:rPr>
              <a:t>existencia</a:t>
            </a:r>
            <a:r>
              <a:rPr sz="2800" b="1" spc="-55" dirty="0">
                <a:latin typeface="Arial"/>
                <a:cs typeface="Arial"/>
              </a:rPr>
              <a:t> </a:t>
            </a:r>
            <a:r>
              <a:rPr sz="2800" b="1" dirty="0">
                <a:latin typeface="Arial"/>
                <a:cs typeface="Arial"/>
              </a:rPr>
              <a:t>de</a:t>
            </a:r>
            <a:r>
              <a:rPr sz="2800" b="1" spc="-55" dirty="0">
                <a:latin typeface="Arial"/>
                <a:cs typeface="Arial"/>
              </a:rPr>
              <a:t> </a:t>
            </a:r>
            <a:r>
              <a:rPr sz="2800" b="1" dirty="0">
                <a:latin typeface="Arial"/>
                <a:cs typeface="Arial"/>
              </a:rPr>
              <a:t>la</a:t>
            </a:r>
            <a:r>
              <a:rPr sz="2800" b="1" spc="-55" dirty="0">
                <a:latin typeface="Arial"/>
                <a:cs typeface="Arial"/>
              </a:rPr>
              <a:t> </a:t>
            </a:r>
            <a:r>
              <a:rPr sz="2800" b="1" dirty="0">
                <a:latin typeface="Arial"/>
                <a:cs typeface="Arial"/>
              </a:rPr>
              <a:t>entidad</a:t>
            </a:r>
            <a:r>
              <a:rPr sz="2800" b="1" spc="-55" dirty="0">
                <a:latin typeface="Arial"/>
                <a:cs typeface="Arial"/>
              </a:rPr>
              <a:t> </a:t>
            </a:r>
            <a:r>
              <a:rPr sz="2800" b="1" dirty="0">
                <a:latin typeface="Arial"/>
                <a:cs typeface="Arial"/>
              </a:rPr>
              <a:t>y</a:t>
            </a:r>
            <a:r>
              <a:rPr sz="2800" b="1" spc="-75" dirty="0">
                <a:latin typeface="Arial"/>
                <a:cs typeface="Arial"/>
              </a:rPr>
              <a:t> </a:t>
            </a:r>
            <a:r>
              <a:rPr sz="2400" dirty="0">
                <a:latin typeface="Arial MT"/>
                <a:cs typeface="Arial MT"/>
              </a:rPr>
              <a:t>(entidad</a:t>
            </a:r>
            <a:r>
              <a:rPr sz="2400" spc="-50" dirty="0">
                <a:latin typeface="Arial MT"/>
                <a:cs typeface="Arial MT"/>
              </a:rPr>
              <a:t> </a:t>
            </a:r>
            <a:r>
              <a:rPr sz="2400" spc="-10" dirty="0">
                <a:latin typeface="Arial MT"/>
                <a:cs typeface="Arial MT"/>
              </a:rPr>
              <a:t>dominante)</a:t>
            </a:r>
            <a:endParaRPr sz="2400" dirty="0">
              <a:latin typeface="Arial MT"/>
              <a:cs typeface="Arial MT"/>
            </a:endParaRPr>
          </a:p>
          <a:p>
            <a:pPr algn="ctr">
              <a:lnSpc>
                <a:spcPct val="100000"/>
              </a:lnSpc>
              <a:spcBef>
                <a:spcPts val="1200"/>
              </a:spcBef>
            </a:pPr>
            <a:r>
              <a:rPr sz="2800" b="1" spc="-10" dirty="0">
                <a:latin typeface="Arial"/>
                <a:cs typeface="Arial"/>
              </a:rPr>
              <a:t>entonces</a:t>
            </a:r>
            <a:endParaRPr sz="2800" dirty="0">
              <a:latin typeface="Arial"/>
              <a:cs typeface="Arial"/>
            </a:endParaRPr>
          </a:p>
          <a:p>
            <a:pPr algn="ctr">
              <a:lnSpc>
                <a:spcPct val="100000"/>
              </a:lnSpc>
              <a:spcBef>
                <a:spcPts val="1200"/>
              </a:spcBef>
            </a:pPr>
            <a:r>
              <a:rPr sz="2800" dirty="0">
                <a:latin typeface="Arial MT"/>
                <a:cs typeface="Arial MT"/>
              </a:rPr>
              <a:t>se</a:t>
            </a:r>
            <a:r>
              <a:rPr sz="2800" spc="-55" dirty="0">
                <a:latin typeface="Arial MT"/>
                <a:cs typeface="Arial MT"/>
              </a:rPr>
              <a:t> </a:t>
            </a:r>
            <a:r>
              <a:rPr sz="2800" dirty="0">
                <a:latin typeface="Arial MT"/>
                <a:cs typeface="Arial MT"/>
              </a:rPr>
              <a:t>dice</a:t>
            </a:r>
            <a:r>
              <a:rPr sz="2800" spc="-50" dirty="0">
                <a:latin typeface="Arial MT"/>
                <a:cs typeface="Arial MT"/>
              </a:rPr>
              <a:t> </a:t>
            </a:r>
            <a:r>
              <a:rPr sz="2800" dirty="0">
                <a:latin typeface="Arial MT"/>
                <a:cs typeface="Arial MT"/>
              </a:rPr>
              <a:t>que</a:t>
            </a:r>
            <a:r>
              <a:rPr sz="2800" spc="-55" dirty="0">
                <a:latin typeface="Arial MT"/>
                <a:cs typeface="Arial MT"/>
              </a:rPr>
              <a:t> </a:t>
            </a:r>
            <a:r>
              <a:rPr sz="2800" b="1" dirty="0">
                <a:latin typeface="Arial"/>
                <a:cs typeface="Arial"/>
              </a:rPr>
              <a:t>x</a:t>
            </a:r>
            <a:r>
              <a:rPr sz="2800" b="1" spc="-50" dirty="0">
                <a:latin typeface="Arial"/>
                <a:cs typeface="Arial"/>
              </a:rPr>
              <a:t> </a:t>
            </a:r>
            <a:r>
              <a:rPr sz="2800" b="1" dirty="0">
                <a:latin typeface="Arial"/>
                <a:cs typeface="Arial"/>
              </a:rPr>
              <a:t>es</a:t>
            </a:r>
            <a:r>
              <a:rPr sz="2800" b="1" spc="-50" dirty="0">
                <a:latin typeface="Arial"/>
                <a:cs typeface="Arial"/>
              </a:rPr>
              <a:t> </a:t>
            </a:r>
            <a:r>
              <a:rPr sz="2800" b="1" i="1" dirty="0">
                <a:latin typeface="Arial"/>
                <a:cs typeface="Arial"/>
              </a:rPr>
              <a:t>dependiente</a:t>
            </a:r>
            <a:r>
              <a:rPr sz="2800" b="1" i="1" spc="-55" dirty="0">
                <a:latin typeface="Arial"/>
                <a:cs typeface="Arial"/>
              </a:rPr>
              <a:t> </a:t>
            </a:r>
            <a:r>
              <a:rPr sz="2800" b="1" i="1" dirty="0">
                <a:latin typeface="Arial"/>
                <a:cs typeface="Arial"/>
              </a:rPr>
              <a:t>por</a:t>
            </a:r>
            <a:r>
              <a:rPr sz="2800" b="1" i="1" spc="-50" dirty="0">
                <a:latin typeface="Arial"/>
                <a:cs typeface="Arial"/>
              </a:rPr>
              <a:t> </a:t>
            </a:r>
            <a:r>
              <a:rPr sz="2800" b="1" i="1" spc="-10" dirty="0">
                <a:latin typeface="Arial"/>
                <a:cs typeface="Arial"/>
              </a:rPr>
              <a:t>existencia</a:t>
            </a:r>
            <a:endParaRPr sz="2800" dirty="0">
              <a:latin typeface="Arial"/>
              <a:cs typeface="Arial"/>
            </a:endParaRPr>
          </a:p>
          <a:p>
            <a:pPr marL="342265" algn="ctr">
              <a:lnSpc>
                <a:spcPct val="100000"/>
              </a:lnSpc>
              <a:spcBef>
                <a:spcPts val="10"/>
              </a:spcBef>
            </a:pPr>
            <a:r>
              <a:rPr sz="2800" b="1" dirty="0">
                <a:latin typeface="Arial"/>
                <a:cs typeface="Arial"/>
              </a:rPr>
              <a:t>de</a:t>
            </a:r>
            <a:r>
              <a:rPr sz="2800" b="1" spc="-15" dirty="0">
                <a:latin typeface="Arial"/>
                <a:cs typeface="Arial"/>
              </a:rPr>
              <a:t> </a:t>
            </a:r>
            <a:r>
              <a:rPr sz="2800" b="1" spc="-35" dirty="0">
                <a:latin typeface="Arial"/>
                <a:cs typeface="Arial"/>
              </a:rPr>
              <a:t>y</a:t>
            </a:r>
            <a:r>
              <a:rPr sz="2800" spc="-35" dirty="0">
                <a:latin typeface="Arial MT"/>
                <a:cs typeface="Arial MT"/>
              </a:rPr>
              <a:t>.</a:t>
            </a:r>
            <a:endParaRPr sz="2800" dirty="0">
              <a:latin typeface="Arial MT"/>
              <a:cs typeface="Arial MT"/>
            </a:endParaRPr>
          </a:p>
          <a:p>
            <a:pPr>
              <a:lnSpc>
                <a:spcPct val="100000"/>
              </a:lnSpc>
              <a:spcBef>
                <a:spcPts val="1495"/>
              </a:spcBef>
            </a:pPr>
            <a:endParaRPr sz="2800" dirty="0">
              <a:latin typeface="Arial MT"/>
              <a:cs typeface="Arial MT"/>
            </a:endParaRPr>
          </a:p>
          <a:p>
            <a:pPr marL="1175385">
              <a:lnSpc>
                <a:spcPct val="100000"/>
              </a:lnSpc>
              <a:spcBef>
                <a:spcPts val="5"/>
              </a:spcBef>
            </a:pPr>
            <a:r>
              <a:rPr sz="2800" dirty="0">
                <a:latin typeface="Symbol"/>
                <a:cs typeface="Symbol"/>
              </a:rPr>
              <a:t></a:t>
            </a:r>
            <a:r>
              <a:rPr sz="2800" spc="30" dirty="0">
                <a:latin typeface="Times New Roman"/>
                <a:cs typeface="Times New Roman"/>
              </a:rPr>
              <a:t>  </a:t>
            </a:r>
            <a:r>
              <a:rPr sz="2800" dirty="0">
                <a:latin typeface="Arial MT"/>
                <a:cs typeface="Arial MT"/>
              </a:rPr>
              <a:t>si</a:t>
            </a:r>
            <a:r>
              <a:rPr sz="2800" spc="-55" dirty="0">
                <a:latin typeface="Arial MT"/>
                <a:cs typeface="Arial MT"/>
              </a:rPr>
              <a:t> </a:t>
            </a:r>
            <a:r>
              <a:rPr sz="2800" dirty="0">
                <a:latin typeface="Arial MT"/>
                <a:cs typeface="Arial MT"/>
              </a:rPr>
              <a:t>se</a:t>
            </a:r>
            <a:r>
              <a:rPr sz="2800" spc="-45" dirty="0">
                <a:latin typeface="Arial MT"/>
                <a:cs typeface="Arial MT"/>
              </a:rPr>
              <a:t> </a:t>
            </a:r>
            <a:r>
              <a:rPr sz="2800" dirty="0">
                <a:latin typeface="Arial MT"/>
                <a:cs typeface="Arial MT"/>
              </a:rPr>
              <a:t>suprime</a:t>
            </a:r>
            <a:r>
              <a:rPr sz="2800" spc="-30" dirty="0">
                <a:latin typeface="Arial MT"/>
                <a:cs typeface="Arial MT"/>
              </a:rPr>
              <a:t> </a:t>
            </a:r>
            <a:r>
              <a:rPr sz="2800" b="1" dirty="0">
                <a:latin typeface="Arial"/>
                <a:cs typeface="Arial"/>
              </a:rPr>
              <a:t>y</a:t>
            </a:r>
            <a:r>
              <a:rPr sz="2800" dirty="0">
                <a:latin typeface="Arial MT"/>
                <a:cs typeface="Arial MT"/>
              </a:rPr>
              <a:t>,</a:t>
            </a:r>
            <a:r>
              <a:rPr sz="2800" spc="-30" dirty="0">
                <a:latin typeface="Arial MT"/>
                <a:cs typeface="Arial MT"/>
              </a:rPr>
              <a:t> </a:t>
            </a:r>
            <a:r>
              <a:rPr sz="2800" dirty="0">
                <a:latin typeface="Arial MT"/>
                <a:cs typeface="Arial MT"/>
              </a:rPr>
              <a:t>también</a:t>
            </a:r>
            <a:r>
              <a:rPr sz="2800" spc="-45" dirty="0">
                <a:latin typeface="Arial MT"/>
                <a:cs typeface="Arial MT"/>
              </a:rPr>
              <a:t> </a:t>
            </a:r>
            <a:r>
              <a:rPr sz="2800" dirty="0">
                <a:latin typeface="Arial MT"/>
                <a:cs typeface="Arial MT"/>
              </a:rPr>
              <a:t>se</a:t>
            </a:r>
            <a:r>
              <a:rPr sz="2800" spc="-40" dirty="0">
                <a:latin typeface="Arial MT"/>
                <a:cs typeface="Arial MT"/>
              </a:rPr>
              <a:t> </a:t>
            </a:r>
            <a:r>
              <a:rPr sz="2800" dirty="0">
                <a:latin typeface="Arial MT"/>
                <a:cs typeface="Arial MT"/>
              </a:rPr>
              <a:t>suprime</a:t>
            </a:r>
            <a:r>
              <a:rPr sz="2800" spc="-40" dirty="0">
                <a:latin typeface="Arial MT"/>
                <a:cs typeface="Arial MT"/>
              </a:rPr>
              <a:t> </a:t>
            </a:r>
            <a:r>
              <a:rPr sz="2800" b="1" spc="-25" dirty="0">
                <a:latin typeface="Arial"/>
                <a:cs typeface="Arial"/>
              </a:rPr>
              <a:t>x.</a:t>
            </a:r>
            <a:endParaRPr sz="2800" dirty="0">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92100" y="459866"/>
            <a:ext cx="7705702" cy="1411351"/>
          </a:xfrm>
          <a:prstGeom prst="rect">
            <a:avLst/>
          </a:prstGeom>
        </p:spPr>
        <p:txBody>
          <a:bodyPr vert="horz" wrap="square" lIns="0" tIns="316865" rIns="0" bIns="0" rtlCol="0">
            <a:spAutoFit/>
          </a:bodyPr>
          <a:lstStyle/>
          <a:p>
            <a:pPr marL="1592580">
              <a:lnSpc>
                <a:spcPct val="100000"/>
              </a:lnSpc>
              <a:spcBef>
                <a:spcPts val="95"/>
              </a:spcBef>
            </a:pPr>
            <a:r>
              <a:rPr sz="4000" b="1" dirty="0">
                <a:latin typeface="Arial"/>
                <a:cs typeface="Arial"/>
              </a:rPr>
              <a:t>Claves</a:t>
            </a:r>
            <a:r>
              <a:rPr sz="4000" b="1" spc="-85" dirty="0">
                <a:latin typeface="Arial"/>
                <a:cs typeface="Arial"/>
              </a:rPr>
              <a:t> </a:t>
            </a:r>
            <a:r>
              <a:rPr sz="4000" b="1" dirty="0">
                <a:latin typeface="Arial"/>
                <a:cs typeface="Arial"/>
              </a:rPr>
              <a:t>en</a:t>
            </a:r>
            <a:r>
              <a:rPr sz="4000" b="1" spc="-85" dirty="0">
                <a:latin typeface="Arial"/>
                <a:cs typeface="Arial"/>
              </a:rPr>
              <a:t> </a:t>
            </a:r>
            <a:r>
              <a:rPr sz="4000" b="1" spc="-10" dirty="0">
                <a:latin typeface="Arial"/>
                <a:cs typeface="Arial"/>
              </a:rPr>
              <a:t>entidades</a:t>
            </a:r>
            <a:endParaRPr sz="4000" dirty="0">
              <a:latin typeface="Arial"/>
              <a:cs typeface="Arial"/>
            </a:endParaRPr>
          </a:p>
        </p:txBody>
      </p:sp>
      <p:sp>
        <p:nvSpPr>
          <p:cNvPr id="3" name="object 3"/>
          <p:cNvSpPr txBox="1"/>
          <p:nvPr/>
        </p:nvSpPr>
        <p:spPr>
          <a:xfrm>
            <a:off x="1308100" y="1416050"/>
            <a:ext cx="8219440" cy="5716308"/>
          </a:xfrm>
          <a:prstGeom prst="rect">
            <a:avLst/>
          </a:prstGeom>
        </p:spPr>
        <p:txBody>
          <a:bodyPr vert="horz" wrap="square" lIns="0" tIns="12065" rIns="0" bIns="0" rtlCol="0">
            <a:spAutoFit/>
          </a:bodyPr>
          <a:lstStyle/>
          <a:p>
            <a:pPr marL="318770" marR="5080" indent="-248920">
              <a:lnSpc>
                <a:spcPct val="100000"/>
              </a:lnSpc>
              <a:spcBef>
                <a:spcPts val="95"/>
              </a:spcBef>
            </a:pPr>
            <a:r>
              <a:rPr sz="2800" b="1" dirty="0">
                <a:latin typeface="Arial"/>
                <a:cs typeface="Arial"/>
              </a:rPr>
              <a:t>Superclave</a:t>
            </a:r>
            <a:r>
              <a:rPr sz="2800" b="1" spc="680" dirty="0">
                <a:latin typeface="Arial"/>
                <a:cs typeface="Arial"/>
              </a:rPr>
              <a:t> </a:t>
            </a:r>
            <a:r>
              <a:rPr sz="2800" dirty="0">
                <a:latin typeface="Arial MT"/>
                <a:cs typeface="Arial MT"/>
              </a:rPr>
              <a:t>es</a:t>
            </a:r>
            <a:r>
              <a:rPr sz="2800" spc="-45" dirty="0">
                <a:latin typeface="Arial MT"/>
                <a:cs typeface="Arial MT"/>
              </a:rPr>
              <a:t> </a:t>
            </a:r>
            <a:r>
              <a:rPr sz="2800" dirty="0">
                <a:latin typeface="Arial MT"/>
                <a:cs typeface="Arial MT"/>
              </a:rPr>
              <a:t>un</a:t>
            </a:r>
            <a:r>
              <a:rPr sz="2800" spc="-55" dirty="0">
                <a:latin typeface="Arial MT"/>
                <a:cs typeface="Arial MT"/>
              </a:rPr>
              <a:t> </a:t>
            </a:r>
            <a:r>
              <a:rPr sz="2800" dirty="0">
                <a:latin typeface="Arial MT"/>
                <a:cs typeface="Arial MT"/>
              </a:rPr>
              <a:t>conjunto</a:t>
            </a:r>
            <a:r>
              <a:rPr sz="2800" spc="-45" dirty="0">
                <a:latin typeface="Arial MT"/>
                <a:cs typeface="Arial MT"/>
              </a:rPr>
              <a:t> </a:t>
            </a:r>
            <a:r>
              <a:rPr sz="2800" dirty="0">
                <a:latin typeface="Arial MT"/>
                <a:cs typeface="Arial MT"/>
              </a:rPr>
              <a:t>de</a:t>
            </a:r>
            <a:r>
              <a:rPr sz="2800" spc="-45" dirty="0">
                <a:latin typeface="Arial MT"/>
                <a:cs typeface="Arial MT"/>
              </a:rPr>
              <a:t> </a:t>
            </a:r>
            <a:r>
              <a:rPr sz="2800" dirty="0">
                <a:latin typeface="Arial MT"/>
                <a:cs typeface="Arial MT"/>
              </a:rPr>
              <a:t>uno</a:t>
            </a:r>
            <a:r>
              <a:rPr sz="2800" spc="-45" dirty="0">
                <a:latin typeface="Arial MT"/>
                <a:cs typeface="Arial MT"/>
              </a:rPr>
              <a:t> </a:t>
            </a:r>
            <a:r>
              <a:rPr sz="2800" dirty="0">
                <a:latin typeface="Arial MT"/>
                <a:cs typeface="Arial MT"/>
              </a:rPr>
              <a:t>o</a:t>
            </a:r>
            <a:r>
              <a:rPr sz="2800" spc="-40" dirty="0">
                <a:latin typeface="Arial MT"/>
                <a:cs typeface="Arial MT"/>
              </a:rPr>
              <a:t> </a:t>
            </a:r>
            <a:r>
              <a:rPr sz="2800" dirty="0">
                <a:latin typeface="Arial MT"/>
                <a:cs typeface="Arial MT"/>
              </a:rPr>
              <a:t>más</a:t>
            </a:r>
            <a:r>
              <a:rPr sz="2800" spc="-45" dirty="0">
                <a:latin typeface="Arial MT"/>
                <a:cs typeface="Arial MT"/>
              </a:rPr>
              <a:t> </a:t>
            </a:r>
            <a:r>
              <a:rPr sz="2800" spc="-10" dirty="0">
                <a:latin typeface="Arial MT"/>
                <a:cs typeface="Arial MT"/>
              </a:rPr>
              <a:t>atributos </a:t>
            </a:r>
            <a:r>
              <a:rPr sz="2800" dirty="0">
                <a:latin typeface="Arial MT"/>
                <a:cs typeface="Arial MT"/>
              </a:rPr>
              <a:t>que</a:t>
            </a:r>
            <a:r>
              <a:rPr sz="2800" spc="-55" dirty="0">
                <a:latin typeface="Arial MT"/>
                <a:cs typeface="Arial MT"/>
              </a:rPr>
              <a:t> </a:t>
            </a:r>
            <a:r>
              <a:rPr sz="2800" dirty="0">
                <a:latin typeface="Arial MT"/>
                <a:cs typeface="Arial MT"/>
              </a:rPr>
              <a:t>permiten</a:t>
            </a:r>
            <a:r>
              <a:rPr sz="2800" spc="665" dirty="0">
                <a:latin typeface="Arial MT"/>
                <a:cs typeface="Arial MT"/>
              </a:rPr>
              <a:t> </a:t>
            </a:r>
            <a:r>
              <a:rPr sz="2800" b="1" dirty="0">
                <a:latin typeface="Arial"/>
                <a:cs typeface="Arial"/>
              </a:rPr>
              <a:t>identificar</a:t>
            </a:r>
            <a:r>
              <a:rPr sz="2800" b="1" spc="-50" dirty="0">
                <a:latin typeface="Arial"/>
                <a:cs typeface="Arial"/>
              </a:rPr>
              <a:t> </a:t>
            </a:r>
            <a:r>
              <a:rPr sz="2800" b="1" dirty="0">
                <a:latin typeface="Arial"/>
                <a:cs typeface="Arial"/>
              </a:rPr>
              <a:t>de</a:t>
            </a:r>
            <a:r>
              <a:rPr sz="2800" b="1" spc="-55" dirty="0">
                <a:latin typeface="Arial"/>
                <a:cs typeface="Arial"/>
              </a:rPr>
              <a:t> </a:t>
            </a:r>
            <a:r>
              <a:rPr sz="2800" b="1" dirty="0">
                <a:latin typeface="Arial"/>
                <a:cs typeface="Arial"/>
              </a:rPr>
              <a:t>forma</a:t>
            </a:r>
            <a:r>
              <a:rPr sz="2800" b="1" spc="-50" dirty="0">
                <a:latin typeface="Arial"/>
                <a:cs typeface="Arial"/>
              </a:rPr>
              <a:t> </a:t>
            </a:r>
            <a:r>
              <a:rPr sz="2800" b="1" dirty="0">
                <a:latin typeface="Arial"/>
                <a:cs typeface="Arial"/>
              </a:rPr>
              <a:t>única</a:t>
            </a:r>
            <a:r>
              <a:rPr sz="2800" b="1" spc="-55" dirty="0">
                <a:latin typeface="Arial"/>
                <a:cs typeface="Arial"/>
              </a:rPr>
              <a:t> </a:t>
            </a:r>
            <a:r>
              <a:rPr sz="2800" b="1" dirty="0">
                <a:latin typeface="Arial"/>
                <a:cs typeface="Arial"/>
              </a:rPr>
              <a:t>a</a:t>
            </a:r>
            <a:r>
              <a:rPr sz="2800" b="1" spc="-50" dirty="0">
                <a:latin typeface="Arial"/>
                <a:cs typeface="Arial"/>
              </a:rPr>
              <a:t> </a:t>
            </a:r>
            <a:r>
              <a:rPr sz="2800" b="1" spc="-25" dirty="0">
                <a:latin typeface="Arial"/>
                <a:cs typeface="Arial"/>
              </a:rPr>
              <a:t>una</a:t>
            </a:r>
            <a:endParaRPr sz="2800" dirty="0">
              <a:latin typeface="Arial"/>
              <a:cs typeface="Arial"/>
            </a:endParaRPr>
          </a:p>
          <a:p>
            <a:pPr marL="399415" algn="ctr">
              <a:lnSpc>
                <a:spcPts val="2690"/>
              </a:lnSpc>
            </a:pPr>
            <a:r>
              <a:rPr sz="2800" b="1" spc="-10" dirty="0">
                <a:latin typeface="Arial"/>
                <a:cs typeface="Arial"/>
              </a:rPr>
              <a:t>entidad</a:t>
            </a:r>
            <a:r>
              <a:rPr sz="2800" spc="-10" dirty="0">
                <a:latin typeface="Arial MT"/>
                <a:cs typeface="Arial MT"/>
              </a:rPr>
              <a:t>.</a:t>
            </a:r>
            <a:endParaRPr sz="2800" dirty="0">
              <a:latin typeface="Arial MT"/>
              <a:cs typeface="Arial MT"/>
            </a:endParaRPr>
          </a:p>
          <a:p>
            <a:pPr>
              <a:lnSpc>
                <a:spcPct val="100000"/>
              </a:lnSpc>
              <a:spcBef>
                <a:spcPts val="600"/>
              </a:spcBef>
            </a:pPr>
            <a:endParaRPr sz="2800" dirty="0">
              <a:latin typeface="Arial MT"/>
              <a:cs typeface="Arial MT"/>
            </a:endParaRPr>
          </a:p>
          <a:p>
            <a:pPr marL="12700">
              <a:lnSpc>
                <a:spcPct val="100000"/>
              </a:lnSpc>
              <a:tabLst>
                <a:tab pos="1720850" algn="l"/>
              </a:tabLst>
            </a:pPr>
            <a:r>
              <a:rPr sz="2400" b="1" spc="-10" dirty="0">
                <a:latin typeface="Arial"/>
                <a:cs typeface="Arial"/>
              </a:rPr>
              <a:t>Ejemplos:</a:t>
            </a:r>
            <a:r>
              <a:rPr sz="2400" b="1" dirty="0">
                <a:latin typeface="Arial"/>
                <a:cs typeface="Arial"/>
              </a:rPr>
              <a:t>	</a:t>
            </a:r>
            <a:r>
              <a:rPr sz="2400" dirty="0">
                <a:latin typeface="Arial MT"/>
                <a:cs typeface="Arial MT"/>
              </a:rPr>
              <a:t>Superclaves</a:t>
            </a:r>
            <a:r>
              <a:rPr sz="2400" spc="-60" dirty="0">
                <a:latin typeface="Arial MT"/>
                <a:cs typeface="Arial MT"/>
              </a:rPr>
              <a:t> </a:t>
            </a:r>
            <a:r>
              <a:rPr sz="2400" dirty="0">
                <a:latin typeface="Arial MT"/>
                <a:cs typeface="Arial MT"/>
              </a:rPr>
              <a:t>de</a:t>
            </a:r>
            <a:r>
              <a:rPr sz="2400" spc="-55" dirty="0">
                <a:latin typeface="Arial MT"/>
                <a:cs typeface="Arial MT"/>
              </a:rPr>
              <a:t> </a:t>
            </a:r>
            <a:r>
              <a:rPr sz="2400" dirty="0">
                <a:latin typeface="Arial MT"/>
                <a:cs typeface="Arial MT"/>
              </a:rPr>
              <a:t>la</a:t>
            </a:r>
            <a:r>
              <a:rPr sz="2400" spc="-55" dirty="0">
                <a:latin typeface="Arial MT"/>
                <a:cs typeface="Arial MT"/>
              </a:rPr>
              <a:t> </a:t>
            </a:r>
            <a:r>
              <a:rPr sz="2400" spc="-10" dirty="0" err="1" smtClean="0">
                <a:latin typeface="Arial MT"/>
                <a:cs typeface="Arial MT"/>
              </a:rPr>
              <a:t>entidad</a:t>
            </a:r>
            <a:r>
              <a:rPr lang="es-ES" sz="2400" spc="-10" dirty="0" smtClean="0">
                <a:latin typeface="Arial MT"/>
                <a:cs typeface="Arial MT"/>
              </a:rPr>
              <a:t> </a:t>
            </a:r>
            <a:r>
              <a:rPr sz="2400" i="1" dirty="0" err="1" smtClean="0">
                <a:latin typeface="Arial"/>
                <a:cs typeface="Arial"/>
              </a:rPr>
              <a:t>Cliente</a:t>
            </a:r>
            <a:r>
              <a:rPr sz="2400" i="1" spc="-30" dirty="0" smtClean="0">
                <a:latin typeface="Arial"/>
                <a:cs typeface="Arial"/>
              </a:rPr>
              <a:t> </a:t>
            </a:r>
            <a:r>
              <a:rPr sz="2400" i="1" spc="-20" dirty="0">
                <a:latin typeface="Arial"/>
                <a:cs typeface="Arial"/>
              </a:rPr>
              <a:t>(nombre-</a:t>
            </a:r>
            <a:r>
              <a:rPr sz="2400" i="1" dirty="0">
                <a:latin typeface="Arial"/>
                <a:cs typeface="Arial"/>
              </a:rPr>
              <a:t>cliente,</a:t>
            </a:r>
            <a:r>
              <a:rPr sz="2400" i="1" spc="-25" dirty="0">
                <a:latin typeface="Arial"/>
                <a:cs typeface="Arial"/>
              </a:rPr>
              <a:t> </a:t>
            </a:r>
            <a:r>
              <a:rPr sz="2400" i="1" spc="-20" dirty="0">
                <a:latin typeface="Arial"/>
                <a:cs typeface="Arial"/>
              </a:rPr>
              <a:t>seguridad-</a:t>
            </a:r>
            <a:r>
              <a:rPr sz="2400" i="1" dirty="0">
                <a:latin typeface="Arial"/>
                <a:cs typeface="Arial"/>
              </a:rPr>
              <a:t>social,</a:t>
            </a:r>
            <a:r>
              <a:rPr sz="2400" i="1" spc="-20" dirty="0">
                <a:latin typeface="Arial"/>
                <a:cs typeface="Arial"/>
              </a:rPr>
              <a:t> </a:t>
            </a:r>
            <a:r>
              <a:rPr sz="2400" i="1" dirty="0">
                <a:latin typeface="Arial"/>
                <a:cs typeface="Arial"/>
              </a:rPr>
              <a:t>calle,</a:t>
            </a:r>
            <a:r>
              <a:rPr sz="2400" i="1" spc="-25" dirty="0">
                <a:latin typeface="Arial"/>
                <a:cs typeface="Arial"/>
              </a:rPr>
              <a:t> </a:t>
            </a:r>
            <a:r>
              <a:rPr sz="2400" i="1" spc="-10" dirty="0" smtClean="0">
                <a:latin typeface="Arial"/>
                <a:cs typeface="Arial"/>
              </a:rPr>
              <a:t>ciudad-</a:t>
            </a:r>
            <a:r>
              <a:rPr sz="2400" i="1" spc="-10" dirty="0" err="1" smtClean="0">
                <a:latin typeface="Arial"/>
                <a:cs typeface="Arial"/>
              </a:rPr>
              <a:t>cliente</a:t>
            </a:r>
            <a:r>
              <a:rPr sz="2400" i="1" spc="-10" dirty="0">
                <a:latin typeface="Arial"/>
                <a:cs typeface="Arial"/>
              </a:rPr>
              <a:t>)</a:t>
            </a:r>
            <a:endParaRPr sz="2400" dirty="0">
              <a:latin typeface="Arial"/>
              <a:cs typeface="Arial"/>
            </a:endParaRPr>
          </a:p>
          <a:p>
            <a:pPr marL="755015" indent="-285115">
              <a:lnSpc>
                <a:spcPct val="100000"/>
              </a:lnSpc>
              <a:spcBef>
                <a:spcPts val="1730"/>
              </a:spcBef>
              <a:buFont typeface="Arial MT"/>
              <a:buChar char="–"/>
              <a:tabLst>
                <a:tab pos="755015" algn="l"/>
              </a:tabLst>
            </a:pPr>
            <a:r>
              <a:rPr sz="2400" b="1" spc="-20" dirty="0">
                <a:latin typeface="Arial"/>
                <a:cs typeface="Arial"/>
              </a:rPr>
              <a:t>{nombre-</a:t>
            </a:r>
            <a:r>
              <a:rPr sz="2400" b="1" dirty="0">
                <a:latin typeface="Arial"/>
                <a:cs typeface="Arial"/>
              </a:rPr>
              <a:t>cliente,</a:t>
            </a:r>
            <a:r>
              <a:rPr sz="2400" b="1" spc="10" dirty="0">
                <a:latin typeface="Arial"/>
                <a:cs typeface="Arial"/>
              </a:rPr>
              <a:t> </a:t>
            </a:r>
            <a:r>
              <a:rPr sz="2400" b="1" spc="-10" dirty="0">
                <a:latin typeface="Arial"/>
                <a:cs typeface="Arial"/>
              </a:rPr>
              <a:t>seguridad-social}</a:t>
            </a:r>
            <a:endParaRPr sz="2400" dirty="0">
              <a:latin typeface="Arial"/>
              <a:cs typeface="Arial"/>
            </a:endParaRPr>
          </a:p>
          <a:p>
            <a:pPr marL="755015" indent="-285115">
              <a:lnSpc>
                <a:spcPct val="100000"/>
              </a:lnSpc>
              <a:spcBef>
                <a:spcPts val="2014"/>
              </a:spcBef>
              <a:buFont typeface="Arial MT"/>
              <a:buChar char="–"/>
              <a:tabLst>
                <a:tab pos="755015" algn="l"/>
              </a:tabLst>
            </a:pPr>
            <a:r>
              <a:rPr sz="2400" b="1" spc="-10" dirty="0">
                <a:latin typeface="Arial"/>
                <a:cs typeface="Arial"/>
              </a:rPr>
              <a:t>seguridad-social</a:t>
            </a:r>
            <a:endParaRPr sz="2400" dirty="0">
              <a:latin typeface="Arial"/>
              <a:cs typeface="Arial"/>
            </a:endParaRPr>
          </a:p>
          <a:p>
            <a:pPr>
              <a:lnSpc>
                <a:spcPct val="100000"/>
              </a:lnSpc>
              <a:spcBef>
                <a:spcPts val="990"/>
              </a:spcBef>
            </a:pPr>
            <a:endParaRPr sz="2400" dirty="0">
              <a:latin typeface="Arial"/>
              <a:cs typeface="Arial"/>
            </a:endParaRPr>
          </a:p>
          <a:p>
            <a:pPr marL="354330" indent="-341630">
              <a:lnSpc>
                <a:spcPts val="3025"/>
              </a:lnSpc>
              <a:buChar char="•"/>
              <a:tabLst>
                <a:tab pos="354330" algn="l"/>
              </a:tabLst>
            </a:pPr>
            <a:r>
              <a:rPr sz="2800" dirty="0">
                <a:latin typeface="Arial MT"/>
                <a:cs typeface="Arial MT"/>
              </a:rPr>
              <a:t>Si</a:t>
            </a:r>
            <a:r>
              <a:rPr sz="2800" spc="-55" dirty="0">
                <a:latin typeface="Arial MT"/>
                <a:cs typeface="Arial MT"/>
              </a:rPr>
              <a:t> </a:t>
            </a:r>
            <a:r>
              <a:rPr sz="2800" b="1" dirty="0">
                <a:latin typeface="Arial"/>
                <a:cs typeface="Arial"/>
              </a:rPr>
              <a:t>K</a:t>
            </a:r>
            <a:r>
              <a:rPr sz="2800" b="1" spc="-60" dirty="0">
                <a:latin typeface="Arial"/>
                <a:cs typeface="Arial"/>
              </a:rPr>
              <a:t> </a:t>
            </a:r>
            <a:r>
              <a:rPr sz="2800" dirty="0">
                <a:latin typeface="Arial MT"/>
                <a:cs typeface="Arial MT"/>
              </a:rPr>
              <a:t>es</a:t>
            </a:r>
            <a:r>
              <a:rPr sz="2800" spc="-45" dirty="0">
                <a:latin typeface="Arial MT"/>
                <a:cs typeface="Arial MT"/>
              </a:rPr>
              <a:t> </a:t>
            </a:r>
            <a:r>
              <a:rPr sz="2800" dirty="0">
                <a:latin typeface="Arial MT"/>
                <a:cs typeface="Arial MT"/>
              </a:rPr>
              <a:t>una</a:t>
            </a:r>
            <a:r>
              <a:rPr sz="2800" spc="-50" dirty="0">
                <a:latin typeface="Arial MT"/>
                <a:cs typeface="Arial MT"/>
              </a:rPr>
              <a:t> </a:t>
            </a:r>
            <a:r>
              <a:rPr sz="2800" b="1" dirty="0">
                <a:latin typeface="Arial"/>
                <a:cs typeface="Arial"/>
              </a:rPr>
              <a:t>superclave</a:t>
            </a:r>
            <a:r>
              <a:rPr sz="2800" dirty="0">
                <a:latin typeface="Arial MT"/>
                <a:cs typeface="Arial MT"/>
              </a:rPr>
              <a:t>,</a:t>
            </a:r>
            <a:r>
              <a:rPr sz="2800" spc="-55" dirty="0">
                <a:latin typeface="Arial MT"/>
                <a:cs typeface="Arial MT"/>
              </a:rPr>
              <a:t> </a:t>
            </a:r>
            <a:r>
              <a:rPr sz="2800" dirty="0">
                <a:latin typeface="Arial MT"/>
                <a:cs typeface="Arial MT"/>
              </a:rPr>
              <a:t>también</a:t>
            </a:r>
            <a:r>
              <a:rPr sz="2800" spc="-50" dirty="0">
                <a:latin typeface="Arial MT"/>
                <a:cs typeface="Arial MT"/>
              </a:rPr>
              <a:t> </a:t>
            </a:r>
            <a:r>
              <a:rPr sz="2800" dirty="0">
                <a:latin typeface="Arial MT"/>
                <a:cs typeface="Arial MT"/>
              </a:rPr>
              <a:t>lo</a:t>
            </a:r>
            <a:r>
              <a:rPr sz="2800" spc="-35" dirty="0">
                <a:latin typeface="Arial MT"/>
                <a:cs typeface="Arial MT"/>
              </a:rPr>
              <a:t> </a:t>
            </a:r>
            <a:r>
              <a:rPr sz="2800" spc="-20" dirty="0">
                <a:latin typeface="Arial MT"/>
                <a:cs typeface="Arial MT"/>
              </a:rPr>
              <a:t>será</a:t>
            </a:r>
            <a:endParaRPr sz="2800" dirty="0">
              <a:latin typeface="Arial MT"/>
              <a:cs typeface="Arial MT"/>
            </a:endParaRPr>
          </a:p>
          <a:p>
            <a:pPr marL="354965">
              <a:lnSpc>
                <a:spcPts val="3025"/>
              </a:lnSpc>
            </a:pPr>
            <a:r>
              <a:rPr sz="2800" b="1" dirty="0">
                <a:latin typeface="Arial"/>
                <a:cs typeface="Arial"/>
              </a:rPr>
              <a:t>cualquier</a:t>
            </a:r>
            <a:r>
              <a:rPr sz="2800" b="1" spc="-110" dirty="0">
                <a:latin typeface="Arial"/>
                <a:cs typeface="Arial"/>
              </a:rPr>
              <a:t> </a:t>
            </a:r>
            <a:r>
              <a:rPr sz="2800" b="1" dirty="0">
                <a:latin typeface="Arial"/>
                <a:cs typeface="Arial"/>
              </a:rPr>
              <a:t>superconjunto</a:t>
            </a:r>
            <a:r>
              <a:rPr sz="2800" b="1" spc="-105" dirty="0">
                <a:latin typeface="Arial"/>
                <a:cs typeface="Arial"/>
              </a:rPr>
              <a:t> </a:t>
            </a:r>
            <a:r>
              <a:rPr sz="2800" b="1" dirty="0">
                <a:latin typeface="Arial"/>
                <a:cs typeface="Arial"/>
              </a:rPr>
              <a:t>de</a:t>
            </a:r>
            <a:r>
              <a:rPr sz="2800" b="1" spc="-110" dirty="0">
                <a:latin typeface="Arial"/>
                <a:cs typeface="Arial"/>
              </a:rPr>
              <a:t> </a:t>
            </a:r>
            <a:r>
              <a:rPr sz="2800" b="1" spc="-25" dirty="0">
                <a:latin typeface="Arial"/>
                <a:cs typeface="Arial"/>
              </a:rPr>
              <a:t>K</a:t>
            </a:r>
            <a:r>
              <a:rPr sz="2800" b="1" spc="-25" dirty="0" smtClean="0">
                <a:latin typeface="Arial"/>
                <a:cs typeface="Arial"/>
              </a:rPr>
              <a:t>.</a:t>
            </a:r>
            <a:endParaRPr lang="es-ES" sz="2800" b="1" spc="-25" dirty="0" smtClean="0">
              <a:latin typeface="Arial"/>
              <a:cs typeface="Arial"/>
            </a:endParaRPr>
          </a:p>
          <a:p>
            <a:pPr marL="354965">
              <a:lnSpc>
                <a:spcPts val="3025"/>
              </a:lnSpc>
            </a:pPr>
            <a:r>
              <a:rPr lang="es-ES" sz="1200" b="1" spc="-25" dirty="0" smtClean="0">
                <a:latin typeface="Arial"/>
                <a:cs typeface="Arial"/>
              </a:rPr>
              <a:t>(</a:t>
            </a:r>
            <a:r>
              <a:rPr lang="es-ES" sz="1200" b="1" dirty="0" smtClean="0"/>
              <a:t>si un conjunto de atributos permite identificar de manera única a una entidad, agregarle más atributos no hace que deje de identificarla de manera única</a:t>
            </a:r>
            <a:r>
              <a:rPr lang="es-ES" sz="1200" dirty="0" smtClean="0"/>
              <a:t>.</a:t>
            </a:r>
            <a:r>
              <a:rPr lang="es-ES" sz="1200" b="1" spc="-25" dirty="0" smtClean="0">
                <a:latin typeface="Arial"/>
                <a:cs typeface="Arial"/>
              </a:rPr>
              <a:t>)</a:t>
            </a:r>
            <a:endParaRPr sz="1200" dirty="0">
              <a:latin typeface="Arial"/>
              <a:cs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20700" y="425450"/>
            <a:ext cx="7705702" cy="1411351"/>
          </a:xfrm>
          <a:prstGeom prst="rect">
            <a:avLst/>
          </a:prstGeom>
        </p:spPr>
        <p:txBody>
          <a:bodyPr vert="horz" wrap="square" lIns="0" tIns="316865" rIns="0" bIns="0" rtlCol="0">
            <a:spAutoFit/>
          </a:bodyPr>
          <a:lstStyle/>
          <a:p>
            <a:pPr marL="1592580">
              <a:lnSpc>
                <a:spcPct val="100000"/>
              </a:lnSpc>
              <a:spcBef>
                <a:spcPts val="95"/>
              </a:spcBef>
            </a:pPr>
            <a:r>
              <a:rPr sz="4000" b="1" dirty="0">
                <a:latin typeface="Arial"/>
                <a:cs typeface="Arial"/>
              </a:rPr>
              <a:t>Claves</a:t>
            </a:r>
            <a:r>
              <a:rPr sz="4000" b="1" spc="-85" dirty="0">
                <a:latin typeface="Arial"/>
                <a:cs typeface="Arial"/>
              </a:rPr>
              <a:t> </a:t>
            </a:r>
            <a:r>
              <a:rPr sz="4000" b="1" dirty="0">
                <a:latin typeface="Arial"/>
                <a:cs typeface="Arial"/>
              </a:rPr>
              <a:t>en</a:t>
            </a:r>
            <a:r>
              <a:rPr sz="4000" b="1" spc="-85" dirty="0">
                <a:latin typeface="Arial"/>
                <a:cs typeface="Arial"/>
              </a:rPr>
              <a:t> </a:t>
            </a:r>
            <a:r>
              <a:rPr sz="4000" b="1" spc="-10" dirty="0">
                <a:latin typeface="Arial"/>
                <a:cs typeface="Arial"/>
              </a:rPr>
              <a:t>entidades</a:t>
            </a:r>
            <a:endParaRPr sz="4000" dirty="0">
              <a:latin typeface="Arial"/>
              <a:cs typeface="Arial"/>
            </a:endParaRPr>
          </a:p>
        </p:txBody>
      </p:sp>
      <p:sp>
        <p:nvSpPr>
          <p:cNvPr id="3" name="object 3"/>
          <p:cNvSpPr txBox="1"/>
          <p:nvPr/>
        </p:nvSpPr>
        <p:spPr>
          <a:xfrm>
            <a:off x="1003300" y="1568451"/>
            <a:ext cx="8610600" cy="3523400"/>
          </a:xfrm>
          <a:prstGeom prst="rect">
            <a:avLst/>
          </a:prstGeom>
        </p:spPr>
        <p:txBody>
          <a:bodyPr vert="horz" wrap="square" lIns="0" tIns="12065" rIns="0" bIns="0" rtlCol="0">
            <a:spAutoFit/>
          </a:bodyPr>
          <a:lstStyle/>
          <a:p>
            <a:pPr marL="12700">
              <a:lnSpc>
                <a:spcPct val="100000"/>
              </a:lnSpc>
              <a:spcBef>
                <a:spcPts val="95"/>
              </a:spcBef>
            </a:pPr>
            <a:r>
              <a:rPr sz="2800" b="1" dirty="0">
                <a:latin typeface="Arial"/>
                <a:cs typeface="Arial"/>
              </a:rPr>
              <a:t>Claves</a:t>
            </a:r>
            <a:r>
              <a:rPr sz="2800" b="1" spc="-85" dirty="0">
                <a:latin typeface="Arial"/>
                <a:cs typeface="Arial"/>
              </a:rPr>
              <a:t> </a:t>
            </a:r>
            <a:r>
              <a:rPr sz="2800" b="1" spc="-10" dirty="0" err="1" smtClean="0">
                <a:latin typeface="Arial"/>
                <a:cs typeface="Arial"/>
              </a:rPr>
              <a:t>candidatas</a:t>
            </a:r>
            <a:r>
              <a:rPr lang="es-ES" sz="2800" b="1" spc="-10" dirty="0" smtClean="0">
                <a:latin typeface="Arial"/>
                <a:cs typeface="Arial"/>
              </a:rPr>
              <a:t>: </a:t>
            </a:r>
            <a:r>
              <a:rPr lang="es-ES" sz="2800" spc="-10" dirty="0" smtClean="0">
                <a:latin typeface="Arial"/>
                <a:cs typeface="Arial"/>
              </a:rPr>
              <a:t>C</a:t>
            </a:r>
            <a:r>
              <a:rPr lang="es-ES" sz="2800" dirty="0" smtClean="0"/>
              <a:t>onjunto de </a:t>
            </a:r>
            <a:r>
              <a:rPr lang="en-US" sz="2800" dirty="0" err="1" smtClean="0"/>
              <a:t>atributos</a:t>
            </a:r>
            <a:r>
              <a:rPr lang="en-US" sz="2800" dirty="0" smtClean="0"/>
              <a:t> o </a:t>
            </a:r>
            <a:r>
              <a:rPr lang="en-US" sz="2800" dirty="0" err="1" smtClean="0"/>
              <a:t>conjunto</a:t>
            </a:r>
            <a:r>
              <a:rPr lang="en-US" sz="2800" dirty="0" smtClean="0"/>
              <a:t> </a:t>
            </a:r>
            <a:r>
              <a:rPr lang="en-US" sz="2800" dirty="0" err="1" smtClean="0"/>
              <a:t>mínimo</a:t>
            </a:r>
            <a:r>
              <a:rPr lang="en-US" sz="2800" dirty="0" smtClean="0"/>
              <a:t> de </a:t>
            </a:r>
            <a:r>
              <a:rPr lang="en-US" sz="2800" dirty="0" err="1" smtClean="0"/>
              <a:t>atributos</a:t>
            </a:r>
            <a:r>
              <a:rPr lang="en-US" sz="2800" dirty="0" smtClean="0"/>
              <a:t> que </a:t>
            </a:r>
            <a:r>
              <a:rPr lang="en-US" sz="2800" dirty="0" err="1" smtClean="0"/>
              <a:t>identifica</a:t>
            </a:r>
            <a:r>
              <a:rPr lang="en-US" sz="2800" dirty="0" smtClean="0"/>
              <a:t> de </a:t>
            </a:r>
            <a:r>
              <a:rPr lang="en-US" sz="2800" dirty="0" err="1" smtClean="0"/>
              <a:t>manera</a:t>
            </a:r>
            <a:r>
              <a:rPr lang="en-US" sz="2800" dirty="0" smtClean="0"/>
              <a:t> </a:t>
            </a:r>
            <a:r>
              <a:rPr lang="en-US" sz="2800" dirty="0" err="1" smtClean="0"/>
              <a:t>única</a:t>
            </a:r>
            <a:r>
              <a:rPr lang="en-US" sz="2800" dirty="0" smtClean="0"/>
              <a:t> </a:t>
            </a:r>
            <a:r>
              <a:rPr lang="en-US" sz="2800" dirty="0" err="1" smtClean="0"/>
              <a:t>cada</a:t>
            </a:r>
            <a:r>
              <a:rPr lang="en-US" sz="2800" dirty="0" smtClean="0"/>
              <a:t> </a:t>
            </a:r>
            <a:r>
              <a:rPr lang="en-US" sz="2800" dirty="0" err="1" smtClean="0"/>
              <a:t>instancia</a:t>
            </a:r>
            <a:r>
              <a:rPr lang="en-US" sz="2800" dirty="0" smtClean="0"/>
              <a:t> de </a:t>
            </a:r>
            <a:r>
              <a:rPr lang="en-US" sz="2800" dirty="0" err="1" smtClean="0"/>
              <a:t>una</a:t>
            </a:r>
            <a:r>
              <a:rPr lang="en-US" sz="2800" dirty="0" smtClean="0"/>
              <a:t> </a:t>
            </a:r>
            <a:r>
              <a:rPr lang="en-US" sz="2800" dirty="0" err="1" smtClean="0"/>
              <a:t>entidad</a:t>
            </a:r>
            <a:r>
              <a:rPr lang="en-US" sz="2800" dirty="0" smtClean="0"/>
              <a:t>.</a:t>
            </a:r>
            <a:endParaRPr sz="2800" dirty="0" smtClean="0">
              <a:latin typeface="Arial MT"/>
              <a:cs typeface="Arial MT"/>
            </a:endParaRPr>
          </a:p>
          <a:p>
            <a:pPr>
              <a:lnSpc>
                <a:spcPct val="100000"/>
              </a:lnSpc>
            </a:pPr>
            <a:endParaRPr sz="2800" dirty="0">
              <a:latin typeface="Arial MT"/>
              <a:cs typeface="Arial MT"/>
            </a:endParaRPr>
          </a:p>
          <a:p>
            <a:pPr>
              <a:lnSpc>
                <a:spcPct val="100000"/>
              </a:lnSpc>
              <a:spcBef>
                <a:spcPts val="290"/>
              </a:spcBef>
            </a:pPr>
            <a:endParaRPr sz="2800" dirty="0">
              <a:latin typeface="Arial MT"/>
              <a:cs typeface="Arial MT"/>
            </a:endParaRPr>
          </a:p>
          <a:p>
            <a:pPr marL="12700">
              <a:spcBef>
                <a:spcPts val="95"/>
              </a:spcBef>
            </a:pPr>
            <a:r>
              <a:rPr sz="2800" b="1" dirty="0">
                <a:latin typeface="Arial"/>
                <a:cs typeface="Arial"/>
              </a:rPr>
              <a:t>Clave</a:t>
            </a:r>
            <a:r>
              <a:rPr sz="2800" b="1" spc="-70" dirty="0">
                <a:latin typeface="Arial"/>
                <a:cs typeface="Arial"/>
              </a:rPr>
              <a:t> </a:t>
            </a:r>
            <a:r>
              <a:rPr sz="2800" b="1" spc="-10" dirty="0" err="1" smtClean="0">
                <a:latin typeface="Arial"/>
                <a:cs typeface="Arial"/>
              </a:rPr>
              <a:t>primaria</a:t>
            </a:r>
            <a:r>
              <a:rPr lang="es-ES" sz="2800" b="1" spc="-10" dirty="0" smtClean="0">
                <a:latin typeface="Arial"/>
                <a:cs typeface="Arial"/>
              </a:rPr>
              <a:t>: </a:t>
            </a:r>
            <a:r>
              <a:rPr sz="2800" dirty="0" err="1" smtClean="0"/>
              <a:t>es</a:t>
            </a:r>
            <a:r>
              <a:rPr sz="2800" dirty="0" smtClean="0"/>
              <a:t> </a:t>
            </a:r>
            <a:r>
              <a:rPr sz="2800" dirty="0"/>
              <a:t>aquella clave </a:t>
            </a:r>
            <a:r>
              <a:rPr sz="2800" dirty="0" err="1"/>
              <a:t>candidata</a:t>
            </a:r>
            <a:r>
              <a:rPr sz="2800" dirty="0"/>
              <a:t> </a:t>
            </a:r>
            <a:r>
              <a:rPr sz="2800" dirty="0"/>
              <a:t>que</a:t>
            </a:r>
            <a:r>
              <a:rPr lang="es-ES" sz="2800" dirty="0"/>
              <a:t> </a:t>
            </a:r>
            <a:r>
              <a:rPr sz="2800" dirty="0" err="1"/>
              <a:t>elig</a:t>
            </a:r>
            <a:r>
              <a:rPr lang="es-ES" sz="2800" dirty="0"/>
              <a:t>e</a:t>
            </a:r>
          </a:p>
          <a:p>
            <a:pPr marL="12700" algn="l">
              <a:spcBef>
                <a:spcPts val="95"/>
              </a:spcBef>
            </a:pPr>
            <a:r>
              <a:rPr lang="es-ES" sz="2800" dirty="0"/>
              <a:t>e</a:t>
            </a:r>
            <a:r>
              <a:rPr sz="2800" dirty="0"/>
              <a:t>l </a:t>
            </a:r>
            <a:r>
              <a:rPr sz="2800" dirty="0"/>
              <a:t>diseñador</a:t>
            </a:r>
            <a:r>
              <a:rPr sz="2800" dirty="0"/>
              <a:t> de la </a:t>
            </a:r>
            <a:r>
              <a:rPr sz="2800" dirty="0" smtClean="0"/>
              <a:t>BD</a:t>
            </a:r>
            <a:r>
              <a:rPr lang="es-ES" sz="2800" dirty="0" smtClean="0"/>
              <a:t>. En el esquema se subraya o se rellena el punto, para identificarla</a:t>
            </a:r>
            <a:r>
              <a:rPr sz="2800" dirty="0" smtClean="0"/>
              <a:t>.</a:t>
            </a:r>
            <a:endParaRPr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0" y="501650"/>
            <a:ext cx="7705702" cy="1411351"/>
          </a:xfrm>
          <a:prstGeom prst="rect">
            <a:avLst/>
          </a:prstGeom>
        </p:spPr>
        <p:txBody>
          <a:bodyPr vert="horz" wrap="square" lIns="0" tIns="316865" rIns="0" bIns="0" rtlCol="0">
            <a:spAutoFit/>
          </a:bodyPr>
          <a:lstStyle/>
          <a:p>
            <a:pPr marL="1592580">
              <a:lnSpc>
                <a:spcPct val="100000"/>
              </a:lnSpc>
              <a:spcBef>
                <a:spcPts val="95"/>
              </a:spcBef>
            </a:pPr>
            <a:r>
              <a:rPr sz="4000" b="1" dirty="0">
                <a:latin typeface="Arial"/>
                <a:cs typeface="Arial"/>
              </a:rPr>
              <a:t>Claves</a:t>
            </a:r>
            <a:r>
              <a:rPr sz="4000" b="1" spc="-85" dirty="0">
                <a:latin typeface="Arial"/>
                <a:cs typeface="Arial"/>
              </a:rPr>
              <a:t> </a:t>
            </a:r>
            <a:r>
              <a:rPr sz="4000" b="1" dirty="0">
                <a:latin typeface="Arial"/>
                <a:cs typeface="Arial"/>
              </a:rPr>
              <a:t>en</a:t>
            </a:r>
            <a:r>
              <a:rPr sz="4000" b="1" spc="-85" dirty="0">
                <a:latin typeface="Arial"/>
                <a:cs typeface="Arial"/>
              </a:rPr>
              <a:t> </a:t>
            </a:r>
            <a:r>
              <a:rPr sz="4000" b="1" spc="-10" dirty="0">
                <a:latin typeface="Arial"/>
                <a:cs typeface="Arial"/>
              </a:rPr>
              <a:t>entidades</a:t>
            </a:r>
            <a:endParaRPr sz="4000" dirty="0">
              <a:latin typeface="Arial"/>
              <a:cs typeface="Arial"/>
            </a:endParaRPr>
          </a:p>
        </p:txBody>
      </p:sp>
      <p:sp>
        <p:nvSpPr>
          <p:cNvPr id="3" name="object 3"/>
          <p:cNvSpPr txBox="1"/>
          <p:nvPr/>
        </p:nvSpPr>
        <p:spPr>
          <a:xfrm>
            <a:off x="1249090" y="2064511"/>
            <a:ext cx="8027670" cy="3571234"/>
          </a:xfrm>
          <a:prstGeom prst="rect">
            <a:avLst/>
          </a:prstGeom>
        </p:spPr>
        <p:txBody>
          <a:bodyPr vert="horz" wrap="square" lIns="0" tIns="12700" rIns="0" bIns="0" rtlCol="0">
            <a:spAutoFit/>
          </a:bodyPr>
          <a:lstStyle/>
          <a:p>
            <a:pPr marL="42545" algn="ctr">
              <a:lnSpc>
                <a:spcPct val="100000"/>
              </a:lnSpc>
              <a:spcBef>
                <a:spcPts val="100"/>
              </a:spcBef>
            </a:pPr>
            <a:r>
              <a:rPr sz="3200" dirty="0">
                <a:latin typeface="Arial MT"/>
                <a:cs typeface="Arial MT"/>
              </a:rPr>
              <a:t>Una</a:t>
            </a:r>
            <a:r>
              <a:rPr sz="3200" spc="-45" dirty="0">
                <a:latin typeface="Arial MT"/>
                <a:cs typeface="Arial MT"/>
              </a:rPr>
              <a:t> </a:t>
            </a:r>
            <a:r>
              <a:rPr sz="3200" dirty="0">
                <a:latin typeface="Arial MT"/>
                <a:cs typeface="Arial MT"/>
              </a:rPr>
              <a:t>entidad</a:t>
            </a:r>
            <a:r>
              <a:rPr sz="3200" spc="-40" dirty="0">
                <a:latin typeface="Arial MT"/>
                <a:cs typeface="Arial MT"/>
              </a:rPr>
              <a:t> </a:t>
            </a:r>
            <a:r>
              <a:rPr sz="3200" dirty="0">
                <a:latin typeface="Arial MT"/>
                <a:cs typeface="Arial MT"/>
              </a:rPr>
              <a:t>que</a:t>
            </a:r>
            <a:r>
              <a:rPr sz="3200" spc="-55" dirty="0">
                <a:latin typeface="Arial MT"/>
                <a:cs typeface="Arial MT"/>
              </a:rPr>
              <a:t> </a:t>
            </a:r>
            <a:r>
              <a:rPr sz="3200" b="1" dirty="0">
                <a:latin typeface="Arial"/>
                <a:cs typeface="Arial"/>
              </a:rPr>
              <a:t>tiene</a:t>
            </a:r>
            <a:r>
              <a:rPr sz="3200" b="1" spc="-40" dirty="0">
                <a:latin typeface="Arial"/>
                <a:cs typeface="Arial"/>
              </a:rPr>
              <a:t> </a:t>
            </a:r>
            <a:r>
              <a:rPr sz="3200" dirty="0">
                <a:latin typeface="Arial MT"/>
                <a:cs typeface="Arial MT"/>
              </a:rPr>
              <a:t>una</a:t>
            </a:r>
            <a:r>
              <a:rPr sz="3200" spc="-40" dirty="0">
                <a:latin typeface="Arial MT"/>
                <a:cs typeface="Arial MT"/>
              </a:rPr>
              <a:t> </a:t>
            </a:r>
            <a:r>
              <a:rPr sz="3200" b="1" dirty="0">
                <a:latin typeface="Arial"/>
                <a:cs typeface="Arial"/>
              </a:rPr>
              <a:t>clave</a:t>
            </a:r>
            <a:r>
              <a:rPr sz="3200" b="1" spc="-40" dirty="0">
                <a:latin typeface="Arial"/>
                <a:cs typeface="Arial"/>
              </a:rPr>
              <a:t> </a:t>
            </a:r>
            <a:r>
              <a:rPr sz="3200" b="1" spc="-10" dirty="0">
                <a:latin typeface="Arial"/>
                <a:cs typeface="Arial"/>
              </a:rPr>
              <a:t>candidata</a:t>
            </a:r>
            <a:endParaRPr sz="3200" dirty="0">
              <a:latin typeface="Arial"/>
              <a:cs typeface="Arial"/>
            </a:endParaRPr>
          </a:p>
          <a:p>
            <a:pPr marL="43180" algn="ctr">
              <a:lnSpc>
                <a:spcPct val="100000"/>
              </a:lnSpc>
            </a:pPr>
            <a:r>
              <a:rPr sz="3200" dirty="0">
                <a:latin typeface="Arial MT"/>
                <a:cs typeface="Arial MT"/>
              </a:rPr>
              <a:t>se</a:t>
            </a:r>
            <a:r>
              <a:rPr sz="3200" spc="-55" dirty="0">
                <a:latin typeface="Arial MT"/>
                <a:cs typeface="Arial MT"/>
              </a:rPr>
              <a:t> </a:t>
            </a:r>
            <a:r>
              <a:rPr sz="3200" dirty="0" err="1">
                <a:latin typeface="Arial MT"/>
                <a:cs typeface="Arial MT"/>
              </a:rPr>
              <a:t>denomina</a:t>
            </a:r>
            <a:r>
              <a:rPr sz="3200" spc="-60" dirty="0">
                <a:latin typeface="Arial MT"/>
                <a:cs typeface="Arial MT"/>
              </a:rPr>
              <a:t> </a:t>
            </a:r>
            <a:r>
              <a:rPr lang="es-ES" sz="3200" b="1" spc="-10" dirty="0">
                <a:solidFill>
                  <a:srgbClr val="001F5F"/>
                </a:solidFill>
                <a:latin typeface="Arial"/>
                <a:cs typeface="Arial"/>
              </a:rPr>
              <a:t>E</a:t>
            </a:r>
            <a:r>
              <a:rPr sz="3200" b="1" dirty="0" err="1" smtClean="0">
                <a:solidFill>
                  <a:srgbClr val="001F5F"/>
                </a:solidFill>
                <a:latin typeface="Arial"/>
                <a:cs typeface="Arial"/>
              </a:rPr>
              <a:t>ntidad</a:t>
            </a:r>
            <a:r>
              <a:rPr sz="3200" b="1" spc="-50" dirty="0" smtClean="0">
                <a:solidFill>
                  <a:srgbClr val="001F5F"/>
                </a:solidFill>
                <a:latin typeface="Arial"/>
                <a:cs typeface="Arial"/>
              </a:rPr>
              <a:t> </a:t>
            </a:r>
            <a:r>
              <a:rPr sz="3200" b="1" spc="-10" dirty="0">
                <a:solidFill>
                  <a:srgbClr val="001F5F"/>
                </a:solidFill>
                <a:latin typeface="Arial"/>
                <a:cs typeface="Arial"/>
              </a:rPr>
              <a:t>fuerte</a:t>
            </a:r>
            <a:r>
              <a:rPr sz="3200" spc="-10" dirty="0">
                <a:latin typeface="Arial MT"/>
                <a:cs typeface="Arial MT"/>
              </a:rPr>
              <a:t>.</a:t>
            </a:r>
            <a:endParaRPr sz="3200" dirty="0">
              <a:latin typeface="Arial MT"/>
              <a:cs typeface="Arial MT"/>
            </a:endParaRPr>
          </a:p>
          <a:p>
            <a:pPr>
              <a:lnSpc>
                <a:spcPct val="100000"/>
              </a:lnSpc>
            </a:pPr>
            <a:endParaRPr sz="3200" dirty="0">
              <a:latin typeface="Arial MT"/>
              <a:cs typeface="Arial MT"/>
            </a:endParaRPr>
          </a:p>
          <a:p>
            <a:pPr>
              <a:lnSpc>
                <a:spcPct val="100000"/>
              </a:lnSpc>
              <a:spcBef>
                <a:spcPts val="120"/>
              </a:spcBef>
            </a:pPr>
            <a:endParaRPr sz="3200" dirty="0">
              <a:latin typeface="Arial MT"/>
              <a:cs typeface="Arial MT"/>
            </a:endParaRPr>
          </a:p>
          <a:p>
            <a:pPr marL="353695" marR="17780" indent="-341630">
              <a:lnSpc>
                <a:spcPct val="80200"/>
              </a:lnSpc>
              <a:spcBef>
                <a:spcPts val="5"/>
              </a:spcBef>
              <a:buChar char="•"/>
              <a:tabLst>
                <a:tab pos="354965" algn="l"/>
              </a:tabLst>
            </a:pPr>
            <a:r>
              <a:rPr sz="3200" dirty="0">
                <a:latin typeface="Arial MT"/>
                <a:cs typeface="Arial MT"/>
              </a:rPr>
              <a:t>Es</a:t>
            </a:r>
            <a:r>
              <a:rPr sz="3200" spc="-30" dirty="0">
                <a:latin typeface="Arial MT"/>
                <a:cs typeface="Arial MT"/>
              </a:rPr>
              <a:t> </a:t>
            </a:r>
            <a:r>
              <a:rPr sz="3200" dirty="0">
                <a:latin typeface="Arial MT"/>
                <a:cs typeface="Arial MT"/>
              </a:rPr>
              <a:t>posible</a:t>
            </a:r>
            <a:r>
              <a:rPr sz="3200" spc="-40" dirty="0">
                <a:latin typeface="Arial MT"/>
                <a:cs typeface="Arial MT"/>
              </a:rPr>
              <a:t> </a:t>
            </a:r>
            <a:r>
              <a:rPr sz="3200" dirty="0">
                <a:latin typeface="Arial MT"/>
                <a:cs typeface="Arial MT"/>
              </a:rPr>
              <a:t>que</a:t>
            </a:r>
            <a:r>
              <a:rPr sz="3200" spc="-35" dirty="0">
                <a:latin typeface="Arial MT"/>
                <a:cs typeface="Arial MT"/>
              </a:rPr>
              <a:t> </a:t>
            </a:r>
            <a:r>
              <a:rPr sz="3200" dirty="0">
                <a:latin typeface="Arial MT"/>
                <a:cs typeface="Arial MT"/>
              </a:rPr>
              <a:t>una</a:t>
            </a:r>
            <a:r>
              <a:rPr sz="3200" spc="-40" dirty="0">
                <a:latin typeface="Arial MT"/>
                <a:cs typeface="Arial MT"/>
              </a:rPr>
              <a:t> </a:t>
            </a:r>
            <a:r>
              <a:rPr sz="3200" dirty="0">
                <a:latin typeface="Arial MT"/>
                <a:cs typeface="Arial MT"/>
              </a:rPr>
              <a:t>entidad</a:t>
            </a:r>
            <a:r>
              <a:rPr sz="3200" spc="-40" dirty="0">
                <a:latin typeface="Arial MT"/>
                <a:cs typeface="Arial MT"/>
              </a:rPr>
              <a:t> </a:t>
            </a:r>
            <a:r>
              <a:rPr sz="3200" b="1" dirty="0">
                <a:latin typeface="Arial"/>
                <a:cs typeface="Arial"/>
              </a:rPr>
              <a:t>no</a:t>
            </a:r>
            <a:r>
              <a:rPr sz="3200" b="1" spc="-50" dirty="0">
                <a:latin typeface="Arial"/>
                <a:cs typeface="Arial"/>
              </a:rPr>
              <a:t> </a:t>
            </a:r>
            <a:r>
              <a:rPr sz="3200" b="1" spc="-10" dirty="0">
                <a:latin typeface="Arial"/>
                <a:cs typeface="Arial"/>
              </a:rPr>
              <a:t>tenga 	</a:t>
            </a:r>
            <a:r>
              <a:rPr sz="3200" dirty="0">
                <a:latin typeface="Arial MT"/>
                <a:cs typeface="Arial MT"/>
              </a:rPr>
              <a:t>atributos</a:t>
            </a:r>
            <a:r>
              <a:rPr sz="3200" spc="-60" dirty="0">
                <a:latin typeface="Arial MT"/>
                <a:cs typeface="Arial MT"/>
              </a:rPr>
              <a:t> </a:t>
            </a:r>
            <a:r>
              <a:rPr sz="3200" dirty="0">
                <a:latin typeface="Arial MT"/>
                <a:cs typeface="Arial MT"/>
              </a:rPr>
              <a:t>suficientes</a:t>
            </a:r>
            <a:r>
              <a:rPr sz="3200" spc="-45" dirty="0">
                <a:latin typeface="Arial MT"/>
                <a:cs typeface="Arial MT"/>
              </a:rPr>
              <a:t> </a:t>
            </a:r>
            <a:r>
              <a:rPr sz="3200" dirty="0">
                <a:latin typeface="Arial MT"/>
                <a:cs typeface="Arial MT"/>
              </a:rPr>
              <a:t>para</a:t>
            </a:r>
            <a:r>
              <a:rPr sz="3200" spc="-65" dirty="0">
                <a:latin typeface="Arial MT"/>
                <a:cs typeface="Arial MT"/>
              </a:rPr>
              <a:t> </a:t>
            </a:r>
            <a:r>
              <a:rPr sz="3200" dirty="0">
                <a:latin typeface="Arial MT"/>
                <a:cs typeface="Arial MT"/>
              </a:rPr>
              <a:t>formar</a:t>
            </a:r>
            <a:r>
              <a:rPr sz="3200" spc="-60" dirty="0">
                <a:latin typeface="Arial MT"/>
                <a:cs typeface="Arial MT"/>
              </a:rPr>
              <a:t> </a:t>
            </a:r>
            <a:r>
              <a:rPr sz="3200" dirty="0">
                <a:latin typeface="Arial MT"/>
                <a:cs typeface="Arial MT"/>
              </a:rPr>
              <a:t>una</a:t>
            </a:r>
            <a:r>
              <a:rPr sz="3200" spc="-55" dirty="0">
                <a:latin typeface="Arial MT"/>
                <a:cs typeface="Arial MT"/>
              </a:rPr>
              <a:t> </a:t>
            </a:r>
            <a:r>
              <a:rPr sz="3200" spc="-10" dirty="0">
                <a:latin typeface="Arial MT"/>
                <a:cs typeface="Arial MT"/>
              </a:rPr>
              <a:t>clave 	</a:t>
            </a:r>
            <a:r>
              <a:rPr sz="3200" spc="-10" dirty="0" err="1" smtClean="0">
                <a:latin typeface="Arial MT"/>
                <a:cs typeface="Arial MT"/>
              </a:rPr>
              <a:t>candidata</a:t>
            </a:r>
            <a:r>
              <a:rPr sz="3200" spc="-10" dirty="0" smtClean="0">
                <a:latin typeface="Arial MT"/>
                <a:cs typeface="Arial MT"/>
              </a:rPr>
              <a:t>.</a:t>
            </a:r>
            <a:r>
              <a:rPr lang="es-ES" sz="3200" spc="-10" dirty="0" smtClean="0">
                <a:latin typeface="Arial MT"/>
                <a:cs typeface="Arial MT"/>
              </a:rPr>
              <a:t> </a:t>
            </a:r>
            <a:r>
              <a:rPr sz="3200" dirty="0" err="1" smtClean="0">
                <a:latin typeface="Arial MT"/>
                <a:cs typeface="Arial MT"/>
              </a:rPr>
              <a:t>Estas</a:t>
            </a:r>
            <a:r>
              <a:rPr sz="3200" spc="-25" dirty="0" smtClean="0">
                <a:latin typeface="Arial MT"/>
                <a:cs typeface="Arial MT"/>
              </a:rPr>
              <a:t> </a:t>
            </a:r>
            <a:r>
              <a:rPr sz="3200" dirty="0">
                <a:latin typeface="Arial MT"/>
                <a:cs typeface="Arial MT"/>
              </a:rPr>
              <a:t>se</a:t>
            </a:r>
            <a:r>
              <a:rPr sz="3200" spc="-25" dirty="0">
                <a:latin typeface="Arial MT"/>
                <a:cs typeface="Arial MT"/>
              </a:rPr>
              <a:t> </a:t>
            </a:r>
            <a:r>
              <a:rPr sz="3200" spc="-10" dirty="0" err="1" smtClean="0">
                <a:latin typeface="Arial MT"/>
                <a:cs typeface="Arial MT"/>
              </a:rPr>
              <a:t>denominan</a:t>
            </a:r>
            <a:r>
              <a:rPr lang="es-ES" sz="3200" spc="-10" dirty="0" smtClean="0">
                <a:latin typeface="Arial MT"/>
                <a:cs typeface="Arial MT"/>
              </a:rPr>
              <a:t>: </a:t>
            </a:r>
            <a:r>
              <a:rPr lang="es-ES" sz="3200" b="1" spc="-10" dirty="0">
                <a:solidFill>
                  <a:srgbClr val="001F5F"/>
                </a:solidFill>
                <a:latin typeface="Arial"/>
                <a:cs typeface="Arial"/>
              </a:rPr>
              <a:t>E</a:t>
            </a:r>
            <a:r>
              <a:rPr sz="3200" b="1" dirty="0" err="1" smtClean="0">
                <a:solidFill>
                  <a:srgbClr val="001F5F"/>
                </a:solidFill>
                <a:latin typeface="Arial"/>
                <a:cs typeface="Arial"/>
              </a:rPr>
              <a:t>ntidad</a:t>
            </a:r>
            <a:r>
              <a:rPr sz="3200" b="1" spc="-70" dirty="0" smtClean="0">
                <a:solidFill>
                  <a:srgbClr val="001F5F"/>
                </a:solidFill>
                <a:latin typeface="Arial"/>
                <a:cs typeface="Arial"/>
              </a:rPr>
              <a:t> </a:t>
            </a:r>
            <a:r>
              <a:rPr sz="3200" b="1" spc="-10" dirty="0" err="1">
                <a:solidFill>
                  <a:srgbClr val="001F5F"/>
                </a:solidFill>
                <a:latin typeface="Arial"/>
                <a:cs typeface="Arial"/>
              </a:rPr>
              <a:t>débil</a:t>
            </a:r>
            <a:r>
              <a:rPr sz="3200" spc="-10" dirty="0" smtClean="0">
                <a:solidFill>
                  <a:srgbClr val="001F5F"/>
                </a:solidFill>
                <a:latin typeface="Arial MT"/>
                <a:cs typeface="Arial MT"/>
              </a:rPr>
              <a:t>.</a:t>
            </a:r>
            <a:r>
              <a:rPr lang="es-ES" sz="2400" dirty="0">
                <a:latin typeface="Arial MT"/>
                <a:cs typeface="Arial MT"/>
              </a:rPr>
              <a:t>(Se grafican con doble rectángulo)</a:t>
            </a:r>
            <a:endParaRPr sz="2400" dirty="0">
              <a:latin typeface="Arial MT"/>
              <a:cs typeface="Arial M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92100" y="654050"/>
            <a:ext cx="7705702" cy="1411351"/>
          </a:xfrm>
          <a:prstGeom prst="rect">
            <a:avLst/>
          </a:prstGeom>
        </p:spPr>
        <p:txBody>
          <a:bodyPr vert="horz" wrap="square" lIns="0" tIns="316865" rIns="0" bIns="0" rtlCol="0">
            <a:spAutoFit/>
          </a:bodyPr>
          <a:lstStyle/>
          <a:p>
            <a:pPr marL="1592580">
              <a:lnSpc>
                <a:spcPct val="100000"/>
              </a:lnSpc>
              <a:spcBef>
                <a:spcPts val="95"/>
              </a:spcBef>
            </a:pPr>
            <a:r>
              <a:rPr sz="4000" b="1" dirty="0">
                <a:latin typeface="Arial"/>
                <a:cs typeface="Arial"/>
              </a:rPr>
              <a:t>Claves</a:t>
            </a:r>
            <a:r>
              <a:rPr sz="4000" b="1" spc="-85" dirty="0">
                <a:latin typeface="Arial"/>
                <a:cs typeface="Arial"/>
              </a:rPr>
              <a:t> </a:t>
            </a:r>
            <a:r>
              <a:rPr sz="4000" b="1" dirty="0">
                <a:latin typeface="Arial"/>
                <a:cs typeface="Arial"/>
              </a:rPr>
              <a:t>en</a:t>
            </a:r>
            <a:r>
              <a:rPr sz="4000" b="1" spc="-85" dirty="0">
                <a:latin typeface="Arial"/>
                <a:cs typeface="Arial"/>
              </a:rPr>
              <a:t> </a:t>
            </a:r>
            <a:r>
              <a:rPr sz="4000" b="1" spc="-10" dirty="0">
                <a:latin typeface="Arial"/>
                <a:cs typeface="Arial"/>
              </a:rPr>
              <a:t>entidades</a:t>
            </a:r>
            <a:endParaRPr sz="4000" dirty="0">
              <a:latin typeface="Arial"/>
              <a:cs typeface="Arial"/>
            </a:endParaRPr>
          </a:p>
        </p:txBody>
      </p:sp>
      <p:sp>
        <p:nvSpPr>
          <p:cNvPr id="3" name="object 3"/>
          <p:cNvSpPr txBox="1"/>
          <p:nvPr/>
        </p:nvSpPr>
        <p:spPr>
          <a:xfrm>
            <a:off x="1310014" y="2329686"/>
            <a:ext cx="8456285" cy="3779368"/>
          </a:xfrm>
          <a:prstGeom prst="rect">
            <a:avLst/>
          </a:prstGeom>
        </p:spPr>
        <p:txBody>
          <a:bodyPr vert="horz" wrap="square" lIns="0" tIns="12065" rIns="0" bIns="0" rtlCol="0">
            <a:spAutoFit/>
          </a:bodyPr>
          <a:lstStyle/>
          <a:p>
            <a:pPr marL="12700">
              <a:lnSpc>
                <a:spcPct val="100000"/>
              </a:lnSpc>
              <a:spcBef>
                <a:spcPts val="95"/>
              </a:spcBef>
            </a:pPr>
            <a:r>
              <a:rPr sz="2800" b="1" dirty="0">
                <a:latin typeface="Arial"/>
                <a:cs typeface="Arial"/>
              </a:rPr>
              <a:t>Ejemplo</a:t>
            </a:r>
            <a:r>
              <a:rPr sz="2800" b="1" spc="-70" dirty="0">
                <a:latin typeface="Arial"/>
                <a:cs typeface="Arial"/>
              </a:rPr>
              <a:t> </a:t>
            </a:r>
            <a:r>
              <a:rPr sz="2800" dirty="0">
                <a:latin typeface="Arial MT"/>
                <a:cs typeface="Arial MT"/>
              </a:rPr>
              <a:t>de</a:t>
            </a:r>
            <a:r>
              <a:rPr sz="2800" spc="-65" dirty="0">
                <a:latin typeface="Arial MT"/>
                <a:cs typeface="Arial MT"/>
              </a:rPr>
              <a:t> </a:t>
            </a:r>
            <a:r>
              <a:rPr sz="2800" dirty="0">
                <a:latin typeface="Arial MT"/>
                <a:cs typeface="Arial MT"/>
              </a:rPr>
              <a:t>entidad</a:t>
            </a:r>
            <a:r>
              <a:rPr sz="2800" spc="-70" dirty="0">
                <a:latin typeface="Arial MT"/>
                <a:cs typeface="Arial MT"/>
              </a:rPr>
              <a:t> </a:t>
            </a:r>
            <a:r>
              <a:rPr sz="2800" spc="-10" dirty="0">
                <a:latin typeface="Arial MT"/>
                <a:cs typeface="Arial MT"/>
              </a:rPr>
              <a:t>débil:</a:t>
            </a:r>
            <a:endParaRPr sz="2800" dirty="0">
              <a:latin typeface="Arial MT"/>
              <a:cs typeface="Arial MT"/>
            </a:endParaRPr>
          </a:p>
          <a:p>
            <a:pPr>
              <a:lnSpc>
                <a:spcPct val="100000"/>
              </a:lnSpc>
              <a:spcBef>
                <a:spcPts val="800"/>
              </a:spcBef>
            </a:pPr>
            <a:endParaRPr sz="2800" dirty="0">
              <a:latin typeface="Arial MT"/>
              <a:cs typeface="Arial MT"/>
            </a:endParaRPr>
          </a:p>
          <a:p>
            <a:pPr marL="3473450" marR="27940" indent="-2505710">
              <a:lnSpc>
                <a:spcPts val="2690"/>
              </a:lnSpc>
            </a:pPr>
            <a:r>
              <a:rPr sz="2800" dirty="0">
                <a:latin typeface="Arial MT"/>
                <a:cs typeface="Arial MT"/>
              </a:rPr>
              <a:t>Transacción</a:t>
            </a:r>
            <a:r>
              <a:rPr sz="2800" spc="-95" dirty="0">
                <a:latin typeface="Arial MT"/>
                <a:cs typeface="Arial MT"/>
              </a:rPr>
              <a:t> </a:t>
            </a:r>
            <a:r>
              <a:rPr sz="2800" spc="-20" dirty="0">
                <a:latin typeface="Arial MT"/>
                <a:cs typeface="Arial MT"/>
              </a:rPr>
              <a:t>(número-</a:t>
            </a:r>
            <a:r>
              <a:rPr sz="2800" dirty="0">
                <a:latin typeface="Arial MT"/>
                <a:cs typeface="Arial MT"/>
              </a:rPr>
              <a:t>transacción,</a:t>
            </a:r>
            <a:r>
              <a:rPr sz="2800" spc="-95" dirty="0">
                <a:latin typeface="Arial MT"/>
                <a:cs typeface="Arial MT"/>
              </a:rPr>
              <a:t> </a:t>
            </a:r>
            <a:r>
              <a:rPr sz="2800" spc="-10" dirty="0">
                <a:latin typeface="Arial MT"/>
                <a:cs typeface="Arial MT"/>
              </a:rPr>
              <a:t>fecha, cantidad)</a:t>
            </a:r>
            <a:endParaRPr sz="2800" dirty="0">
              <a:latin typeface="Arial MT"/>
              <a:cs typeface="Arial MT"/>
            </a:endParaRPr>
          </a:p>
          <a:p>
            <a:pPr>
              <a:lnSpc>
                <a:spcPct val="100000"/>
              </a:lnSpc>
            </a:pPr>
            <a:endParaRPr sz="2800" dirty="0">
              <a:latin typeface="Arial MT"/>
              <a:cs typeface="Arial MT"/>
            </a:endParaRPr>
          </a:p>
          <a:p>
            <a:pPr>
              <a:lnSpc>
                <a:spcPct val="100000"/>
              </a:lnSpc>
              <a:spcBef>
                <a:spcPts val="969"/>
              </a:spcBef>
            </a:pPr>
            <a:endParaRPr sz="2800" dirty="0">
              <a:latin typeface="Arial MT"/>
              <a:cs typeface="Arial MT"/>
            </a:endParaRPr>
          </a:p>
          <a:p>
            <a:pPr marL="353695" marR="5080" indent="-341630">
              <a:lnSpc>
                <a:spcPct val="80000"/>
              </a:lnSpc>
              <a:buChar char="•"/>
              <a:tabLst>
                <a:tab pos="354965" algn="l"/>
              </a:tabLst>
            </a:pPr>
            <a:r>
              <a:rPr sz="2800" dirty="0">
                <a:latin typeface="Arial MT"/>
                <a:cs typeface="Arial MT"/>
              </a:rPr>
              <a:t>Transacciones</a:t>
            </a:r>
            <a:r>
              <a:rPr sz="2800" spc="-95" dirty="0">
                <a:latin typeface="Arial MT"/>
                <a:cs typeface="Arial MT"/>
              </a:rPr>
              <a:t> </a:t>
            </a:r>
            <a:r>
              <a:rPr sz="2800" dirty="0">
                <a:latin typeface="Arial MT"/>
                <a:cs typeface="Arial MT"/>
              </a:rPr>
              <a:t>en</a:t>
            </a:r>
            <a:r>
              <a:rPr sz="2800" spc="-95" dirty="0">
                <a:latin typeface="Arial MT"/>
                <a:cs typeface="Arial MT"/>
              </a:rPr>
              <a:t> </a:t>
            </a:r>
            <a:r>
              <a:rPr sz="2800" dirty="0">
                <a:latin typeface="Arial MT"/>
                <a:cs typeface="Arial MT"/>
              </a:rPr>
              <a:t>cuentas</a:t>
            </a:r>
            <a:r>
              <a:rPr sz="2800" spc="-90" dirty="0">
                <a:latin typeface="Arial MT"/>
                <a:cs typeface="Arial MT"/>
              </a:rPr>
              <a:t> </a:t>
            </a:r>
            <a:r>
              <a:rPr sz="2800" dirty="0">
                <a:latin typeface="Arial MT"/>
                <a:cs typeface="Arial MT"/>
              </a:rPr>
              <a:t>diferentes</a:t>
            </a:r>
            <a:r>
              <a:rPr sz="2800" spc="-95" dirty="0">
                <a:latin typeface="Arial MT"/>
                <a:cs typeface="Arial MT"/>
              </a:rPr>
              <a:t> </a:t>
            </a:r>
            <a:r>
              <a:rPr sz="2800" spc="-10" dirty="0">
                <a:latin typeface="Arial MT"/>
                <a:cs typeface="Arial MT"/>
              </a:rPr>
              <a:t>pueden 	</a:t>
            </a:r>
            <a:r>
              <a:rPr sz="2800" dirty="0">
                <a:latin typeface="Arial MT"/>
                <a:cs typeface="Arial MT"/>
              </a:rPr>
              <a:t>compartir</a:t>
            </a:r>
            <a:r>
              <a:rPr sz="2800" spc="-60" dirty="0">
                <a:latin typeface="Arial MT"/>
                <a:cs typeface="Arial MT"/>
              </a:rPr>
              <a:t> </a:t>
            </a:r>
            <a:r>
              <a:rPr sz="2800" dirty="0">
                <a:latin typeface="Arial MT"/>
                <a:cs typeface="Arial MT"/>
              </a:rPr>
              <a:t>el</a:t>
            </a:r>
            <a:r>
              <a:rPr sz="2800" spc="-65" dirty="0">
                <a:latin typeface="Arial MT"/>
                <a:cs typeface="Arial MT"/>
              </a:rPr>
              <a:t> </a:t>
            </a:r>
            <a:r>
              <a:rPr sz="2800" dirty="0">
                <a:latin typeface="Arial MT"/>
                <a:cs typeface="Arial MT"/>
              </a:rPr>
              <a:t>mismo</a:t>
            </a:r>
            <a:r>
              <a:rPr sz="2800" spc="-60" dirty="0">
                <a:latin typeface="Arial MT"/>
                <a:cs typeface="Arial MT"/>
              </a:rPr>
              <a:t> </a:t>
            </a:r>
            <a:r>
              <a:rPr sz="2800" dirty="0">
                <a:latin typeface="Arial MT"/>
                <a:cs typeface="Arial MT"/>
              </a:rPr>
              <a:t>número</a:t>
            </a:r>
            <a:r>
              <a:rPr sz="2800" spc="-55" dirty="0">
                <a:latin typeface="Arial MT"/>
                <a:cs typeface="Arial MT"/>
              </a:rPr>
              <a:t> </a:t>
            </a:r>
            <a:r>
              <a:rPr sz="2800" dirty="0">
                <a:latin typeface="Arial MT"/>
                <a:cs typeface="Arial MT"/>
              </a:rPr>
              <a:t>de</a:t>
            </a:r>
            <a:r>
              <a:rPr sz="2800" spc="-65" dirty="0">
                <a:latin typeface="Arial MT"/>
                <a:cs typeface="Arial MT"/>
              </a:rPr>
              <a:t> </a:t>
            </a:r>
            <a:r>
              <a:rPr sz="2800" spc="-10" dirty="0">
                <a:latin typeface="Arial MT"/>
                <a:cs typeface="Arial MT"/>
              </a:rPr>
              <a:t>transacción</a:t>
            </a:r>
            <a:endParaRPr sz="2800" dirty="0">
              <a:latin typeface="Arial MT"/>
              <a:cs typeface="Arial MT"/>
            </a:endParaRPr>
          </a:p>
          <a:p>
            <a:pPr marL="586740" algn="ctr">
              <a:lnSpc>
                <a:spcPct val="100000"/>
              </a:lnSpc>
              <a:spcBef>
                <a:spcPts val="15"/>
              </a:spcBef>
            </a:pPr>
            <a:r>
              <a:rPr sz="2800" dirty="0">
                <a:latin typeface="Arial MT"/>
                <a:cs typeface="Arial MT"/>
              </a:rPr>
              <a:t>=&gt;</a:t>
            </a:r>
            <a:r>
              <a:rPr sz="2800" spc="-50" dirty="0">
                <a:latin typeface="Arial MT"/>
                <a:cs typeface="Arial MT"/>
              </a:rPr>
              <a:t> </a:t>
            </a:r>
            <a:r>
              <a:rPr sz="2800" b="1" dirty="0">
                <a:latin typeface="Arial"/>
                <a:cs typeface="Arial"/>
              </a:rPr>
              <a:t>no</a:t>
            </a:r>
            <a:r>
              <a:rPr sz="2800" b="1" spc="-55" dirty="0">
                <a:latin typeface="Arial"/>
                <a:cs typeface="Arial"/>
              </a:rPr>
              <a:t> </a:t>
            </a:r>
            <a:r>
              <a:rPr sz="2800" b="1" dirty="0">
                <a:latin typeface="Arial"/>
                <a:cs typeface="Arial"/>
              </a:rPr>
              <a:t>tiene</a:t>
            </a:r>
            <a:r>
              <a:rPr sz="2800" b="1" spc="-45" dirty="0">
                <a:latin typeface="Arial"/>
                <a:cs typeface="Arial"/>
              </a:rPr>
              <a:t> </a:t>
            </a:r>
            <a:r>
              <a:rPr sz="2800" b="1" dirty="0">
                <a:latin typeface="Arial"/>
                <a:cs typeface="Arial"/>
              </a:rPr>
              <a:t>clave</a:t>
            </a:r>
            <a:r>
              <a:rPr sz="2800" b="1" spc="-45" dirty="0">
                <a:latin typeface="Arial"/>
                <a:cs typeface="Arial"/>
              </a:rPr>
              <a:t> </a:t>
            </a:r>
            <a:r>
              <a:rPr sz="2800" b="1" spc="-10" dirty="0">
                <a:latin typeface="Arial"/>
                <a:cs typeface="Arial"/>
              </a:rPr>
              <a:t>candidata</a:t>
            </a:r>
            <a:endParaRPr sz="2800" dirty="0">
              <a:latin typeface="Arial"/>
              <a:cs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0" y="654050"/>
            <a:ext cx="7705702" cy="1411351"/>
          </a:xfrm>
          <a:prstGeom prst="rect">
            <a:avLst/>
          </a:prstGeom>
        </p:spPr>
        <p:txBody>
          <a:bodyPr vert="horz" wrap="square" lIns="0" tIns="316865" rIns="0" bIns="0" rtlCol="0">
            <a:spAutoFit/>
          </a:bodyPr>
          <a:lstStyle/>
          <a:p>
            <a:pPr marL="1592580">
              <a:lnSpc>
                <a:spcPct val="100000"/>
              </a:lnSpc>
              <a:spcBef>
                <a:spcPts val="95"/>
              </a:spcBef>
            </a:pPr>
            <a:r>
              <a:rPr sz="4000" b="1" dirty="0">
                <a:latin typeface="Arial"/>
                <a:cs typeface="Arial"/>
              </a:rPr>
              <a:t>Claves</a:t>
            </a:r>
            <a:r>
              <a:rPr sz="4000" b="1" spc="-85" dirty="0">
                <a:latin typeface="Arial"/>
                <a:cs typeface="Arial"/>
              </a:rPr>
              <a:t> </a:t>
            </a:r>
            <a:r>
              <a:rPr sz="4000" b="1" dirty="0">
                <a:latin typeface="Arial"/>
                <a:cs typeface="Arial"/>
              </a:rPr>
              <a:t>en</a:t>
            </a:r>
            <a:r>
              <a:rPr sz="4000" b="1" spc="-85" dirty="0">
                <a:latin typeface="Arial"/>
                <a:cs typeface="Arial"/>
              </a:rPr>
              <a:t> </a:t>
            </a:r>
            <a:r>
              <a:rPr sz="4000" b="1" spc="-10" dirty="0">
                <a:latin typeface="Arial"/>
                <a:cs typeface="Arial"/>
              </a:rPr>
              <a:t>entidades</a:t>
            </a:r>
            <a:endParaRPr sz="4000" dirty="0">
              <a:latin typeface="Arial"/>
              <a:cs typeface="Arial"/>
            </a:endParaRPr>
          </a:p>
        </p:txBody>
      </p:sp>
      <p:sp>
        <p:nvSpPr>
          <p:cNvPr id="3" name="object 3"/>
          <p:cNvSpPr txBox="1"/>
          <p:nvPr/>
        </p:nvSpPr>
        <p:spPr>
          <a:xfrm>
            <a:off x="1177424" y="2363215"/>
            <a:ext cx="7903076" cy="3748462"/>
          </a:xfrm>
          <a:prstGeom prst="rect">
            <a:avLst/>
          </a:prstGeom>
        </p:spPr>
        <p:txBody>
          <a:bodyPr vert="horz" wrap="square" lIns="0" tIns="11430" rIns="0" bIns="0" rtlCol="0">
            <a:spAutoFit/>
          </a:bodyPr>
          <a:lstStyle/>
          <a:p>
            <a:pPr marL="1030605" marR="5080" algn="ctr">
              <a:lnSpc>
                <a:spcPct val="100200"/>
              </a:lnSpc>
              <a:spcBef>
                <a:spcPts val="90"/>
              </a:spcBef>
            </a:pPr>
            <a:r>
              <a:rPr sz="2800" b="1" dirty="0">
                <a:solidFill>
                  <a:srgbClr val="001F5F"/>
                </a:solidFill>
                <a:latin typeface="Arial"/>
                <a:cs typeface="Arial"/>
              </a:rPr>
              <a:t>Discriminador</a:t>
            </a:r>
            <a:r>
              <a:rPr sz="2800" b="1" spc="-75" dirty="0">
                <a:solidFill>
                  <a:srgbClr val="001F5F"/>
                </a:solidFill>
                <a:latin typeface="Arial"/>
                <a:cs typeface="Arial"/>
              </a:rPr>
              <a:t> </a:t>
            </a:r>
            <a:r>
              <a:rPr sz="2800" dirty="0">
                <a:latin typeface="Arial MT"/>
                <a:cs typeface="Arial MT"/>
              </a:rPr>
              <a:t>de</a:t>
            </a:r>
            <a:r>
              <a:rPr sz="2800" spc="-65" dirty="0">
                <a:latin typeface="Arial MT"/>
                <a:cs typeface="Arial MT"/>
              </a:rPr>
              <a:t> </a:t>
            </a:r>
            <a:r>
              <a:rPr sz="2800" dirty="0">
                <a:latin typeface="Arial MT"/>
                <a:cs typeface="Arial MT"/>
              </a:rPr>
              <a:t>una</a:t>
            </a:r>
            <a:r>
              <a:rPr sz="2800" spc="-75" dirty="0">
                <a:latin typeface="Arial MT"/>
                <a:cs typeface="Arial MT"/>
              </a:rPr>
              <a:t> </a:t>
            </a:r>
            <a:r>
              <a:rPr sz="2800" b="1" dirty="0">
                <a:latin typeface="Arial"/>
                <a:cs typeface="Arial"/>
              </a:rPr>
              <a:t>entidad</a:t>
            </a:r>
            <a:r>
              <a:rPr sz="2800" b="1" spc="-80" dirty="0">
                <a:latin typeface="Arial"/>
                <a:cs typeface="Arial"/>
              </a:rPr>
              <a:t> </a:t>
            </a:r>
            <a:r>
              <a:rPr sz="2800" b="1" dirty="0">
                <a:latin typeface="Arial"/>
                <a:cs typeface="Arial"/>
              </a:rPr>
              <a:t>débil</a:t>
            </a:r>
            <a:r>
              <a:rPr sz="2800" b="1" spc="-75" dirty="0">
                <a:latin typeface="Arial"/>
                <a:cs typeface="Arial"/>
              </a:rPr>
              <a:t> </a:t>
            </a:r>
            <a:r>
              <a:rPr sz="2800" spc="-25" dirty="0">
                <a:latin typeface="Arial MT"/>
                <a:cs typeface="Arial MT"/>
              </a:rPr>
              <a:t>es </a:t>
            </a:r>
            <a:r>
              <a:rPr sz="2800" dirty="0">
                <a:latin typeface="Arial MT"/>
                <a:cs typeface="Arial MT"/>
              </a:rPr>
              <a:t>el</a:t>
            </a:r>
            <a:r>
              <a:rPr sz="2800" spc="-60" dirty="0">
                <a:latin typeface="Arial MT"/>
                <a:cs typeface="Arial MT"/>
              </a:rPr>
              <a:t> </a:t>
            </a:r>
            <a:r>
              <a:rPr sz="2800" dirty="0">
                <a:latin typeface="Arial MT"/>
                <a:cs typeface="Arial MT"/>
              </a:rPr>
              <a:t>conjunto</a:t>
            </a:r>
            <a:r>
              <a:rPr sz="2800" spc="-50" dirty="0">
                <a:latin typeface="Arial MT"/>
                <a:cs typeface="Arial MT"/>
              </a:rPr>
              <a:t> </a:t>
            </a:r>
            <a:r>
              <a:rPr sz="2800" dirty="0">
                <a:latin typeface="Arial MT"/>
                <a:cs typeface="Arial MT"/>
              </a:rPr>
              <a:t>de</a:t>
            </a:r>
            <a:r>
              <a:rPr sz="2800" spc="-55" dirty="0">
                <a:latin typeface="Arial MT"/>
                <a:cs typeface="Arial MT"/>
              </a:rPr>
              <a:t> </a:t>
            </a:r>
            <a:r>
              <a:rPr sz="2800" dirty="0">
                <a:latin typeface="Arial MT"/>
                <a:cs typeface="Arial MT"/>
              </a:rPr>
              <a:t>atributos</a:t>
            </a:r>
            <a:r>
              <a:rPr sz="2800" spc="-50" dirty="0">
                <a:latin typeface="Arial MT"/>
                <a:cs typeface="Arial MT"/>
              </a:rPr>
              <a:t> </a:t>
            </a:r>
            <a:r>
              <a:rPr sz="2800" dirty="0">
                <a:latin typeface="Arial MT"/>
                <a:cs typeface="Arial MT"/>
              </a:rPr>
              <a:t>que</a:t>
            </a:r>
            <a:r>
              <a:rPr sz="2800" spc="-70" dirty="0">
                <a:latin typeface="Arial MT"/>
                <a:cs typeface="Arial MT"/>
              </a:rPr>
              <a:t> </a:t>
            </a:r>
            <a:r>
              <a:rPr sz="2800" spc="-10" dirty="0">
                <a:latin typeface="Arial MT"/>
                <a:cs typeface="Arial MT"/>
              </a:rPr>
              <a:t>permite, </a:t>
            </a:r>
            <a:r>
              <a:rPr sz="2800" b="1" dirty="0">
                <a:latin typeface="Arial"/>
                <a:cs typeface="Arial"/>
              </a:rPr>
              <a:t>fijada</a:t>
            </a:r>
            <a:r>
              <a:rPr sz="2800" b="1" spc="-70" dirty="0">
                <a:latin typeface="Arial"/>
                <a:cs typeface="Arial"/>
              </a:rPr>
              <a:t> </a:t>
            </a:r>
            <a:r>
              <a:rPr sz="2800" b="1" dirty="0">
                <a:latin typeface="Arial"/>
                <a:cs typeface="Arial"/>
              </a:rPr>
              <a:t>una</a:t>
            </a:r>
            <a:r>
              <a:rPr sz="2800" b="1" spc="-70" dirty="0">
                <a:latin typeface="Arial"/>
                <a:cs typeface="Arial"/>
              </a:rPr>
              <a:t> </a:t>
            </a:r>
            <a:r>
              <a:rPr sz="2800" b="1" dirty="0">
                <a:latin typeface="Arial"/>
                <a:cs typeface="Arial"/>
              </a:rPr>
              <a:t>entidad</a:t>
            </a:r>
            <a:r>
              <a:rPr sz="2800" b="1" spc="-75" dirty="0">
                <a:latin typeface="Arial"/>
                <a:cs typeface="Arial"/>
              </a:rPr>
              <a:t> </a:t>
            </a:r>
            <a:r>
              <a:rPr sz="2800" b="1" spc="-10" dirty="0">
                <a:latin typeface="Arial"/>
                <a:cs typeface="Arial"/>
              </a:rPr>
              <a:t>fuerte</a:t>
            </a:r>
            <a:r>
              <a:rPr sz="2800" spc="-10" dirty="0">
                <a:latin typeface="Arial MT"/>
                <a:cs typeface="Arial MT"/>
              </a:rPr>
              <a:t>,</a:t>
            </a:r>
            <a:endParaRPr sz="2800" dirty="0">
              <a:latin typeface="Arial MT"/>
              <a:cs typeface="Arial MT"/>
            </a:endParaRPr>
          </a:p>
          <a:p>
            <a:pPr marL="1017905" algn="ctr">
              <a:lnSpc>
                <a:spcPct val="100000"/>
              </a:lnSpc>
            </a:pPr>
            <a:r>
              <a:rPr sz="2800" b="1" dirty="0">
                <a:latin typeface="Arial"/>
                <a:cs typeface="Arial"/>
              </a:rPr>
              <a:t>distinguir</a:t>
            </a:r>
            <a:r>
              <a:rPr sz="2800" b="1" spc="-70" dirty="0">
                <a:latin typeface="Arial"/>
                <a:cs typeface="Arial"/>
              </a:rPr>
              <a:t> </a:t>
            </a:r>
            <a:r>
              <a:rPr sz="2800" b="1" dirty="0">
                <a:latin typeface="Arial"/>
                <a:cs typeface="Arial"/>
              </a:rPr>
              <a:t>una</a:t>
            </a:r>
            <a:r>
              <a:rPr sz="2800" b="1" spc="-65" dirty="0">
                <a:latin typeface="Arial"/>
                <a:cs typeface="Arial"/>
              </a:rPr>
              <a:t> </a:t>
            </a:r>
            <a:r>
              <a:rPr sz="2800" b="1" dirty="0">
                <a:latin typeface="Arial"/>
                <a:cs typeface="Arial"/>
              </a:rPr>
              <a:t>entidad</a:t>
            </a:r>
            <a:r>
              <a:rPr sz="2800" b="1" spc="-75" dirty="0">
                <a:latin typeface="Arial"/>
                <a:cs typeface="Arial"/>
              </a:rPr>
              <a:t> </a:t>
            </a:r>
            <a:r>
              <a:rPr sz="2800" b="1" dirty="0">
                <a:latin typeface="Arial"/>
                <a:cs typeface="Arial"/>
              </a:rPr>
              <a:t>débil</a:t>
            </a:r>
            <a:r>
              <a:rPr sz="2800" b="1" spc="-70" dirty="0">
                <a:latin typeface="Arial"/>
                <a:cs typeface="Arial"/>
              </a:rPr>
              <a:t> </a:t>
            </a:r>
            <a:r>
              <a:rPr sz="2800" b="1" dirty="0">
                <a:latin typeface="Arial"/>
                <a:cs typeface="Arial"/>
              </a:rPr>
              <a:t>de</a:t>
            </a:r>
            <a:r>
              <a:rPr sz="2800" b="1" spc="-65" dirty="0">
                <a:latin typeface="Arial"/>
                <a:cs typeface="Arial"/>
              </a:rPr>
              <a:t> </a:t>
            </a:r>
            <a:r>
              <a:rPr sz="2800" b="1" spc="-10" dirty="0">
                <a:latin typeface="Arial"/>
                <a:cs typeface="Arial"/>
              </a:rPr>
              <a:t>otra</a:t>
            </a:r>
            <a:r>
              <a:rPr sz="2800" spc="-10" dirty="0">
                <a:latin typeface="Arial MT"/>
                <a:cs typeface="Arial MT"/>
              </a:rPr>
              <a:t>.</a:t>
            </a:r>
            <a:endParaRPr sz="2800" dirty="0">
              <a:latin typeface="Arial MT"/>
              <a:cs typeface="Arial MT"/>
            </a:endParaRPr>
          </a:p>
          <a:p>
            <a:pPr>
              <a:lnSpc>
                <a:spcPct val="100000"/>
              </a:lnSpc>
            </a:pPr>
            <a:endParaRPr sz="2800" dirty="0">
              <a:latin typeface="Arial MT"/>
              <a:cs typeface="Arial MT"/>
            </a:endParaRPr>
          </a:p>
          <a:p>
            <a:pPr>
              <a:lnSpc>
                <a:spcPct val="100000"/>
              </a:lnSpc>
              <a:spcBef>
                <a:spcPts val="280"/>
              </a:spcBef>
            </a:pPr>
            <a:endParaRPr sz="2800" dirty="0">
              <a:latin typeface="Arial MT"/>
              <a:cs typeface="Arial MT"/>
            </a:endParaRPr>
          </a:p>
          <a:p>
            <a:pPr marL="12700">
              <a:lnSpc>
                <a:spcPts val="2875"/>
              </a:lnSpc>
            </a:pPr>
            <a:r>
              <a:rPr sz="2400" b="1" dirty="0">
                <a:latin typeface="Arial"/>
                <a:cs typeface="Arial"/>
              </a:rPr>
              <a:t>Ejemplo:</a:t>
            </a:r>
            <a:r>
              <a:rPr sz="2400" b="1" spc="550" dirty="0">
                <a:latin typeface="Arial"/>
                <a:cs typeface="Arial"/>
              </a:rPr>
              <a:t> </a:t>
            </a:r>
            <a:r>
              <a:rPr sz="2400" dirty="0">
                <a:latin typeface="Arial MT"/>
                <a:cs typeface="Arial MT"/>
              </a:rPr>
              <a:t>Fijado</a:t>
            </a:r>
            <a:r>
              <a:rPr sz="2400" spc="-45" dirty="0">
                <a:latin typeface="Arial MT"/>
                <a:cs typeface="Arial MT"/>
              </a:rPr>
              <a:t> </a:t>
            </a:r>
            <a:r>
              <a:rPr sz="2400" dirty="0">
                <a:latin typeface="Arial MT"/>
                <a:cs typeface="Arial MT"/>
              </a:rPr>
              <a:t>un</a:t>
            </a:r>
            <a:r>
              <a:rPr sz="2400" spc="-45" dirty="0">
                <a:latin typeface="Arial MT"/>
                <a:cs typeface="Arial MT"/>
              </a:rPr>
              <a:t> </a:t>
            </a:r>
            <a:r>
              <a:rPr sz="2400" dirty="0">
                <a:latin typeface="Arial MT"/>
                <a:cs typeface="Arial MT"/>
              </a:rPr>
              <a:t>número</a:t>
            </a:r>
            <a:r>
              <a:rPr sz="2400" spc="-45" dirty="0">
                <a:latin typeface="Arial MT"/>
                <a:cs typeface="Arial MT"/>
              </a:rPr>
              <a:t> </a:t>
            </a:r>
            <a:r>
              <a:rPr sz="2400" dirty="0">
                <a:latin typeface="Arial MT"/>
                <a:cs typeface="Arial MT"/>
              </a:rPr>
              <a:t>de</a:t>
            </a:r>
            <a:r>
              <a:rPr sz="2400" spc="-40" dirty="0">
                <a:latin typeface="Arial MT"/>
                <a:cs typeface="Arial MT"/>
              </a:rPr>
              <a:t> </a:t>
            </a:r>
            <a:r>
              <a:rPr sz="2400" spc="-10" dirty="0">
                <a:latin typeface="Arial MT"/>
                <a:cs typeface="Arial MT"/>
              </a:rPr>
              <a:t>cuenta</a:t>
            </a:r>
            <a:endParaRPr sz="2400" dirty="0">
              <a:latin typeface="Arial MT"/>
              <a:cs typeface="Arial MT"/>
            </a:endParaRPr>
          </a:p>
          <a:p>
            <a:pPr marL="1019810" algn="ctr">
              <a:lnSpc>
                <a:spcPts val="2875"/>
              </a:lnSpc>
            </a:pPr>
            <a:r>
              <a:rPr sz="2400" b="1" spc="-20" dirty="0">
                <a:latin typeface="Arial"/>
                <a:cs typeface="Arial"/>
              </a:rPr>
              <a:t>número-</a:t>
            </a:r>
            <a:r>
              <a:rPr sz="2400" b="1" dirty="0">
                <a:latin typeface="Arial"/>
                <a:cs typeface="Arial"/>
              </a:rPr>
              <a:t>transacción</a:t>
            </a:r>
            <a:r>
              <a:rPr sz="2400" b="1" spc="-30" dirty="0">
                <a:latin typeface="Arial"/>
                <a:cs typeface="Arial"/>
              </a:rPr>
              <a:t> </a:t>
            </a:r>
            <a:r>
              <a:rPr sz="2400" dirty="0">
                <a:latin typeface="Arial MT"/>
                <a:cs typeface="Arial MT"/>
              </a:rPr>
              <a:t>es</a:t>
            </a:r>
            <a:r>
              <a:rPr sz="2400" spc="-30" dirty="0">
                <a:latin typeface="Arial MT"/>
                <a:cs typeface="Arial MT"/>
              </a:rPr>
              <a:t> </a:t>
            </a:r>
            <a:r>
              <a:rPr sz="2400" dirty="0">
                <a:latin typeface="Arial MT"/>
                <a:cs typeface="Arial MT"/>
              </a:rPr>
              <a:t>el</a:t>
            </a:r>
            <a:r>
              <a:rPr sz="2400" spc="-30" dirty="0">
                <a:latin typeface="Arial MT"/>
                <a:cs typeface="Arial MT"/>
              </a:rPr>
              <a:t> </a:t>
            </a:r>
            <a:r>
              <a:rPr sz="2400" b="1" spc="-10" dirty="0">
                <a:latin typeface="Arial"/>
                <a:cs typeface="Arial"/>
              </a:rPr>
              <a:t>discriminador</a:t>
            </a:r>
            <a:endParaRPr sz="2400" dirty="0">
              <a:latin typeface="Arial"/>
              <a:cs typeface="Arial"/>
            </a:endParaRPr>
          </a:p>
          <a:p>
            <a:pPr marL="1018540" algn="ctr">
              <a:lnSpc>
                <a:spcPct val="100000"/>
              </a:lnSpc>
            </a:pPr>
            <a:r>
              <a:rPr sz="2400" dirty="0">
                <a:latin typeface="Arial MT"/>
                <a:cs typeface="Arial MT"/>
              </a:rPr>
              <a:t>de</a:t>
            </a:r>
            <a:r>
              <a:rPr sz="2400" spc="-50" dirty="0">
                <a:latin typeface="Arial MT"/>
                <a:cs typeface="Arial MT"/>
              </a:rPr>
              <a:t> </a:t>
            </a:r>
            <a:r>
              <a:rPr sz="2400" dirty="0">
                <a:latin typeface="Arial MT"/>
                <a:cs typeface="Arial MT"/>
              </a:rPr>
              <a:t>la</a:t>
            </a:r>
            <a:r>
              <a:rPr sz="2400" spc="-45" dirty="0">
                <a:latin typeface="Arial MT"/>
                <a:cs typeface="Arial MT"/>
              </a:rPr>
              <a:t> </a:t>
            </a:r>
            <a:r>
              <a:rPr sz="2400" dirty="0">
                <a:latin typeface="Arial MT"/>
                <a:cs typeface="Arial MT"/>
              </a:rPr>
              <a:t>entidad</a:t>
            </a:r>
            <a:r>
              <a:rPr sz="2400" spc="-50" dirty="0">
                <a:latin typeface="Arial MT"/>
                <a:cs typeface="Arial MT"/>
              </a:rPr>
              <a:t> </a:t>
            </a:r>
            <a:r>
              <a:rPr sz="2400" dirty="0">
                <a:latin typeface="Arial MT"/>
                <a:cs typeface="Arial MT"/>
              </a:rPr>
              <a:t>débil</a:t>
            </a:r>
            <a:r>
              <a:rPr sz="2400" spc="-50" dirty="0">
                <a:latin typeface="Arial MT"/>
                <a:cs typeface="Arial MT"/>
              </a:rPr>
              <a:t> </a:t>
            </a:r>
            <a:r>
              <a:rPr sz="2400" b="1" spc="-10" dirty="0">
                <a:latin typeface="Arial"/>
                <a:cs typeface="Arial"/>
              </a:rPr>
              <a:t>Transacción</a:t>
            </a:r>
            <a:endParaRPr sz="2400" dirty="0">
              <a:latin typeface="Arial"/>
              <a:cs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9700" y="501650"/>
            <a:ext cx="7705702" cy="1411351"/>
          </a:xfrm>
          <a:prstGeom prst="rect">
            <a:avLst/>
          </a:prstGeom>
        </p:spPr>
        <p:txBody>
          <a:bodyPr vert="horz" wrap="square" lIns="0" tIns="316865" rIns="0" bIns="0" rtlCol="0">
            <a:spAutoFit/>
          </a:bodyPr>
          <a:lstStyle/>
          <a:p>
            <a:pPr marL="1592580">
              <a:lnSpc>
                <a:spcPct val="100000"/>
              </a:lnSpc>
              <a:spcBef>
                <a:spcPts val="95"/>
              </a:spcBef>
            </a:pPr>
            <a:r>
              <a:rPr sz="4000" b="1" dirty="0">
                <a:latin typeface="Arial"/>
                <a:cs typeface="Arial"/>
              </a:rPr>
              <a:t>Claves</a:t>
            </a:r>
            <a:r>
              <a:rPr sz="4000" b="1" spc="-85" dirty="0">
                <a:latin typeface="Arial"/>
                <a:cs typeface="Arial"/>
              </a:rPr>
              <a:t> </a:t>
            </a:r>
            <a:r>
              <a:rPr sz="4000" b="1" dirty="0">
                <a:latin typeface="Arial"/>
                <a:cs typeface="Arial"/>
              </a:rPr>
              <a:t>en</a:t>
            </a:r>
            <a:r>
              <a:rPr sz="4000" b="1" spc="-85" dirty="0">
                <a:latin typeface="Arial"/>
                <a:cs typeface="Arial"/>
              </a:rPr>
              <a:t> </a:t>
            </a:r>
            <a:r>
              <a:rPr sz="4000" b="1" spc="-10" dirty="0">
                <a:latin typeface="Arial"/>
                <a:cs typeface="Arial"/>
              </a:rPr>
              <a:t>entidades</a:t>
            </a:r>
            <a:endParaRPr sz="4000" dirty="0">
              <a:latin typeface="Arial"/>
              <a:cs typeface="Arial"/>
            </a:endParaRPr>
          </a:p>
        </p:txBody>
      </p:sp>
      <p:sp>
        <p:nvSpPr>
          <p:cNvPr id="3" name="object 3"/>
          <p:cNvSpPr txBox="1"/>
          <p:nvPr/>
        </p:nvSpPr>
        <p:spPr>
          <a:xfrm>
            <a:off x="1079500" y="1913001"/>
            <a:ext cx="8153400" cy="4464684"/>
          </a:xfrm>
          <a:prstGeom prst="rect">
            <a:avLst/>
          </a:prstGeom>
        </p:spPr>
        <p:txBody>
          <a:bodyPr vert="horz" wrap="square" lIns="0" tIns="47625" rIns="0" bIns="0" rtlCol="0">
            <a:spAutoFit/>
          </a:bodyPr>
          <a:lstStyle/>
          <a:p>
            <a:pPr marL="12700">
              <a:lnSpc>
                <a:spcPct val="100000"/>
              </a:lnSpc>
              <a:spcBef>
                <a:spcPts val="375"/>
              </a:spcBef>
            </a:pPr>
            <a:r>
              <a:rPr sz="2800" dirty="0">
                <a:latin typeface="Arial MT"/>
                <a:cs typeface="Arial MT"/>
              </a:rPr>
              <a:t>Por</a:t>
            </a:r>
            <a:r>
              <a:rPr sz="2800" spc="-25" dirty="0">
                <a:latin typeface="Arial MT"/>
                <a:cs typeface="Arial MT"/>
              </a:rPr>
              <a:t> </a:t>
            </a:r>
            <a:r>
              <a:rPr sz="2800" dirty="0">
                <a:latin typeface="Arial MT"/>
                <a:cs typeface="Arial MT"/>
              </a:rPr>
              <a:t>lo</a:t>
            </a:r>
            <a:r>
              <a:rPr sz="2800" spc="-25" dirty="0">
                <a:latin typeface="Arial MT"/>
                <a:cs typeface="Arial MT"/>
              </a:rPr>
              <a:t> </a:t>
            </a:r>
            <a:r>
              <a:rPr sz="2800" spc="-10" dirty="0">
                <a:latin typeface="Arial MT"/>
                <a:cs typeface="Arial MT"/>
              </a:rPr>
              <a:t>tanto:</a:t>
            </a:r>
            <a:endParaRPr sz="2800" dirty="0">
              <a:latin typeface="Arial MT"/>
              <a:cs typeface="Arial MT"/>
            </a:endParaRPr>
          </a:p>
          <a:p>
            <a:pPr marL="354965">
              <a:lnSpc>
                <a:spcPct val="100000"/>
              </a:lnSpc>
              <a:spcBef>
                <a:spcPts val="275"/>
              </a:spcBef>
            </a:pPr>
            <a:r>
              <a:rPr sz="2800" dirty="0">
                <a:latin typeface="Arial MT"/>
                <a:cs typeface="Arial MT"/>
              </a:rPr>
              <a:t>La</a:t>
            </a:r>
            <a:r>
              <a:rPr sz="2800" spc="-60" dirty="0">
                <a:latin typeface="Arial MT"/>
                <a:cs typeface="Arial MT"/>
              </a:rPr>
              <a:t> </a:t>
            </a:r>
            <a:r>
              <a:rPr sz="2800" b="1" dirty="0">
                <a:latin typeface="Arial"/>
                <a:cs typeface="Arial"/>
              </a:rPr>
              <a:t>clave</a:t>
            </a:r>
            <a:r>
              <a:rPr sz="2800" b="1" spc="-55" dirty="0">
                <a:latin typeface="Arial"/>
                <a:cs typeface="Arial"/>
              </a:rPr>
              <a:t> </a:t>
            </a:r>
            <a:r>
              <a:rPr sz="2800" b="1" dirty="0">
                <a:latin typeface="Arial"/>
                <a:cs typeface="Arial"/>
              </a:rPr>
              <a:t>primaria</a:t>
            </a:r>
            <a:r>
              <a:rPr sz="2800" b="1" spc="-70" dirty="0">
                <a:latin typeface="Arial"/>
                <a:cs typeface="Arial"/>
              </a:rPr>
              <a:t> </a:t>
            </a:r>
            <a:r>
              <a:rPr sz="2800" dirty="0">
                <a:latin typeface="Arial MT"/>
                <a:cs typeface="Arial MT"/>
              </a:rPr>
              <a:t>de</a:t>
            </a:r>
            <a:r>
              <a:rPr sz="2800" spc="-55" dirty="0">
                <a:latin typeface="Arial MT"/>
                <a:cs typeface="Arial MT"/>
              </a:rPr>
              <a:t> </a:t>
            </a:r>
            <a:r>
              <a:rPr sz="2800" b="1" dirty="0">
                <a:latin typeface="Arial"/>
                <a:cs typeface="Arial"/>
              </a:rPr>
              <a:t>una</a:t>
            </a:r>
            <a:r>
              <a:rPr sz="2800" b="1" spc="-55" dirty="0">
                <a:latin typeface="Arial"/>
                <a:cs typeface="Arial"/>
              </a:rPr>
              <a:t> </a:t>
            </a:r>
            <a:r>
              <a:rPr sz="2800" b="1" dirty="0">
                <a:latin typeface="Arial"/>
                <a:cs typeface="Arial"/>
              </a:rPr>
              <a:t>entidad</a:t>
            </a:r>
            <a:r>
              <a:rPr sz="2800" b="1" spc="-70" dirty="0">
                <a:latin typeface="Arial"/>
                <a:cs typeface="Arial"/>
              </a:rPr>
              <a:t> </a:t>
            </a:r>
            <a:r>
              <a:rPr sz="2800" b="1" spc="-10" dirty="0">
                <a:latin typeface="Arial"/>
                <a:cs typeface="Arial"/>
              </a:rPr>
              <a:t>débil</a:t>
            </a:r>
            <a:endParaRPr sz="2800" dirty="0">
              <a:latin typeface="Arial"/>
              <a:cs typeface="Arial"/>
            </a:endParaRPr>
          </a:p>
          <a:p>
            <a:pPr marL="354965">
              <a:lnSpc>
                <a:spcPct val="100000"/>
              </a:lnSpc>
              <a:spcBef>
                <a:spcPts val="350"/>
              </a:spcBef>
            </a:pPr>
            <a:r>
              <a:rPr sz="2800" dirty="0">
                <a:latin typeface="Arial MT"/>
                <a:cs typeface="Arial MT"/>
              </a:rPr>
              <a:t>está</a:t>
            </a:r>
            <a:r>
              <a:rPr sz="2800" spc="-70" dirty="0">
                <a:latin typeface="Arial MT"/>
                <a:cs typeface="Arial MT"/>
              </a:rPr>
              <a:t> </a:t>
            </a:r>
            <a:r>
              <a:rPr sz="2800" dirty="0">
                <a:latin typeface="Arial MT"/>
                <a:cs typeface="Arial MT"/>
              </a:rPr>
              <a:t>formada</a:t>
            </a:r>
            <a:r>
              <a:rPr sz="2800" spc="-65" dirty="0">
                <a:latin typeface="Arial MT"/>
                <a:cs typeface="Arial MT"/>
              </a:rPr>
              <a:t> </a:t>
            </a:r>
            <a:r>
              <a:rPr sz="2800" spc="-20" dirty="0">
                <a:latin typeface="Arial MT"/>
                <a:cs typeface="Arial MT"/>
              </a:rPr>
              <a:t>por:</a:t>
            </a:r>
            <a:endParaRPr sz="2800" dirty="0">
              <a:latin typeface="Arial MT"/>
              <a:cs typeface="Arial MT"/>
            </a:endParaRPr>
          </a:p>
          <a:p>
            <a:pPr marL="755015" marR="24765" indent="-285750">
              <a:lnSpc>
                <a:spcPts val="3020"/>
              </a:lnSpc>
              <a:spcBef>
                <a:spcPts val="720"/>
              </a:spcBef>
              <a:buChar char="–"/>
              <a:tabLst>
                <a:tab pos="756285" algn="l"/>
              </a:tabLst>
            </a:pPr>
            <a:r>
              <a:rPr sz="2800" dirty="0">
                <a:latin typeface="Arial MT"/>
                <a:cs typeface="Arial MT"/>
              </a:rPr>
              <a:t>la</a:t>
            </a:r>
            <a:r>
              <a:rPr sz="2800" spc="-40" dirty="0">
                <a:latin typeface="Arial MT"/>
                <a:cs typeface="Arial MT"/>
              </a:rPr>
              <a:t> </a:t>
            </a:r>
            <a:r>
              <a:rPr sz="2800" b="1" dirty="0">
                <a:latin typeface="Arial"/>
                <a:cs typeface="Arial"/>
              </a:rPr>
              <a:t>clave</a:t>
            </a:r>
            <a:r>
              <a:rPr sz="2800" b="1" spc="-40" dirty="0">
                <a:latin typeface="Arial"/>
                <a:cs typeface="Arial"/>
              </a:rPr>
              <a:t> </a:t>
            </a:r>
            <a:r>
              <a:rPr sz="2800" b="1" dirty="0">
                <a:latin typeface="Arial"/>
                <a:cs typeface="Arial"/>
              </a:rPr>
              <a:t>primaria</a:t>
            </a:r>
            <a:r>
              <a:rPr sz="2800" b="1" spc="-50" dirty="0">
                <a:latin typeface="Arial"/>
                <a:cs typeface="Arial"/>
              </a:rPr>
              <a:t> </a:t>
            </a:r>
            <a:r>
              <a:rPr sz="2800" dirty="0">
                <a:latin typeface="Arial MT"/>
                <a:cs typeface="Arial MT"/>
              </a:rPr>
              <a:t>de</a:t>
            </a:r>
            <a:r>
              <a:rPr sz="2800" spc="-40" dirty="0">
                <a:latin typeface="Arial MT"/>
                <a:cs typeface="Arial MT"/>
              </a:rPr>
              <a:t> </a:t>
            </a:r>
            <a:r>
              <a:rPr sz="2800" dirty="0">
                <a:latin typeface="Arial MT"/>
                <a:cs typeface="Arial MT"/>
              </a:rPr>
              <a:t>la</a:t>
            </a:r>
            <a:r>
              <a:rPr sz="2800" spc="-35" dirty="0">
                <a:latin typeface="Arial MT"/>
                <a:cs typeface="Arial MT"/>
              </a:rPr>
              <a:t> </a:t>
            </a:r>
            <a:r>
              <a:rPr sz="2800" b="1" dirty="0">
                <a:latin typeface="Arial"/>
                <a:cs typeface="Arial"/>
              </a:rPr>
              <a:t>fuerte</a:t>
            </a:r>
            <a:r>
              <a:rPr sz="2800" b="1" spc="-40" dirty="0">
                <a:latin typeface="Arial"/>
                <a:cs typeface="Arial"/>
              </a:rPr>
              <a:t> </a:t>
            </a:r>
            <a:r>
              <a:rPr sz="2800" dirty="0">
                <a:latin typeface="Arial MT"/>
                <a:cs typeface="Arial MT"/>
              </a:rPr>
              <a:t>de</a:t>
            </a:r>
            <a:r>
              <a:rPr sz="2800" spc="-35" dirty="0">
                <a:latin typeface="Arial MT"/>
                <a:cs typeface="Arial MT"/>
              </a:rPr>
              <a:t> </a:t>
            </a:r>
            <a:r>
              <a:rPr sz="2800" dirty="0">
                <a:latin typeface="Arial MT"/>
                <a:cs typeface="Arial MT"/>
              </a:rPr>
              <a:t>la</a:t>
            </a:r>
            <a:r>
              <a:rPr sz="2800" spc="-40" dirty="0">
                <a:latin typeface="Arial MT"/>
                <a:cs typeface="Arial MT"/>
              </a:rPr>
              <a:t> </a:t>
            </a:r>
            <a:r>
              <a:rPr sz="2800" spc="-20" dirty="0">
                <a:latin typeface="Arial MT"/>
                <a:cs typeface="Arial MT"/>
              </a:rPr>
              <a:t>cual 	</a:t>
            </a:r>
            <a:r>
              <a:rPr sz="2800" spc="-10" dirty="0">
                <a:latin typeface="Arial MT"/>
                <a:cs typeface="Arial MT"/>
              </a:rPr>
              <a:t>depende</a:t>
            </a:r>
            <a:endParaRPr sz="2800" dirty="0">
              <a:latin typeface="Arial MT"/>
              <a:cs typeface="Arial MT"/>
            </a:endParaRPr>
          </a:p>
          <a:p>
            <a:pPr marL="755015" indent="-285750">
              <a:lnSpc>
                <a:spcPct val="100000"/>
              </a:lnSpc>
              <a:spcBef>
                <a:spcPts val="305"/>
              </a:spcBef>
              <a:buChar char="–"/>
              <a:tabLst>
                <a:tab pos="755015" algn="l"/>
              </a:tabLst>
            </a:pPr>
            <a:r>
              <a:rPr sz="2800" dirty="0">
                <a:latin typeface="Arial MT"/>
                <a:cs typeface="Arial MT"/>
              </a:rPr>
              <a:t>y</a:t>
            </a:r>
            <a:r>
              <a:rPr sz="2800" spc="-15" dirty="0">
                <a:latin typeface="Arial MT"/>
                <a:cs typeface="Arial MT"/>
              </a:rPr>
              <a:t> </a:t>
            </a:r>
            <a:r>
              <a:rPr sz="2800" dirty="0">
                <a:latin typeface="Arial MT"/>
                <a:cs typeface="Arial MT"/>
              </a:rPr>
              <a:t>su</a:t>
            </a:r>
            <a:r>
              <a:rPr sz="2800" spc="-15" dirty="0">
                <a:latin typeface="Arial MT"/>
                <a:cs typeface="Arial MT"/>
              </a:rPr>
              <a:t> </a:t>
            </a:r>
            <a:r>
              <a:rPr sz="2800" b="1" spc="-10" dirty="0">
                <a:latin typeface="Arial"/>
                <a:cs typeface="Arial"/>
              </a:rPr>
              <a:t>discriminador</a:t>
            </a:r>
            <a:endParaRPr sz="2800" dirty="0">
              <a:latin typeface="Arial"/>
              <a:cs typeface="Arial"/>
            </a:endParaRPr>
          </a:p>
          <a:p>
            <a:pPr>
              <a:lnSpc>
                <a:spcPct val="100000"/>
              </a:lnSpc>
              <a:spcBef>
                <a:spcPts val="745"/>
              </a:spcBef>
            </a:pPr>
            <a:endParaRPr sz="2800" dirty="0">
              <a:latin typeface="Arial"/>
              <a:cs typeface="Arial"/>
            </a:endParaRPr>
          </a:p>
          <a:p>
            <a:pPr marL="12700">
              <a:lnSpc>
                <a:spcPct val="100000"/>
              </a:lnSpc>
            </a:pPr>
            <a:r>
              <a:rPr sz="2400" b="1" spc="-10" dirty="0">
                <a:latin typeface="Arial"/>
                <a:cs typeface="Arial"/>
              </a:rPr>
              <a:t>Ejemplo:</a:t>
            </a:r>
            <a:endParaRPr sz="2400" dirty="0">
              <a:latin typeface="Arial"/>
              <a:cs typeface="Arial"/>
            </a:endParaRPr>
          </a:p>
          <a:p>
            <a:pPr marL="354965" indent="-342265">
              <a:lnSpc>
                <a:spcPct val="100000"/>
              </a:lnSpc>
              <a:spcBef>
                <a:spcPts val="290"/>
              </a:spcBef>
              <a:buFont typeface="Arial MT"/>
              <a:buChar char="•"/>
              <a:tabLst>
                <a:tab pos="354965" algn="l"/>
              </a:tabLst>
            </a:pPr>
            <a:r>
              <a:rPr sz="2400" b="1" dirty="0">
                <a:latin typeface="Arial"/>
                <a:cs typeface="Arial"/>
              </a:rPr>
              <a:t>clave</a:t>
            </a:r>
            <a:r>
              <a:rPr sz="2400" b="1" spc="-75" dirty="0">
                <a:latin typeface="Arial"/>
                <a:cs typeface="Arial"/>
              </a:rPr>
              <a:t> </a:t>
            </a:r>
            <a:r>
              <a:rPr sz="2400" b="1" dirty="0">
                <a:latin typeface="Arial"/>
                <a:cs typeface="Arial"/>
              </a:rPr>
              <a:t>primaria</a:t>
            </a:r>
            <a:r>
              <a:rPr sz="2400" b="1" spc="-70" dirty="0">
                <a:latin typeface="Arial"/>
                <a:cs typeface="Arial"/>
              </a:rPr>
              <a:t> </a:t>
            </a:r>
            <a:r>
              <a:rPr sz="2400" dirty="0">
                <a:latin typeface="Arial MT"/>
                <a:cs typeface="Arial MT"/>
              </a:rPr>
              <a:t>de</a:t>
            </a:r>
            <a:r>
              <a:rPr sz="2400" spc="-70" dirty="0">
                <a:latin typeface="Arial MT"/>
                <a:cs typeface="Arial MT"/>
              </a:rPr>
              <a:t> </a:t>
            </a:r>
            <a:r>
              <a:rPr sz="2400" dirty="0">
                <a:latin typeface="Arial MT"/>
                <a:cs typeface="Arial MT"/>
              </a:rPr>
              <a:t>Transacción</a:t>
            </a:r>
            <a:r>
              <a:rPr sz="2400" spc="-70" dirty="0">
                <a:latin typeface="Arial MT"/>
                <a:cs typeface="Arial MT"/>
              </a:rPr>
              <a:t> </a:t>
            </a:r>
            <a:r>
              <a:rPr sz="2400" spc="-25" dirty="0">
                <a:latin typeface="Arial MT"/>
                <a:cs typeface="Arial MT"/>
              </a:rPr>
              <a:t>es</a:t>
            </a:r>
            <a:endParaRPr sz="2400" dirty="0">
              <a:latin typeface="Arial MT"/>
              <a:cs typeface="Arial MT"/>
            </a:endParaRPr>
          </a:p>
          <a:p>
            <a:pPr marL="1626235">
              <a:lnSpc>
                <a:spcPct val="100000"/>
              </a:lnSpc>
              <a:spcBef>
                <a:spcPts val="275"/>
              </a:spcBef>
            </a:pPr>
            <a:r>
              <a:rPr sz="2400" spc="-10" dirty="0">
                <a:latin typeface="Arial MT"/>
                <a:cs typeface="Arial MT"/>
              </a:rPr>
              <a:t>{</a:t>
            </a:r>
            <a:r>
              <a:rPr sz="2400" b="1" spc="-10" dirty="0">
                <a:latin typeface="Arial"/>
                <a:cs typeface="Arial"/>
              </a:rPr>
              <a:t>número-</a:t>
            </a:r>
            <a:r>
              <a:rPr sz="2400" b="1" dirty="0">
                <a:latin typeface="Arial"/>
                <a:cs typeface="Arial"/>
              </a:rPr>
              <a:t>cuenta,</a:t>
            </a:r>
            <a:r>
              <a:rPr sz="2400" b="1" spc="-25" dirty="0">
                <a:latin typeface="Arial"/>
                <a:cs typeface="Arial"/>
              </a:rPr>
              <a:t> </a:t>
            </a:r>
            <a:r>
              <a:rPr sz="2400" b="1" spc="-20" dirty="0">
                <a:latin typeface="Arial"/>
                <a:cs typeface="Arial"/>
              </a:rPr>
              <a:t>número-</a:t>
            </a:r>
            <a:r>
              <a:rPr sz="2400" b="1" spc="-10" dirty="0">
                <a:latin typeface="Arial"/>
                <a:cs typeface="Arial"/>
              </a:rPr>
              <a:t>transacción</a:t>
            </a:r>
            <a:r>
              <a:rPr sz="2400" spc="-10" dirty="0">
                <a:latin typeface="Arial MT"/>
                <a:cs typeface="Arial MT"/>
              </a:rPr>
              <a:t>}</a:t>
            </a:r>
            <a:endParaRPr sz="2400" dirty="0">
              <a:latin typeface="Arial MT"/>
              <a:cs typeface="Arial M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078872" y="806450"/>
            <a:ext cx="5052695" cy="635000"/>
          </a:xfrm>
          <a:prstGeom prst="rect">
            <a:avLst/>
          </a:prstGeom>
        </p:spPr>
        <p:txBody>
          <a:bodyPr vert="horz" wrap="square" lIns="0" tIns="12065" rIns="0" bIns="0" rtlCol="0">
            <a:spAutoFit/>
          </a:bodyPr>
          <a:lstStyle/>
          <a:p>
            <a:pPr marL="12700">
              <a:lnSpc>
                <a:spcPct val="100000"/>
              </a:lnSpc>
              <a:spcBef>
                <a:spcPts val="95"/>
              </a:spcBef>
            </a:pPr>
            <a:r>
              <a:rPr sz="4000" b="1" dirty="0">
                <a:latin typeface="Arial"/>
                <a:cs typeface="Arial"/>
              </a:rPr>
              <a:t>Claves</a:t>
            </a:r>
            <a:r>
              <a:rPr sz="4000" b="1" spc="-85" dirty="0">
                <a:latin typeface="Arial"/>
                <a:cs typeface="Arial"/>
              </a:rPr>
              <a:t> </a:t>
            </a:r>
            <a:r>
              <a:rPr sz="4000" b="1" dirty="0">
                <a:latin typeface="Arial"/>
                <a:cs typeface="Arial"/>
              </a:rPr>
              <a:t>en</a:t>
            </a:r>
            <a:r>
              <a:rPr sz="4000" b="1" spc="-85" dirty="0">
                <a:latin typeface="Arial"/>
                <a:cs typeface="Arial"/>
              </a:rPr>
              <a:t> </a:t>
            </a:r>
            <a:r>
              <a:rPr sz="4000" b="1" spc="-10" dirty="0">
                <a:latin typeface="Arial"/>
                <a:cs typeface="Arial"/>
              </a:rPr>
              <a:t>relaciones</a:t>
            </a:r>
            <a:endParaRPr sz="4000" dirty="0">
              <a:latin typeface="Arial"/>
              <a:cs typeface="Arial"/>
            </a:endParaRPr>
          </a:p>
        </p:txBody>
      </p:sp>
      <p:sp>
        <p:nvSpPr>
          <p:cNvPr id="3" name="object 3"/>
          <p:cNvSpPr txBox="1"/>
          <p:nvPr/>
        </p:nvSpPr>
        <p:spPr>
          <a:xfrm>
            <a:off x="469900" y="1644650"/>
            <a:ext cx="9361812" cy="4713470"/>
          </a:xfrm>
          <a:prstGeom prst="rect">
            <a:avLst/>
          </a:prstGeom>
        </p:spPr>
        <p:txBody>
          <a:bodyPr vert="horz" wrap="square" lIns="0" tIns="12065" rIns="0" bIns="0" rtlCol="0">
            <a:spAutoFit/>
          </a:bodyPr>
          <a:lstStyle/>
          <a:p>
            <a:pPr marL="50800">
              <a:lnSpc>
                <a:spcPct val="100000"/>
              </a:lnSpc>
              <a:spcBef>
                <a:spcPts val="95"/>
              </a:spcBef>
            </a:pPr>
            <a:r>
              <a:rPr sz="2800" spc="-20" dirty="0" smtClean="0">
                <a:latin typeface="Arial MT"/>
                <a:cs typeface="Arial MT"/>
              </a:rPr>
              <a:t>Sean</a:t>
            </a:r>
            <a:r>
              <a:rPr lang="es-ES" sz="2800" spc="-20" dirty="0" smtClean="0">
                <a:latin typeface="Arial MT"/>
                <a:cs typeface="Arial MT"/>
              </a:rPr>
              <a:t> </a:t>
            </a:r>
            <a:r>
              <a:rPr sz="2800" b="1" dirty="0" smtClean="0">
                <a:latin typeface="Arial"/>
                <a:cs typeface="Arial"/>
              </a:rPr>
              <a:t>R</a:t>
            </a:r>
            <a:r>
              <a:rPr sz="2800" b="1" spc="-55" dirty="0" smtClean="0">
                <a:latin typeface="Arial"/>
                <a:cs typeface="Arial"/>
              </a:rPr>
              <a:t> </a:t>
            </a:r>
            <a:r>
              <a:rPr sz="2800" dirty="0">
                <a:latin typeface="Arial MT"/>
                <a:cs typeface="Arial MT"/>
              </a:rPr>
              <a:t>una</a:t>
            </a:r>
            <a:r>
              <a:rPr sz="2800" spc="-45" dirty="0">
                <a:latin typeface="Arial MT"/>
                <a:cs typeface="Arial MT"/>
              </a:rPr>
              <a:t> </a:t>
            </a:r>
            <a:r>
              <a:rPr sz="2800" dirty="0">
                <a:latin typeface="Arial MT"/>
                <a:cs typeface="Arial MT"/>
              </a:rPr>
              <a:t>relación</a:t>
            </a:r>
            <a:r>
              <a:rPr sz="2800" spc="685" dirty="0">
                <a:latin typeface="Arial MT"/>
                <a:cs typeface="Arial MT"/>
              </a:rPr>
              <a:t> </a:t>
            </a:r>
            <a:r>
              <a:rPr sz="2800" dirty="0">
                <a:latin typeface="Arial MT"/>
                <a:cs typeface="Arial MT"/>
              </a:rPr>
              <a:t>que</a:t>
            </a:r>
            <a:r>
              <a:rPr sz="2800" spc="-45" dirty="0">
                <a:latin typeface="Arial MT"/>
                <a:cs typeface="Arial MT"/>
              </a:rPr>
              <a:t> </a:t>
            </a:r>
            <a:r>
              <a:rPr sz="2800" dirty="0">
                <a:latin typeface="Arial MT"/>
                <a:cs typeface="Arial MT"/>
              </a:rPr>
              <a:t>involucra</a:t>
            </a:r>
            <a:r>
              <a:rPr sz="2800" spc="-45" dirty="0">
                <a:latin typeface="Arial MT"/>
                <a:cs typeface="Arial MT"/>
              </a:rPr>
              <a:t> </a:t>
            </a:r>
            <a:r>
              <a:rPr sz="2800" dirty="0">
                <a:latin typeface="Arial MT"/>
                <a:cs typeface="Arial MT"/>
              </a:rPr>
              <a:t>a</a:t>
            </a:r>
            <a:r>
              <a:rPr sz="2800" spc="-45" dirty="0">
                <a:latin typeface="Arial MT"/>
                <a:cs typeface="Arial MT"/>
              </a:rPr>
              <a:t> </a:t>
            </a:r>
            <a:r>
              <a:rPr sz="2800" dirty="0">
                <a:latin typeface="Arial MT"/>
                <a:cs typeface="Arial MT"/>
              </a:rPr>
              <a:t>las</a:t>
            </a:r>
            <a:r>
              <a:rPr sz="2800" spc="-40" dirty="0">
                <a:latin typeface="Arial MT"/>
                <a:cs typeface="Arial MT"/>
              </a:rPr>
              <a:t> </a:t>
            </a:r>
            <a:r>
              <a:rPr sz="2800" dirty="0">
                <a:latin typeface="Arial MT"/>
                <a:cs typeface="Arial MT"/>
              </a:rPr>
              <a:t>entidades</a:t>
            </a:r>
            <a:r>
              <a:rPr sz="2800" spc="-55" dirty="0">
                <a:latin typeface="Arial MT"/>
                <a:cs typeface="Arial MT"/>
              </a:rPr>
              <a:t> </a:t>
            </a:r>
            <a:r>
              <a:rPr sz="2800" b="1" dirty="0">
                <a:latin typeface="Arial"/>
                <a:cs typeface="Arial"/>
              </a:rPr>
              <a:t>E</a:t>
            </a:r>
            <a:r>
              <a:rPr sz="2850" b="1" baseline="-20467" dirty="0">
                <a:latin typeface="Arial"/>
                <a:cs typeface="Arial"/>
              </a:rPr>
              <a:t>1</a:t>
            </a:r>
            <a:r>
              <a:rPr sz="2800" b="1" dirty="0">
                <a:latin typeface="Arial"/>
                <a:cs typeface="Arial"/>
              </a:rPr>
              <a:t>,</a:t>
            </a:r>
            <a:r>
              <a:rPr sz="2800" b="1" spc="-50" dirty="0">
                <a:latin typeface="Arial"/>
                <a:cs typeface="Arial"/>
              </a:rPr>
              <a:t> </a:t>
            </a:r>
            <a:r>
              <a:rPr sz="2800" b="1" spc="-25" dirty="0">
                <a:latin typeface="Arial"/>
                <a:cs typeface="Arial"/>
              </a:rPr>
              <a:t>E</a:t>
            </a:r>
            <a:r>
              <a:rPr sz="2850" b="1" spc="-37" baseline="-20467" dirty="0">
                <a:latin typeface="Arial"/>
                <a:cs typeface="Arial"/>
              </a:rPr>
              <a:t>2</a:t>
            </a:r>
            <a:endParaRPr sz="2850" baseline="-20467" dirty="0">
              <a:latin typeface="Arial"/>
              <a:cs typeface="Arial"/>
            </a:endParaRPr>
          </a:p>
          <a:p>
            <a:pPr marL="393700">
              <a:lnSpc>
                <a:spcPts val="3025"/>
              </a:lnSpc>
            </a:pPr>
            <a:r>
              <a:rPr sz="2800" b="1" dirty="0">
                <a:latin typeface="Arial"/>
                <a:cs typeface="Arial"/>
              </a:rPr>
              <a:t>...</a:t>
            </a:r>
            <a:r>
              <a:rPr sz="2800" b="1" spc="-10" dirty="0">
                <a:latin typeface="Arial"/>
                <a:cs typeface="Arial"/>
              </a:rPr>
              <a:t> </a:t>
            </a:r>
            <a:r>
              <a:rPr sz="2800" b="1" spc="-25" dirty="0">
                <a:latin typeface="Arial"/>
                <a:cs typeface="Arial"/>
              </a:rPr>
              <a:t>E</a:t>
            </a:r>
            <a:r>
              <a:rPr sz="2850" b="1" spc="-37" baseline="-20467" dirty="0">
                <a:latin typeface="Arial"/>
                <a:cs typeface="Arial"/>
              </a:rPr>
              <a:t>n</a:t>
            </a:r>
            <a:r>
              <a:rPr sz="2800" b="1" spc="-25" dirty="0">
                <a:latin typeface="Arial"/>
                <a:cs typeface="Arial"/>
              </a:rPr>
              <a:t>.</a:t>
            </a:r>
            <a:endParaRPr sz="2800" dirty="0">
              <a:latin typeface="Arial"/>
              <a:cs typeface="Arial"/>
            </a:endParaRPr>
          </a:p>
          <a:p>
            <a:pPr marL="393700">
              <a:lnSpc>
                <a:spcPct val="100000"/>
              </a:lnSpc>
              <a:spcBef>
                <a:spcPts val="10"/>
              </a:spcBef>
            </a:pPr>
            <a:r>
              <a:rPr sz="2800" b="1" dirty="0">
                <a:latin typeface="Arial"/>
                <a:cs typeface="Arial"/>
              </a:rPr>
              <a:t>(E</a:t>
            </a:r>
            <a:r>
              <a:rPr sz="2850" b="1" baseline="-20467" dirty="0">
                <a:latin typeface="Arial"/>
                <a:cs typeface="Arial"/>
              </a:rPr>
              <a:t>i</a:t>
            </a:r>
            <a:r>
              <a:rPr sz="2800" b="1" dirty="0">
                <a:latin typeface="Arial"/>
                <a:cs typeface="Arial"/>
              </a:rPr>
              <a:t>)</a:t>
            </a:r>
            <a:r>
              <a:rPr sz="2800" b="1" spc="-45" dirty="0">
                <a:latin typeface="Arial"/>
                <a:cs typeface="Arial"/>
              </a:rPr>
              <a:t> </a:t>
            </a:r>
            <a:r>
              <a:rPr sz="2800" dirty="0">
                <a:latin typeface="Arial MT"/>
                <a:cs typeface="Arial MT"/>
              </a:rPr>
              <a:t>la</a:t>
            </a:r>
            <a:r>
              <a:rPr sz="2800" spc="-45" dirty="0">
                <a:latin typeface="Arial MT"/>
                <a:cs typeface="Arial MT"/>
              </a:rPr>
              <a:t> </a:t>
            </a:r>
            <a:r>
              <a:rPr sz="2800" b="1" dirty="0">
                <a:latin typeface="Arial"/>
                <a:cs typeface="Arial"/>
              </a:rPr>
              <a:t>clave</a:t>
            </a:r>
            <a:r>
              <a:rPr sz="2800" b="1" spc="-45" dirty="0">
                <a:latin typeface="Arial"/>
                <a:cs typeface="Arial"/>
              </a:rPr>
              <a:t> </a:t>
            </a:r>
            <a:r>
              <a:rPr sz="2800" b="1" dirty="0">
                <a:latin typeface="Arial"/>
                <a:cs typeface="Arial"/>
              </a:rPr>
              <a:t>primaria</a:t>
            </a:r>
            <a:r>
              <a:rPr sz="2800" b="1" spc="-40" dirty="0">
                <a:latin typeface="Arial"/>
                <a:cs typeface="Arial"/>
              </a:rPr>
              <a:t> </a:t>
            </a:r>
            <a:r>
              <a:rPr sz="2800" dirty="0">
                <a:latin typeface="Arial MT"/>
                <a:cs typeface="Arial MT"/>
              </a:rPr>
              <a:t>de</a:t>
            </a:r>
            <a:r>
              <a:rPr sz="2800" spc="-45" dirty="0">
                <a:latin typeface="Arial MT"/>
                <a:cs typeface="Arial MT"/>
              </a:rPr>
              <a:t> </a:t>
            </a:r>
            <a:r>
              <a:rPr sz="2800" dirty="0">
                <a:latin typeface="Arial MT"/>
                <a:cs typeface="Arial MT"/>
              </a:rPr>
              <a:t>la</a:t>
            </a:r>
            <a:r>
              <a:rPr sz="2800" spc="-60" dirty="0">
                <a:latin typeface="Arial MT"/>
                <a:cs typeface="Arial MT"/>
              </a:rPr>
              <a:t> </a:t>
            </a:r>
            <a:r>
              <a:rPr sz="2800" dirty="0">
                <a:latin typeface="Arial MT"/>
                <a:cs typeface="Arial MT"/>
              </a:rPr>
              <a:t>entidad</a:t>
            </a:r>
            <a:r>
              <a:rPr sz="2800" spc="-40" dirty="0">
                <a:latin typeface="Arial MT"/>
                <a:cs typeface="Arial MT"/>
              </a:rPr>
              <a:t> </a:t>
            </a:r>
            <a:r>
              <a:rPr sz="2800" spc="-25" dirty="0">
                <a:latin typeface="Arial MT"/>
                <a:cs typeface="Arial MT"/>
              </a:rPr>
              <a:t>E</a:t>
            </a:r>
            <a:r>
              <a:rPr sz="2850" spc="-37" baseline="-20467" dirty="0">
                <a:latin typeface="Arial MT"/>
                <a:cs typeface="Arial MT"/>
              </a:rPr>
              <a:t>i</a:t>
            </a:r>
            <a:endParaRPr sz="2850" baseline="-20467" dirty="0">
              <a:latin typeface="Arial MT"/>
              <a:cs typeface="Arial MT"/>
            </a:endParaRPr>
          </a:p>
          <a:p>
            <a:pPr>
              <a:lnSpc>
                <a:spcPct val="100000"/>
              </a:lnSpc>
              <a:spcBef>
                <a:spcPts val="140"/>
              </a:spcBef>
            </a:pPr>
            <a:endParaRPr sz="2800" dirty="0">
              <a:latin typeface="Arial MT"/>
              <a:cs typeface="Arial MT"/>
            </a:endParaRPr>
          </a:p>
          <a:p>
            <a:pPr marL="50800">
              <a:lnSpc>
                <a:spcPct val="100000"/>
              </a:lnSpc>
            </a:pPr>
            <a:r>
              <a:rPr sz="2800" dirty="0">
                <a:latin typeface="Arial MT"/>
                <a:cs typeface="Arial MT"/>
              </a:rPr>
              <a:t>Si</a:t>
            </a:r>
            <a:r>
              <a:rPr sz="2800" spc="-20" dirty="0">
                <a:latin typeface="Arial MT"/>
                <a:cs typeface="Arial MT"/>
              </a:rPr>
              <a:t> </a:t>
            </a:r>
            <a:r>
              <a:rPr sz="2800" b="1" spc="-50" dirty="0" smtClean="0">
                <a:latin typeface="Arial"/>
                <a:cs typeface="Arial"/>
              </a:rPr>
              <a:t>R</a:t>
            </a:r>
            <a:r>
              <a:rPr lang="es-ES" sz="2800" b="1" spc="-50" dirty="0" smtClean="0">
                <a:latin typeface="Arial"/>
                <a:cs typeface="Arial"/>
              </a:rPr>
              <a:t> </a:t>
            </a:r>
            <a:r>
              <a:rPr sz="2800" b="1" dirty="0" smtClean="0">
                <a:latin typeface="Arial"/>
                <a:cs typeface="Arial"/>
              </a:rPr>
              <a:t>no</a:t>
            </a:r>
            <a:r>
              <a:rPr sz="2800" b="1" spc="-55" dirty="0" smtClean="0">
                <a:latin typeface="Arial"/>
                <a:cs typeface="Arial"/>
              </a:rPr>
              <a:t> </a:t>
            </a:r>
            <a:r>
              <a:rPr sz="2800" b="1" dirty="0">
                <a:latin typeface="Arial"/>
                <a:cs typeface="Arial"/>
              </a:rPr>
              <a:t>tiene</a:t>
            </a:r>
            <a:r>
              <a:rPr sz="2800" b="1" spc="-40" dirty="0">
                <a:latin typeface="Arial"/>
                <a:cs typeface="Arial"/>
              </a:rPr>
              <a:t> </a:t>
            </a:r>
            <a:r>
              <a:rPr sz="2800" dirty="0">
                <a:latin typeface="Arial MT"/>
                <a:cs typeface="Arial MT"/>
              </a:rPr>
              <a:t>atributos</a:t>
            </a:r>
            <a:r>
              <a:rPr sz="2800" spc="675" dirty="0">
                <a:latin typeface="Arial MT"/>
                <a:cs typeface="Arial MT"/>
              </a:rPr>
              <a:t> </a:t>
            </a:r>
            <a:r>
              <a:rPr sz="2800" spc="-60" dirty="0">
                <a:latin typeface="Symbol"/>
                <a:cs typeface="Symbol"/>
              </a:rPr>
              <a:t></a:t>
            </a:r>
            <a:endParaRPr sz="2800" dirty="0">
              <a:latin typeface="Symbol"/>
              <a:cs typeface="Symbol"/>
            </a:endParaRPr>
          </a:p>
          <a:p>
            <a:pPr marL="45085" algn="ctr">
              <a:lnSpc>
                <a:spcPct val="100000"/>
              </a:lnSpc>
              <a:spcBef>
                <a:spcPts val="1639"/>
              </a:spcBef>
            </a:pPr>
            <a:r>
              <a:rPr sz="2800" b="1" dirty="0">
                <a:latin typeface="Arial"/>
                <a:cs typeface="Arial"/>
              </a:rPr>
              <a:t>atributo(R)</a:t>
            </a:r>
            <a:r>
              <a:rPr sz="2800" b="1" spc="-35" dirty="0">
                <a:latin typeface="Arial"/>
                <a:cs typeface="Arial"/>
              </a:rPr>
              <a:t> </a:t>
            </a:r>
            <a:r>
              <a:rPr sz="2800" b="1" dirty="0">
                <a:latin typeface="Arial"/>
                <a:cs typeface="Arial"/>
              </a:rPr>
              <a:t>=</a:t>
            </a:r>
            <a:r>
              <a:rPr sz="2800" b="1" spc="-40" dirty="0">
                <a:latin typeface="Arial"/>
                <a:cs typeface="Arial"/>
              </a:rPr>
              <a:t> </a:t>
            </a:r>
            <a:r>
              <a:rPr sz="2800" b="1" dirty="0">
                <a:latin typeface="Arial"/>
                <a:cs typeface="Arial"/>
              </a:rPr>
              <a:t>(E</a:t>
            </a:r>
            <a:r>
              <a:rPr sz="2850" b="1" baseline="-20467" dirty="0">
                <a:latin typeface="Arial"/>
                <a:cs typeface="Arial"/>
              </a:rPr>
              <a:t>1</a:t>
            </a:r>
            <a:r>
              <a:rPr sz="2800" b="1" dirty="0">
                <a:latin typeface="Arial"/>
                <a:cs typeface="Arial"/>
              </a:rPr>
              <a:t>)</a:t>
            </a:r>
            <a:r>
              <a:rPr sz="2800" b="1" spc="-20" dirty="0">
                <a:latin typeface="Arial"/>
                <a:cs typeface="Arial"/>
              </a:rPr>
              <a:t> </a:t>
            </a:r>
            <a:r>
              <a:rPr sz="2800" b="1" dirty="0">
                <a:latin typeface="Arial"/>
                <a:cs typeface="Arial"/>
              </a:rPr>
              <a:t>U</a:t>
            </a:r>
            <a:r>
              <a:rPr sz="2800" b="1" spc="-40" dirty="0">
                <a:latin typeface="Arial"/>
                <a:cs typeface="Arial"/>
              </a:rPr>
              <a:t> </a:t>
            </a:r>
            <a:r>
              <a:rPr sz="2800" b="1" dirty="0">
                <a:latin typeface="Arial"/>
                <a:cs typeface="Arial"/>
              </a:rPr>
              <a:t>(E</a:t>
            </a:r>
            <a:r>
              <a:rPr sz="2850" b="1" baseline="-20467" dirty="0">
                <a:latin typeface="Arial"/>
                <a:cs typeface="Arial"/>
              </a:rPr>
              <a:t>2</a:t>
            </a:r>
            <a:r>
              <a:rPr sz="2800" b="1" dirty="0">
                <a:latin typeface="Arial"/>
                <a:cs typeface="Arial"/>
              </a:rPr>
              <a:t>)</a:t>
            </a:r>
            <a:r>
              <a:rPr sz="2800" b="1" spc="-20" dirty="0">
                <a:latin typeface="Arial"/>
                <a:cs typeface="Arial"/>
              </a:rPr>
              <a:t> </a:t>
            </a:r>
            <a:r>
              <a:rPr sz="2800" b="1" dirty="0">
                <a:latin typeface="Arial"/>
                <a:cs typeface="Arial"/>
              </a:rPr>
              <a:t>U</a:t>
            </a:r>
            <a:r>
              <a:rPr sz="2800" b="1" spc="-40" dirty="0">
                <a:latin typeface="Arial"/>
                <a:cs typeface="Arial"/>
              </a:rPr>
              <a:t> </a:t>
            </a:r>
            <a:r>
              <a:rPr sz="2800" b="1" dirty="0">
                <a:latin typeface="Arial"/>
                <a:cs typeface="Arial"/>
              </a:rPr>
              <a:t>....</a:t>
            </a:r>
            <a:r>
              <a:rPr sz="2800" b="1" spc="-45" dirty="0">
                <a:latin typeface="Arial"/>
                <a:cs typeface="Arial"/>
              </a:rPr>
              <a:t> </a:t>
            </a:r>
            <a:r>
              <a:rPr sz="2800" b="1" dirty="0">
                <a:latin typeface="Arial"/>
                <a:cs typeface="Arial"/>
              </a:rPr>
              <a:t>U</a:t>
            </a:r>
            <a:r>
              <a:rPr sz="2800" b="1" spc="-40" dirty="0">
                <a:latin typeface="Arial"/>
                <a:cs typeface="Arial"/>
              </a:rPr>
              <a:t> </a:t>
            </a:r>
            <a:r>
              <a:rPr sz="2800" b="1" spc="-20" dirty="0">
                <a:latin typeface="Arial"/>
                <a:cs typeface="Arial"/>
              </a:rPr>
              <a:t>(E</a:t>
            </a:r>
            <a:r>
              <a:rPr sz="2850" b="1" spc="-30" baseline="-20467" dirty="0">
                <a:latin typeface="Arial"/>
                <a:cs typeface="Arial"/>
              </a:rPr>
              <a:t>n</a:t>
            </a:r>
            <a:r>
              <a:rPr sz="2800" b="1" spc="-20" dirty="0">
                <a:latin typeface="Arial"/>
                <a:cs typeface="Arial"/>
              </a:rPr>
              <a:t>)</a:t>
            </a:r>
            <a:endParaRPr sz="2800" dirty="0">
              <a:latin typeface="Arial"/>
              <a:cs typeface="Arial"/>
            </a:endParaRPr>
          </a:p>
          <a:p>
            <a:pPr>
              <a:lnSpc>
                <a:spcPct val="100000"/>
              </a:lnSpc>
              <a:spcBef>
                <a:spcPts val="175"/>
              </a:spcBef>
            </a:pPr>
            <a:endParaRPr sz="2800" dirty="0">
              <a:latin typeface="Arial"/>
              <a:cs typeface="Arial"/>
            </a:endParaRPr>
          </a:p>
          <a:p>
            <a:pPr marL="391795" indent="-340995">
              <a:lnSpc>
                <a:spcPct val="100000"/>
              </a:lnSpc>
              <a:spcBef>
                <a:spcPts val="5"/>
              </a:spcBef>
              <a:buFont typeface="Arial MT"/>
              <a:buChar char="•"/>
              <a:tabLst>
                <a:tab pos="391795" algn="l"/>
              </a:tabLst>
            </a:pPr>
            <a:r>
              <a:rPr sz="2800" b="1" dirty="0">
                <a:latin typeface="Arial"/>
                <a:cs typeface="Arial"/>
              </a:rPr>
              <a:t>tiene</a:t>
            </a:r>
            <a:r>
              <a:rPr sz="2800" b="1" spc="-45" dirty="0">
                <a:latin typeface="Arial"/>
                <a:cs typeface="Arial"/>
              </a:rPr>
              <a:t> </a:t>
            </a:r>
            <a:r>
              <a:rPr sz="2800" dirty="0">
                <a:latin typeface="Arial MT"/>
                <a:cs typeface="Arial MT"/>
              </a:rPr>
              <a:t>atributos</a:t>
            </a:r>
            <a:r>
              <a:rPr sz="2800" spc="-45" dirty="0">
                <a:latin typeface="Arial MT"/>
                <a:cs typeface="Arial MT"/>
              </a:rPr>
              <a:t> </a:t>
            </a:r>
            <a:r>
              <a:rPr sz="2800" dirty="0">
                <a:latin typeface="Arial MT"/>
                <a:cs typeface="Arial MT"/>
              </a:rPr>
              <a:t>descriptivos</a:t>
            </a:r>
            <a:r>
              <a:rPr sz="2800" spc="-55" dirty="0">
                <a:latin typeface="Arial MT"/>
                <a:cs typeface="Arial MT"/>
              </a:rPr>
              <a:t> </a:t>
            </a:r>
            <a:r>
              <a:rPr sz="2800" b="1" dirty="0">
                <a:latin typeface="Arial"/>
                <a:cs typeface="Arial"/>
              </a:rPr>
              <a:t>{a</a:t>
            </a:r>
            <a:r>
              <a:rPr sz="2850" b="1" baseline="-20467" dirty="0">
                <a:latin typeface="Arial"/>
                <a:cs typeface="Arial"/>
              </a:rPr>
              <a:t>1</a:t>
            </a:r>
            <a:r>
              <a:rPr sz="2800" b="1" dirty="0">
                <a:latin typeface="Arial"/>
                <a:cs typeface="Arial"/>
              </a:rPr>
              <a:t>,</a:t>
            </a:r>
            <a:r>
              <a:rPr sz="2800" b="1" spc="-50" dirty="0">
                <a:latin typeface="Arial"/>
                <a:cs typeface="Arial"/>
              </a:rPr>
              <a:t> </a:t>
            </a:r>
            <a:r>
              <a:rPr sz="2800" b="1" dirty="0">
                <a:latin typeface="Arial"/>
                <a:cs typeface="Arial"/>
              </a:rPr>
              <a:t>a</a:t>
            </a:r>
            <a:r>
              <a:rPr sz="2850" b="1" baseline="-20467" dirty="0">
                <a:latin typeface="Arial"/>
                <a:cs typeface="Arial"/>
              </a:rPr>
              <a:t>2</a:t>
            </a:r>
            <a:r>
              <a:rPr sz="2800" b="1" dirty="0">
                <a:latin typeface="Arial"/>
                <a:cs typeface="Arial"/>
              </a:rPr>
              <a:t>,</a:t>
            </a:r>
            <a:r>
              <a:rPr sz="2800" b="1" spc="-45" dirty="0">
                <a:latin typeface="Arial"/>
                <a:cs typeface="Arial"/>
              </a:rPr>
              <a:t> </a:t>
            </a:r>
            <a:r>
              <a:rPr sz="2800" b="1" dirty="0">
                <a:latin typeface="Arial"/>
                <a:cs typeface="Arial"/>
              </a:rPr>
              <a:t>...</a:t>
            </a:r>
            <a:r>
              <a:rPr sz="2800" b="1" spc="-60" dirty="0">
                <a:latin typeface="Arial"/>
                <a:cs typeface="Arial"/>
              </a:rPr>
              <a:t> </a:t>
            </a:r>
            <a:r>
              <a:rPr sz="2800" b="1" dirty="0">
                <a:latin typeface="Arial"/>
                <a:cs typeface="Arial"/>
              </a:rPr>
              <a:t>,</a:t>
            </a:r>
            <a:r>
              <a:rPr sz="2800" b="1" spc="-55" dirty="0">
                <a:latin typeface="Arial"/>
                <a:cs typeface="Arial"/>
              </a:rPr>
              <a:t> </a:t>
            </a:r>
            <a:r>
              <a:rPr sz="2800" b="1" dirty="0">
                <a:latin typeface="Arial"/>
                <a:cs typeface="Arial"/>
              </a:rPr>
              <a:t>a</a:t>
            </a:r>
            <a:r>
              <a:rPr sz="2850" b="1" baseline="-20467" dirty="0">
                <a:latin typeface="Arial"/>
                <a:cs typeface="Arial"/>
              </a:rPr>
              <a:t>m</a:t>
            </a:r>
            <a:r>
              <a:rPr sz="2800" b="1" dirty="0">
                <a:latin typeface="Arial"/>
                <a:cs typeface="Arial"/>
              </a:rPr>
              <a:t>}</a:t>
            </a:r>
            <a:r>
              <a:rPr sz="2800" b="1" spc="-45" dirty="0">
                <a:latin typeface="Arial"/>
                <a:cs typeface="Arial"/>
              </a:rPr>
              <a:t> </a:t>
            </a:r>
            <a:r>
              <a:rPr sz="2800" spc="-50" dirty="0">
                <a:latin typeface="Symbol"/>
                <a:cs typeface="Symbol"/>
              </a:rPr>
              <a:t></a:t>
            </a:r>
            <a:endParaRPr sz="2800" dirty="0">
              <a:latin typeface="Symbol"/>
              <a:cs typeface="Symbol"/>
            </a:endParaRPr>
          </a:p>
          <a:p>
            <a:pPr marL="45720" algn="ctr">
              <a:lnSpc>
                <a:spcPct val="100000"/>
              </a:lnSpc>
              <a:spcBef>
                <a:spcPts val="1639"/>
              </a:spcBef>
            </a:pPr>
            <a:r>
              <a:rPr sz="2800" b="1" dirty="0">
                <a:latin typeface="Arial"/>
                <a:cs typeface="Arial"/>
              </a:rPr>
              <a:t>atributo(R)</a:t>
            </a:r>
            <a:r>
              <a:rPr sz="2800" b="1" spc="-25" dirty="0">
                <a:latin typeface="Arial"/>
                <a:cs typeface="Arial"/>
              </a:rPr>
              <a:t> </a:t>
            </a:r>
            <a:r>
              <a:rPr sz="2800" b="1" dirty="0">
                <a:latin typeface="Arial"/>
                <a:cs typeface="Arial"/>
              </a:rPr>
              <a:t>=</a:t>
            </a:r>
            <a:r>
              <a:rPr sz="2800" b="1" spc="-30" dirty="0">
                <a:latin typeface="Arial"/>
                <a:cs typeface="Arial"/>
              </a:rPr>
              <a:t> </a:t>
            </a:r>
            <a:r>
              <a:rPr sz="2800" b="1" dirty="0">
                <a:latin typeface="Arial"/>
                <a:cs typeface="Arial"/>
              </a:rPr>
              <a:t>(E</a:t>
            </a:r>
            <a:r>
              <a:rPr sz="2850" b="1" baseline="-20467" dirty="0">
                <a:latin typeface="Arial"/>
                <a:cs typeface="Arial"/>
              </a:rPr>
              <a:t>1</a:t>
            </a:r>
            <a:r>
              <a:rPr sz="2800" b="1" dirty="0">
                <a:latin typeface="Arial"/>
                <a:cs typeface="Arial"/>
              </a:rPr>
              <a:t>)</a:t>
            </a:r>
            <a:r>
              <a:rPr sz="2800" b="1" spc="-15" dirty="0">
                <a:latin typeface="Arial"/>
                <a:cs typeface="Arial"/>
              </a:rPr>
              <a:t> </a:t>
            </a:r>
            <a:r>
              <a:rPr sz="2800" b="1" dirty="0">
                <a:latin typeface="Arial"/>
                <a:cs typeface="Arial"/>
              </a:rPr>
              <a:t>U</a:t>
            </a:r>
            <a:r>
              <a:rPr sz="2800" b="1" spc="-30" dirty="0">
                <a:latin typeface="Arial"/>
                <a:cs typeface="Arial"/>
              </a:rPr>
              <a:t> </a:t>
            </a:r>
            <a:r>
              <a:rPr sz="2800" b="1" dirty="0">
                <a:latin typeface="Arial"/>
                <a:cs typeface="Arial"/>
              </a:rPr>
              <a:t>(E</a:t>
            </a:r>
            <a:r>
              <a:rPr sz="2850" b="1" baseline="-20467" dirty="0">
                <a:latin typeface="Arial"/>
                <a:cs typeface="Arial"/>
              </a:rPr>
              <a:t>2</a:t>
            </a:r>
            <a:r>
              <a:rPr sz="2800" b="1" dirty="0">
                <a:latin typeface="Arial"/>
                <a:cs typeface="Arial"/>
              </a:rPr>
              <a:t>)</a:t>
            </a:r>
            <a:r>
              <a:rPr sz="2800" b="1" spc="-15" dirty="0">
                <a:latin typeface="Arial"/>
                <a:cs typeface="Arial"/>
              </a:rPr>
              <a:t> </a:t>
            </a:r>
            <a:r>
              <a:rPr sz="2800" b="1" dirty="0">
                <a:latin typeface="Arial"/>
                <a:cs typeface="Arial"/>
              </a:rPr>
              <a:t>U</a:t>
            </a:r>
            <a:r>
              <a:rPr sz="2800" b="1" spc="-30" dirty="0">
                <a:latin typeface="Arial"/>
                <a:cs typeface="Arial"/>
              </a:rPr>
              <a:t> </a:t>
            </a:r>
            <a:r>
              <a:rPr sz="2800" b="1" dirty="0">
                <a:latin typeface="Arial"/>
                <a:cs typeface="Arial"/>
              </a:rPr>
              <a:t>....</a:t>
            </a:r>
            <a:r>
              <a:rPr sz="2800" b="1" spc="-35" dirty="0">
                <a:latin typeface="Arial"/>
                <a:cs typeface="Arial"/>
              </a:rPr>
              <a:t> </a:t>
            </a:r>
            <a:r>
              <a:rPr sz="2800" b="1" dirty="0">
                <a:latin typeface="Arial"/>
                <a:cs typeface="Arial"/>
              </a:rPr>
              <a:t>U</a:t>
            </a:r>
            <a:r>
              <a:rPr sz="2800" b="1" spc="-35" dirty="0">
                <a:latin typeface="Arial"/>
                <a:cs typeface="Arial"/>
              </a:rPr>
              <a:t> </a:t>
            </a:r>
            <a:r>
              <a:rPr sz="2800" b="1" dirty="0">
                <a:latin typeface="Arial"/>
                <a:cs typeface="Arial"/>
              </a:rPr>
              <a:t>(E</a:t>
            </a:r>
            <a:r>
              <a:rPr sz="2850" b="1" baseline="-20467" dirty="0">
                <a:latin typeface="Arial"/>
                <a:cs typeface="Arial"/>
              </a:rPr>
              <a:t>n</a:t>
            </a:r>
            <a:r>
              <a:rPr sz="2800" b="1" dirty="0">
                <a:latin typeface="Arial"/>
                <a:cs typeface="Arial"/>
              </a:rPr>
              <a:t>)</a:t>
            </a:r>
            <a:r>
              <a:rPr sz="2800" b="1" spc="-20" dirty="0">
                <a:latin typeface="Arial"/>
                <a:cs typeface="Arial"/>
              </a:rPr>
              <a:t> </a:t>
            </a:r>
            <a:r>
              <a:rPr sz="2800" b="1" dirty="0">
                <a:latin typeface="Arial"/>
                <a:cs typeface="Arial"/>
              </a:rPr>
              <a:t>U</a:t>
            </a:r>
            <a:r>
              <a:rPr sz="2800" b="1" spc="-35" dirty="0">
                <a:latin typeface="Arial"/>
                <a:cs typeface="Arial"/>
              </a:rPr>
              <a:t> </a:t>
            </a:r>
            <a:r>
              <a:rPr sz="2800" b="1" dirty="0">
                <a:latin typeface="Arial"/>
                <a:cs typeface="Arial"/>
              </a:rPr>
              <a:t>{a</a:t>
            </a:r>
            <a:r>
              <a:rPr sz="2850" b="1" baseline="-20467" dirty="0">
                <a:latin typeface="Arial"/>
                <a:cs typeface="Arial"/>
              </a:rPr>
              <a:t>1</a:t>
            </a:r>
            <a:r>
              <a:rPr sz="2800" b="1" dirty="0">
                <a:latin typeface="Arial"/>
                <a:cs typeface="Arial"/>
              </a:rPr>
              <a:t>,</a:t>
            </a:r>
            <a:r>
              <a:rPr sz="2800" b="1" spc="-25" dirty="0">
                <a:latin typeface="Arial"/>
                <a:cs typeface="Arial"/>
              </a:rPr>
              <a:t> </a:t>
            </a:r>
            <a:r>
              <a:rPr sz="2800" b="1" dirty="0">
                <a:latin typeface="Arial"/>
                <a:cs typeface="Arial"/>
              </a:rPr>
              <a:t>a</a:t>
            </a:r>
            <a:r>
              <a:rPr sz="2850" b="1" baseline="-20467" dirty="0">
                <a:latin typeface="Arial"/>
                <a:cs typeface="Arial"/>
              </a:rPr>
              <a:t>2</a:t>
            </a:r>
            <a:r>
              <a:rPr sz="2800" b="1" dirty="0">
                <a:latin typeface="Arial"/>
                <a:cs typeface="Arial"/>
              </a:rPr>
              <a:t>,</a:t>
            </a:r>
            <a:r>
              <a:rPr sz="2800" b="1" spc="-30" dirty="0">
                <a:latin typeface="Arial"/>
                <a:cs typeface="Arial"/>
              </a:rPr>
              <a:t> </a:t>
            </a:r>
            <a:r>
              <a:rPr sz="2800" b="1" dirty="0">
                <a:latin typeface="Arial"/>
                <a:cs typeface="Arial"/>
              </a:rPr>
              <a:t>...</a:t>
            </a:r>
            <a:r>
              <a:rPr sz="2800" b="1" spc="-35" dirty="0">
                <a:latin typeface="Arial"/>
                <a:cs typeface="Arial"/>
              </a:rPr>
              <a:t> </a:t>
            </a:r>
            <a:r>
              <a:rPr sz="2800" b="1" dirty="0">
                <a:latin typeface="Arial"/>
                <a:cs typeface="Arial"/>
              </a:rPr>
              <a:t>,</a:t>
            </a:r>
            <a:r>
              <a:rPr sz="2800" b="1" spc="-35" dirty="0">
                <a:latin typeface="Arial"/>
                <a:cs typeface="Arial"/>
              </a:rPr>
              <a:t> </a:t>
            </a:r>
            <a:r>
              <a:rPr sz="2800" b="1" spc="-25" dirty="0">
                <a:latin typeface="Arial"/>
                <a:cs typeface="Arial"/>
              </a:rPr>
              <a:t>a</a:t>
            </a:r>
            <a:r>
              <a:rPr sz="2850" b="1" spc="-37" baseline="-20467" dirty="0">
                <a:latin typeface="Arial"/>
                <a:cs typeface="Arial"/>
              </a:rPr>
              <a:t>m</a:t>
            </a:r>
            <a:r>
              <a:rPr sz="2800" b="1" spc="-25" dirty="0" smtClean="0">
                <a:latin typeface="Arial"/>
                <a:cs typeface="Arial"/>
              </a:rPr>
              <a:t>}</a:t>
            </a:r>
            <a:endParaRPr lang="es-ES" sz="2800" b="1" spc="-25" dirty="0" smtClean="0">
              <a:latin typeface="Arial"/>
              <a:cs typeface="Arial"/>
            </a:endParaRPr>
          </a:p>
          <a:p>
            <a:pPr marL="45720" algn="ctr">
              <a:lnSpc>
                <a:spcPct val="100000"/>
              </a:lnSpc>
              <a:spcBef>
                <a:spcPts val="1639"/>
              </a:spcBef>
            </a:pPr>
            <a:r>
              <a:rPr lang="es-ES" sz="1400" dirty="0" smtClean="0"/>
              <a:t>(La relación contiene las claves primarias de las entidades participantes + los atributos propios de la relación.)</a:t>
            </a:r>
            <a:endParaRPr sz="1400" dirty="0">
              <a:latin typeface="Arial"/>
              <a:cs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18776" y="863599"/>
            <a:ext cx="5052695" cy="635000"/>
          </a:xfrm>
          <a:prstGeom prst="rect">
            <a:avLst/>
          </a:prstGeom>
        </p:spPr>
        <p:txBody>
          <a:bodyPr vert="horz" wrap="square" lIns="0" tIns="12065" rIns="0" bIns="0" rtlCol="0">
            <a:spAutoFit/>
          </a:bodyPr>
          <a:lstStyle/>
          <a:p>
            <a:pPr marL="12700">
              <a:lnSpc>
                <a:spcPct val="100000"/>
              </a:lnSpc>
              <a:spcBef>
                <a:spcPts val="95"/>
              </a:spcBef>
            </a:pPr>
            <a:r>
              <a:rPr sz="4000" b="1" dirty="0">
                <a:latin typeface="Arial"/>
                <a:cs typeface="Arial"/>
              </a:rPr>
              <a:t>Claves</a:t>
            </a:r>
            <a:r>
              <a:rPr sz="4000" b="1" spc="-85" dirty="0">
                <a:latin typeface="Arial"/>
                <a:cs typeface="Arial"/>
              </a:rPr>
              <a:t> </a:t>
            </a:r>
            <a:r>
              <a:rPr sz="4000" b="1" dirty="0">
                <a:latin typeface="Arial"/>
                <a:cs typeface="Arial"/>
              </a:rPr>
              <a:t>en</a:t>
            </a:r>
            <a:r>
              <a:rPr sz="4000" b="1" spc="-85" dirty="0">
                <a:latin typeface="Arial"/>
                <a:cs typeface="Arial"/>
              </a:rPr>
              <a:t> </a:t>
            </a:r>
            <a:r>
              <a:rPr sz="4000" b="1" spc="-10" dirty="0">
                <a:latin typeface="Arial"/>
                <a:cs typeface="Arial"/>
              </a:rPr>
              <a:t>relaciones</a:t>
            </a:r>
            <a:endParaRPr sz="4000">
              <a:latin typeface="Arial"/>
              <a:cs typeface="Arial"/>
            </a:endParaRPr>
          </a:p>
        </p:txBody>
      </p:sp>
      <p:sp>
        <p:nvSpPr>
          <p:cNvPr id="3" name="object 3"/>
          <p:cNvSpPr txBox="1"/>
          <p:nvPr/>
        </p:nvSpPr>
        <p:spPr>
          <a:xfrm>
            <a:off x="1104272" y="1696617"/>
            <a:ext cx="8440420" cy="5126355"/>
          </a:xfrm>
          <a:prstGeom prst="rect">
            <a:avLst/>
          </a:prstGeom>
        </p:spPr>
        <p:txBody>
          <a:bodyPr vert="horz" wrap="square" lIns="0" tIns="257810" rIns="0" bIns="0" rtlCol="0">
            <a:spAutoFit/>
          </a:bodyPr>
          <a:lstStyle/>
          <a:p>
            <a:pPr marL="12700">
              <a:lnSpc>
                <a:spcPct val="100000"/>
              </a:lnSpc>
              <a:spcBef>
                <a:spcPts val="2030"/>
              </a:spcBef>
            </a:pPr>
            <a:r>
              <a:rPr sz="2800" b="1" spc="-10" dirty="0">
                <a:latin typeface="Arial"/>
                <a:cs typeface="Arial"/>
              </a:rPr>
              <a:t>Ejemplo</a:t>
            </a:r>
            <a:r>
              <a:rPr sz="2800" spc="-10" dirty="0">
                <a:latin typeface="Arial MT"/>
                <a:cs typeface="Arial MT"/>
              </a:rPr>
              <a:t>:</a:t>
            </a:r>
            <a:endParaRPr sz="2800" dirty="0">
              <a:latin typeface="Arial MT"/>
              <a:cs typeface="Arial MT"/>
            </a:endParaRPr>
          </a:p>
          <a:p>
            <a:pPr marL="12700">
              <a:lnSpc>
                <a:spcPct val="100000"/>
              </a:lnSpc>
              <a:spcBef>
                <a:spcPts val="1935"/>
              </a:spcBef>
            </a:pPr>
            <a:r>
              <a:rPr sz="2800" dirty="0">
                <a:latin typeface="Arial MT"/>
                <a:cs typeface="Arial MT"/>
              </a:rPr>
              <a:t>Sea</a:t>
            </a:r>
            <a:r>
              <a:rPr sz="2800" spc="-50" dirty="0">
                <a:latin typeface="Arial MT"/>
                <a:cs typeface="Arial MT"/>
              </a:rPr>
              <a:t> </a:t>
            </a:r>
            <a:r>
              <a:rPr sz="2800" dirty="0">
                <a:latin typeface="Arial MT"/>
                <a:cs typeface="Arial MT"/>
              </a:rPr>
              <a:t>la</a:t>
            </a:r>
            <a:r>
              <a:rPr sz="2800" spc="-50" dirty="0">
                <a:latin typeface="Arial MT"/>
                <a:cs typeface="Arial MT"/>
              </a:rPr>
              <a:t> </a:t>
            </a:r>
            <a:r>
              <a:rPr sz="2800" dirty="0">
                <a:latin typeface="Arial MT"/>
                <a:cs typeface="Arial MT"/>
              </a:rPr>
              <a:t>relación</a:t>
            </a:r>
            <a:r>
              <a:rPr sz="2800" spc="-55" dirty="0">
                <a:latin typeface="Arial MT"/>
                <a:cs typeface="Arial MT"/>
              </a:rPr>
              <a:t> </a:t>
            </a:r>
            <a:r>
              <a:rPr sz="2800" b="1" dirty="0">
                <a:latin typeface="Arial"/>
                <a:cs typeface="Arial"/>
              </a:rPr>
              <a:t>CtaCli</a:t>
            </a:r>
            <a:r>
              <a:rPr sz="2800" b="1" spc="-55" dirty="0">
                <a:latin typeface="Arial"/>
                <a:cs typeface="Arial"/>
              </a:rPr>
              <a:t> </a:t>
            </a:r>
            <a:r>
              <a:rPr sz="2800" spc="-20" dirty="0">
                <a:latin typeface="Arial MT"/>
                <a:cs typeface="Arial MT"/>
              </a:rPr>
              <a:t>con:</a:t>
            </a:r>
            <a:endParaRPr sz="2800" dirty="0">
              <a:latin typeface="Arial MT"/>
              <a:cs typeface="Arial MT"/>
            </a:endParaRPr>
          </a:p>
          <a:p>
            <a:pPr marL="755015" indent="-285750">
              <a:lnSpc>
                <a:spcPct val="100000"/>
              </a:lnSpc>
              <a:spcBef>
                <a:spcPts val="1920"/>
              </a:spcBef>
              <a:buChar char="–"/>
              <a:tabLst>
                <a:tab pos="755015" algn="l"/>
              </a:tabLst>
            </a:pPr>
            <a:r>
              <a:rPr sz="2800" dirty="0">
                <a:latin typeface="Arial MT"/>
                <a:cs typeface="Arial MT"/>
              </a:rPr>
              <a:t>atributo:</a:t>
            </a:r>
            <a:r>
              <a:rPr sz="2800" spc="685" dirty="0">
                <a:latin typeface="Arial MT"/>
                <a:cs typeface="Arial MT"/>
              </a:rPr>
              <a:t> </a:t>
            </a:r>
            <a:r>
              <a:rPr sz="2800" b="1" spc="-20" dirty="0">
                <a:latin typeface="Arial"/>
                <a:cs typeface="Arial"/>
              </a:rPr>
              <a:t>fecha</a:t>
            </a:r>
            <a:endParaRPr sz="2800" dirty="0">
              <a:latin typeface="Arial"/>
              <a:cs typeface="Arial"/>
            </a:endParaRPr>
          </a:p>
          <a:p>
            <a:pPr marL="755015" indent="-285750">
              <a:lnSpc>
                <a:spcPct val="100000"/>
              </a:lnSpc>
              <a:spcBef>
                <a:spcPts val="10"/>
              </a:spcBef>
              <a:buChar char="–"/>
              <a:tabLst>
                <a:tab pos="755015" algn="l"/>
              </a:tabLst>
            </a:pPr>
            <a:r>
              <a:rPr sz="2800" dirty="0">
                <a:latin typeface="Arial MT"/>
                <a:cs typeface="Arial MT"/>
              </a:rPr>
              <a:t>entidades</a:t>
            </a:r>
            <a:r>
              <a:rPr sz="2800" spc="-100" dirty="0">
                <a:latin typeface="Arial MT"/>
                <a:cs typeface="Arial MT"/>
              </a:rPr>
              <a:t> </a:t>
            </a:r>
            <a:r>
              <a:rPr sz="2800" spc="-10" dirty="0">
                <a:latin typeface="Arial MT"/>
                <a:cs typeface="Arial MT"/>
              </a:rPr>
              <a:t>involucradas:</a:t>
            </a:r>
            <a:endParaRPr sz="2800" dirty="0">
              <a:latin typeface="Arial MT"/>
              <a:cs typeface="Arial MT"/>
            </a:endParaRPr>
          </a:p>
          <a:p>
            <a:pPr marL="1384300" indent="-635">
              <a:lnSpc>
                <a:spcPct val="100000"/>
              </a:lnSpc>
            </a:pPr>
            <a:r>
              <a:rPr sz="2800" spc="-25" dirty="0">
                <a:latin typeface="Arial MT"/>
                <a:cs typeface="Arial MT"/>
              </a:rPr>
              <a:t>–</a:t>
            </a:r>
            <a:r>
              <a:rPr sz="2800" spc="-535" dirty="0">
                <a:latin typeface="Arial MT"/>
                <a:cs typeface="Arial MT"/>
              </a:rPr>
              <a:t> </a:t>
            </a:r>
            <a:r>
              <a:rPr sz="2800" b="1" dirty="0">
                <a:latin typeface="Arial"/>
                <a:cs typeface="Arial"/>
              </a:rPr>
              <a:t>cliente</a:t>
            </a:r>
            <a:r>
              <a:rPr sz="2800" b="1" spc="-50" dirty="0">
                <a:latin typeface="Arial"/>
                <a:cs typeface="Arial"/>
              </a:rPr>
              <a:t> </a:t>
            </a:r>
            <a:r>
              <a:rPr sz="2800" dirty="0">
                <a:latin typeface="Arial MT"/>
                <a:cs typeface="Arial MT"/>
              </a:rPr>
              <a:t>con</a:t>
            </a:r>
            <a:r>
              <a:rPr sz="2800" spc="-35" dirty="0">
                <a:latin typeface="Arial MT"/>
                <a:cs typeface="Arial MT"/>
              </a:rPr>
              <a:t> </a:t>
            </a:r>
            <a:r>
              <a:rPr sz="2800" dirty="0">
                <a:latin typeface="Arial MT"/>
                <a:cs typeface="Arial MT"/>
              </a:rPr>
              <a:t>clave</a:t>
            </a:r>
            <a:r>
              <a:rPr sz="2800" spc="-50" dirty="0">
                <a:latin typeface="Arial MT"/>
                <a:cs typeface="Arial MT"/>
              </a:rPr>
              <a:t> </a:t>
            </a:r>
            <a:r>
              <a:rPr sz="2800" dirty="0">
                <a:latin typeface="Arial MT"/>
                <a:cs typeface="Arial MT"/>
              </a:rPr>
              <a:t>primaria</a:t>
            </a:r>
            <a:r>
              <a:rPr sz="2800" spc="-35" dirty="0">
                <a:latin typeface="Arial MT"/>
                <a:cs typeface="Arial MT"/>
              </a:rPr>
              <a:t> </a:t>
            </a:r>
            <a:r>
              <a:rPr sz="2800" u="sng" spc="-20" dirty="0">
                <a:uFill>
                  <a:solidFill>
                    <a:srgbClr val="000000"/>
                  </a:solidFill>
                </a:uFill>
                <a:latin typeface="Arial MT"/>
                <a:cs typeface="Arial MT"/>
              </a:rPr>
              <a:t>seguridad-</a:t>
            </a:r>
            <a:r>
              <a:rPr sz="2800" u="sng" spc="-10" dirty="0">
                <a:uFill>
                  <a:solidFill>
                    <a:srgbClr val="000000"/>
                  </a:solidFill>
                </a:uFill>
                <a:latin typeface="Arial MT"/>
                <a:cs typeface="Arial MT"/>
              </a:rPr>
              <a:t>social</a:t>
            </a:r>
            <a:endParaRPr sz="2800" dirty="0">
              <a:latin typeface="Arial MT"/>
              <a:cs typeface="Arial MT"/>
            </a:endParaRPr>
          </a:p>
          <a:p>
            <a:pPr marL="1384300">
              <a:lnSpc>
                <a:spcPct val="100000"/>
              </a:lnSpc>
            </a:pPr>
            <a:r>
              <a:rPr sz="2800" spc="-25" dirty="0">
                <a:latin typeface="Arial MT"/>
                <a:cs typeface="Arial MT"/>
              </a:rPr>
              <a:t>–</a:t>
            </a:r>
            <a:r>
              <a:rPr sz="2800" spc="-535" dirty="0">
                <a:latin typeface="Arial MT"/>
                <a:cs typeface="Arial MT"/>
              </a:rPr>
              <a:t> </a:t>
            </a:r>
            <a:r>
              <a:rPr sz="2800" b="1" dirty="0">
                <a:latin typeface="Arial"/>
                <a:cs typeface="Arial"/>
              </a:rPr>
              <a:t>cuenta</a:t>
            </a:r>
            <a:r>
              <a:rPr sz="2800" b="1" spc="-65" dirty="0">
                <a:latin typeface="Arial"/>
                <a:cs typeface="Arial"/>
              </a:rPr>
              <a:t> </a:t>
            </a:r>
            <a:r>
              <a:rPr sz="2800" dirty="0">
                <a:latin typeface="Arial MT"/>
                <a:cs typeface="Arial MT"/>
              </a:rPr>
              <a:t>con</a:t>
            </a:r>
            <a:r>
              <a:rPr sz="2800" spc="-50" dirty="0">
                <a:latin typeface="Arial MT"/>
                <a:cs typeface="Arial MT"/>
              </a:rPr>
              <a:t> </a:t>
            </a:r>
            <a:r>
              <a:rPr sz="2800" dirty="0">
                <a:latin typeface="Arial MT"/>
                <a:cs typeface="Arial MT"/>
              </a:rPr>
              <a:t>clave</a:t>
            </a:r>
            <a:r>
              <a:rPr sz="2800" spc="-60" dirty="0">
                <a:latin typeface="Arial MT"/>
                <a:cs typeface="Arial MT"/>
              </a:rPr>
              <a:t> </a:t>
            </a:r>
            <a:r>
              <a:rPr sz="2800" dirty="0">
                <a:latin typeface="Arial MT"/>
                <a:cs typeface="Arial MT"/>
              </a:rPr>
              <a:t>primaria</a:t>
            </a:r>
            <a:r>
              <a:rPr sz="2800" spc="-50" dirty="0">
                <a:latin typeface="Arial MT"/>
                <a:cs typeface="Arial MT"/>
              </a:rPr>
              <a:t> </a:t>
            </a:r>
            <a:r>
              <a:rPr sz="2800" u="sng" spc="-20" dirty="0">
                <a:uFill>
                  <a:solidFill>
                    <a:srgbClr val="000000"/>
                  </a:solidFill>
                </a:uFill>
                <a:latin typeface="Arial MT"/>
                <a:cs typeface="Arial MT"/>
              </a:rPr>
              <a:t>número-</a:t>
            </a:r>
            <a:r>
              <a:rPr sz="2800" u="sng" spc="-10" dirty="0">
                <a:uFill>
                  <a:solidFill>
                    <a:srgbClr val="000000"/>
                  </a:solidFill>
                </a:uFill>
                <a:latin typeface="Arial MT"/>
                <a:cs typeface="Arial MT"/>
              </a:rPr>
              <a:t>cuenta</a:t>
            </a:r>
            <a:endParaRPr sz="2800" dirty="0">
              <a:latin typeface="Arial MT"/>
              <a:cs typeface="Arial MT"/>
            </a:endParaRPr>
          </a:p>
          <a:p>
            <a:pPr marL="12700">
              <a:lnSpc>
                <a:spcPct val="100000"/>
              </a:lnSpc>
              <a:spcBef>
                <a:spcPts val="2880"/>
              </a:spcBef>
            </a:pPr>
            <a:r>
              <a:rPr sz="2800" spc="-10" dirty="0">
                <a:latin typeface="Arial MT"/>
                <a:cs typeface="Arial MT"/>
              </a:rPr>
              <a:t>resulta:</a:t>
            </a:r>
            <a:endParaRPr sz="2800" dirty="0">
              <a:latin typeface="Arial MT"/>
              <a:cs typeface="Arial MT"/>
            </a:endParaRPr>
          </a:p>
          <a:p>
            <a:pPr marL="649605">
              <a:lnSpc>
                <a:spcPts val="3020"/>
              </a:lnSpc>
              <a:spcBef>
                <a:spcPts val="1930"/>
              </a:spcBef>
            </a:pPr>
            <a:r>
              <a:rPr sz="2800" b="1" spc="-20" dirty="0" err="1">
                <a:latin typeface="Arial"/>
                <a:cs typeface="Arial"/>
              </a:rPr>
              <a:t>atributo</a:t>
            </a:r>
            <a:r>
              <a:rPr sz="2800" b="1" spc="-20" dirty="0">
                <a:latin typeface="Arial"/>
                <a:cs typeface="Arial"/>
              </a:rPr>
              <a:t>(</a:t>
            </a:r>
            <a:r>
              <a:rPr sz="2800" b="1" spc="-20" dirty="0" err="1">
                <a:latin typeface="Arial"/>
                <a:cs typeface="Arial"/>
              </a:rPr>
              <a:t>CtaCli</a:t>
            </a:r>
            <a:r>
              <a:rPr sz="2800" b="1" spc="-20" dirty="0" smtClean="0">
                <a:latin typeface="Arial"/>
                <a:cs typeface="Arial"/>
              </a:rPr>
              <a:t>)={</a:t>
            </a:r>
            <a:r>
              <a:rPr sz="2800" b="1" spc="-20" dirty="0" err="1" smtClean="0">
                <a:latin typeface="Arial"/>
                <a:cs typeface="Arial"/>
              </a:rPr>
              <a:t>seguridad-</a:t>
            </a:r>
            <a:r>
              <a:rPr sz="2800" b="1" dirty="0" err="1" smtClean="0">
                <a:latin typeface="Arial"/>
                <a:cs typeface="Arial"/>
              </a:rPr>
              <a:t>social,número</a:t>
            </a:r>
            <a:r>
              <a:rPr sz="2800" b="1" dirty="0" smtClean="0">
                <a:latin typeface="Arial"/>
                <a:cs typeface="Arial"/>
              </a:rPr>
              <a:t>-</a:t>
            </a:r>
            <a:endParaRPr sz="2800" dirty="0">
              <a:latin typeface="Arial"/>
              <a:cs typeface="Arial"/>
            </a:endParaRPr>
          </a:p>
          <a:p>
            <a:pPr marL="490855" algn="ctr">
              <a:lnSpc>
                <a:spcPts val="3020"/>
              </a:lnSpc>
            </a:pPr>
            <a:r>
              <a:rPr sz="2800" b="1" spc="-10" dirty="0" err="1" smtClean="0">
                <a:latin typeface="Arial"/>
                <a:cs typeface="Arial"/>
              </a:rPr>
              <a:t>cuenta,fecha</a:t>
            </a:r>
            <a:r>
              <a:rPr sz="2800" b="1" spc="-10" dirty="0">
                <a:latin typeface="Arial"/>
                <a:cs typeface="Arial"/>
              </a:rPr>
              <a:t>}</a:t>
            </a:r>
            <a:endParaRPr sz="2800" dirty="0">
              <a:latin typeface="Arial"/>
              <a:cs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4500" y="569340"/>
            <a:ext cx="7705702" cy="1411351"/>
          </a:xfrm>
          <a:prstGeom prst="rect">
            <a:avLst/>
          </a:prstGeom>
        </p:spPr>
        <p:txBody>
          <a:bodyPr vert="horz" wrap="square" lIns="0" tIns="316865" rIns="0" bIns="0" rtlCol="0">
            <a:spAutoFit/>
          </a:bodyPr>
          <a:lstStyle/>
          <a:p>
            <a:pPr marL="1520825">
              <a:lnSpc>
                <a:spcPct val="100000"/>
              </a:lnSpc>
              <a:spcBef>
                <a:spcPts val="95"/>
              </a:spcBef>
            </a:pPr>
            <a:r>
              <a:rPr sz="4000" b="1" dirty="0">
                <a:latin typeface="Arial"/>
                <a:cs typeface="Arial"/>
              </a:rPr>
              <a:t>Claves</a:t>
            </a:r>
            <a:r>
              <a:rPr sz="4000" b="1" spc="-85" dirty="0">
                <a:latin typeface="Arial"/>
                <a:cs typeface="Arial"/>
              </a:rPr>
              <a:t> </a:t>
            </a:r>
            <a:r>
              <a:rPr sz="4000" b="1" dirty="0">
                <a:latin typeface="Arial"/>
                <a:cs typeface="Arial"/>
              </a:rPr>
              <a:t>en</a:t>
            </a:r>
            <a:r>
              <a:rPr sz="4000" b="1" spc="-85" dirty="0">
                <a:latin typeface="Arial"/>
                <a:cs typeface="Arial"/>
              </a:rPr>
              <a:t> </a:t>
            </a:r>
            <a:r>
              <a:rPr sz="4000" b="1" spc="-10" dirty="0">
                <a:latin typeface="Arial"/>
                <a:cs typeface="Arial"/>
              </a:rPr>
              <a:t>relaciones</a:t>
            </a:r>
            <a:endParaRPr sz="4000" dirty="0">
              <a:latin typeface="Arial"/>
              <a:cs typeface="Arial"/>
            </a:endParaRPr>
          </a:p>
        </p:txBody>
      </p:sp>
      <p:sp>
        <p:nvSpPr>
          <p:cNvPr id="3" name="object 3"/>
          <p:cNvSpPr txBox="1"/>
          <p:nvPr/>
        </p:nvSpPr>
        <p:spPr>
          <a:xfrm>
            <a:off x="1139310" y="1980691"/>
            <a:ext cx="8529320" cy="4413250"/>
          </a:xfrm>
          <a:prstGeom prst="rect">
            <a:avLst/>
          </a:prstGeom>
        </p:spPr>
        <p:txBody>
          <a:bodyPr vert="horz" wrap="square" lIns="0" tIns="12065" rIns="0" bIns="0" rtlCol="0">
            <a:spAutoFit/>
          </a:bodyPr>
          <a:lstStyle/>
          <a:p>
            <a:pPr marR="4289425" algn="ctr">
              <a:lnSpc>
                <a:spcPts val="3340"/>
              </a:lnSpc>
              <a:spcBef>
                <a:spcPts val="95"/>
              </a:spcBef>
            </a:pPr>
            <a:r>
              <a:rPr sz="2800" dirty="0">
                <a:latin typeface="Arial MT"/>
                <a:cs typeface="Arial MT"/>
              </a:rPr>
              <a:t>Si</a:t>
            </a:r>
            <a:r>
              <a:rPr sz="2800" spc="-50" dirty="0">
                <a:latin typeface="Arial MT"/>
                <a:cs typeface="Arial MT"/>
              </a:rPr>
              <a:t> </a:t>
            </a:r>
            <a:r>
              <a:rPr sz="2800" b="1" dirty="0">
                <a:latin typeface="Arial"/>
                <a:cs typeface="Arial"/>
              </a:rPr>
              <a:t>R</a:t>
            </a:r>
            <a:r>
              <a:rPr sz="2800" b="1" spc="-50" dirty="0">
                <a:latin typeface="Arial"/>
                <a:cs typeface="Arial"/>
              </a:rPr>
              <a:t> </a:t>
            </a:r>
            <a:r>
              <a:rPr sz="2800" b="1" dirty="0">
                <a:latin typeface="Arial"/>
                <a:cs typeface="Arial"/>
              </a:rPr>
              <a:t>no</a:t>
            </a:r>
            <a:r>
              <a:rPr sz="2800" b="1" spc="-55" dirty="0">
                <a:latin typeface="Arial"/>
                <a:cs typeface="Arial"/>
              </a:rPr>
              <a:t> </a:t>
            </a:r>
            <a:r>
              <a:rPr sz="2800" b="1" dirty="0">
                <a:latin typeface="Arial"/>
                <a:cs typeface="Arial"/>
              </a:rPr>
              <a:t>tiene</a:t>
            </a:r>
            <a:r>
              <a:rPr sz="2800" b="1" spc="-40" dirty="0">
                <a:latin typeface="Arial"/>
                <a:cs typeface="Arial"/>
              </a:rPr>
              <a:t> </a:t>
            </a:r>
            <a:r>
              <a:rPr sz="2800" b="1" dirty="0">
                <a:latin typeface="Arial"/>
                <a:cs typeface="Arial"/>
              </a:rPr>
              <a:t>atributos</a:t>
            </a:r>
            <a:r>
              <a:rPr sz="2800" b="1" spc="-40" dirty="0">
                <a:latin typeface="Arial"/>
                <a:cs typeface="Arial"/>
              </a:rPr>
              <a:t> </a:t>
            </a:r>
            <a:r>
              <a:rPr sz="2800" spc="-50" dirty="0">
                <a:latin typeface="Symbol"/>
                <a:cs typeface="Symbol"/>
              </a:rPr>
              <a:t></a:t>
            </a:r>
            <a:endParaRPr sz="2800" dirty="0">
              <a:latin typeface="Symbol"/>
              <a:cs typeface="Symbol"/>
            </a:endParaRPr>
          </a:p>
          <a:p>
            <a:pPr algn="ctr">
              <a:lnSpc>
                <a:spcPts val="3340"/>
              </a:lnSpc>
            </a:pPr>
            <a:r>
              <a:rPr sz="2800" b="1" dirty="0">
                <a:latin typeface="Arial"/>
                <a:cs typeface="Arial"/>
              </a:rPr>
              <a:t>atributo(R)</a:t>
            </a:r>
            <a:r>
              <a:rPr sz="2800" b="1" spc="-80" dirty="0">
                <a:latin typeface="Arial"/>
                <a:cs typeface="Arial"/>
              </a:rPr>
              <a:t> </a:t>
            </a:r>
            <a:r>
              <a:rPr sz="2800" dirty="0">
                <a:latin typeface="Arial MT"/>
                <a:cs typeface="Arial MT"/>
              </a:rPr>
              <a:t>forma</a:t>
            </a:r>
            <a:r>
              <a:rPr sz="2800" spc="-65" dirty="0">
                <a:latin typeface="Arial MT"/>
                <a:cs typeface="Arial MT"/>
              </a:rPr>
              <a:t> </a:t>
            </a:r>
            <a:r>
              <a:rPr sz="2800" dirty="0">
                <a:latin typeface="Arial MT"/>
                <a:cs typeface="Arial MT"/>
              </a:rPr>
              <a:t>una</a:t>
            </a:r>
            <a:r>
              <a:rPr sz="2800" spc="-80" dirty="0">
                <a:latin typeface="Arial MT"/>
                <a:cs typeface="Arial MT"/>
              </a:rPr>
              <a:t> </a:t>
            </a:r>
            <a:r>
              <a:rPr sz="2800" b="1" spc="-10" dirty="0">
                <a:latin typeface="Arial"/>
                <a:cs typeface="Arial"/>
              </a:rPr>
              <a:t>superclave.</a:t>
            </a:r>
            <a:endParaRPr sz="2800" dirty="0">
              <a:latin typeface="Arial"/>
              <a:cs typeface="Arial"/>
            </a:endParaRPr>
          </a:p>
          <a:p>
            <a:pPr>
              <a:lnSpc>
                <a:spcPct val="100000"/>
              </a:lnSpc>
            </a:pPr>
            <a:endParaRPr sz="2800" dirty="0">
              <a:latin typeface="Arial"/>
              <a:cs typeface="Arial"/>
            </a:endParaRPr>
          </a:p>
          <a:p>
            <a:pPr>
              <a:lnSpc>
                <a:spcPct val="100000"/>
              </a:lnSpc>
              <a:spcBef>
                <a:spcPts val="325"/>
              </a:spcBef>
            </a:pPr>
            <a:endParaRPr sz="2800" dirty="0">
              <a:latin typeface="Arial"/>
              <a:cs typeface="Arial"/>
            </a:endParaRPr>
          </a:p>
          <a:p>
            <a:pPr marL="354330" indent="-341630">
              <a:lnSpc>
                <a:spcPts val="3340"/>
              </a:lnSpc>
              <a:spcBef>
                <a:spcPts val="5"/>
              </a:spcBef>
              <a:buChar char="•"/>
              <a:tabLst>
                <a:tab pos="354330" algn="l"/>
              </a:tabLst>
            </a:pPr>
            <a:r>
              <a:rPr sz="2800" dirty="0">
                <a:latin typeface="Arial MT"/>
                <a:cs typeface="Arial MT"/>
              </a:rPr>
              <a:t>Si</a:t>
            </a:r>
            <a:r>
              <a:rPr sz="2800" spc="-55" dirty="0">
                <a:latin typeface="Arial MT"/>
                <a:cs typeface="Arial MT"/>
              </a:rPr>
              <a:t> </a:t>
            </a:r>
            <a:r>
              <a:rPr sz="2800" dirty="0">
                <a:latin typeface="Arial MT"/>
                <a:cs typeface="Arial MT"/>
              </a:rPr>
              <a:t>la</a:t>
            </a:r>
            <a:r>
              <a:rPr sz="2800" spc="-45" dirty="0">
                <a:latin typeface="Arial MT"/>
                <a:cs typeface="Arial MT"/>
              </a:rPr>
              <a:t> </a:t>
            </a:r>
            <a:r>
              <a:rPr sz="2800" dirty="0">
                <a:latin typeface="Arial MT"/>
                <a:cs typeface="Arial MT"/>
              </a:rPr>
              <a:t>cardinalidad</a:t>
            </a:r>
            <a:r>
              <a:rPr sz="2800" spc="-45" dirty="0">
                <a:latin typeface="Arial MT"/>
                <a:cs typeface="Arial MT"/>
              </a:rPr>
              <a:t> </a:t>
            </a:r>
            <a:r>
              <a:rPr sz="2800" dirty="0">
                <a:latin typeface="Arial MT"/>
                <a:cs typeface="Arial MT"/>
              </a:rPr>
              <a:t>es</a:t>
            </a:r>
            <a:r>
              <a:rPr sz="2800" spc="-50" dirty="0">
                <a:latin typeface="Arial MT"/>
                <a:cs typeface="Arial MT"/>
              </a:rPr>
              <a:t> </a:t>
            </a:r>
            <a:r>
              <a:rPr sz="2800" b="1" dirty="0">
                <a:latin typeface="Arial"/>
                <a:cs typeface="Arial"/>
              </a:rPr>
              <a:t>N:N</a:t>
            </a:r>
            <a:r>
              <a:rPr sz="2800" b="1" spc="-55" dirty="0">
                <a:latin typeface="Arial"/>
                <a:cs typeface="Arial"/>
              </a:rPr>
              <a:t> </a:t>
            </a:r>
            <a:r>
              <a:rPr sz="2800" spc="-50" dirty="0">
                <a:latin typeface="Symbol"/>
                <a:cs typeface="Symbol"/>
              </a:rPr>
              <a:t></a:t>
            </a:r>
            <a:endParaRPr sz="2800" dirty="0">
              <a:latin typeface="Symbol"/>
              <a:cs typeface="Symbol"/>
            </a:endParaRPr>
          </a:p>
          <a:p>
            <a:pPr marL="2814955">
              <a:lnSpc>
                <a:spcPts val="3340"/>
              </a:lnSpc>
            </a:pPr>
            <a:r>
              <a:rPr sz="2800" dirty="0">
                <a:latin typeface="Arial MT"/>
                <a:cs typeface="Arial MT"/>
              </a:rPr>
              <a:t>esta</a:t>
            </a:r>
            <a:r>
              <a:rPr sz="2800" spc="-65" dirty="0">
                <a:latin typeface="Arial MT"/>
                <a:cs typeface="Arial MT"/>
              </a:rPr>
              <a:t> </a:t>
            </a:r>
            <a:r>
              <a:rPr sz="2800" b="1" dirty="0">
                <a:latin typeface="Arial"/>
                <a:cs typeface="Arial"/>
              </a:rPr>
              <a:t>superclave</a:t>
            </a:r>
            <a:r>
              <a:rPr sz="2800" b="1" spc="-60" dirty="0">
                <a:latin typeface="Arial"/>
                <a:cs typeface="Arial"/>
              </a:rPr>
              <a:t> </a:t>
            </a:r>
            <a:r>
              <a:rPr sz="2800" dirty="0">
                <a:latin typeface="Arial MT"/>
                <a:cs typeface="Arial MT"/>
              </a:rPr>
              <a:t>es</a:t>
            </a:r>
            <a:r>
              <a:rPr sz="2800" spc="-60" dirty="0">
                <a:latin typeface="Arial MT"/>
                <a:cs typeface="Arial MT"/>
              </a:rPr>
              <a:t> </a:t>
            </a:r>
            <a:r>
              <a:rPr sz="2800" b="1" dirty="0">
                <a:latin typeface="Arial"/>
                <a:cs typeface="Arial"/>
              </a:rPr>
              <a:t>clave</a:t>
            </a:r>
            <a:r>
              <a:rPr sz="2800" b="1" spc="-65" dirty="0">
                <a:latin typeface="Arial"/>
                <a:cs typeface="Arial"/>
              </a:rPr>
              <a:t> </a:t>
            </a:r>
            <a:r>
              <a:rPr sz="2800" b="1" spc="-10" dirty="0">
                <a:latin typeface="Arial"/>
                <a:cs typeface="Arial"/>
              </a:rPr>
              <a:t>primaria</a:t>
            </a:r>
            <a:r>
              <a:rPr sz="2800" spc="-10" dirty="0">
                <a:latin typeface="Arial MT"/>
                <a:cs typeface="Arial MT"/>
              </a:rPr>
              <a:t>.</a:t>
            </a:r>
            <a:endParaRPr sz="2800" dirty="0">
              <a:latin typeface="Arial MT"/>
              <a:cs typeface="Arial MT"/>
            </a:endParaRPr>
          </a:p>
          <a:p>
            <a:pPr>
              <a:lnSpc>
                <a:spcPct val="100000"/>
              </a:lnSpc>
              <a:spcBef>
                <a:spcPts val="1820"/>
              </a:spcBef>
            </a:pPr>
            <a:endParaRPr sz="2800" dirty="0">
              <a:latin typeface="Arial MT"/>
              <a:cs typeface="Arial MT"/>
            </a:endParaRPr>
          </a:p>
          <a:p>
            <a:pPr marR="2127250" algn="ctr">
              <a:lnSpc>
                <a:spcPct val="100000"/>
              </a:lnSpc>
              <a:tabLst>
                <a:tab pos="1828164" algn="l"/>
              </a:tabLst>
            </a:pPr>
            <a:r>
              <a:rPr sz="2400" b="1" spc="-10" dirty="0">
                <a:latin typeface="Arial"/>
                <a:cs typeface="Arial"/>
              </a:rPr>
              <a:t>Ejemplo:</a:t>
            </a:r>
            <a:r>
              <a:rPr sz="2400" b="1" dirty="0">
                <a:latin typeface="Arial"/>
                <a:cs typeface="Arial"/>
              </a:rPr>
              <a:t>	</a:t>
            </a:r>
            <a:r>
              <a:rPr sz="2400" dirty="0">
                <a:latin typeface="Arial MT"/>
                <a:cs typeface="Arial MT"/>
              </a:rPr>
              <a:t>Si</a:t>
            </a:r>
            <a:r>
              <a:rPr sz="2400" spc="590" dirty="0">
                <a:latin typeface="Arial MT"/>
                <a:cs typeface="Arial MT"/>
              </a:rPr>
              <a:t> </a:t>
            </a:r>
            <a:r>
              <a:rPr sz="2400" b="1" i="1" dirty="0">
                <a:latin typeface="Arial"/>
                <a:cs typeface="Arial"/>
              </a:rPr>
              <a:t>CtaCli</a:t>
            </a:r>
            <a:r>
              <a:rPr sz="2400" b="1" i="1" spc="-40" dirty="0">
                <a:latin typeface="Arial"/>
                <a:cs typeface="Arial"/>
              </a:rPr>
              <a:t> </a:t>
            </a:r>
            <a:r>
              <a:rPr sz="2400" dirty="0">
                <a:latin typeface="Arial MT"/>
                <a:cs typeface="Arial MT"/>
              </a:rPr>
              <a:t>es</a:t>
            </a:r>
            <a:r>
              <a:rPr sz="2400" spc="-35" dirty="0">
                <a:latin typeface="Arial MT"/>
                <a:cs typeface="Arial MT"/>
              </a:rPr>
              <a:t> </a:t>
            </a:r>
            <a:r>
              <a:rPr sz="2400" b="1" dirty="0">
                <a:latin typeface="Arial"/>
                <a:cs typeface="Arial"/>
              </a:rPr>
              <a:t>muchas</a:t>
            </a:r>
            <a:r>
              <a:rPr sz="2400" b="1" spc="-25" dirty="0">
                <a:latin typeface="Arial"/>
                <a:cs typeface="Arial"/>
              </a:rPr>
              <a:t> </a:t>
            </a:r>
            <a:r>
              <a:rPr sz="2400" b="1" dirty="0">
                <a:latin typeface="Arial"/>
                <a:cs typeface="Arial"/>
              </a:rPr>
              <a:t>a</a:t>
            </a:r>
            <a:r>
              <a:rPr sz="2400" b="1" spc="-35" dirty="0">
                <a:latin typeface="Arial"/>
                <a:cs typeface="Arial"/>
              </a:rPr>
              <a:t> </a:t>
            </a:r>
            <a:r>
              <a:rPr sz="2400" b="1" spc="-10" dirty="0">
                <a:latin typeface="Arial"/>
                <a:cs typeface="Arial"/>
              </a:rPr>
              <a:t>muchas</a:t>
            </a:r>
            <a:r>
              <a:rPr sz="2400" spc="-10" dirty="0">
                <a:latin typeface="Arial MT"/>
                <a:cs typeface="Arial MT"/>
              </a:rPr>
              <a:t>,</a:t>
            </a:r>
            <a:endParaRPr sz="2400" dirty="0">
              <a:latin typeface="Arial MT"/>
              <a:cs typeface="Arial MT"/>
            </a:endParaRPr>
          </a:p>
          <a:p>
            <a:pPr algn="ctr">
              <a:lnSpc>
                <a:spcPts val="2585"/>
              </a:lnSpc>
              <a:spcBef>
                <a:spcPts val="1320"/>
              </a:spcBef>
            </a:pPr>
            <a:r>
              <a:rPr sz="2400" dirty="0">
                <a:latin typeface="Arial MT"/>
                <a:cs typeface="Arial MT"/>
              </a:rPr>
              <a:t>entonces</a:t>
            </a:r>
            <a:r>
              <a:rPr sz="2400" spc="-45" dirty="0">
                <a:latin typeface="Arial MT"/>
                <a:cs typeface="Arial MT"/>
              </a:rPr>
              <a:t> </a:t>
            </a:r>
            <a:r>
              <a:rPr sz="2400" b="1" spc="-10" dirty="0">
                <a:latin typeface="Arial"/>
                <a:cs typeface="Arial"/>
              </a:rPr>
              <a:t>{seguridad-</a:t>
            </a:r>
            <a:r>
              <a:rPr sz="2400" b="1" dirty="0">
                <a:latin typeface="Arial"/>
                <a:cs typeface="Arial"/>
              </a:rPr>
              <a:t>social,</a:t>
            </a:r>
            <a:r>
              <a:rPr sz="2400" b="1" spc="-45" dirty="0">
                <a:latin typeface="Arial"/>
                <a:cs typeface="Arial"/>
              </a:rPr>
              <a:t> </a:t>
            </a:r>
            <a:r>
              <a:rPr sz="2400" b="1" spc="-20" dirty="0">
                <a:latin typeface="Arial"/>
                <a:cs typeface="Arial"/>
              </a:rPr>
              <a:t>número-</a:t>
            </a:r>
            <a:r>
              <a:rPr sz="2400" b="1" dirty="0">
                <a:latin typeface="Arial"/>
                <a:cs typeface="Arial"/>
              </a:rPr>
              <a:t>cuenta}</a:t>
            </a:r>
            <a:r>
              <a:rPr sz="2400" b="1" spc="-35" dirty="0">
                <a:latin typeface="Arial"/>
                <a:cs typeface="Arial"/>
              </a:rPr>
              <a:t> </a:t>
            </a:r>
            <a:r>
              <a:rPr sz="2400" dirty="0">
                <a:latin typeface="Arial MT"/>
                <a:cs typeface="Arial MT"/>
              </a:rPr>
              <a:t>es</a:t>
            </a:r>
            <a:r>
              <a:rPr sz="2400" spc="-40" dirty="0">
                <a:latin typeface="Arial MT"/>
                <a:cs typeface="Arial MT"/>
              </a:rPr>
              <a:t> </a:t>
            </a:r>
            <a:r>
              <a:rPr sz="2400" dirty="0">
                <a:latin typeface="Arial MT"/>
                <a:cs typeface="Arial MT"/>
              </a:rPr>
              <a:t>la</a:t>
            </a:r>
            <a:r>
              <a:rPr sz="2400" spc="-45" dirty="0">
                <a:latin typeface="Arial MT"/>
                <a:cs typeface="Arial MT"/>
              </a:rPr>
              <a:t> </a:t>
            </a:r>
            <a:r>
              <a:rPr sz="2400" b="1" spc="-10" dirty="0">
                <a:latin typeface="Arial"/>
                <a:cs typeface="Arial"/>
              </a:rPr>
              <a:t>clave</a:t>
            </a:r>
            <a:endParaRPr sz="2400" dirty="0">
              <a:latin typeface="Arial"/>
              <a:cs typeface="Arial"/>
            </a:endParaRPr>
          </a:p>
          <a:p>
            <a:pPr marL="342265" algn="ctr">
              <a:lnSpc>
                <a:spcPts val="2585"/>
              </a:lnSpc>
            </a:pPr>
            <a:r>
              <a:rPr sz="2400" b="1" spc="-10" dirty="0">
                <a:latin typeface="Arial"/>
                <a:cs typeface="Arial"/>
              </a:rPr>
              <a:t>primaria</a:t>
            </a:r>
            <a:endParaRPr sz="2400" dirty="0">
              <a:latin typeface="Arial"/>
              <a:cs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18776" y="863599"/>
            <a:ext cx="5052695" cy="635000"/>
          </a:xfrm>
          <a:prstGeom prst="rect">
            <a:avLst/>
          </a:prstGeom>
        </p:spPr>
        <p:txBody>
          <a:bodyPr vert="horz" wrap="square" lIns="0" tIns="12065" rIns="0" bIns="0" rtlCol="0">
            <a:spAutoFit/>
          </a:bodyPr>
          <a:lstStyle/>
          <a:p>
            <a:pPr marL="12700">
              <a:lnSpc>
                <a:spcPct val="100000"/>
              </a:lnSpc>
              <a:spcBef>
                <a:spcPts val="95"/>
              </a:spcBef>
            </a:pPr>
            <a:r>
              <a:rPr sz="4000" b="1" dirty="0">
                <a:latin typeface="Arial"/>
                <a:cs typeface="Arial"/>
              </a:rPr>
              <a:t>Claves</a:t>
            </a:r>
            <a:r>
              <a:rPr sz="4000" b="1" spc="-85" dirty="0">
                <a:latin typeface="Arial"/>
                <a:cs typeface="Arial"/>
              </a:rPr>
              <a:t> </a:t>
            </a:r>
            <a:r>
              <a:rPr sz="4000" b="1" dirty="0">
                <a:latin typeface="Arial"/>
                <a:cs typeface="Arial"/>
              </a:rPr>
              <a:t>en</a:t>
            </a:r>
            <a:r>
              <a:rPr sz="4000" b="1" spc="-85" dirty="0">
                <a:latin typeface="Arial"/>
                <a:cs typeface="Arial"/>
              </a:rPr>
              <a:t> </a:t>
            </a:r>
            <a:r>
              <a:rPr sz="4000" b="1" spc="-10" dirty="0">
                <a:latin typeface="Arial"/>
                <a:cs typeface="Arial"/>
              </a:rPr>
              <a:t>relaciones</a:t>
            </a:r>
            <a:endParaRPr sz="4000">
              <a:latin typeface="Arial"/>
              <a:cs typeface="Arial"/>
            </a:endParaRPr>
          </a:p>
        </p:txBody>
      </p:sp>
      <p:sp>
        <p:nvSpPr>
          <p:cNvPr id="3" name="object 3"/>
          <p:cNvSpPr txBox="1"/>
          <p:nvPr/>
        </p:nvSpPr>
        <p:spPr>
          <a:xfrm>
            <a:off x="1139324" y="1764283"/>
            <a:ext cx="8528050" cy="1204817"/>
          </a:xfrm>
          <a:prstGeom prst="rect">
            <a:avLst/>
          </a:prstGeom>
        </p:spPr>
        <p:txBody>
          <a:bodyPr vert="horz" wrap="square" lIns="0" tIns="12065" rIns="0" bIns="0" rtlCol="0">
            <a:spAutoFit/>
          </a:bodyPr>
          <a:lstStyle/>
          <a:p>
            <a:pPr marL="354330" indent="-341630">
              <a:lnSpc>
                <a:spcPts val="3340"/>
              </a:lnSpc>
              <a:buChar char="•"/>
              <a:tabLst>
                <a:tab pos="354330" algn="l"/>
              </a:tabLst>
            </a:pPr>
            <a:r>
              <a:rPr sz="2800" dirty="0" smtClean="0">
                <a:latin typeface="Arial MT"/>
                <a:cs typeface="Arial MT"/>
              </a:rPr>
              <a:t>Si</a:t>
            </a:r>
            <a:r>
              <a:rPr sz="2800" spc="-45" dirty="0" smtClean="0">
                <a:latin typeface="Arial MT"/>
                <a:cs typeface="Arial MT"/>
              </a:rPr>
              <a:t> </a:t>
            </a:r>
            <a:r>
              <a:rPr sz="2800" dirty="0">
                <a:latin typeface="Arial MT"/>
                <a:cs typeface="Arial MT"/>
              </a:rPr>
              <a:t>la</a:t>
            </a:r>
            <a:r>
              <a:rPr sz="2800" spc="-40" dirty="0">
                <a:latin typeface="Arial MT"/>
                <a:cs typeface="Arial MT"/>
              </a:rPr>
              <a:t> </a:t>
            </a:r>
            <a:r>
              <a:rPr sz="2800" dirty="0">
                <a:latin typeface="Arial MT"/>
                <a:cs typeface="Arial MT"/>
              </a:rPr>
              <a:t>cardinalidad</a:t>
            </a:r>
            <a:r>
              <a:rPr sz="2800" spc="-40" dirty="0">
                <a:latin typeface="Arial MT"/>
                <a:cs typeface="Arial MT"/>
              </a:rPr>
              <a:t> </a:t>
            </a:r>
            <a:r>
              <a:rPr sz="2800" dirty="0">
                <a:latin typeface="Arial MT"/>
                <a:cs typeface="Arial MT"/>
              </a:rPr>
              <a:t>es</a:t>
            </a:r>
            <a:r>
              <a:rPr sz="2800" spc="-45" dirty="0">
                <a:latin typeface="Arial MT"/>
                <a:cs typeface="Arial MT"/>
              </a:rPr>
              <a:t> </a:t>
            </a:r>
            <a:r>
              <a:rPr sz="2800" b="1" dirty="0">
                <a:latin typeface="Arial"/>
                <a:cs typeface="Arial"/>
              </a:rPr>
              <a:t>N:1</a:t>
            </a:r>
            <a:r>
              <a:rPr sz="2800" b="1" spc="-40" dirty="0">
                <a:latin typeface="Arial"/>
                <a:cs typeface="Arial"/>
              </a:rPr>
              <a:t> </a:t>
            </a:r>
            <a:r>
              <a:rPr sz="2800" dirty="0">
                <a:latin typeface="Arial MT"/>
                <a:cs typeface="Arial MT"/>
              </a:rPr>
              <a:t>o</a:t>
            </a:r>
            <a:r>
              <a:rPr sz="2800" spc="-40" dirty="0">
                <a:latin typeface="Arial MT"/>
                <a:cs typeface="Arial MT"/>
              </a:rPr>
              <a:t> </a:t>
            </a:r>
            <a:r>
              <a:rPr sz="2800" b="1" dirty="0">
                <a:latin typeface="Arial"/>
                <a:cs typeface="Arial"/>
              </a:rPr>
              <a:t>1:N</a:t>
            </a:r>
            <a:r>
              <a:rPr sz="2800" b="1" spc="-50" dirty="0">
                <a:latin typeface="Arial"/>
                <a:cs typeface="Arial"/>
              </a:rPr>
              <a:t> </a:t>
            </a:r>
            <a:r>
              <a:rPr sz="2800" spc="-50" dirty="0">
                <a:latin typeface="Symbol"/>
                <a:cs typeface="Symbol"/>
              </a:rPr>
              <a:t></a:t>
            </a:r>
            <a:endParaRPr sz="2800" dirty="0">
              <a:latin typeface="Symbol"/>
              <a:cs typeface="Symbol"/>
            </a:endParaRPr>
          </a:p>
          <a:p>
            <a:pPr marL="1447800">
              <a:lnSpc>
                <a:spcPts val="3005"/>
              </a:lnSpc>
            </a:pPr>
            <a:r>
              <a:rPr sz="2800" dirty="0">
                <a:latin typeface="Arial MT"/>
                <a:cs typeface="Arial MT"/>
              </a:rPr>
              <a:t>la</a:t>
            </a:r>
            <a:r>
              <a:rPr sz="2800" spc="-60" dirty="0">
                <a:latin typeface="Arial MT"/>
                <a:cs typeface="Arial MT"/>
              </a:rPr>
              <a:t> </a:t>
            </a:r>
            <a:r>
              <a:rPr sz="2800" dirty="0">
                <a:latin typeface="Arial MT"/>
                <a:cs typeface="Arial MT"/>
              </a:rPr>
              <a:t>clave</a:t>
            </a:r>
            <a:r>
              <a:rPr sz="2800" spc="-60" dirty="0">
                <a:latin typeface="Arial MT"/>
                <a:cs typeface="Arial MT"/>
              </a:rPr>
              <a:t> </a:t>
            </a:r>
            <a:r>
              <a:rPr sz="2800" dirty="0">
                <a:latin typeface="Arial MT"/>
                <a:cs typeface="Arial MT"/>
              </a:rPr>
              <a:t>primaria</a:t>
            </a:r>
            <a:r>
              <a:rPr sz="2800" spc="-60" dirty="0">
                <a:latin typeface="Arial MT"/>
                <a:cs typeface="Arial MT"/>
              </a:rPr>
              <a:t> </a:t>
            </a:r>
            <a:r>
              <a:rPr sz="2800" dirty="0">
                <a:latin typeface="Arial MT"/>
                <a:cs typeface="Arial MT"/>
              </a:rPr>
              <a:t>es</a:t>
            </a:r>
            <a:r>
              <a:rPr sz="2800" spc="-60" dirty="0">
                <a:latin typeface="Arial MT"/>
                <a:cs typeface="Arial MT"/>
              </a:rPr>
              <a:t> </a:t>
            </a:r>
            <a:r>
              <a:rPr sz="2800" dirty="0">
                <a:latin typeface="Arial MT"/>
                <a:cs typeface="Arial MT"/>
              </a:rPr>
              <a:t>un</a:t>
            </a:r>
            <a:r>
              <a:rPr sz="2800" spc="-65" dirty="0">
                <a:latin typeface="Arial MT"/>
                <a:cs typeface="Arial MT"/>
              </a:rPr>
              <a:t> </a:t>
            </a:r>
            <a:r>
              <a:rPr sz="2800" b="1" dirty="0">
                <a:latin typeface="Arial"/>
                <a:cs typeface="Arial"/>
              </a:rPr>
              <a:t>subconjunto</a:t>
            </a:r>
            <a:r>
              <a:rPr sz="2800" b="1" spc="-55" dirty="0">
                <a:latin typeface="Arial"/>
                <a:cs typeface="Arial"/>
              </a:rPr>
              <a:t> </a:t>
            </a:r>
            <a:r>
              <a:rPr sz="2800" dirty="0">
                <a:latin typeface="Arial MT"/>
                <a:cs typeface="Arial MT"/>
              </a:rPr>
              <a:t>de</a:t>
            </a:r>
            <a:r>
              <a:rPr sz="2800" spc="-60" dirty="0">
                <a:latin typeface="Arial MT"/>
                <a:cs typeface="Arial MT"/>
              </a:rPr>
              <a:t> </a:t>
            </a:r>
            <a:r>
              <a:rPr sz="2800" spc="-20" dirty="0">
                <a:latin typeface="Arial MT"/>
                <a:cs typeface="Arial MT"/>
              </a:rPr>
              <a:t>esta</a:t>
            </a:r>
            <a:endParaRPr sz="2800" dirty="0">
              <a:latin typeface="Arial MT"/>
              <a:cs typeface="Arial MT"/>
            </a:endParaRPr>
          </a:p>
          <a:p>
            <a:pPr marR="5080" algn="r">
              <a:lnSpc>
                <a:spcPts val="3025"/>
              </a:lnSpc>
            </a:pPr>
            <a:r>
              <a:rPr sz="2800" b="1" spc="-10" dirty="0">
                <a:latin typeface="Arial"/>
                <a:cs typeface="Arial"/>
              </a:rPr>
              <a:t>superclave</a:t>
            </a:r>
            <a:r>
              <a:rPr sz="2800" spc="-10" dirty="0">
                <a:latin typeface="Arial MT"/>
                <a:cs typeface="Arial MT"/>
              </a:rPr>
              <a:t>.</a:t>
            </a:r>
            <a:endParaRPr sz="2800" dirty="0">
              <a:latin typeface="Arial MT"/>
              <a:cs typeface="Arial MT"/>
            </a:endParaRPr>
          </a:p>
        </p:txBody>
      </p:sp>
      <p:sp>
        <p:nvSpPr>
          <p:cNvPr id="4" name="object 4"/>
          <p:cNvSpPr txBox="1"/>
          <p:nvPr/>
        </p:nvSpPr>
        <p:spPr>
          <a:xfrm>
            <a:off x="1139324" y="4876289"/>
            <a:ext cx="1351915" cy="682625"/>
          </a:xfrm>
          <a:prstGeom prst="rect">
            <a:avLst/>
          </a:prstGeom>
        </p:spPr>
        <p:txBody>
          <a:bodyPr vert="horz" wrap="square" lIns="0" tIns="12700" rIns="0" bIns="0" rtlCol="0">
            <a:spAutoFit/>
          </a:bodyPr>
          <a:lstStyle/>
          <a:p>
            <a:pPr marR="43815" algn="r">
              <a:lnSpc>
                <a:spcPts val="2585"/>
              </a:lnSpc>
              <a:spcBef>
                <a:spcPts val="100"/>
              </a:spcBef>
            </a:pPr>
            <a:r>
              <a:rPr sz="2400" b="1" spc="-10" dirty="0">
                <a:latin typeface="Arial"/>
                <a:cs typeface="Arial"/>
              </a:rPr>
              <a:t>Ejemplo:</a:t>
            </a:r>
            <a:endParaRPr sz="2400">
              <a:latin typeface="Arial"/>
              <a:cs typeface="Arial"/>
            </a:endParaRPr>
          </a:p>
          <a:p>
            <a:pPr marR="5080" algn="r">
              <a:lnSpc>
                <a:spcPts val="2585"/>
              </a:lnSpc>
            </a:pPr>
            <a:r>
              <a:rPr sz="2400" i="1" spc="-10" dirty="0">
                <a:latin typeface="Arial"/>
                <a:cs typeface="Arial"/>
              </a:rPr>
              <a:t>Cuenta</a:t>
            </a:r>
            <a:endParaRPr sz="2400">
              <a:latin typeface="Arial"/>
              <a:cs typeface="Arial"/>
            </a:endParaRPr>
          </a:p>
        </p:txBody>
      </p:sp>
      <p:sp>
        <p:nvSpPr>
          <p:cNvPr id="5" name="object 5"/>
          <p:cNvSpPr txBox="1"/>
          <p:nvPr/>
        </p:nvSpPr>
        <p:spPr>
          <a:xfrm>
            <a:off x="2968138" y="4876289"/>
            <a:ext cx="564959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Si</a:t>
            </a:r>
            <a:r>
              <a:rPr sz="2400" spc="590" dirty="0">
                <a:latin typeface="Arial MT"/>
                <a:cs typeface="Arial MT"/>
              </a:rPr>
              <a:t> </a:t>
            </a:r>
            <a:r>
              <a:rPr sz="2400" b="1" i="1" dirty="0">
                <a:latin typeface="Arial"/>
                <a:cs typeface="Arial"/>
              </a:rPr>
              <a:t>CtaCli</a:t>
            </a:r>
            <a:r>
              <a:rPr sz="2400" b="1" i="1" spc="-40" dirty="0">
                <a:latin typeface="Arial"/>
                <a:cs typeface="Arial"/>
              </a:rPr>
              <a:t> </a:t>
            </a:r>
            <a:r>
              <a:rPr sz="2400" dirty="0">
                <a:latin typeface="Arial MT"/>
                <a:cs typeface="Arial MT"/>
              </a:rPr>
              <a:t>es</a:t>
            </a:r>
            <a:r>
              <a:rPr sz="2400" spc="-30" dirty="0">
                <a:latin typeface="Arial MT"/>
                <a:cs typeface="Arial MT"/>
              </a:rPr>
              <a:t> </a:t>
            </a:r>
            <a:r>
              <a:rPr sz="2400" b="1" dirty="0">
                <a:latin typeface="Arial"/>
                <a:cs typeface="Arial"/>
              </a:rPr>
              <a:t>muchas</a:t>
            </a:r>
            <a:r>
              <a:rPr sz="2400" b="1" spc="-25" dirty="0">
                <a:latin typeface="Arial"/>
                <a:cs typeface="Arial"/>
              </a:rPr>
              <a:t> </a:t>
            </a:r>
            <a:r>
              <a:rPr sz="2400" b="1" dirty="0">
                <a:latin typeface="Arial"/>
                <a:cs typeface="Arial"/>
              </a:rPr>
              <a:t>a</a:t>
            </a:r>
            <a:r>
              <a:rPr sz="2400" b="1" spc="-35" dirty="0">
                <a:latin typeface="Arial"/>
                <a:cs typeface="Arial"/>
              </a:rPr>
              <a:t> </a:t>
            </a:r>
            <a:r>
              <a:rPr sz="2400" b="1" dirty="0">
                <a:latin typeface="Arial"/>
                <a:cs typeface="Arial"/>
              </a:rPr>
              <a:t>una</a:t>
            </a:r>
            <a:r>
              <a:rPr sz="2400" b="1" spc="570" dirty="0">
                <a:latin typeface="Arial"/>
                <a:cs typeface="Arial"/>
              </a:rPr>
              <a:t> </a:t>
            </a:r>
            <a:r>
              <a:rPr sz="2400" dirty="0">
                <a:latin typeface="Arial MT"/>
                <a:cs typeface="Arial MT"/>
              </a:rPr>
              <a:t>de</a:t>
            </a:r>
            <a:r>
              <a:rPr sz="2400" spc="-35" dirty="0">
                <a:latin typeface="Arial MT"/>
                <a:cs typeface="Arial MT"/>
              </a:rPr>
              <a:t> </a:t>
            </a:r>
            <a:r>
              <a:rPr sz="2400" i="1" dirty="0">
                <a:latin typeface="Arial"/>
                <a:cs typeface="Arial"/>
              </a:rPr>
              <a:t>Cliente</a:t>
            </a:r>
            <a:r>
              <a:rPr sz="2400" i="1" spc="-35" dirty="0">
                <a:latin typeface="Arial"/>
                <a:cs typeface="Arial"/>
              </a:rPr>
              <a:t> </a:t>
            </a:r>
            <a:r>
              <a:rPr sz="2400" spc="-50" dirty="0">
                <a:latin typeface="Arial MT"/>
                <a:cs typeface="Arial MT"/>
              </a:rPr>
              <a:t>y</a:t>
            </a:r>
            <a:endParaRPr sz="2400" dirty="0">
              <a:latin typeface="Arial MT"/>
              <a:cs typeface="Arial MT"/>
            </a:endParaRPr>
          </a:p>
        </p:txBody>
      </p:sp>
      <p:sp>
        <p:nvSpPr>
          <p:cNvPr id="6" name="object 6"/>
          <p:cNvSpPr txBox="1"/>
          <p:nvPr/>
        </p:nvSpPr>
        <p:spPr>
          <a:xfrm>
            <a:off x="1139324" y="5583425"/>
            <a:ext cx="8061327" cy="1216999"/>
          </a:xfrm>
          <a:prstGeom prst="rect">
            <a:avLst/>
          </a:prstGeom>
        </p:spPr>
        <p:txBody>
          <a:bodyPr vert="horz" wrap="square" lIns="0" tIns="64769" rIns="0" bIns="0" rtlCol="0">
            <a:spAutoFit/>
          </a:bodyPr>
          <a:lstStyle/>
          <a:p>
            <a:pPr marL="12700" marR="472440" indent="571500">
              <a:lnSpc>
                <a:spcPts val="1989"/>
              </a:lnSpc>
              <a:spcBef>
                <a:spcPts val="509"/>
              </a:spcBef>
              <a:tabLst>
                <a:tab pos="2412365" algn="l"/>
              </a:tabLst>
            </a:pPr>
            <a:r>
              <a:rPr sz="2000" dirty="0" err="1">
                <a:latin typeface="Arial MT"/>
                <a:cs typeface="Arial MT"/>
              </a:rPr>
              <a:t>Es</a:t>
            </a:r>
            <a:r>
              <a:rPr sz="2000" spc="-25" dirty="0">
                <a:latin typeface="Arial MT"/>
                <a:cs typeface="Arial MT"/>
              </a:rPr>
              <a:t> </a:t>
            </a:r>
            <a:r>
              <a:rPr sz="2000" spc="-10" dirty="0" err="1" smtClean="0">
                <a:latin typeface="Arial MT"/>
                <a:cs typeface="Arial MT"/>
              </a:rPr>
              <a:t>decir</a:t>
            </a:r>
            <a:r>
              <a:rPr sz="2000" spc="-10" dirty="0" smtClean="0">
                <a:latin typeface="Arial MT"/>
                <a:cs typeface="Arial MT"/>
              </a:rPr>
              <a:t>,</a:t>
            </a:r>
            <a:r>
              <a:rPr lang="es-ES" sz="2000" dirty="0">
                <a:latin typeface="Arial MT"/>
                <a:cs typeface="Arial MT"/>
              </a:rPr>
              <a:t> </a:t>
            </a:r>
            <a:r>
              <a:rPr sz="2000" dirty="0" err="1" smtClean="0">
                <a:latin typeface="Arial MT"/>
                <a:cs typeface="Arial MT"/>
              </a:rPr>
              <a:t>una</a:t>
            </a:r>
            <a:r>
              <a:rPr sz="2000" spc="-25" dirty="0" smtClean="0">
                <a:latin typeface="Arial MT"/>
                <a:cs typeface="Arial MT"/>
              </a:rPr>
              <a:t> </a:t>
            </a:r>
            <a:r>
              <a:rPr sz="2000" dirty="0">
                <a:latin typeface="Arial MT"/>
                <a:cs typeface="Arial MT"/>
              </a:rPr>
              <a:t>persona</a:t>
            </a:r>
            <a:r>
              <a:rPr sz="2000" spc="-35" dirty="0">
                <a:latin typeface="Arial MT"/>
                <a:cs typeface="Arial MT"/>
              </a:rPr>
              <a:t> </a:t>
            </a:r>
            <a:r>
              <a:rPr sz="2000" dirty="0">
                <a:latin typeface="Arial MT"/>
                <a:cs typeface="Arial MT"/>
              </a:rPr>
              <a:t>puede</a:t>
            </a:r>
            <a:r>
              <a:rPr sz="2000" spc="-35" dirty="0">
                <a:latin typeface="Arial MT"/>
                <a:cs typeface="Arial MT"/>
              </a:rPr>
              <a:t> </a:t>
            </a:r>
            <a:r>
              <a:rPr sz="2000" dirty="0">
                <a:latin typeface="Arial MT"/>
                <a:cs typeface="Arial MT"/>
              </a:rPr>
              <a:t>tener</a:t>
            </a:r>
            <a:r>
              <a:rPr sz="2000" spc="-45" dirty="0">
                <a:latin typeface="Arial MT"/>
                <a:cs typeface="Arial MT"/>
              </a:rPr>
              <a:t> </a:t>
            </a:r>
            <a:r>
              <a:rPr sz="2000" b="1" dirty="0">
                <a:latin typeface="Arial"/>
                <a:cs typeface="Arial"/>
              </a:rPr>
              <a:t>una</a:t>
            </a:r>
            <a:r>
              <a:rPr sz="2000" b="1" spc="-25" dirty="0">
                <a:latin typeface="Arial"/>
                <a:cs typeface="Arial"/>
              </a:rPr>
              <a:t> </a:t>
            </a:r>
            <a:r>
              <a:rPr sz="2000" b="1" dirty="0">
                <a:latin typeface="Arial"/>
                <a:cs typeface="Arial"/>
              </a:rPr>
              <a:t>sola</a:t>
            </a:r>
            <a:r>
              <a:rPr sz="2000" b="1" spc="-25" dirty="0">
                <a:latin typeface="Arial"/>
                <a:cs typeface="Arial"/>
              </a:rPr>
              <a:t> </a:t>
            </a:r>
            <a:r>
              <a:rPr sz="2000" b="1" spc="-10" dirty="0" err="1">
                <a:latin typeface="Arial"/>
                <a:cs typeface="Arial"/>
              </a:rPr>
              <a:t>cuenta</a:t>
            </a:r>
            <a:r>
              <a:rPr sz="2000" b="1" spc="-10" dirty="0">
                <a:latin typeface="Arial"/>
                <a:cs typeface="Arial"/>
              </a:rPr>
              <a:t> </a:t>
            </a:r>
            <a:r>
              <a:rPr sz="2000" b="1" spc="-10" dirty="0" err="1" smtClean="0">
                <a:latin typeface="Arial"/>
                <a:cs typeface="Arial"/>
              </a:rPr>
              <a:t>asociada</a:t>
            </a:r>
            <a:endParaRPr sz="2000" dirty="0">
              <a:latin typeface="Arial"/>
              <a:cs typeface="Arial"/>
            </a:endParaRPr>
          </a:p>
          <a:p>
            <a:pPr marL="583565">
              <a:lnSpc>
                <a:spcPct val="100000"/>
              </a:lnSpc>
              <a:spcBef>
                <a:spcPts val="5"/>
              </a:spcBef>
              <a:tabLst>
                <a:tab pos="1497965" algn="l"/>
              </a:tabLst>
            </a:pPr>
            <a:r>
              <a:rPr lang="en-US" sz="2000" spc="-20" dirty="0" smtClean="0">
                <a:latin typeface="Arial MT"/>
                <a:cs typeface="Arial MT"/>
              </a:rPr>
              <a:t>P</a:t>
            </a:r>
            <a:r>
              <a:rPr sz="2000" spc="-20" dirty="0" smtClean="0">
                <a:latin typeface="Arial MT"/>
                <a:cs typeface="Arial MT"/>
              </a:rPr>
              <a:t>ero</a:t>
            </a:r>
            <a:r>
              <a:rPr lang="es-ES" sz="2000" dirty="0" smtClean="0">
                <a:latin typeface="Arial MT"/>
                <a:cs typeface="Arial MT"/>
              </a:rPr>
              <a:t> </a:t>
            </a:r>
            <a:r>
              <a:rPr sz="2000" dirty="0" err="1" smtClean="0">
                <a:latin typeface="Arial MT"/>
                <a:cs typeface="Arial MT"/>
              </a:rPr>
              <a:t>una</a:t>
            </a:r>
            <a:r>
              <a:rPr sz="2000" spc="-35" dirty="0" smtClean="0">
                <a:latin typeface="Arial MT"/>
                <a:cs typeface="Arial MT"/>
              </a:rPr>
              <a:t> </a:t>
            </a:r>
            <a:r>
              <a:rPr sz="2000" dirty="0">
                <a:latin typeface="Arial MT"/>
                <a:cs typeface="Arial MT"/>
              </a:rPr>
              <a:t>cuenta</a:t>
            </a:r>
            <a:r>
              <a:rPr sz="2000" spc="-35" dirty="0">
                <a:latin typeface="Arial MT"/>
                <a:cs typeface="Arial MT"/>
              </a:rPr>
              <a:t> </a:t>
            </a:r>
            <a:r>
              <a:rPr sz="2000" dirty="0">
                <a:latin typeface="Arial MT"/>
                <a:cs typeface="Arial MT"/>
              </a:rPr>
              <a:t>puede</a:t>
            </a:r>
            <a:r>
              <a:rPr sz="2000" spc="-40" dirty="0">
                <a:latin typeface="Arial MT"/>
                <a:cs typeface="Arial MT"/>
              </a:rPr>
              <a:t> </a:t>
            </a:r>
            <a:r>
              <a:rPr sz="2000" b="1" dirty="0">
                <a:latin typeface="Arial"/>
                <a:cs typeface="Arial"/>
              </a:rPr>
              <a:t>estar</a:t>
            </a:r>
            <a:r>
              <a:rPr sz="2000" b="1" spc="-35" dirty="0">
                <a:latin typeface="Arial"/>
                <a:cs typeface="Arial"/>
              </a:rPr>
              <a:t> </a:t>
            </a:r>
            <a:r>
              <a:rPr sz="2000" b="1" dirty="0">
                <a:latin typeface="Arial"/>
                <a:cs typeface="Arial"/>
              </a:rPr>
              <a:t>a</a:t>
            </a:r>
            <a:r>
              <a:rPr sz="2000" b="1" spc="-35" dirty="0">
                <a:latin typeface="Arial"/>
                <a:cs typeface="Arial"/>
              </a:rPr>
              <a:t> </a:t>
            </a:r>
            <a:r>
              <a:rPr sz="2000" b="1" dirty="0">
                <a:latin typeface="Arial"/>
                <a:cs typeface="Arial"/>
              </a:rPr>
              <a:t>nombre</a:t>
            </a:r>
            <a:r>
              <a:rPr sz="2000" b="1" spc="-25" dirty="0">
                <a:latin typeface="Arial"/>
                <a:cs typeface="Arial"/>
              </a:rPr>
              <a:t> </a:t>
            </a:r>
            <a:r>
              <a:rPr sz="2000" b="1" dirty="0">
                <a:latin typeface="Arial"/>
                <a:cs typeface="Arial"/>
              </a:rPr>
              <a:t>de</a:t>
            </a:r>
            <a:r>
              <a:rPr sz="2000" b="1" spc="-25" dirty="0">
                <a:latin typeface="Arial"/>
                <a:cs typeface="Arial"/>
              </a:rPr>
              <a:t> </a:t>
            </a:r>
            <a:r>
              <a:rPr sz="2000" b="1" dirty="0">
                <a:latin typeface="Arial"/>
                <a:cs typeface="Arial"/>
              </a:rPr>
              <a:t>varias</a:t>
            </a:r>
            <a:r>
              <a:rPr sz="2000" b="1" spc="-35" dirty="0">
                <a:latin typeface="Arial"/>
                <a:cs typeface="Arial"/>
              </a:rPr>
              <a:t> </a:t>
            </a:r>
            <a:r>
              <a:rPr sz="2000" spc="-10" dirty="0">
                <a:latin typeface="Arial MT"/>
                <a:cs typeface="Arial MT"/>
              </a:rPr>
              <a:t>personas</a:t>
            </a:r>
            <a:endParaRPr sz="2000" dirty="0">
              <a:latin typeface="Arial MT"/>
              <a:cs typeface="Arial MT"/>
            </a:endParaRPr>
          </a:p>
          <a:p>
            <a:pPr marL="498475">
              <a:lnSpc>
                <a:spcPct val="100000"/>
              </a:lnSpc>
              <a:spcBef>
                <a:spcPts val="1675"/>
              </a:spcBef>
            </a:pPr>
            <a:r>
              <a:rPr sz="2400" dirty="0">
                <a:latin typeface="Arial MT"/>
                <a:cs typeface="Arial MT"/>
              </a:rPr>
              <a:t>entonces</a:t>
            </a:r>
            <a:r>
              <a:rPr sz="2400" spc="-40" dirty="0">
                <a:latin typeface="Arial MT"/>
                <a:cs typeface="Arial MT"/>
              </a:rPr>
              <a:t> </a:t>
            </a:r>
            <a:r>
              <a:rPr sz="2400" dirty="0">
                <a:latin typeface="Arial MT"/>
                <a:cs typeface="Arial MT"/>
              </a:rPr>
              <a:t>la</a:t>
            </a:r>
            <a:r>
              <a:rPr sz="2400" spc="-35" dirty="0">
                <a:latin typeface="Arial MT"/>
                <a:cs typeface="Arial MT"/>
              </a:rPr>
              <a:t> </a:t>
            </a:r>
            <a:r>
              <a:rPr sz="2400" b="1" dirty="0">
                <a:latin typeface="Arial"/>
                <a:cs typeface="Arial"/>
              </a:rPr>
              <a:t>clave</a:t>
            </a:r>
            <a:r>
              <a:rPr sz="2400" b="1" spc="-35" dirty="0">
                <a:latin typeface="Arial"/>
                <a:cs typeface="Arial"/>
              </a:rPr>
              <a:t> </a:t>
            </a:r>
            <a:r>
              <a:rPr sz="2400" b="1" dirty="0">
                <a:latin typeface="Arial"/>
                <a:cs typeface="Arial"/>
              </a:rPr>
              <a:t>primaria</a:t>
            </a:r>
            <a:r>
              <a:rPr sz="2400" b="1" spc="-35" dirty="0">
                <a:latin typeface="Arial"/>
                <a:cs typeface="Arial"/>
              </a:rPr>
              <a:t> </a:t>
            </a:r>
            <a:r>
              <a:rPr sz="2400" dirty="0">
                <a:latin typeface="Arial MT"/>
                <a:cs typeface="Arial MT"/>
              </a:rPr>
              <a:t>es</a:t>
            </a:r>
            <a:r>
              <a:rPr sz="2400" spc="-40" dirty="0">
                <a:latin typeface="Arial MT"/>
                <a:cs typeface="Arial MT"/>
              </a:rPr>
              <a:t> </a:t>
            </a:r>
            <a:r>
              <a:rPr sz="2400" b="1" spc="-20" dirty="0">
                <a:latin typeface="Arial"/>
                <a:cs typeface="Arial"/>
              </a:rPr>
              <a:t>{seguridad-</a:t>
            </a:r>
            <a:r>
              <a:rPr sz="2400" b="1" spc="-10" dirty="0">
                <a:latin typeface="Arial"/>
                <a:cs typeface="Arial"/>
              </a:rPr>
              <a:t>social}</a:t>
            </a:r>
            <a:endParaRPr sz="2400" dirty="0">
              <a:latin typeface="Arial"/>
              <a:cs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3700" y="561720"/>
            <a:ext cx="9753600" cy="935513"/>
          </a:xfrm>
          <a:prstGeom prst="rect">
            <a:avLst/>
          </a:prstGeom>
        </p:spPr>
        <p:txBody>
          <a:bodyPr vert="horz" wrap="square" lIns="0" tIns="316865" rIns="0" bIns="0" rtlCol="0">
            <a:spAutoFit/>
          </a:bodyPr>
          <a:lstStyle/>
          <a:p>
            <a:pPr marL="844550">
              <a:lnSpc>
                <a:spcPct val="100000"/>
              </a:lnSpc>
              <a:spcBef>
                <a:spcPts val="95"/>
              </a:spcBef>
            </a:pPr>
            <a:r>
              <a:rPr sz="4000" b="1" dirty="0" err="1">
                <a:latin typeface="Arial"/>
                <a:cs typeface="Arial"/>
              </a:rPr>
              <a:t>Diagrama</a:t>
            </a:r>
            <a:r>
              <a:rPr sz="4000" b="1" spc="-114" dirty="0">
                <a:latin typeface="Arial"/>
                <a:cs typeface="Arial"/>
              </a:rPr>
              <a:t> </a:t>
            </a:r>
            <a:r>
              <a:rPr sz="4000" b="1" spc="-20" dirty="0" err="1" smtClean="0">
                <a:latin typeface="Arial"/>
                <a:cs typeface="Arial"/>
              </a:rPr>
              <a:t>entidad-</a:t>
            </a:r>
            <a:r>
              <a:rPr sz="4000" b="1" spc="-10" dirty="0" err="1" smtClean="0">
                <a:latin typeface="Arial"/>
                <a:cs typeface="Arial"/>
              </a:rPr>
              <a:t>relación</a:t>
            </a:r>
            <a:r>
              <a:rPr lang="es-ES" sz="4000" b="1" spc="-10" dirty="0" smtClean="0">
                <a:latin typeface="Arial"/>
                <a:cs typeface="Arial"/>
              </a:rPr>
              <a:t>.</a:t>
            </a:r>
            <a:r>
              <a:rPr lang="es-ES" sz="2800" b="1" spc="-10" dirty="0" smtClean="0">
                <a:latin typeface="Arial"/>
                <a:cs typeface="Arial"/>
              </a:rPr>
              <a:t> Elementos</a:t>
            </a:r>
            <a:endParaRPr sz="2800" dirty="0">
              <a:latin typeface="Arial"/>
              <a:cs typeface="Arial"/>
            </a:endParaRPr>
          </a:p>
        </p:txBody>
      </p:sp>
      <p:sp>
        <p:nvSpPr>
          <p:cNvPr id="3" name="object 3"/>
          <p:cNvSpPr txBox="1"/>
          <p:nvPr/>
        </p:nvSpPr>
        <p:spPr>
          <a:xfrm>
            <a:off x="850900" y="1720851"/>
            <a:ext cx="9143999" cy="5998437"/>
          </a:xfrm>
          <a:prstGeom prst="rect">
            <a:avLst/>
          </a:prstGeom>
        </p:spPr>
        <p:txBody>
          <a:bodyPr vert="horz" wrap="square" lIns="0" tIns="12065" rIns="0" bIns="0" rtlCol="0">
            <a:spAutoFit/>
          </a:bodyPr>
          <a:lstStyle/>
          <a:p>
            <a:pPr marL="12700">
              <a:lnSpc>
                <a:spcPct val="100000"/>
              </a:lnSpc>
              <a:spcBef>
                <a:spcPts val="95"/>
              </a:spcBef>
              <a:tabLst>
                <a:tab pos="354330" algn="l"/>
              </a:tabLst>
            </a:pPr>
            <a:r>
              <a:rPr lang="es-ES" sz="2800" dirty="0" smtClean="0">
                <a:latin typeface="Arial MT"/>
                <a:cs typeface="Arial MT"/>
              </a:rPr>
              <a:t> </a:t>
            </a:r>
            <a:r>
              <a:rPr sz="2800" dirty="0" err="1" smtClean="0">
                <a:latin typeface="Arial MT"/>
                <a:cs typeface="Arial MT"/>
              </a:rPr>
              <a:t>Consta</a:t>
            </a:r>
            <a:r>
              <a:rPr sz="2800" spc="-65" dirty="0" smtClean="0">
                <a:latin typeface="Arial MT"/>
                <a:cs typeface="Arial MT"/>
              </a:rPr>
              <a:t> </a:t>
            </a:r>
            <a:r>
              <a:rPr sz="2800" dirty="0">
                <a:latin typeface="Arial MT"/>
                <a:cs typeface="Arial MT"/>
              </a:rPr>
              <a:t>de</a:t>
            </a:r>
            <a:r>
              <a:rPr sz="2800" spc="-65" dirty="0">
                <a:latin typeface="Arial MT"/>
                <a:cs typeface="Arial MT"/>
              </a:rPr>
              <a:t> </a:t>
            </a:r>
            <a:r>
              <a:rPr sz="2800" dirty="0">
                <a:latin typeface="Arial MT"/>
                <a:cs typeface="Arial MT"/>
              </a:rPr>
              <a:t>los</a:t>
            </a:r>
            <a:r>
              <a:rPr sz="2800" spc="-60" dirty="0">
                <a:latin typeface="Arial MT"/>
                <a:cs typeface="Arial MT"/>
              </a:rPr>
              <a:t> </a:t>
            </a:r>
            <a:r>
              <a:rPr sz="2800" dirty="0">
                <a:latin typeface="Arial MT"/>
                <a:cs typeface="Arial MT"/>
              </a:rPr>
              <a:t>siguientes</a:t>
            </a:r>
            <a:r>
              <a:rPr sz="2800" spc="-65" dirty="0">
                <a:latin typeface="Arial MT"/>
                <a:cs typeface="Arial MT"/>
              </a:rPr>
              <a:t> </a:t>
            </a:r>
            <a:r>
              <a:rPr sz="2800" spc="-10" dirty="0">
                <a:latin typeface="Arial MT"/>
                <a:cs typeface="Arial MT"/>
              </a:rPr>
              <a:t>componentes:</a:t>
            </a:r>
            <a:endParaRPr sz="2800" dirty="0">
              <a:latin typeface="Arial MT"/>
              <a:cs typeface="Arial MT"/>
            </a:endParaRPr>
          </a:p>
          <a:p>
            <a:pPr marL="469265" lvl="1">
              <a:lnSpc>
                <a:spcPct val="100000"/>
              </a:lnSpc>
              <a:spcBef>
                <a:spcPts val="1805"/>
              </a:spcBef>
              <a:tabLst>
                <a:tab pos="754380" algn="l"/>
              </a:tabLst>
            </a:pPr>
            <a:r>
              <a:rPr sz="2400" b="1" dirty="0">
                <a:latin typeface="Arial"/>
                <a:cs typeface="Arial"/>
              </a:rPr>
              <a:t>Rectángulos</a:t>
            </a:r>
            <a:r>
              <a:rPr sz="2400" dirty="0">
                <a:latin typeface="Arial MT"/>
                <a:cs typeface="Arial MT"/>
              </a:rPr>
              <a:t>:</a:t>
            </a:r>
            <a:r>
              <a:rPr sz="2400" spc="-80" dirty="0">
                <a:latin typeface="Arial MT"/>
                <a:cs typeface="Arial MT"/>
              </a:rPr>
              <a:t> </a:t>
            </a:r>
            <a:r>
              <a:rPr lang="es-ES" sz="2400" spc="-80" dirty="0" smtClean="0">
                <a:latin typeface="Arial MT"/>
                <a:cs typeface="Arial MT"/>
              </a:rPr>
              <a:t>representan </a:t>
            </a:r>
            <a:r>
              <a:rPr sz="2400" dirty="0" err="1" smtClean="0">
                <a:latin typeface="Arial MT"/>
                <a:cs typeface="Arial MT"/>
              </a:rPr>
              <a:t>conjuntos</a:t>
            </a:r>
            <a:r>
              <a:rPr sz="2400" spc="-85" dirty="0" smtClean="0">
                <a:latin typeface="Arial MT"/>
                <a:cs typeface="Arial MT"/>
              </a:rPr>
              <a:t> </a:t>
            </a:r>
            <a:r>
              <a:rPr sz="2400" dirty="0">
                <a:latin typeface="Arial MT"/>
                <a:cs typeface="Arial MT"/>
              </a:rPr>
              <a:t>de</a:t>
            </a:r>
            <a:r>
              <a:rPr sz="2400" spc="-80" dirty="0">
                <a:latin typeface="Arial MT"/>
                <a:cs typeface="Arial MT"/>
              </a:rPr>
              <a:t> </a:t>
            </a:r>
            <a:r>
              <a:rPr sz="2400" spc="-10" dirty="0">
                <a:latin typeface="Arial MT"/>
                <a:cs typeface="Arial MT"/>
              </a:rPr>
              <a:t>entidades</a:t>
            </a:r>
            <a:endParaRPr sz="2400" dirty="0">
              <a:latin typeface="Arial MT"/>
              <a:cs typeface="Arial MT"/>
            </a:endParaRPr>
          </a:p>
          <a:p>
            <a:pPr marL="469900" lvl="1">
              <a:lnSpc>
                <a:spcPct val="100000"/>
              </a:lnSpc>
              <a:spcBef>
                <a:spcPts val="1800"/>
              </a:spcBef>
              <a:tabLst>
                <a:tab pos="755015" algn="l"/>
              </a:tabLst>
            </a:pPr>
            <a:r>
              <a:rPr sz="2400" b="1" dirty="0" err="1" smtClean="0">
                <a:latin typeface="Arial"/>
                <a:cs typeface="Arial"/>
              </a:rPr>
              <a:t>Elipses</a:t>
            </a:r>
            <a:r>
              <a:rPr sz="2400" dirty="0" smtClean="0">
                <a:latin typeface="Arial MT"/>
                <a:cs typeface="Arial MT"/>
              </a:rPr>
              <a:t>:</a:t>
            </a:r>
            <a:r>
              <a:rPr sz="2400" spc="-80" dirty="0" smtClean="0">
                <a:latin typeface="Arial MT"/>
                <a:cs typeface="Arial MT"/>
              </a:rPr>
              <a:t> </a:t>
            </a:r>
            <a:r>
              <a:rPr lang="es-ES" sz="2400" spc="-80" dirty="0" smtClean="0">
                <a:latin typeface="Arial MT"/>
                <a:cs typeface="Arial MT"/>
              </a:rPr>
              <a:t>representan los </a:t>
            </a:r>
            <a:r>
              <a:rPr sz="2400" spc="-10" dirty="0" err="1" smtClean="0">
                <a:latin typeface="Arial MT"/>
                <a:cs typeface="Arial MT"/>
              </a:rPr>
              <a:t>atributos</a:t>
            </a:r>
            <a:r>
              <a:rPr lang="es-ES" sz="2400" spc="-10" dirty="0" smtClean="0">
                <a:latin typeface="Arial MT"/>
                <a:cs typeface="Arial MT"/>
              </a:rPr>
              <a:t>.</a:t>
            </a:r>
          </a:p>
          <a:p>
            <a:pPr marL="469900" lvl="1">
              <a:lnSpc>
                <a:spcPct val="100000"/>
              </a:lnSpc>
              <a:spcBef>
                <a:spcPts val="1800"/>
              </a:spcBef>
              <a:tabLst>
                <a:tab pos="755015" algn="l"/>
              </a:tabLst>
            </a:pPr>
            <a:endParaRPr sz="2400" dirty="0">
              <a:latin typeface="Arial MT"/>
              <a:cs typeface="Arial MT"/>
            </a:endParaRPr>
          </a:p>
          <a:p>
            <a:pPr marL="469900" lvl="1">
              <a:lnSpc>
                <a:spcPct val="100000"/>
              </a:lnSpc>
              <a:spcBef>
                <a:spcPts val="1785"/>
              </a:spcBef>
              <a:tabLst>
                <a:tab pos="755015" algn="l"/>
              </a:tabLst>
            </a:pPr>
            <a:endParaRPr lang="es-ES" sz="2400" b="1" dirty="0" smtClean="0">
              <a:latin typeface="Arial"/>
              <a:cs typeface="Arial"/>
            </a:endParaRPr>
          </a:p>
          <a:p>
            <a:pPr marL="469900" lvl="1">
              <a:lnSpc>
                <a:spcPct val="100000"/>
              </a:lnSpc>
              <a:spcBef>
                <a:spcPts val="1785"/>
              </a:spcBef>
              <a:tabLst>
                <a:tab pos="755015" algn="l"/>
              </a:tabLst>
            </a:pPr>
            <a:r>
              <a:rPr sz="2400" b="1" dirty="0" err="1" smtClean="0">
                <a:latin typeface="Arial"/>
                <a:cs typeface="Arial"/>
              </a:rPr>
              <a:t>Rombos</a:t>
            </a:r>
            <a:r>
              <a:rPr sz="2400" dirty="0">
                <a:latin typeface="Arial MT"/>
                <a:cs typeface="Arial MT"/>
              </a:rPr>
              <a:t>:</a:t>
            </a:r>
            <a:r>
              <a:rPr sz="2400" spc="-70" dirty="0">
                <a:latin typeface="Arial MT"/>
                <a:cs typeface="Arial MT"/>
              </a:rPr>
              <a:t> </a:t>
            </a:r>
            <a:r>
              <a:rPr lang="es-ES" sz="2400" spc="-70" dirty="0" smtClean="0">
                <a:latin typeface="Arial MT"/>
                <a:cs typeface="Arial MT"/>
              </a:rPr>
              <a:t>representan </a:t>
            </a:r>
            <a:r>
              <a:rPr sz="2400" dirty="0" err="1" smtClean="0">
                <a:latin typeface="Arial MT"/>
                <a:cs typeface="Arial MT"/>
              </a:rPr>
              <a:t>relaciones</a:t>
            </a:r>
            <a:r>
              <a:rPr sz="2400" spc="-70" dirty="0" smtClean="0">
                <a:latin typeface="Arial MT"/>
                <a:cs typeface="Arial MT"/>
              </a:rPr>
              <a:t> </a:t>
            </a:r>
            <a:r>
              <a:rPr sz="2400" dirty="0">
                <a:latin typeface="Arial MT"/>
                <a:cs typeface="Arial MT"/>
              </a:rPr>
              <a:t>entre</a:t>
            </a:r>
            <a:r>
              <a:rPr sz="2400" spc="-70" dirty="0">
                <a:latin typeface="Arial MT"/>
                <a:cs typeface="Arial MT"/>
              </a:rPr>
              <a:t> </a:t>
            </a:r>
            <a:r>
              <a:rPr sz="2400" dirty="0" err="1">
                <a:latin typeface="Arial MT"/>
                <a:cs typeface="Arial MT"/>
              </a:rPr>
              <a:t>conjuntos</a:t>
            </a:r>
            <a:r>
              <a:rPr sz="2400" spc="-70" dirty="0">
                <a:latin typeface="Arial MT"/>
                <a:cs typeface="Arial MT"/>
              </a:rPr>
              <a:t> </a:t>
            </a:r>
            <a:r>
              <a:rPr sz="2400" dirty="0" smtClean="0">
                <a:latin typeface="Arial MT"/>
                <a:cs typeface="Arial MT"/>
              </a:rPr>
              <a:t>de</a:t>
            </a:r>
            <a:endParaRPr lang="es-ES" sz="2400" dirty="0" smtClean="0">
              <a:latin typeface="Arial MT"/>
              <a:cs typeface="Arial MT"/>
            </a:endParaRPr>
          </a:p>
          <a:p>
            <a:pPr marL="469900" lvl="1">
              <a:lnSpc>
                <a:spcPct val="100000"/>
              </a:lnSpc>
              <a:spcBef>
                <a:spcPts val="1785"/>
              </a:spcBef>
              <a:tabLst>
                <a:tab pos="755015" algn="l"/>
              </a:tabLst>
            </a:pPr>
            <a:r>
              <a:rPr sz="2400" spc="-70" dirty="0" smtClean="0">
                <a:latin typeface="Arial MT"/>
                <a:cs typeface="Arial MT"/>
              </a:rPr>
              <a:t> </a:t>
            </a:r>
            <a:r>
              <a:rPr sz="2400" spc="-10" dirty="0" err="1" smtClean="0">
                <a:latin typeface="Arial MT"/>
                <a:cs typeface="Arial MT"/>
              </a:rPr>
              <a:t>entidades</a:t>
            </a:r>
            <a:r>
              <a:rPr lang="es-ES" sz="2400" spc="-10" dirty="0" smtClean="0">
                <a:latin typeface="Arial MT"/>
                <a:cs typeface="Arial MT"/>
              </a:rPr>
              <a:t>. </a:t>
            </a:r>
            <a:endParaRPr sz="2400" dirty="0">
              <a:latin typeface="Arial MT"/>
              <a:cs typeface="Arial MT"/>
            </a:endParaRPr>
          </a:p>
          <a:p>
            <a:pPr marL="469265" marR="191135" lvl="1">
              <a:lnSpc>
                <a:spcPts val="2870"/>
              </a:lnSpc>
              <a:spcBef>
                <a:spcPts val="1905"/>
              </a:spcBef>
              <a:tabLst>
                <a:tab pos="756285" algn="l"/>
              </a:tabLst>
            </a:pPr>
            <a:r>
              <a:rPr sz="2400" b="1" dirty="0" err="1" smtClean="0">
                <a:latin typeface="Arial"/>
                <a:cs typeface="Arial"/>
              </a:rPr>
              <a:t>Líneas</a:t>
            </a:r>
            <a:r>
              <a:rPr sz="2400" dirty="0">
                <a:latin typeface="Arial MT"/>
                <a:cs typeface="Arial MT"/>
              </a:rPr>
              <a:t>:</a:t>
            </a:r>
            <a:r>
              <a:rPr sz="2400" spc="-75" dirty="0">
                <a:latin typeface="Arial MT"/>
                <a:cs typeface="Arial MT"/>
              </a:rPr>
              <a:t> </a:t>
            </a:r>
            <a:r>
              <a:rPr sz="2400" dirty="0">
                <a:latin typeface="Arial MT"/>
                <a:cs typeface="Arial MT"/>
              </a:rPr>
              <a:t>conectan</a:t>
            </a:r>
            <a:r>
              <a:rPr sz="2400" spc="-75" dirty="0">
                <a:latin typeface="Arial MT"/>
                <a:cs typeface="Arial MT"/>
              </a:rPr>
              <a:t> </a:t>
            </a:r>
            <a:r>
              <a:rPr sz="2400" dirty="0">
                <a:latin typeface="Arial MT"/>
                <a:cs typeface="Arial MT"/>
              </a:rPr>
              <a:t>atributos</a:t>
            </a:r>
            <a:r>
              <a:rPr sz="2400" spc="-80" dirty="0">
                <a:latin typeface="Arial MT"/>
                <a:cs typeface="Arial MT"/>
              </a:rPr>
              <a:t> </a:t>
            </a:r>
            <a:r>
              <a:rPr sz="2400" dirty="0">
                <a:latin typeface="Arial MT"/>
                <a:cs typeface="Arial MT"/>
              </a:rPr>
              <a:t>a</a:t>
            </a:r>
            <a:r>
              <a:rPr sz="2400" spc="-75" dirty="0">
                <a:latin typeface="Arial MT"/>
                <a:cs typeface="Arial MT"/>
              </a:rPr>
              <a:t> </a:t>
            </a:r>
            <a:r>
              <a:rPr sz="2400" dirty="0">
                <a:latin typeface="Arial MT"/>
                <a:cs typeface="Arial MT"/>
              </a:rPr>
              <a:t>conjuntos</a:t>
            </a:r>
            <a:r>
              <a:rPr sz="2400" spc="-75" dirty="0">
                <a:latin typeface="Arial MT"/>
                <a:cs typeface="Arial MT"/>
              </a:rPr>
              <a:t> </a:t>
            </a:r>
            <a:r>
              <a:rPr sz="2400" spc="-25" dirty="0">
                <a:latin typeface="Arial MT"/>
                <a:cs typeface="Arial MT"/>
              </a:rPr>
              <a:t>de </a:t>
            </a:r>
            <a:r>
              <a:rPr sz="2400" dirty="0" err="1" smtClean="0">
                <a:latin typeface="Arial MT"/>
                <a:cs typeface="Arial MT"/>
              </a:rPr>
              <a:t>entidades</a:t>
            </a:r>
            <a:r>
              <a:rPr sz="2400" spc="-60" dirty="0" smtClean="0">
                <a:latin typeface="Arial MT"/>
                <a:cs typeface="Arial MT"/>
              </a:rPr>
              <a:t> </a:t>
            </a:r>
            <a:r>
              <a:rPr sz="2400" dirty="0">
                <a:latin typeface="Arial MT"/>
                <a:cs typeface="Arial MT"/>
              </a:rPr>
              <a:t>y</a:t>
            </a:r>
            <a:r>
              <a:rPr sz="2400" spc="-60" dirty="0">
                <a:latin typeface="Arial MT"/>
                <a:cs typeface="Arial MT"/>
              </a:rPr>
              <a:t> </a:t>
            </a:r>
            <a:r>
              <a:rPr sz="2400" dirty="0">
                <a:latin typeface="Arial MT"/>
                <a:cs typeface="Arial MT"/>
              </a:rPr>
              <a:t>conjuntos</a:t>
            </a:r>
            <a:r>
              <a:rPr sz="2400" spc="-60" dirty="0">
                <a:latin typeface="Arial MT"/>
                <a:cs typeface="Arial MT"/>
              </a:rPr>
              <a:t> </a:t>
            </a:r>
            <a:r>
              <a:rPr sz="2400" dirty="0">
                <a:latin typeface="Arial MT"/>
                <a:cs typeface="Arial MT"/>
              </a:rPr>
              <a:t>de</a:t>
            </a:r>
            <a:r>
              <a:rPr sz="2400" spc="-60" dirty="0">
                <a:latin typeface="Arial MT"/>
                <a:cs typeface="Arial MT"/>
              </a:rPr>
              <a:t> </a:t>
            </a:r>
            <a:r>
              <a:rPr sz="2400" dirty="0">
                <a:latin typeface="Arial MT"/>
                <a:cs typeface="Arial MT"/>
              </a:rPr>
              <a:t>entidades</a:t>
            </a:r>
            <a:r>
              <a:rPr sz="2400" spc="-55" dirty="0">
                <a:latin typeface="Arial MT"/>
                <a:cs typeface="Arial MT"/>
              </a:rPr>
              <a:t> </a:t>
            </a:r>
            <a:r>
              <a:rPr sz="2400" dirty="0">
                <a:latin typeface="Arial MT"/>
                <a:cs typeface="Arial MT"/>
              </a:rPr>
              <a:t>a</a:t>
            </a:r>
            <a:r>
              <a:rPr sz="2400" spc="-60" dirty="0">
                <a:latin typeface="Arial MT"/>
                <a:cs typeface="Arial MT"/>
              </a:rPr>
              <a:t> </a:t>
            </a:r>
            <a:r>
              <a:rPr sz="2400" spc="-10" dirty="0">
                <a:latin typeface="Arial MT"/>
                <a:cs typeface="Arial MT"/>
              </a:rPr>
              <a:t>relaciones.</a:t>
            </a:r>
            <a:endParaRPr sz="2400" dirty="0">
              <a:latin typeface="Arial MT"/>
              <a:cs typeface="Arial MT"/>
            </a:endParaRPr>
          </a:p>
          <a:p>
            <a:pPr lvl="1">
              <a:lnSpc>
                <a:spcPct val="100000"/>
              </a:lnSpc>
              <a:spcBef>
                <a:spcPts val="1255"/>
              </a:spcBef>
              <a:buFont typeface="Arial MT"/>
              <a:buChar char="–"/>
            </a:pPr>
            <a:endParaRPr sz="2400" dirty="0">
              <a:latin typeface="Arial MT"/>
              <a:cs typeface="Arial MT"/>
            </a:endParaRPr>
          </a:p>
          <a:p>
            <a:pPr marL="12065" marR="114935">
              <a:lnSpc>
                <a:spcPct val="100400"/>
              </a:lnSpc>
              <a:tabLst>
                <a:tab pos="354965" algn="l"/>
              </a:tabLst>
            </a:pPr>
            <a:endParaRPr sz="2800" dirty="0">
              <a:latin typeface="Arial MT"/>
              <a:cs typeface="Arial MT"/>
            </a:endParaRPr>
          </a:p>
        </p:txBody>
      </p:sp>
      <p:sp>
        <p:nvSpPr>
          <p:cNvPr id="4" name="Rectángulo 3"/>
          <p:cNvSpPr/>
          <p:nvPr/>
        </p:nvSpPr>
        <p:spPr>
          <a:xfrm>
            <a:off x="8161303" y="2373114"/>
            <a:ext cx="1752600" cy="4132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8804206" y="2356604"/>
            <a:ext cx="466794" cy="369332"/>
          </a:xfrm>
          <a:prstGeom prst="rect">
            <a:avLst/>
          </a:prstGeom>
          <a:noFill/>
        </p:spPr>
        <p:txBody>
          <a:bodyPr wrap="none" rtlCol="0">
            <a:spAutoFit/>
          </a:bodyPr>
          <a:lstStyle/>
          <a:p>
            <a:r>
              <a:rPr lang="es-ES" dirty="0" smtClean="0"/>
              <a:t>E1</a:t>
            </a:r>
            <a:endParaRPr lang="en-US" dirty="0"/>
          </a:p>
        </p:txBody>
      </p:sp>
      <p:pic>
        <p:nvPicPr>
          <p:cNvPr id="7" name="Imagen 6"/>
          <p:cNvPicPr>
            <a:picLocks noChangeAspect="1"/>
          </p:cNvPicPr>
          <p:nvPr/>
        </p:nvPicPr>
        <p:blipFill>
          <a:blip r:embed="rId2"/>
          <a:stretch>
            <a:fillRect/>
          </a:stretch>
        </p:blipFill>
        <p:spPr>
          <a:xfrm>
            <a:off x="2589201" y="3502926"/>
            <a:ext cx="4596322" cy="884924"/>
          </a:xfrm>
          <a:prstGeom prst="rect">
            <a:avLst/>
          </a:prstGeom>
        </p:spPr>
      </p:pic>
      <p:sp>
        <p:nvSpPr>
          <p:cNvPr id="8" name="Rombo 7"/>
          <p:cNvSpPr/>
          <p:nvPr/>
        </p:nvSpPr>
        <p:spPr>
          <a:xfrm>
            <a:off x="8480356" y="4774086"/>
            <a:ext cx="790644" cy="756764"/>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p:cNvPicPr>
            <a:picLocks noChangeAspect="1"/>
          </p:cNvPicPr>
          <p:nvPr/>
        </p:nvPicPr>
        <p:blipFill>
          <a:blip r:embed="rId3"/>
          <a:stretch>
            <a:fillRect/>
          </a:stretch>
        </p:blipFill>
        <p:spPr>
          <a:xfrm>
            <a:off x="7451725" y="3263900"/>
            <a:ext cx="1628775" cy="112395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92378" y="687677"/>
            <a:ext cx="8988129" cy="1123897"/>
          </a:xfrm>
          <a:prstGeom prst="rect">
            <a:avLst/>
          </a:prstGeom>
        </p:spPr>
        <p:txBody>
          <a:bodyPr vert="horz" wrap="square" lIns="0" tIns="137668" rIns="0" bIns="0" rtlCol="0">
            <a:spAutoFit/>
          </a:bodyPr>
          <a:lstStyle/>
          <a:p>
            <a:pPr marL="638810" marR="5080" indent="-203200">
              <a:lnSpc>
                <a:spcPct val="100000"/>
              </a:lnSpc>
              <a:spcBef>
                <a:spcPts val="100"/>
              </a:spcBef>
            </a:pPr>
            <a:r>
              <a:rPr sz="3200" b="1" dirty="0">
                <a:latin typeface="Arial"/>
                <a:cs typeface="Arial"/>
              </a:rPr>
              <a:t>Ejemplo:</a:t>
            </a:r>
            <a:r>
              <a:rPr sz="3200" b="1" spc="-35" dirty="0">
                <a:latin typeface="Arial"/>
                <a:cs typeface="Arial"/>
              </a:rPr>
              <a:t> </a:t>
            </a:r>
            <a:r>
              <a:rPr sz="3200" dirty="0"/>
              <a:t>Sistema</a:t>
            </a:r>
            <a:r>
              <a:rPr sz="3200" spc="-45" dirty="0"/>
              <a:t> </a:t>
            </a:r>
            <a:r>
              <a:rPr sz="3200" dirty="0"/>
              <a:t>bancario</a:t>
            </a:r>
            <a:r>
              <a:rPr sz="3200" spc="-45" dirty="0"/>
              <a:t> </a:t>
            </a:r>
            <a:r>
              <a:rPr sz="3200" dirty="0"/>
              <a:t>de</a:t>
            </a:r>
            <a:r>
              <a:rPr sz="3200" spc="-55" dirty="0"/>
              <a:t> </a:t>
            </a:r>
            <a:r>
              <a:rPr sz="3200" dirty="0"/>
              <a:t>BD</a:t>
            </a:r>
            <a:r>
              <a:rPr sz="3200" spc="-35" dirty="0"/>
              <a:t> </a:t>
            </a:r>
            <a:r>
              <a:rPr sz="3200" spc="-25" dirty="0"/>
              <a:t>que </a:t>
            </a:r>
            <a:r>
              <a:rPr sz="3200" dirty="0"/>
              <a:t>consta</a:t>
            </a:r>
            <a:r>
              <a:rPr sz="3200" spc="-35" dirty="0"/>
              <a:t> </a:t>
            </a:r>
            <a:r>
              <a:rPr sz="3200" dirty="0"/>
              <a:t>de</a:t>
            </a:r>
            <a:r>
              <a:rPr sz="3200" spc="-30" dirty="0"/>
              <a:t> </a:t>
            </a:r>
            <a:r>
              <a:rPr sz="3200" dirty="0"/>
              <a:t>los</a:t>
            </a:r>
            <a:r>
              <a:rPr sz="3200" spc="-20" dirty="0"/>
              <a:t> </a:t>
            </a:r>
            <a:r>
              <a:rPr sz="3200" dirty="0"/>
              <a:t>clientes</a:t>
            </a:r>
            <a:r>
              <a:rPr sz="3200" spc="-30" dirty="0"/>
              <a:t> </a:t>
            </a:r>
            <a:r>
              <a:rPr sz="3200" dirty="0"/>
              <a:t>y</a:t>
            </a:r>
            <a:r>
              <a:rPr sz="3200" spc="-35" dirty="0"/>
              <a:t> </a:t>
            </a:r>
            <a:r>
              <a:rPr sz="3200" dirty="0"/>
              <a:t>sus</a:t>
            </a:r>
            <a:r>
              <a:rPr sz="3200" spc="-30" dirty="0"/>
              <a:t> </a:t>
            </a:r>
            <a:r>
              <a:rPr sz="3200" spc="-10" dirty="0"/>
              <a:t>cuentas.</a:t>
            </a:r>
            <a:endParaRPr sz="3200" dirty="0">
              <a:latin typeface="Arial"/>
              <a:cs typeface="Arial"/>
            </a:endParaRPr>
          </a:p>
        </p:txBody>
      </p:sp>
      <p:pic>
        <p:nvPicPr>
          <p:cNvPr id="3" name="object 3"/>
          <p:cNvPicPr/>
          <p:nvPr/>
        </p:nvPicPr>
        <p:blipFill>
          <a:blip r:embed="rId2" cstate="print"/>
          <a:stretch>
            <a:fillRect/>
          </a:stretch>
        </p:blipFill>
        <p:spPr>
          <a:xfrm>
            <a:off x="992378" y="2488928"/>
            <a:ext cx="8541098" cy="344071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10017" y="1902967"/>
            <a:ext cx="7973695" cy="2689839"/>
          </a:xfrm>
          <a:prstGeom prst="rect">
            <a:avLst/>
          </a:prstGeom>
        </p:spPr>
        <p:txBody>
          <a:bodyPr vert="horz" wrap="square" lIns="0" tIns="12065" rIns="0" bIns="0" rtlCol="0">
            <a:spAutoFit/>
          </a:bodyPr>
          <a:lstStyle/>
          <a:p>
            <a:pPr marL="97790" algn="ctr">
              <a:lnSpc>
                <a:spcPct val="100000"/>
              </a:lnSpc>
              <a:spcBef>
                <a:spcPts val="95"/>
              </a:spcBef>
            </a:pPr>
            <a:r>
              <a:rPr sz="2800" dirty="0">
                <a:latin typeface="Arial MT"/>
                <a:cs typeface="Arial MT"/>
              </a:rPr>
              <a:t>Se</a:t>
            </a:r>
            <a:r>
              <a:rPr sz="2800" spc="-40" dirty="0">
                <a:latin typeface="Arial MT"/>
                <a:cs typeface="Arial MT"/>
              </a:rPr>
              <a:t> </a:t>
            </a:r>
            <a:r>
              <a:rPr sz="2800" dirty="0">
                <a:latin typeface="Arial MT"/>
                <a:cs typeface="Arial MT"/>
              </a:rPr>
              <a:t>nota</a:t>
            </a:r>
            <a:r>
              <a:rPr sz="2800" spc="-40" dirty="0">
                <a:latin typeface="Arial MT"/>
                <a:cs typeface="Arial MT"/>
              </a:rPr>
              <a:t> </a:t>
            </a:r>
            <a:r>
              <a:rPr sz="2800" dirty="0">
                <a:latin typeface="Arial MT"/>
                <a:cs typeface="Arial MT"/>
              </a:rPr>
              <a:t>la</a:t>
            </a:r>
            <a:r>
              <a:rPr sz="2800" spc="-40" dirty="0">
                <a:latin typeface="Arial MT"/>
                <a:cs typeface="Arial MT"/>
              </a:rPr>
              <a:t> </a:t>
            </a:r>
            <a:r>
              <a:rPr sz="2800" b="1" dirty="0">
                <a:latin typeface="Arial"/>
                <a:cs typeface="Arial"/>
              </a:rPr>
              <a:t>cardinalidad</a:t>
            </a:r>
            <a:r>
              <a:rPr sz="2800" b="1" spc="-50" dirty="0">
                <a:latin typeface="Arial"/>
                <a:cs typeface="Arial"/>
              </a:rPr>
              <a:t> </a:t>
            </a:r>
            <a:r>
              <a:rPr sz="2800" dirty="0">
                <a:latin typeface="Arial MT"/>
                <a:cs typeface="Arial MT"/>
              </a:rPr>
              <a:t>con</a:t>
            </a:r>
            <a:r>
              <a:rPr sz="2800" spc="-40" dirty="0">
                <a:latin typeface="Arial MT"/>
                <a:cs typeface="Arial MT"/>
              </a:rPr>
              <a:t> </a:t>
            </a:r>
            <a:r>
              <a:rPr sz="2800" b="1" dirty="0">
                <a:latin typeface="Arial"/>
                <a:cs typeface="Arial"/>
              </a:rPr>
              <a:t>1</a:t>
            </a:r>
            <a:r>
              <a:rPr sz="2800" b="1" spc="-40" dirty="0">
                <a:latin typeface="Arial"/>
                <a:cs typeface="Arial"/>
              </a:rPr>
              <a:t> </a:t>
            </a:r>
            <a:r>
              <a:rPr sz="2800" dirty="0">
                <a:latin typeface="Arial MT"/>
                <a:cs typeface="Arial MT"/>
              </a:rPr>
              <a:t>ó</a:t>
            </a:r>
            <a:r>
              <a:rPr sz="2800" spc="-40" dirty="0">
                <a:latin typeface="Arial MT"/>
                <a:cs typeface="Arial MT"/>
              </a:rPr>
              <a:t> </a:t>
            </a:r>
            <a:r>
              <a:rPr sz="2800" b="1" spc="-50" dirty="0">
                <a:latin typeface="Arial"/>
                <a:cs typeface="Arial"/>
              </a:rPr>
              <a:t>n</a:t>
            </a:r>
            <a:endParaRPr sz="2800" dirty="0">
              <a:latin typeface="Arial"/>
              <a:cs typeface="Arial"/>
            </a:endParaRPr>
          </a:p>
          <a:p>
            <a:pPr marL="97155" algn="ctr">
              <a:lnSpc>
                <a:spcPct val="100000"/>
              </a:lnSpc>
            </a:pPr>
            <a:r>
              <a:rPr sz="2800" dirty="0">
                <a:latin typeface="Arial MT"/>
                <a:cs typeface="Arial MT"/>
              </a:rPr>
              <a:t>junto</a:t>
            </a:r>
            <a:r>
              <a:rPr sz="2800" spc="-50" dirty="0">
                <a:latin typeface="Arial MT"/>
                <a:cs typeface="Arial MT"/>
              </a:rPr>
              <a:t> </a:t>
            </a:r>
            <a:r>
              <a:rPr sz="2800" dirty="0">
                <a:latin typeface="Arial MT"/>
                <a:cs typeface="Arial MT"/>
              </a:rPr>
              <a:t>a</a:t>
            </a:r>
            <a:r>
              <a:rPr sz="2800" spc="-40" dirty="0">
                <a:latin typeface="Arial MT"/>
                <a:cs typeface="Arial MT"/>
              </a:rPr>
              <a:t> </a:t>
            </a:r>
            <a:r>
              <a:rPr sz="2800" dirty="0">
                <a:latin typeface="Arial MT"/>
                <a:cs typeface="Arial MT"/>
              </a:rPr>
              <a:t>la</a:t>
            </a:r>
            <a:r>
              <a:rPr sz="2800" spc="-40" dirty="0">
                <a:latin typeface="Arial MT"/>
                <a:cs typeface="Arial MT"/>
              </a:rPr>
              <a:t> </a:t>
            </a:r>
            <a:r>
              <a:rPr sz="2800" dirty="0">
                <a:latin typeface="Arial MT"/>
                <a:cs typeface="Arial MT"/>
              </a:rPr>
              <a:t>entidad</a:t>
            </a:r>
            <a:r>
              <a:rPr sz="2800" spc="-35" dirty="0">
                <a:latin typeface="Arial MT"/>
                <a:cs typeface="Arial MT"/>
              </a:rPr>
              <a:t> </a:t>
            </a:r>
            <a:r>
              <a:rPr sz="2800" spc="-10" dirty="0" err="1">
                <a:latin typeface="Arial MT"/>
                <a:cs typeface="Arial MT"/>
              </a:rPr>
              <a:t>correspondiente</a:t>
            </a:r>
            <a:r>
              <a:rPr sz="2800" spc="-10" dirty="0" smtClean="0">
                <a:latin typeface="Arial MT"/>
                <a:cs typeface="Arial MT"/>
              </a:rPr>
              <a:t>.</a:t>
            </a:r>
            <a:endParaRPr lang="es-ES" sz="2800" spc="-10" dirty="0" smtClean="0">
              <a:latin typeface="Arial MT"/>
              <a:cs typeface="Arial MT"/>
            </a:endParaRPr>
          </a:p>
          <a:p>
            <a:pPr marL="97155" algn="ctr">
              <a:lnSpc>
                <a:spcPct val="100000"/>
              </a:lnSpc>
            </a:pPr>
            <a:endParaRPr sz="2800" dirty="0">
              <a:latin typeface="Arial MT"/>
              <a:cs typeface="Arial MT"/>
            </a:endParaRPr>
          </a:p>
          <a:p>
            <a:pPr marL="12065" marR="5080">
              <a:lnSpc>
                <a:spcPct val="150000"/>
              </a:lnSpc>
              <a:tabLst>
                <a:tab pos="354965" algn="l"/>
              </a:tabLst>
            </a:pPr>
            <a:r>
              <a:rPr sz="2000" dirty="0" err="1" smtClean="0">
                <a:latin typeface="Arial MT"/>
                <a:cs typeface="Arial MT"/>
              </a:rPr>
              <a:t>Cuando</a:t>
            </a:r>
            <a:r>
              <a:rPr sz="2000" spc="-70" dirty="0" smtClean="0">
                <a:latin typeface="Arial MT"/>
                <a:cs typeface="Arial MT"/>
              </a:rPr>
              <a:t> </a:t>
            </a:r>
            <a:r>
              <a:rPr sz="2000" dirty="0">
                <a:latin typeface="Arial MT"/>
                <a:cs typeface="Arial MT"/>
              </a:rPr>
              <a:t>una</a:t>
            </a:r>
            <a:r>
              <a:rPr sz="2000" spc="-75" dirty="0">
                <a:latin typeface="Arial MT"/>
                <a:cs typeface="Arial MT"/>
              </a:rPr>
              <a:t> </a:t>
            </a:r>
            <a:r>
              <a:rPr sz="2000" b="1" dirty="0">
                <a:latin typeface="Arial"/>
                <a:cs typeface="Arial"/>
              </a:rPr>
              <a:t>entidad</a:t>
            </a:r>
            <a:r>
              <a:rPr sz="2000" b="1" spc="-90" dirty="0">
                <a:latin typeface="Arial"/>
                <a:cs typeface="Arial"/>
              </a:rPr>
              <a:t> </a:t>
            </a:r>
            <a:r>
              <a:rPr sz="2000" b="1" dirty="0">
                <a:latin typeface="Arial"/>
                <a:cs typeface="Arial"/>
              </a:rPr>
              <a:t>está</a:t>
            </a:r>
            <a:r>
              <a:rPr sz="2000" b="1" spc="-70" dirty="0">
                <a:latin typeface="Arial"/>
                <a:cs typeface="Arial"/>
              </a:rPr>
              <a:t> </a:t>
            </a:r>
            <a:r>
              <a:rPr sz="2000" b="1" dirty="0">
                <a:latin typeface="Arial"/>
                <a:cs typeface="Arial"/>
              </a:rPr>
              <a:t>relacionada</a:t>
            </a:r>
            <a:r>
              <a:rPr sz="2000" b="1" spc="-70" dirty="0">
                <a:latin typeface="Arial"/>
                <a:cs typeface="Arial"/>
              </a:rPr>
              <a:t> </a:t>
            </a:r>
            <a:r>
              <a:rPr sz="2000" b="1" dirty="0">
                <a:latin typeface="Arial"/>
                <a:cs typeface="Arial"/>
              </a:rPr>
              <a:t>consigo</a:t>
            </a:r>
            <a:r>
              <a:rPr sz="2000" b="1" spc="-70" dirty="0">
                <a:latin typeface="Arial"/>
                <a:cs typeface="Arial"/>
              </a:rPr>
              <a:t> </a:t>
            </a:r>
            <a:r>
              <a:rPr sz="2000" b="1" spc="-10" dirty="0">
                <a:latin typeface="Arial"/>
                <a:cs typeface="Arial"/>
              </a:rPr>
              <a:t>misma </a:t>
            </a:r>
            <a:r>
              <a:rPr sz="2000" spc="-20" dirty="0">
                <a:latin typeface="Arial MT"/>
                <a:cs typeface="Arial MT"/>
              </a:rPr>
              <a:t>(trabaja-</a:t>
            </a:r>
            <a:r>
              <a:rPr sz="2000" dirty="0">
                <a:latin typeface="Arial MT"/>
                <a:cs typeface="Arial MT"/>
              </a:rPr>
              <a:t>para)</a:t>
            </a:r>
            <a:r>
              <a:rPr sz="2000" spc="-45" dirty="0">
                <a:latin typeface="Arial MT"/>
                <a:cs typeface="Arial MT"/>
              </a:rPr>
              <a:t> </a:t>
            </a:r>
            <a:r>
              <a:rPr sz="2000" dirty="0">
                <a:latin typeface="Arial MT"/>
                <a:cs typeface="Arial MT"/>
              </a:rPr>
              <a:t>los</a:t>
            </a:r>
            <a:r>
              <a:rPr sz="2000" spc="-50" dirty="0">
                <a:latin typeface="Arial MT"/>
                <a:cs typeface="Arial MT"/>
              </a:rPr>
              <a:t> </a:t>
            </a:r>
            <a:r>
              <a:rPr sz="2000" dirty="0">
                <a:latin typeface="Arial MT"/>
                <a:cs typeface="Arial MT"/>
              </a:rPr>
              <a:t>papeles</a:t>
            </a:r>
            <a:r>
              <a:rPr sz="2000" spc="-45" dirty="0">
                <a:latin typeface="Arial MT"/>
                <a:cs typeface="Arial MT"/>
              </a:rPr>
              <a:t> </a:t>
            </a:r>
            <a:r>
              <a:rPr sz="2000" dirty="0">
                <a:latin typeface="Arial MT"/>
                <a:cs typeface="Arial MT"/>
              </a:rPr>
              <a:t>se</a:t>
            </a:r>
            <a:r>
              <a:rPr sz="2000" spc="-50" dirty="0">
                <a:latin typeface="Arial MT"/>
                <a:cs typeface="Arial MT"/>
              </a:rPr>
              <a:t> </a:t>
            </a:r>
            <a:r>
              <a:rPr sz="2000" dirty="0">
                <a:latin typeface="Arial MT"/>
                <a:cs typeface="Arial MT"/>
              </a:rPr>
              <a:t>indican</a:t>
            </a:r>
            <a:r>
              <a:rPr sz="2000" spc="-50" dirty="0">
                <a:latin typeface="Arial MT"/>
                <a:cs typeface="Arial MT"/>
              </a:rPr>
              <a:t> </a:t>
            </a:r>
            <a:r>
              <a:rPr sz="2000" b="1" dirty="0">
                <a:latin typeface="Arial"/>
                <a:cs typeface="Arial"/>
              </a:rPr>
              <a:t>etiquetando</a:t>
            </a:r>
            <a:r>
              <a:rPr sz="2000" b="1" spc="-60" dirty="0">
                <a:latin typeface="Arial"/>
                <a:cs typeface="Arial"/>
              </a:rPr>
              <a:t> </a:t>
            </a:r>
            <a:r>
              <a:rPr sz="2000" b="1" spc="-25" dirty="0">
                <a:latin typeface="Arial"/>
                <a:cs typeface="Arial"/>
              </a:rPr>
              <a:t>las </a:t>
            </a:r>
            <a:r>
              <a:rPr sz="2000" b="1" dirty="0">
                <a:latin typeface="Arial"/>
                <a:cs typeface="Arial"/>
              </a:rPr>
              <a:t>líneas</a:t>
            </a:r>
            <a:r>
              <a:rPr sz="2000" b="1" spc="-50" dirty="0">
                <a:latin typeface="Arial"/>
                <a:cs typeface="Arial"/>
              </a:rPr>
              <a:t> </a:t>
            </a:r>
            <a:r>
              <a:rPr sz="2000" dirty="0">
                <a:latin typeface="Arial MT"/>
                <a:cs typeface="Arial MT"/>
              </a:rPr>
              <a:t>que</a:t>
            </a:r>
            <a:r>
              <a:rPr sz="2000" spc="-50" dirty="0">
                <a:latin typeface="Arial MT"/>
                <a:cs typeface="Arial MT"/>
              </a:rPr>
              <a:t> </a:t>
            </a:r>
            <a:r>
              <a:rPr sz="2000" dirty="0">
                <a:latin typeface="Arial MT"/>
                <a:cs typeface="Arial MT"/>
              </a:rPr>
              <a:t>conectan</a:t>
            </a:r>
            <a:r>
              <a:rPr sz="2000" spc="-50" dirty="0">
                <a:latin typeface="Arial MT"/>
                <a:cs typeface="Arial MT"/>
              </a:rPr>
              <a:t> </a:t>
            </a:r>
            <a:r>
              <a:rPr sz="2000" dirty="0">
                <a:latin typeface="Arial MT"/>
                <a:cs typeface="Arial MT"/>
              </a:rPr>
              <a:t>los</a:t>
            </a:r>
            <a:r>
              <a:rPr sz="2000" spc="-45" dirty="0">
                <a:latin typeface="Arial MT"/>
                <a:cs typeface="Arial MT"/>
              </a:rPr>
              <a:t> </a:t>
            </a:r>
            <a:r>
              <a:rPr sz="2000" dirty="0">
                <a:latin typeface="Arial MT"/>
                <a:cs typeface="Arial MT"/>
              </a:rPr>
              <a:t>rombos</a:t>
            </a:r>
            <a:r>
              <a:rPr sz="2000" spc="-50" dirty="0">
                <a:latin typeface="Arial MT"/>
                <a:cs typeface="Arial MT"/>
              </a:rPr>
              <a:t> </a:t>
            </a:r>
            <a:r>
              <a:rPr sz="2000" dirty="0">
                <a:latin typeface="Arial MT"/>
                <a:cs typeface="Arial MT"/>
              </a:rPr>
              <a:t>a</a:t>
            </a:r>
            <a:r>
              <a:rPr sz="2000" spc="-50" dirty="0">
                <a:latin typeface="Arial MT"/>
                <a:cs typeface="Arial MT"/>
              </a:rPr>
              <a:t> </a:t>
            </a:r>
            <a:r>
              <a:rPr sz="2000" dirty="0">
                <a:latin typeface="Arial MT"/>
                <a:cs typeface="Arial MT"/>
              </a:rPr>
              <a:t>los</a:t>
            </a:r>
            <a:r>
              <a:rPr sz="2000" spc="-50" dirty="0">
                <a:latin typeface="Arial MT"/>
                <a:cs typeface="Arial MT"/>
              </a:rPr>
              <a:t> </a:t>
            </a:r>
            <a:r>
              <a:rPr sz="2000" spc="-10" dirty="0">
                <a:latin typeface="Arial MT"/>
                <a:cs typeface="Arial MT"/>
              </a:rPr>
              <a:t>rectángulos.</a:t>
            </a:r>
            <a:endParaRPr sz="2000" dirty="0">
              <a:latin typeface="Arial MT"/>
              <a:cs typeface="Arial MT"/>
            </a:endParaRPr>
          </a:p>
        </p:txBody>
      </p:sp>
      <p:sp>
        <p:nvSpPr>
          <p:cNvPr id="3" name="object 3"/>
          <p:cNvSpPr txBox="1"/>
          <p:nvPr/>
        </p:nvSpPr>
        <p:spPr>
          <a:xfrm>
            <a:off x="1917069" y="4906010"/>
            <a:ext cx="2048510" cy="745490"/>
          </a:xfrm>
          <a:prstGeom prst="rect">
            <a:avLst/>
          </a:prstGeom>
          <a:ln w="9524">
            <a:solidFill>
              <a:srgbClr val="000000"/>
            </a:solidFill>
          </a:ln>
        </p:spPr>
        <p:txBody>
          <a:bodyPr vert="horz" wrap="square" lIns="0" tIns="167640" rIns="0" bIns="0" rtlCol="0">
            <a:spAutoFit/>
          </a:bodyPr>
          <a:lstStyle/>
          <a:p>
            <a:pPr marL="523875">
              <a:lnSpc>
                <a:spcPct val="100000"/>
              </a:lnSpc>
              <a:spcBef>
                <a:spcPts val="1320"/>
              </a:spcBef>
            </a:pPr>
            <a:r>
              <a:rPr sz="1800" spc="-10" dirty="0">
                <a:latin typeface="Arial MT"/>
                <a:cs typeface="Arial MT"/>
              </a:rPr>
              <a:t>empleado</a:t>
            </a:r>
            <a:endParaRPr sz="1800">
              <a:latin typeface="Arial MT"/>
              <a:cs typeface="Arial MT"/>
            </a:endParaRPr>
          </a:p>
        </p:txBody>
      </p:sp>
      <p:sp>
        <p:nvSpPr>
          <p:cNvPr id="4" name="object 4"/>
          <p:cNvSpPr/>
          <p:nvPr/>
        </p:nvSpPr>
        <p:spPr>
          <a:xfrm>
            <a:off x="5956300" y="4616450"/>
            <a:ext cx="1755775" cy="1492250"/>
          </a:xfrm>
          <a:custGeom>
            <a:avLst/>
            <a:gdLst/>
            <a:ahLst/>
            <a:cxnLst/>
            <a:rect l="l" t="t" r="r" b="b"/>
            <a:pathLst>
              <a:path w="1755775" h="1492250">
                <a:moveTo>
                  <a:pt x="877823" y="0"/>
                </a:moveTo>
                <a:lnTo>
                  <a:pt x="0" y="746759"/>
                </a:lnTo>
                <a:lnTo>
                  <a:pt x="877823" y="1491995"/>
                </a:lnTo>
                <a:lnTo>
                  <a:pt x="1755647" y="746759"/>
                </a:lnTo>
                <a:lnTo>
                  <a:pt x="877823" y="0"/>
                </a:lnTo>
                <a:close/>
              </a:path>
            </a:pathLst>
          </a:custGeom>
          <a:ln w="9524">
            <a:solidFill>
              <a:srgbClr val="000000"/>
            </a:solidFill>
          </a:ln>
        </p:spPr>
        <p:txBody>
          <a:bodyPr wrap="square" lIns="0" tIns="0" rIns="0" bIns="0" rtlCol="0"/>
          <a:lstStyle/>
          <a:p>
            <a:endParaRPr/>
          </a:p>
        </p:txBody>
      </p:sp>
      <p:sp>
        <p:nvSpPr>
          <p:cNvPr id="5" name="object 5"/>
          <p:cNvSpPr txBox="1"/>
          <p:nvPr/>
        </p:nvSpPr>
        <p:spPr>
          <a:xfrm>
            <a:off x="6261492" y="5202555"/>
            <a:ext cx="125666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MT"/>
                <a:cs typeface="Arial MT"/>
              </a:rPr>
              <a:t>trabaja-</a:t>
            </a:r>
            <a:r>
              <a:rPr sz="1800" spc="-20" dirty="0">
                <a:latin typeface="Arial MT"/>
                <a:cs typeface="Arial MT"/>
              </a:rPr>
              <a:t>para</a:t>
            </a:r>
            <a:endParaRPr sz="1800" dirty="0">
              <a:latin typeface="Arial MT"/>
              <a:cs typeface="Arial MT"/>
            </a:endParaRPr>
          </a:p>
        </p:txBody>
      </p:sp>
      <p:sp>
        <p:nvSpPr>
          <p:cNvPr id="6" name="object 6"/>
          <p:cNvSpPr/>
          <p:nvPr/>
        </p:nvSpPr>
        <p:spPr>
          <a:xfrm flipV="1">
            <a:off x="3939672" y="4747168"/>
            <a:ext cx="2193290" cy="412750"/>
          </a:xfrm>
          <a:custGeom>
            <a:avLst/>
            <a:gdLst/>
            <a:ahLst/>
            <a:cxnLst/>
            <a:rect l="l" t="t" r="r" b="b"/>
            <a:pathLst>
              <a:path w="2193290">
                <a:moveTo>
                  <a:pt x="0" y="0"/>
                </a:moveTo>
                <a:lnTo>
                  <a:pt x="2193035" y="0"/>
                </a:lnTo>
              </a:path>
            </a:pathLst>
          </a:custGeom>
          <a:ln w="9524">
            <a:solidFill>
              <a:srgbClr val="000000"/>
            </a:solidFill>
          </a:ln>
        </p:spPr>
        <p:txBody>
          <a:bodyPr wrap="square" lIns="0" tIns="0" rIns="0" bIns="0" rtlCol="0"/>
          <a:lstStyle/>
          <a:p>
            <a:endParaRPr/>
          </a:p>
        </p:txBody>
      </p:sp>
      <p:sp>
        <p:nvSpPr>
          <p:cNvPr id="7" name="object 7"/>
          <p:cNvSpPr txBox="1"/>
          <p:nvPr/>
        </p:nvSpPr>
        <p:spPr>
          <a:xfrm>
            <a:off x="4068455" y="4894580"/>
            <a:ext cx="1423035" cy="299720"/>
          </a:xfrm>
          <a:prstGeom prst="rect">
            <a:avLst/>
          </a:prstGeom>
        </p:spPr>
        <p:txBody>
          <a:bodyPr vert="horz" wrap="square" lIns="0" tIns="12700" rIns="0" bIns="0" rtlCol="0">
            <a:spAutoFit/>
          </a:bodyPr>
          <a:lstStyle/>
          <a:p>
            <a:pPr marL="12700">
              <a:lnSpc>
                <a:spcPct val="100000"/>
              </a:lnSpc>
              <a:spcBef>
                <a:spcPts val="100"/>
              </a:spcBef>
              <a:tabLst>
                <a:tab pos="648970" algn="l"/>
              </a:tabLst>
            </a:pPr>
            <a:r>
              <a:rPr sz="1800" spc="-50" dirty="0">
                <a:latin typeface="Arial MT"/>
                <a:cs typeface="Arial MT"/>
              </a:rPr>
              <a:t>1</a:t>
            </a:r>
            <a:r>
              <a:rPr sz="1800" dirty="0">
                <a:latin typeface="Arial MT"/>
                <a:cs typeface="Arial MT"/>
              </a:rPr>
              <a:t>	</a:t>
            </a:r>
            <a:r>
              <a:rPr sz="1800" spc="-10" dirty="0">
                <a:latin typeface="Arial MT"/>
                <a:cs typeface="Arial MT"/>
              </a:rPr>
              <a:t>director</a:t>
            </a:r>
            <a:endParaRPr sz="1800">
              <a:latin typeface="Arial MT"/>
              <a:cs typeface="Arial MT"/>
            </a:endParaRPr>
          </a:p>
        </p:txBody>
      </p:sp>
      <p:sp>
        <p:nvSpPr>
          <p:cNvPr id="8" name="object 8"/>
          <p:cNvSpPr txBox="1"/>
          <p:nvPr/>
        </p:nvSpPr>
        <p:spPr>
          <a:xfrm>
            <a:off x="3905268" y="5377395"/>
            <a:ext cx="2218690" cy="299720"/>
          </a:xfrm>
          <a:prstGeom prst="rect">
            <a:avLst/>
          </a:prstGeom>
        </p:spPr>
        <p:txBody>
          <a:bodyPr vert="horz" wrap="square" lIns="0" tIns="12700" rIns="0" bIns="0" rtlCol="0">
            <a:spAutoFit/>
          </a:bodyPr>
          <a:lstStyle/>
          <a:p>
            <a:pPr marL="12700">
              <a:lnSpc>
                <a:spcPct val="100000"/>
              </a:lnSpc>
              <a:spcBef>
                <a:spcPts val="100"/>
              </a:spcBef>
              <a:tabLst>
                <a:tab pos="803275" algn="l"/>
                <a:tab pos="2205355" algn="l"/>
              </a:tabLst>
            </a:pPr>
            <a:r>
              <a:rPr sz="1800" u="sng" spc="215" dirty="0">
                <a:uFill>
                  <a:solidFill>
                    <a:srgbClr val="000000"/>
                  </a:solidFill>
                </a:uFill>
                <a:latin typeface="Arial MT"/>
                <a:cs typeface="Arial MT"/>
              </a:rPr>
              <a:t> </a:t>
            </a:r>
            <a:r>
              <a:rPr sz="1800" u="sng" spc="-60" dirty="0">
                <a:uFill>
                  <a:solidFill>
                    <a:srgbClr val="000000"/>
                  </a:solidFill>
                </a:uFill>
                <a:latin typeface="Arial MT"/>
                <a:cs typeface="Arial MT"/>
              </a:rPr>
              <a:t>n</a:t>
            </a:r>
            <a:r>
              <a:rPr sz="1800" u="sng" dirty="0">
                <a:uFill>
                  <a:solidFill>
                    <a:srgbClr val="000000"/>
                  </a:solidFill>
                </a:uFill>
                <a:latin typeface="Arial MT"/>
                <a:cs typeface="Arial MT"/>
              </a:rPr>
              <a:t>	</a:t>
            </a:r>
            <a:r>
              <a:rPr sz="1800" u="sng" spc="-10" dirty="0">
                <a:uFill>
                  <a:solidFill>
                    <a:srgbClr val="000000"/>
                  </a:solidFill>
                </a:uFill>
                <a:latin typeface="Arial MT"/>
                <a:cs typeface="Arial MT"/>
              </a:rPr>
              <a:t>trabajador</a:t>
            </a:r>
            <a:r>
              <a:rPr sz="1800" u="sng" dirty="0">
                <a:uFill>
                  <a:solidFill>
                    <a:srgbClr val="000000"/>
                  </a:solidFill>
                </a:uFill>
                <a:latin typeface="Arial MT"/>
                <a:cs typeface="Arial MT"/>
              </a:rPr>
              <a:t>	</a:t>
            </a:r>
            <a:endParaRPr sz="1800" dirty="0">
              <a:latin typeface="Arial MT"/>
              <a:cs typeface="Arial MT"/>
            </a:endParaRPr>
          </a:p>
        </p:txBody>
      </p:sp>
      <p:sp>
        <p:nvSpPr>
          <p:cNvPr id="9" name="object 9" descr="$PPTXTitle"/>
          <p:cNvSpPr txBox="1">
            <a:spLocks noGrp="1"/>
          </p:cNvSpPr>
          <p:nvPr>
            <p:ph type="title"/>
          </p:nvPr>
        </p:nvSpPr>
        <p:spPr>
          <a:xfrm>
            <a:off x="393700" y="471040"/>
            <a:ext cx="7705702" cy="1411351"/>
          </a:xfrm>
          <a:prstGeom prst="rect">
            <a:avLst/>
          </a:prstGeom>
        </p:spPr>
        <p:txBody>
          <a:bodyPr vert="horz" wrap="square" lIns="0" tIns="329056" rIns="0" bIns="0" rtlCol="0">
            <a:spAutoFit/>
          </a:bodyPr>
          <a:lstStyle/>
          <a:p>
            <a:pPr marL="888365">
              <a:lnSpc>
                <a:spcPct val="100000"/>
              </a:lnSpc>
              <a:spcBef>
                <a:spcPts val="95"/>
              </a:spcBef>
            </a:pPr>
            <a:r>
              <a:rPr sz="4000" b="1" dirty="0">
                <a:latin typeface="Arial"/>
                <a:cs typeface="Arial"/>
              </a:rPr>
              <a:t>Diagrama</a:t>
            </a:r>
            <a:r>
              <a:rPr sz="4000" b="1" spc="-114" dirty="0">
                <a:latin typeface="Arial"/>
                <a:cs typeface="Arial"/>
              </a:rPr>
              <a:t> </a:t>
            </a:r>
            <a:r>
              <a:rPr sz="4000" b="1" spc="-20" dirty="0">
                <a:latin typeface="Arial"/>
                <a:cs typeface="Arial"/>
              </a:rPr>
              <a:t>entidad-</a:t>
            </a:r>
            <a:r>
              <a:rPr sz="4000" b="1" spc="-10" dirty="0">
                <a:latin typeface="Arial"/>
                <a:cs typeface="Arial"/>
              </a:rPr>
              <a:t>relación</a:t>
            </a:r>
            <a:endParaRPr sz="4000" dirty="0">
              <a:latin typeface="Arial"/>
              <a:cs typeface="Arial"/>
            </a:endParaRPr>
          </a:p>
        </p:txBody>
      </p:sp>
      <p:sp>
        <p:nvSpPr>
          <p:cNvPr id="10" name="Rectángulo 9"/>
          <p:cNvSpPr/>
          <p:nvPr/>
        </p:nvSpPr>
        <p:spPr>
          <a:xfrm>
            <a:off x="698500" y="6512520"/>
            <a:ext cx="9220199" cy="923330"/>
          </a:xfrm>
          <a:prstGeom prst="rect">
            <a:avLst/>
          </a:prstGeom>
        </p:spPr>
        <p:txBody>
          <a:bodyPr wrap="square">
            <a:spAutoFit/>
          </a:bodyPr>
          <a:lstStyle/>
          <a:p>
            <a:r>
              <a:rPr lang="es-ES" b="1" dirty="0" smtClean="0"/>
              <a:t>Nota: Un empleado (en el rol de director) puede tener bajo su responsabilidad a muchos empleados (en el rol de trabajadores), y cada trabajador trabaja para un único director.</a:t>
            </a:r>
            <a:endParaRPr lang="en-US"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741309" y="1971547"/>
            <a:ext cx="7152005" cy="880110"/>
          </a:xfrm>
          <a:prstGeom prst="rect">
            <a:avLst/>
          </a:prstGeom>
        </p:spPr>
        <p:txBody>
          <a:bodyPr vert="horz" wrap="square" lIns="0" tIns="12065" rIns="0" bIns="0" rtlCol="0">
            <a:spAutoFit/>
          </a:bodyPr>
          <a:lstStyle/>
          <a:p>
            <a:pPr algn="ctr">
              <a:lnSpc>
                <a:spcPct val="100000"/>
              </a:lnSpc>
              <a:spcBef>
                <a:spcPts val="95"/>
              </a:spcBef>
            </a:pPr>
            <a:r>
              <a:rPr sz="2800" dirty="0">
                <a:latin typeface="Arial MT"/>
                <a:cs typeface="Arial MT"/>
              </a:rPr>
              <a:t>Una</a:t>
            </a:r>
            <a:r>
              <a:rPr sz="2800" spc="-50" dirty="0">
                <a:latin typeface="Arial MT"/>
                <a:cs typeface="Arial MT"/>
              </a:rPr>
              <a:t> </a:t>
            </a:r>
            <a:r>
              <a:rPr sz="2800" b="1" dirty="0">
                <a:latin typeface="Arial"/>
                <a:cs typeface="Arial"/>
              </a:rPr>
              <a:t>entidad</a:t>
            </a:r>
            <a:r>
              <a:rPr sz="2800" b="1" spc="-60" dirty="0">
                <a:latin typeface="Arial"/>
                <a:cs typeface="Arial"/>
              </a:rPr>
              <a:t> </a:t>
            </a:r>
            <a:r>
              <a:rPr sz="2800" b="1" dirty="0">
                <a:latin typeface="Arial"/>
                <a:cs typeface="Arial"/>
              </a:rPr>
              <a:t>débil</a:t>
            </a:r>
            <a:r>
              <a:rPr sz="2800" b="1" spc="-50" dirty="0">
                <a:latin typeface="Arial"/>
                <a:cs typeface="Arial"/>
              </a:rPr>
              <a:t> </a:t>
            </a:r>
            <a:r>
              <a:rPr sz="2800" dirty="0">
                <a:latin typeface="Arial MT"/>
                <a:cs typeface="Arial MT"/>
              </a:rPr>
              <a:t>se</a:t>
            </a:r>
            <a:r>
              <a:rPr sz="2800" spc="-50" dirty="0">
                <a:latin typeface="Arial MT"/>
                <a:cs typeface="Arial MT"/>
              </a:rPr>
              <a:t> </a:t>
            </a:r>
            <a:r>
              <a:rPr sz="2800" dirty="0">
                <a:latin typeface="Arial MT"/>
                <a:cs typeface="Arial MT"/>
              </a:rPr>
              <a:t>indica</a:t>
            </a:r>
            <a:r>
              <a:rPr sz="2800" spc="-50" dirty="0">
                <a:latin typeface="Arial MT"/>
                <a:cs typeface="Arial MT"/>
              </a:rPr>
              <a:t> </a:t>
            </a:r>
            <a:r>
              <a:rPr sz="2800" dirty="0">
                <a:latin typeface="Arial MT"/>
                <a:cs typeface="Arial MT"/>
              </a:rPr>
              <a:t>por</a:t>
            </a:r>
            <a:r>
              <a:rPr sz="2800" spc="-50" dirty="0">
                <a:latin typeface="Arial MT"/>
                <a:cs typeface="Arial MT"/>
              </a:rPr>
              <a:t> </a:t>
            </a:r>
            <a:r>
              <a:rPr sz="2800" dirty="0">
                <a:latin typeface="Arial MT"/>
                <a:cs typeface="Arial MT"/>
              </a:rPr>
              <a:t>medio</a:t>
            </a:r>
            <a:r>
              <a:rPr sz="2800" spc="-50" dirty="0">
                <a:latin typeface="Arial MT"/>
                <a:cs typeface="Arial MT"/>
              </a:rPr>
              <a:t> </a:t>
            </a:r>
            <a:r>
              <a:rPr sz="2800" dirty="0">
                <a:latin typeface="Arial MT"/>
                <a:cs typeface="Arial MT"/>
              </a:rPr>
              <a:t>de</a:t>
            </a:r>
            <a:r>
              <a:rPr sz="2800" spc="-45" dirty="0">
                <a:latin typeface="Arial MT"/>
                <a:cs typeface="Arial MT"/>
              </a:rPr>
              <a:t> </a:t>
            </a:r>
            <a:r>
              <a:rPr sz="2800" spc="-25" dirty="0">
                <a:latin typeface="Arial MT"/>
                <a:cs typeface="Arial MT"/>
              </a:rPr>
              <a:t>un</a:t>
            </a:r>
            <a:endParaRPr sz="2800">
              <a:latin typeface="Arial MT"/>
              <a:cs typeface="Arial MT"/>
            </a:endParaRPr>
          </a:p>
          <a:p>
            <a:pPr marL="635" algn="ctr">
              <a:lnSpc>
                <a:spcPct val="100000"/>
              </a:lnSpc>
              <a:spcBef>
                <a:spcPts val="10"/>
              </a:spcBef>
            </a:pPr>
            <a:r>
              <a:rPr sz="2800" b="1" dirty="0">
                <a:latin typeface="Arial"/>
                <a:cs typeface="Arial"/>
              </a:rPr>
              <a:t>rectángulo</a:t>
            </a:r>
            <a:r>
              <a:rPr sz="2800" b="1" spc="-85" dirty="0">
                <a:latin typeface="Arial"/>
                <a:cs typeface="Arial"/>
              </a:rPr>
              <a:t> </a:t>
            </a:r>
            <a:r>
              <a:rPr sz="2800" b="1" dirty="0">
                <a:latin typeface="Arial"/>
                <a:cs typeface="Arial"/>
              </a:rPr>
              <a:t>de</a:t>
            </a:r>
            <a:r>
              <a:rPr sz="2800" b="1" spc="-75" dirty="0">
                <a:latin typeface="Arial"/>
                <a:cs typeface="Arial"/>
              </a:rPr>
              <a:t> </a:t>
            </a:r>
            <a:r>
              <a:rPr sz="2800" b="1" dirty="0">
                <a:latin typeface="Arial"/>
                <a:cs typeface="Arial"/>
              </a:rPr>
              <a:t>doble</a:t>
            </a:r>
            <a:r>
              <a:rPr sz="2800" b="1" spc="-70" dirty="0">
                <a:latin typeface="Arial"/>
                <a:cs typeface="Arial"/>
              </a:rPr>
              <a:t> </a:t>
            </a:r>
            <a:r>
              <a:rPr sz="2800" b="1" spc="-10" dirty="0">
                <a:latin typeface="Arial"/>
                <a:cs typeface="Arial"/>
              </a:rPr>
              <a:t>contorno</a:t>
            </a:r>
            <a:r>
              <a:rPr sz="2800" spc="-10" dirty="0">
                <a:latin typeface="Arial MT"/>
                <a:cs typeface="Arial MT"/>
              </a:rPr>
              <a:t>.</a:t>
            </a:r>
            <a:endParaRPr sz="2800">
              <a:latin typeface="Arial MT"/>
              <a:cs typeface="Arial MT"/>
            </a:endParaRPr>
          </a:p>
        </p:txBody>
      </p:sp>
      <p:sp>
        <p:nvSpPr>
          <p:cNvPr id="3" name="object 3"/>
          <p:cNvSpPr/>
          <p:nvPr/>
        </p:nvSpPr>
        <p:spPr>
          <a:xfrm>
            <a:off x="6595750" y="5420867"/>
            <a:ext cx="1751330" cy="786765"/>
          </a:xfrm>
          <a:custGeom>
            <a:avLst/>
            <a:gdLst/>
            <a:ahLst/>
            <a:cxnLst/>
            <a:rect l="l" t="t" r="r" b="b"/>
            <a:pathLst>
              <a:path w="1751329" h="786764">
                <a:moveTo>
                  <a:pt x="0" y="0"/>
                </a:moveTo>
                <a:lnTo>
                  <a:pt x="0" y="786383"/>
                </a:lnTo>
                <a:lnTo>
                  <a:pt x="1751075" y="786383"/>
                </a:lnTo>
                <a:lnTo>
                  <a:pt x="1751075" y="0"/>
                </a:lnTo>
                <a:lnTo>
                  <a:pt x="0" y="0"/>
                </a:lnTo>
                <a:close/>
              </a:path>
            </a:pathLst>
          </a:custGeom>
          <a:ln w="9524">
            <a:solidFill>
              <a:srgbClr val="000000"/>
            </a:solidFill>
          </a:ln>
        </p:spPr>
        <p:txBody>
          <a:bodyPr wrap="square" lIns="0" tIns="0" rIns="0" bIns="0" rtlCol="0"/>
          <a:lstStyle/>
          <a:p>
            <a:endParaRPr/>
          </a:p>
        </p:txBody>
      </p:sp>
      <p:sp>
        <p:nvSpPr>
          <p:cNvPr id="4" name="object 4"/>
          <p:cNvSpPr txBox="1"/>
          <p:nvPr/>
        </p:nvSpPr>
        <p:spPr>
          <a:xfrm>
            <a:off x="6673474" y="5481827"/>
            <a:ext cx="1615440" cy="666115"/>
          </a:xfrm>
          <a:prstGeom prst="rect">
            <a:avLst/>
          </a:prstGeom>
          <a:ln w="9524">
            <a:solidFill>
              <a:srgbClr val="000000"/>
            </a:solidFill>
          </a:ln>
        </p:spPr>
        <p:txBody>
          <a:bodyPr vert="horz" wrap="square" lIns="0" tIns="45085" rIns="0" bIns="0" rtlCol="0">
            <a:spAutoFit/>
          </a:bodyPr>
          <a:lstStyle/>
          <a:p>
            <a:pPr marL="210185">
              <a:lnSpc>
                <a:spcPct val="100000"/>
              </a:lnSpc>
              <a:spcBef>
                <a:spcPts val="355"/>
              </a:spcBef>
            </a:pPr>
            <a:r>
              <a:rPr sz="1600" b="1" spc="-10" dirty="0">
                <a:latin typeface="Arial"/>
                <a:cs typeface="Arial"/>
              </a:rPr>
              <a:t>Transacción</a:t>
            </a:r>
            <a:endParaRPr sz="1600">
              <a:latin typeface="Arial"/>
              <a:cs typeface="Arial"/>
            </a:endParaRPr>
          </a:p>
        </p:txBody>
      </p:sp>
      <p:sp>
        <p:nvSpPr>
          <p:cNvPr id="5" name="object 5"/>
          <p:cNvSpPr txBox="1"/>
          <p:nvPr/>
        </p:nvSpPr>
        <p:spPr>
          <a:xfrm>
            <a:off x="2189865" y="5559551"/>
            <a:ext cx="1515110" cy="599440"/>
          </a:xfrm>
          <a:prstGeom prst="rect">
            <a:avLst/>
          </a:prstGeom>
          <a:ln w="9524">
            <a:solidFill>
              <a:srgbClr val="000000"/>
            </a:solidFill>
          </a:ln>
        </p:spPr>
        <p:txBody>
          <a:bodyPr vert="horz" wrap="square" lIns="0" tIns="46355" rIns="0" bIns="0" rtlCol="0">
            <a:spAutoFit/>
          </a:bodyPr>
          <a:lstStyle/>
          <a:p>
            <a:pPr marL="414020">
              <a:lnSpc>
                <a:spcPct val="100000"/>
              </a:lnSpc>
              <a:spcBef>
                <a:spcPts val="365"/>
              </a:spcBef>
            </a:pPr>
            <a:r>
              <a:rPr sz="1600" b="1" spc="-10" dirty="0">
                <a:latin typeface="Arial"/>
                <a:cs typeface="Arial"/>
              </a:rPr>
              <a:t>Cuenta</a:t>
            </a:r>
            <a:endParaRPr sz="1600">
              <a:latin typeface="Arial"/>
              <a:cs typeface="Arial"/>
            </a:endParaRPr>
          </a:p>
        </p:txBody>
      </p:sp>
      <p:sp>
        <p:nvSpPr>
          <p:cNvPr id="6" name="object 6"/>
          <p:cNvSpPr/>
          <p:nvPr/>
        </p:nvSpPr>
        <p:spPr>
          <a:xfrm>
            <a:off x="4417953" y="5301995"/>
            <a:ext cx="1499870" cy="1047115"/>
          </a:xfrm>
          <a:custGeom>
            <a:avLst/>
            <a:gdLst/>
            <a:ahLst/>
            <a:cxnLst/>
            <a:rect l="l" t="t" r="r" b="b"/>
            <a:pathLst>
              <a:path w="1499870" h="1047114">
                <a:moveTo>
                  <a:pt x="749807" y="0"/>
                </a:moveTo>
                <a:lnTo>
                  <a:pt x="0" y="524255"/>
                </a:lnTo>
                <a:lnTo>
                  <a:pt x="749807" y="1046987"/>
                </a:lnTo>
                <a:lnTo>
                  <a:pt x="1499615" y="524255"/>
                </a:lnTo>
                <a:lnTo>
                  <a:pt x="749807" y="0"/>
                </a:lnTo>
                <a:close/>
              </a:path>
            </a:pathLst>
          </a:custGeom>
          <a:ln w="9524">
            <a:solidFill>
              <a:srgbClr val="000000"/>
            </a:solidFill>
          </a:ln>
        </p:spPr>
        <p:txBody>
          <a:bodyPr wrap="square" lIns="0" tIns="0" rIns="0" bIns="0" rtlCol="0"/>
          <a:lstStyle/>
          <a:p>
            <a:endParaRPr/>
          </a:p>
        </p:txBody>
      </p:sp>
      <p:sp>
        <p:nvSpPr>
          <p:cNvPr id="7" name="object 7"/>
          <p:cNvSpPr txBox="1"/>
          <p:nvPr/>
        </p:nvSpPr>
        <p:spPr>
          <a:xfrm>
            <a:off x="4810385" y="5600867"/>
            <a:ext cx="1863089" cy="258404"/>
          </a:xfrm>
          <a:prstGeom prst="rect">
            <a:avLst/>
          </a:prstGeom>
        </p:spPr>
        <p:txBody>
          <a:bodyPr vert="horz" wrap="square" lIns="0" tIns="12065" rIns="0" bIns="0" rtlCol="0">
            <a:spAutoFit/>
          </a:bodyPr>
          <a:lstStyle/>
          <a:p>
            <a:pPr marL="306705" marR="5080" indent="-294640">
              <a:lnSpc>
                <a:spcPct val="100000"/>
              </a:lnSpc>
              <a:spcBef>
                <a:spcPts val="95"/>
              </a:spcBef>
              <a:tabLst>
                <a:tab pos="1112520" algn="l"/>
                <a:tab pos="1849755" algn="l"/>
              </a:tabLst>
            </a:pPr>
            <a:r>
              <a:rPr lang="es-ES" sz="1600" b="1" spc="-10" dirty="0" smtClean="0">
                <a:latin typeface="Arial"/>
                <a:cs typeface="Arial"/>
              </a:rPr>
              <a:t>Registro</a:t>
            </a:r>
            <a:r>
              <a:rPr sz="1600" b="1" dirty="0" smtClean="0">
                <a:latin typeface="Arial"/>
                <a:cs typeface="Arial"/>
              </a:rPr>
              <a:t>	</a:t>
            </a:r>
            <a:r>
              <a:rPr sz="1600" b="1" u="sng" dirty="0" smtClean="0">
                <a:uFill>
                  <a:solidFill>
                    <a:srgbClr val="000000"/>
                  </a:solidFill>
                </a:uFill>
                <a:latin typeface="Arial"/>
                <a:cs typeface="Arial"/>
              </a:rPr>
              <a:t>	</a:t>
            </a:r>
            <a:r>
              <a:rPr sz="1600" b="1" dirty="0" smtClean="0">
                <a:latin typeface="Arial"/>
                <a:cs typeface="Arial"/>
              </a:rPr>
              <a:t> </a:t>
            </a:r>
            <a:endParaRPr sz="1600" dirty="0">
              <a:latin typeface="Arial"/>
              <a:cs typeface="Arial"/>
            </a:endParaRPr>
          </a:p>
        </p:txBody>
      </p:sp>
      <p:sp>
        <p:nvSpPr>
          <p:cNvPr id="8" name="object 8"/>
          <p:cNvSpPr/>
          <p:nvPr/>
        </p:nvSpPr>
        <p:spPr>
          <a:xfrm>
            <a:off x="1560454" y="3776471"/>
            <a:ext cx="1262380" cy="896619"/>
          </a:xfrm>
          <a:custGeom>
            <a:avLst/>
            <a:gdLst/>
            <a:ahLst/>
            <a:cxnLst/>
            <a:rect l="l" t="t" r="r" b="b"/>
            <a:pathLst>
              <a:path w="1262380" h="896620">
                <a:moveTo>
                  <a:pt x="630935" y="0"/>
                </a:moveTo>
                <a:lnTo>
                  <a:pt x="576419" y="1649"/>
                </a:lnTo>
                <a:lnTo>
                  <a:pt x="523206" y="6505"/>
                </a:lnTo>
                <a:lnTo>
                  <a:pt x="471483" y="14433"/>
                </a:lnTo>
                <a:lnTo>
                  <a:pt x="421438" y="25297"/>
                </a:lnTo>
                <a:lnTo>
                  <a:pt x="373260" y="38960"/>
                </a:lnTo>
                <a:lnTo>
                  <a:pt x="327136" y="55287"/>
                </a:lnTo>
                <a:lnTo>
                  <a:pt x="283254" y="74142"/>
                </a:lnTo>
                <a:lnTo>
                  <a:pt x="241803" y="95388"/>
                </a:lnTo>
                <a:lnTo>
                  <a:pt x="202970" y="118890"/>
                </a:lnTo>
                <a:lnTo>
                  <a:pt x="166943" y="144512"/>
                </a:lnTo>
                <a:lnTo>
                  <a:pt x="133911" y="172117"/>
                </a:lnTo>
                <a:lnTo>
                  <a:pt x="104060" y="201570"/>
                </a:lnTo>
                <a:lnTo>
                  <a:pt x="77580" y="232735"/>
                </a:lnTo>
                <a:lnTo>
                  <a:pt x="54658" y="265475"/>
                </a:lnTo>
                <a:lnTo>
                  <a:pt x="35482" y="299656"/>
                </a:lnTo>
                <a:lnTo>
                  <a:pt x="20241" y="335140"/>
                </a:lnTo>
                <a:lnTo>
                  <a:pt x="9121" y="371792"/>
                </a:lnTo>
                <a:lnTo>
                  <a:pt x="2311" y="409476"/>
                </a:lnTo>
                <a:lnTo>
                  <a:pt x="0" y="448055"/>
                </a:lnTo>
                <a:lnTo>
                  <a:pt x="2311" y="486851"/>
                </a:lnTo>
                <a:lnTo>
                  <a:pt x="9121" y="524704"/>
                </a:lnTo>
                <a:lnTo>
                  <a:pt x="20241" y="561483"/>
                </a:lnTo>
                <a:lnTo>
                  <a:pt x="35482" y="597055"/>
                </a:lnTo>
                <a:lnTo>
                  <a:pt x="54658" y="631289"/>
                </a:lnTo>
                <a:lnTo>
                  <a:pt x="77580" y="664052"/>
                </a:lnTo>
                <a:lnTo>
                  <a:pt x="104060" y="695213"/>
                </a:lnTo>
                <a:lnTo>
                  <a:pt x="133911" y="724639"/>
                </a:lnTo>
                <a:lnTo>
                  <a:pt x="166943" y="752199"/>
                </a:lnTo>
                <a:lnTo>
                  <a:pt x="202970" y="777761"/>
                </a:lnTo>
                <a:lnTo>
                  <a:pt x="241803" y="801192"/>
                </a:lnTo>
                <a:lnTo>
                  <a:pt x="283254" y="822361"/>
                </a:lnTo>
                <a:lnTo>
                  <a:pt x="327136" y="841135"/>
                </a:lnTo>
                <a:lnTo>
                  <a:pt x="373260" y="857384"/>
                </a:lnTo>
                <a:lnTo>
                  <a:pt x="421438" y="870974"/>
                </a:lnTo>
                <a:lnTo>
                  <a:pt x="471483" y="881774"/>
                </a:lnTo>
                <a:lnTo>
                  <a:pt x="523206" y="889651"/>
                </a:lnTo>
                <a:lnTo>
                  <a:pt x="576419" y="894474"/>
                </a:lnTo>
                <a:lnTo>
                  <a:pt x="630935" y="896111"/>
                </a:lnTo>
                <a:lnTo>
                  <a:pt x="685236" y="894474"/>
                </a:lnTo>
                <a:lnTo>
                  <a:pt x="738280" y="889651"/>
                </a:lnTo>
                <a:lnTo>
                  <a:pt x="789876" y="881774"/>
                </a:lnTo>
                <a:lnTo>
                  <a:pt x="839833" y="870974"/>
                </a:lnTo>
                <a:lnTo>
                  <a:pt x="887958" y="857384"/>
                </a:lnTo>
                <a:lnTo>
                  <a:pt x="934059" y="841135"/>
                </a:lnTo>
                <a:lnTo>
                  <a:pt x="977945" y="822361"/>
                </a:lnTo>
                <a:lnTo>
                  <a:pt x="1019423" y="801192"/>
                </a:lnTo>
                <a:lnTo>
                  <a:pt x="1058301" y="777761"/>
                </a:lnTo>
                <a:lnTo>
                  <a:pt x="1094388" y="752199"/>
                </a:lnTo>
                <a:lnTo>
                  <a:pt x="1127491" y="724639"/>
                </a:lnTo>
                <a:lnTo>
                  <a:pt x="1157419" y="695213"/>
                </a:lnTo>
                <a:lnTo>
                  <a:pt x="1183979" y="664052"/>
                </a:lnTo>
                <a:lnTo>
                  <a:pt x="1206979" y="631289"/>
                </a:lnTo>
                <a:lnTo>
                  <a:pt x="1226229" y="597055"/>
                </a:lnTo>
                <a:lnTo>
                  <a:pt x="1241534" y="561483"/>
                </a:lnTo>
                <a:lnTo>
                  <a:pt x="1252705" y="524704"/>
                </a:lnTo>
                <a:lnTo>
                  <a:pt x="1259548" y="486851"/>
                </a:lnTo>
                <a:lnTo>
                  <a:pt x="1261871" y="448055"/>
                </a:lnTo>
                <a:lnTo>
                  <a:pt x="1259548" y="409476"/>
                </a:lnTo>
                <a:lnTo>
                  <a:pt x="1252705" y="371792"/>
                </a:lnTo>
                <a:lnTo>
                  <a:pt x="1241534" y="335140"/>
                </a:lnTo>
                <a:lnTo>
                  <a:pt x="1226229" y="299656"/>
                </a:lnTo>
                <a:lnTo>
                  <a:pt x="1206979" y="265475"/>
                </a:lnTo>
                <a:lnTo>
                  <a:pt x="1183979" y="232735"/>
                </a:lnTo>
                <a:lnTo>
                  <a:pt x="1157419" y="201570"/>
                </a:lnTo>
                <a:lnTo>
                  <a:pt x="1127491" y="172117"/>
                </a:lnTo>
                <a:lnTo>
                  <a:pt x="1094388" y="144512"/>
                </a:lnTo>
                <a:lnTo>
                  <a:pt x="1058301" y="118890"/>
                </a:lnTo>
                <a:lnTo>
                  <a:pt x="1019423" y="95388"/>
                </a:lnTo>
                <a:lnTo>
                  <a:pt x="977945" y="74142"/>
                </a:lnTo>
                <a:lnTo>
                  <a:pt x="934059" y="55287"/>
                </a:lnTo>
                <a:lnTo>
                  <a:pt x="887958" y="38960"/>
                </a:lnTo>
                <a:lnTo>
                  <a:pt x="839833" y="25297"/>
                </a:lnTo>
                <a:lnTo>
                  <a:pt x="789876" y="14433"/>
                </a:lnTo>
                <a:lnTo>
                  <a:pt x="738280" y="6505"/>
                </a:lnTo>
                <a:lnTo>
                  <a:pt x="685236" y="1649"/>
                </a:lnTo>
                <a:lnTo>
                  <a:pt x="630935" y="0"/>
                </a:lnTo>
                <a:close/>
              </a:path>
            </a:pathLst>
          </a:custGeom>
          <a:ln w="9524">
            <a:solidFill>
              <a:srgbClr val="000000"/>
            </a:solidFill>
          </a:ln>
        </p:spPr>
        <p:txBody>
          <a:bodyPr wrap="square" lIns="0" tIns="0" rIns="0" bIns="0" rtlCol="0"/>
          <a:lstStyle/>
          <a:p>
            <a:endParaRPr/>
          </a:p>
        </p:txBody>
      </p:sp>
      <p:sp>
        <p:nvSpPr>
          <p:cNvPr id="9" name="object 9"/>
          <p:cNvSpPr txBox="1"/>
          <p:nvPr/>
        </p:nvSpPr>
        <p:spPr>
          <a:xfrm>
            <a:off x="1800744" y="3928362"/>
            <a:ext cx="1007364" cy="503984"/>
          </a:xfrm>
          <a:prstGeom prst="rect">
            <a:avLst/>
          </a:prstGeom>
        </p:spPr>
        <p:txBody>
          <a:bodyPr vert="horz" wrap="square" lIns="0" tIns="11430" rIns="0" bIns="0" rtlCol="0">
            <a:spAutoFit/>
          </a:bodyPr>
          <a:lstStyle/>
          <a:p>
            <a:pPr marL="12700" marR="5080">
              <a:lnSpc>
                <a:spcPct val="100299"/>
              </a:lnSpc>
              <a:spcBef>
                <a:spcPts val="90"/>
              </a:spcBef>
            </a:pPr>
            <a:r>
              <a:rPr sz="1600" b="1" spc="-10" dirty="0" err="1" smtClean="0">
                <a:latin typeface="Arial"/>
                <a:cs typeface="Arial"/>
              </a:rPr>
              <a:t>Númer</a:t>
            </a:r>
            <a:r>
              <a:rPr sz="1600" b="1" dirty="0" err="1" smtClean="0">
                <a:latin typeface="Arial"/>
                <a:cs typeface="Arial"/>
              </a:rPr>
              <a:t>o-</a:t>
            </a:r>
            <a:r>
              <a:rPr sz="1600" b="1" spc="-10" dirty="0" err="1" smtClean="0">
                <a:latin typeface="Arial"/>
                <a:cs typeface="Arial"/>
              </a:rPr>
              <a:t>cuenta</a:t>
            </a:r>
            <a:endParaRPr sz="1600" dirty="0">
              <a:latin typeface="Arial"/>
              <a:cs typeface="Arial"/>
            </a:endParaRPr>
          </a:p>
        </p:txBody>
      </p:sp>
      <p:sp>
        <p:nvSpPr>
          <p:cNvPr id="10" name="object 10"/>
          <p:cNvSpPr/>
          <p:nvPr/>
        </p:nvSpPr>
        <p:spPr>
          <a:xfrm>
            <a:off x="3200277" y="4404359"/>
            <a:ext cx="1009015" cy="748665"/>
          </a:xfrm>
          <a:custGeom>
            <a:avLst/>
            <a:gdLst/>
            <a:ahLst/>
            <a:cxnLst/>
            <a:rect l="l" t="t" r="r" b="b"/>
            <a:pathLst>
              <a:path w="1009014" h="748664">
                <a:moveTo>
                  <a:pt x="504443" y="0"/>
                </a:moveTo>
                <a:lnTo>
                  <a:pt x="449427" y="2197"/>
                </a:lnTo>
                <a:lnTo>
                  <a:pt x="396140" y="8637"/>
                </a:lnTo>
                <a:lnTo>
                  <a:pt x="344887" y="19092"/>
                </a:lnTo>
                <a:lnTo>
                  <a:pt x="295975" y="33335"/>
                </a:lnTo>
                <a:lnTo>
                  <a:pt x="249710" y="51138"/>
                </a:lnTo>
                <a:lnTo>
                  <a:pt x="206398" y="72274"/>
                </a:lnTo>
                <a:lnTo>
                  <a:pt x="166345" y="96514"/>
                </a:lnTo>
                <a:lnTo>
                  <a:pt x="129858" y="123632"/>
                </a:lnTo>
                <a:lnTo>
                  <a:pt x="97243" y="153399"/>
                </a:lnTo>
                <a:lnTo>
                  <a:pt x="68805" y="185589"/>
                </a:lnTo>
                <a:lnTo>
                  <a:pt x="44852" y="219973"/>
                </a:lnTo>
                <a:lnTo>
                  <a:pt x="25688" y="256324"/>
                </a:lnTo>
                <a:lnTo>
                  <a:pt x="11621" y="294415"/>
                </a:lnTo>
                <a:lnTo>
                  <a:pt x="2956" y="334017"/>
                </a:lnTo>
                <a:lnTo>
                  <a:pt x="0" y="374903"/>
                </a:lnTo>
                <a:lnTo>
                  <a:pt x="2956" y="415505"/>
                </a:lnTo>
                <a:lnTo>
                  <a:pt x="11621" y="454860"/>
                </a:lnTo>
                <a:lnTo>
                  <a:pt x="25688" y="492739"/>
                </a:lnTo>
                <a:lnTo>
                  <a:pt x="44852" y="528911"/>
                </a:lnTo>
                <a:lnTo>
                  <a:pt x="68805" y="563146"/>
                </a:lnTo>
                <a:lnTo>
                  <a:pt x="97243" y="595213"/>
                </a:lnTo>
                <a:lnTo>
                  <a:pt x="129858" y="624882"/>
                </a:lnTo>
                <a:lnTo>
                  <a:pt x="166345" y="651924"/>
                </a:lnTo>
                <a:lnTo>
                  <a:pt x="206398" y="676107"/>
                </a:lnTo>
                <a:lnTo>
                  <a:pt x="249710" y="697201"/>
                </a:lnTo>
                <a:lnTo>
                  <a:pt x="295975" y="714977"/>
                </a:lnTo>
                <a:lnTo>
                  <a:pt x="344887" y="729203"/>
                </a:lnTo>
                <a:lnTo>
                  <a:pt x="396140" y="739650"/>
                </a:lnTo>
                <a:lnTo>
                  <a:pt x="449427" y="746087"/>
                </a:lnTo>
                <a:lnTo>
                  <a:pt x="504443" y="748283"/>
                </a:lnTo>
                <a:lnTo>
                  <a:pt x="559460" y="746087"/>
                </a:lnTo>
                <a:lnTo>
                  <a:pt x="612747" y="739650"/>
                </a:lnTo>
                <a:lnTo>
                  <a:pt x="664000" y="729203"/>
                </a:lnTo>
                <a:lnTo>
                  <a:pt x="712912" y="714977"/>
                </a:lnTo>
                <a:lnTo>
                  <a:pt x="759177" y="697201"/>
                </a:lnTo>
                <a:lnTo>
                  <a:pt x="802489" y="676107"/>
                </a:lnTo>
                <a:lnTo>
                  <a:pt x="842542" y="651924"/>
                </a:lnTo>
                <a:lnTo>
                  <a:pt x="879029" y="624882"/>
                </a:lnTo>
                <a:lnTo>
                  <a:pt x="911644" y="595213"/>
                </a:lnTo>
                <a:lnTo>
                  <a:pt x="940082" y="563146"/>
                </a:lnTo>
                <a:lnTo>
                  <a:pt x="964035" y="528911"/>
                </a:lnTo>
                <a:lnTo>
                  <a:pt x="983199" y="492739"/>
                </a:lnTo>
                <a:lnTo>
                  <a:pt x="997266" y="454860"/>
                </a:lnTo>
                <a:lnTo>
                  <a:pt x="1005931" y="415505"/>
                </a:lnTo>
                <a:lnTo>
                  <a:pt x="1008887" y="374903"/>
                </a:lnTo>
                <a:lnTo>
                  <a:pt x="1005931" y="334017"/>
                </a:lnTo>
                <a:lnTo>
                  <a:pt x="997266" y="294415"/>
                </a:lnTo>
                <a:lnTo>
                  <a:pt x="983199" y="256324"/>
                </a:lnTo>
                <a:lnTo>
                  <a:pt x="964035" y="219973"/>
                </a:lnTo>
                <a:lnTo>
                  <a:pt x="940082" y="185589"/>
                </a:lnTo>
                <a:lnTo>
                  <a:pt x="911644" y="153399"/>
                </a:lnTo>
                <a:lnTo>
                  <a:pt x="879029" y="123632"/>
                </a:lnTo>
                <a:lnTo>
                  <a:pt x="842542" y="96514"/>
                </a:lnTo>
                <a:lnTo>
                  <a:pt x="802489" y="72274"/>
                </a:lnTo>
                <a:lnTo>
                  <a:pt x="759177" y="51138"/>
                </a:lnTo>
                <a:lnTo>
                  <a:pt x="712912" y="33335"/>
                </a:lnTo>
                <a:lnTo>
                  <a:pt x="664000" y="19092"/>
                </a:lnTo>
                <a:lnTo>
                  <a:pt x="612747" y="8637"/>
                </a:lnTo>
                <a:lnTo>
                  <a:pt x="559460" y="2197"/>
                </a:lnTo>
                <a:lnTo>
                  <a:pt x="504443" y="0"/>
                </a:lnTo>
                <a:close/>
              </a:path>
            </a:pathLst>
          </a:custGeom>
          <a:ln w="9524">
            <a:solidFill>
              <a:srgbClr val="000000"/>
            </a:solidFill>
          </a:ln>
        </p:spPr>
        <p:txBody>
          <a:bodyPr wrap="square" lIns="0" tIns="0" rIns="0" bIns="0" rtlCol="0"/>
          <a:lstStyle/>
          <a:p>
            <a:endParaRPr/>
          </a:p>
        </p:txBody>
      </p:sp>
      <p:sp>
        <p:nvSpPr>
          <p:cNvPr id="11" name="object 11"/>
          <p:cNvSpPr txBox="1"/>
          <p:nvPr/>
        </p:nvSpPr>
        <p:spPr>
          <a:xfrm>
            <a:off x="3403992" y="4534914"/>
            <a:ext cx="57785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Arial"/>
                <a:cs typeface="Arial"/>
              </a:rPr>
              <a:t>Saldo</a:t>
            </a:r>
            <a:endParaRPr sz="1600">
              <a:latin typeface="Arial"/>
              <a:cs typeface="Arial"/>
            </a:endParaRPr>
          </a:p>
        </p:txBody>
      </p:sp>
      <p:sp>
        <p:nvSpPr>
          <p:cNvPr id="12" name="object 12"/>
          <p:cNvSpPr/>
          <p:nvPr/>
        </p:nvSpPr>
        <p:spPr>
          <a:xfrm>
            <a:off x="5631057" y="3247644"/>
            <a:ext cx="1644650" cy="826135"/>
          </a:xfrm>
          <a:custGeom>
            <a:avLst/>
            <a:gdLst/>
            <a:ahLst/>
            <a:cxnLst/>
            <a:rect l="l" t="t" r="r" b="b"/>
            <a:pathLst>
              <a:path w="1644650" h="826135">
                <a:moveTo>
                  <a:pt x="822959" y="0"/>
                </a:moveTo>
                <a:lnTo>
                  <a:pt x="761585" y="1129"/>
                </a:lnTo>
                <a:lnTo>
                  <a:pt x="701429" y="4466"/>
                </a:lnTo>
                <a:lnTo>
                  <a:pt x="642650" y="9931"/>
                </a:lnTo>
                <a:lnTo>
                  <a:pt x="585408" y="17445"/>
                </a:lnTo>
                <a:lnTo>
                  <a:pt x="529863" y="26929"/>
                </a:lnTo>
                <a:lnTo>
                  <a:pt x="476174" y="38303"/>
                </a:lnTo>
                <a:lnTo>
                  <a:pt x="424502" y="51490"/>
                </a:lnTo>
                <a:lnTo>
                  <a:pt x="375007" y="66410"/>
                </a:lnTo>
                <a:lnTo>
                  <a:pt x="327846" y="82983"/>
                </a:lnTo>
                <a:lnTo>
                  <a:pt x="283182" y="101132"/>
                </a:lnTo>
                <a:lnTo>
                  <a:pt x="241172" y="120776"/>
                </a:lnTo>
                <a:lnTo>
                  <a:pt x="201978" y="141838"/>
                </a:lnTo>
                <a:lnTo>
                  <a:pt x="165759" y="164237"/>
                </a:lnTo>
                <a:lnTo>
                  <a:pt x="132673" y="187896"/>
                </a:lnTo>
                <a:lnTo>
                  <a:pt x="102882" y="212734"/>
                </a:lnTo>
                <a:lnTo>
                  <a:pt x="53822" y="265634"/>
                </a:lnTo>
                <a:lnTo>
                  <a:pt x="19855" y="322306"/>
                </a:lnTo>
                <a:lnTo>
                  <a:pt x="2259" y="382118"/>
                </a:lnTo>
                <a:lnTo>
                  <a:pt x="0" y="413003"/>
                </a:lnTo>
                <a:lnTo>
                  <a:pt x="2259" y="443700"/>
                </a:lnTo>
                <a:lnTo>
                  <a:pt x="19855" y="503236"/>
                </a:lnTo>
                <a:lnTo>
                  <a:pt x="53822" y="559752"/>
                </a:lnTo>
                <a:lnTo>
                  <a:pt x="102882" y="612597"/>
                </a:lnTo>
                <a:lnTo>
                  <a:pt x="132673" y="637438"/>
                </a:lnTo>
                <a:lnTo>
                  <a:pt x="165759" y="661116"/>
                </a:lnTo>
                <a:lnTo>
                  <a:pt x="201978" y="683551"/>
                </a:lnTo>
                <a:lnTo>
                  <a:pt x="241172" y="704659"/>
                </a:lnTo>
                <a:lnTo>
                  <a:pt x="283182" y="724360"/>
                </a:lnTo>
                <a:lnTo>
                  <a:pt x="327846" y="742571"/>
                </a:lnTo>
                <a:lnTo>
                  <a:pt x="375007" y="759213"/>
                </a:lnTo>
                <a:lnTo>
                  <a:pt x="424502" y="774201"/>
                </a:lnTo>
                <a:lnTo>
                  <a:pt x="476174" y="787456"/>
                </a:lnTo>
                <a:lnTo>
                  <a:pt x="529863" y="798896"/>
                </a:lnTo>
                <a:lnTo>
                  <a:pt x="585408" y="808439"/>
                </a:lnTo>
                <a:lnTo>
                  <a:pt x="642650" y="816003"/>
                </a:lnTo>
                <a:lnTo>
                  <a:pt x="701429" y="821506"/>
                </a:lnTo>
                <a:lnTo>
                  <a:pt x="761585" y="824869"/>
                </a:lnTo>
                <a:lnTo>
                  <a:pt x="822959" y="826007"/>
                </a:lnTo>
                <a:lnTo>
                  <a:pt x="884135" y="824869"/>
                </a:lnTo>
                <a:lnTo>
                  <a:pt x="944111" y="821506"/>
                </a:lnTo>
                <a:lnTo>
                  <a:pt x="1002727" y="816003"/>
                </a:lnTo>
                <a:lnTo>
                  <a:pt x="1059822" y="808439"/>
                </a:lnTo>
                <a:lnTo>
                  <a:pt x="1115235" y="798896"/>
                </a:lnTo>
                <a:lnTo>
                  <a:pt x="1168807" y="787456"/>
                </a:lnTo>
                <a:lnTo>
                  <a:pt x="1220376" y="774201"/>
                </a:lnTo>
                <a:lnTo>
                  <a:pt x="1269781" y="759213"/>
                </a:lnTo>
                <a:lnTo>
                  <a:pt x="1316863" y="742571"/>
                </a:lnTo>
                <a:lnTo>
                  <a:pt x="1361460" y="724360"/>
                </a:lnTo>
                <a:lnTo>
                  <a:pt x="1403413" y="704659"/>
                </a:lnTo>
                <a:lnTo>
                  <a:pt x="1442560" y="683551"/>
                </a:lnTo>
                <a:lnTo>
                  <a:pt x="1478741" y="661116"/>
                </a:lnTo>
                <a:lnTo>
                  <a:pt x="1511795" y="637438"/>
                </a:lnTo>
                <a:lnTo>
                  <a:pt x="1541562" y="612597"/>
                </a:lnTo>
                <a:lnTo>
                  <a:pt x="1590591" y="559752"/>
                </a:lnTo>
                <a:lnTo>
                  <a:pt x="1624544" y="503236"/>
                </a:lnTo>
                <a:lnTo>
                  <a:pt x="1642136" y="443700"/>
                </a:lnTo>
                <a:lnTo>
                  <a:pt x="1644395" y="413003"/>
                </a:lnTo>
                <a:lnTo>
                  <a:pt x="1642136" y="382118"/>
                </a:lnTo>
                <a:lnTo>
                  <a:pt x="1624544" y="322306"/>
                </a:lnTo>
                <a:lnTo>
                  <a:pt x="1590591" y="265634"/>
                </a:lnTo>
                <a:lnTo>
                  <a:pt x="1541562" y="212734"/>
                </a:lnTo>
                <a:lnTo>
                  <a:pt x="1511795" y="187896"/>
                </a:lnTo>
                <a:lnTo>
                  <a:pt x="1478741" y="164237"/>
                </a:lnTo>
                <a:lnTo>
                  <a:pt x="1442560" y="141838"/>
                </a:lnTo>
                <a:lnTo>
                  <a:pt x="1403413" y="120776"/>
                </a:lnTo>
                <a:lnTo>
                  <a:pt x="1361460" y="101132"/>
                </a:lnTo>
                <a:lnTo>
                  <a:pt x="1316863" y="82983"/>
                </a:lnTo>
                <a:lnTo>
                  <a:pt x="1269781" y="66410"/>
                </a:lnTo>
                <a:lnTo>
                  <a:pt x="1220376" y="51490"/>
                </a:lnTo>
                <a:lnTo>
                  <a:pt x="1168807" y="38303"/>
                </a:lnTo>
                <a:lnTo>
                  <a:pt x="1115235" y="26929"/>
                </a:lnTo>
                <a:lnTo>
                  <a:pt x="1059822" y="17445"/>
                </a:lnTo>
                <a:lnTo>
                  <a:pt x="1002727" y="9931"/>
                </a:lnTo>
                <a:lnTo>
                  <a:pt x="944111" y="4466"/>
                </a:lnTo>
                <a:lnTo>
                  <a:pt x="884135" y="1129"/>
                </a:lnTo>
                <a:lnTo>
                  <a:pt x="822959" y="0"/>
                </a:lnTo>
                <a:close/>
              </a:path>
            </a:pathLst>
          </a:custGeom>
          <a:ln w="9524">
            <a:solidFill>
              <a:srgbClr val="000000"/>
            </a:solidFill>
          </a:ln>
        </p:spPr>
        <p:txBody>
          <a:bodyPr wrap="square" lIns="0" tIns="0" rIns="0" bIns="0" rtlCol="0"/>
          <a:lstStyle/>
          <a:p>
            <a:endParaRPr/>
          </a:p>
        </p:txBody>
      </p:sp>
      <p:sp>
        <p:nvSpPr>
          <p:cNvPr id="13" name="object 13"/>
          <p:cNvSpPr txBox="1"/>
          <p:nvPr/>
        </p:nvSpPr>
        <p:spPr>
          <a:xfrm>
            <a:off x="5880100" y="3388866"/>
            <a:ext cx="1346448" cy="504625"/>
          </a:xfrm>
          <a:prstGeom prst="rect">
            <a:avLst/>
          </a:prstGeom>
        </p:spPr>
        <p:txBody>
          <a:bodyPr vert="horz" wrap="square" lIns="0" tIns="12065" rIns="0" bIns="0" rtlCol="0">
            <a:spAutoFit/>
          </a:bodyPr>
          <a:lstStyle/>
          <a:p>
            <a:pPr marL="12700" marR="5080">
              <a:lnSpc>
                <a:spcPct val="100000"/>
              </a:lnSpc>
              <a:spcBef>
                <a:spcPts val="95"/>
              </a:spcBef>
            </a:pPr>
            <a:r>
              <a:rPr sz="1600" b="1" dirty="0" err="1" smtClean="0">
                <a:latin typeface="Arial"/>
                <a:cs typeface="Arial"/>
              </a:rPr>
              <a:t>Número-</a:t>
            </a:r>
            <a:r>
              <a:rPr sz="1600" b="1" spc="-10" dirty="0" err="1" smtClean="0">
                <a:latin typeface="Arial"/>
                <a:cs typeface="Arial"/>
              </a:rPr>
              <a:t>transacció</a:t>
            </a:r>
            <a:r>
              <a:rPr sz="1600" b="1" spc="-50" dirty="0" err="1" smtClean="0">
                <a:latin typeface="Arial"/>
                <a:cs typeface="Arial"/>
              </a:rPr>
              <a:t>n</a:t>
            </a:r>
            <a:endParaRPr sz="1600" dirty="0">
              <a:latin typeface="Arial"/>
              <a:cs typeface="Arial"/>
            </a:endParaRPr>
          </a:p>
        </p:txBody>
      </p:sp>
      <p:sp>
        <p:nvSpPr>
          <p:cNvPr id="14" name="object 14"/>
          <p:cNvSpPr/>
          <p:nvPr/>
        </p:nvSpPr>
        <p:spPr>
          <a:xfrm>
            <a:off x="6860926" y="4253483"/>
            <a:ext cx="1135380" cy="599440"/>
          </a:xfrm>
          <a:custGeom>
            <a:avLst/>
            <a:gdLst/>
            <a:ahLst/>
            <a:cxnLst/>
            <a:rect l="l" t="t" r="r" b="b"/>
            <a:pathLst>
              <a:path w="1135379" h="599439">
                <a:moveTo>
                  <a:pt x="566927" y="0"/>
                </a:moveTo>
                <a:lnTo>
                  <a:pt x="505008" y="1757"/>
                </a:lnTo>
                <a:lnTo>
                  <a:pt x="445056" y="6910"/>
                </a:lnTo>
                <a:lnTo>
                  <a:pt x="387412" y="15276"/>
                </a:lnTo>
                <a:lnTo>
                  <a:pt x="332418" y="26674"/>
                </a:lnTo>
                <a:lnTo>
                  <a:pt x="280415" y="40922"/>
                </a:lnTo>
                <a:lnTo>
                  <a:pt x="231745" y="57838"/>
                </a:lnTo>
                <a:lnTo>
                  <a:pt x="186748" y="77242"/>
                </a:lnTo>
                <a:lnTo>
                  <a:pt x="145767" y="98952"/>
                </a:lnTo>
                <a:lnTo>
                  <a:pt x="109142" y="122785"/>
                </a:lnTo>
                <a:lnTo>
                  <a:pt x="77215" y="148561"/>
                </a:lnTo>
                <a:lnTo>
                  <a:pt x="50328" y="176098"/>
                </a:lnTo>
                <a:lnTo>
                  <a:pt x="13037" y="235730"/>
                </a:lnTo>
                <a:lnTo>
                  <a:pt x="0" y="300227"/>
                </a:lnTo>
                <a:lnTo>
                  <a:pt x="3316" y="332709"/>
                </a:lnTo>
                <a:lnTo>
                  <a:pt x="28821" y="394496"/>
                </a:lnTo>
                <a:lnTo>
                  <a:pt x="77215" y="450821"/>
                </a:lnTo>
                <a:lnTo>
                  <a:pt x="109142" y="476475"/>
                </a:lnTo>
                <a:lnTo>
                  <a:pt x="145767" y="500211"/>
                </a:lnTo>
                <a:lnTo>
                  <a:pt x="186748" y="521844"/>
                </a:lnTo>
                <a:lnTo>
                  <a:pt x="231745" y="541190"/>
                </a:lnTo>
                <a:lnTo>
                  <a:pt x="280415" y="558066"/>
                </a:lnTo>
                <a:lnTo>
                  <a:pt x="332418" y="572286"/>
                </a:lnTo>
                <a:lnTo>
                  <a:pt x="387412" y="583667"/>
                </a:lnTo>
                <a:lnTo>
                  <a:pt x="445056" y="592024"/>
                </a:lnTo>
                <a:lnTo>
                  <a:pt x="505008" y="597174"/>
                </a:lnTo>
                <a:lnTo>
                  <a:pt x="566927" y="598931"/>
                </a:lnTo>
                <a:lnTo>
                  <a:pt x="628866" y="597174"/>
                </a:lnTo>
                <a:lnTo>
                  <a:pt x="688873" y="592024"/>
                </a:lnTo>
                <a:lnTo>
                  <a:pt x="746601" y="583667"/>
                </a:lnTo>
                <a:lnTo>
                  <a:pt x="801704" y="572286"/>
                </a:lnTo>
                <a:lnTo>
                  <a:pt x="853835" y="558066"/>
                </a:lnTo>
                <a:lnTo>
                  <a:pt x="902646" y="541190"/>
                </a:lnTo>
                <a:lnTo>
                  <a:pt x="947792" y="521844"/>
                </a:lnTo>
                <a:lnTo>
                  <a:pt x="988926" y="500211"/>
                </a:lnTo>
                <a:lnTo>
                  <a:pt x="1025700" y="476475"/>
                </a:lnTo>
                <a:lnTo>
                  <a:pt x="1057768" y="450821"/>
                </a:lnTo>
                <a:lnTo>
                  <a:pt x="1084784" y="423434"/>
                </a:lnTo>
                <a:lnTo>
                  <a:pt x="1122268" y="364193"/>
                </a:lnTo>
                <a:lnTo>
                  <a:pt x="1135379" y="300227"/>
                </a:lnTo>
                <a:lnTo>
                  <a:pt x="1132044" y="267461"/>
                </a:lnTo>
                <a:lnTo>
                  <a:pt x="1106399" y="205215"/>
                </a:lnTo>
                <a:lnTo>
                  <a:pt x="1057768" y="148561"/>
                </a:lnTo>
                <a:lnTo>
                  <a:pt x="1025700" y="122785"/>
                </a:lnTo>
                <a:lnTo>
                  <a:pt x="988926" y="98952"/>
                </a:lnTo>
                <a:lnTo>
                  <a:pt x="947792" y="77242"/>
                </a:lnTo>
                <a:lnTo>
                  <a:pt x="902646" y="57838"/>
                </a:lnTo>
                <a:lnTo>
                  <a:pt x="853835" y="40922"/>
                </a:lnTo>
                <a:lnTo>
                  <a:pt x="801704" y="26674"/>
                </a:lnTo>
                <a:lnTo>
                  <a:pt x="746601" y="15276"/>
                </a:lnTo>
                <a:lnTo>
                  <a:pt x="688873" y="6910"/>
                </a:lnTo>
                <a:lnTo>
                  <a:pt x="628866" y="1757"/>
                </a:lnTo>
                <a:lnTo>
                  <a:pt x="566927" y="0"/>
                </a:lnTo>
                <a:close/>
              </a:path>
            </a:pathLst>
          </a:custGeom>
          <a:ln w="9524">
            <a:solidFill>
              <a:srgbClr val="000000"/>
            </a:solidFill>
          </a:ln>
        </p:spPr>
        <p:txBody>
          <a:bodyPr wrap="square" lIns="0" tIns="0" rIns="0" bIns="0" rtlCol="0"/>
          <a:lstStyle/>
          <a:p>
            <a:endParaRPr/>
          </a:p>
        </p:txBody>
      </p:sp>
      <p:sp>
        <p:nvSpPr>
          <p:cNvPr id="15" name="object 15"/>
          <p:cNvSpPr txBox="1"/>
          <p:nvPr/>
        </p:nvSpPr>
        <p:spPr>
          <a:xfrm>
            <a:off x="7082926" y="4361178"/>
            <a:ext cx="61087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Arial"/>
                <a:cs typeface="Arial"/>
              </a:rPr>
              <a:t>Fecha</a:t>
            </a:r>
            <a:endParaRPr sz="1600">
              <a:latin typeface="Arial"/>
              <a:cs typeface="Arial"/>
            </a:endParaRPr>
          </a:p>
        </p:txBody>
      </p:sp>
      <p:sp>
        <p:nvSpPr>
          <p:cNvPr id="16" name="object 16"/>
          <p:cNvSpPr/>
          <p:nvPr/>
        </p:nvSpPr>
        <p:spPr>
          <a:xfrm>
            <a:off x="7869814" y="3349751"/>
            <a:ext cx="1333500" cy="607060"/>
          </a:xfrm>
          <a:custGeom>
            <a:avLst/>
            <a:gdLst/>
            <a:ahLst/>
            <a:cxnLst/>
            <a:rect l="l" t="t" r="r" b="b"/>
            <a:pathLst>
              <a:path w="1333500" h="607060">
                <a:moveTo>
                  <a:pt x="667511" y="0"/>
                </a:moveTo>
                <a:lnTo>
                  <a:pt x="603202" y="1386"/>
                </a:lnTo>
                <a:lnTo>
                  <a:pt x="540627" y="5463"/>
                </a:lnTo>
                <a:lnTo>
                  <a:pt x="480066" y="12102"/>
                </a:lnTo>
                <a:lnTo>
                  <a:pt x="421798" y="21177"/>
                </a:lnTo>
                <a:lnTo>
                  <a:pt x="366102" y="32562"/>
                </a:lnTo>
                <a:lnTo>
                  <a:pt x="313257" y="46131"/>
                </a:lnTo>
                <a:lnTo>
                  <a:pt x="263543" y="61756"/>
                </a:lnTo>
                <a:lnTo>
                  <a:pt x="217239" y="79311"/>
                </a:lnTo>
                <a:lnTo>
                  <a:pt x="174623" y="98669"/>
                </a:lnTo>
                <a:lnTo>
                  <a:pt x="135976" y="119705"/>
                </a:lnTo>
                <a:lnTo>
                  <a:pt x="101576" y="142290"/>
                </a:lnTo>
                <a:lnTo>
                  <a:pt x="71702" y="166300"/>
                </a:lnTo>
                <a:lnTo>
                  <a:pt x="26650" y="218084"/>
                </a:lnTo>
                <a:lnTo>
                  <a:pt x="3054" y="274045"/>
                </a:lnTo>
                <a:lnTo>
                  <a:pt x="0" y="303275"/>
                </a:lnTo>
                <a:lnTo>
                  <a:pt x="3054" y="332506"/>
                </a:lnTo>
                <a:lnTo>
                  <a:pt x="26650" y="388467"/>
                </a:lnTo>
                <a:lnTo>
                  <a:pt x="71702" y="440251"/>
                </a:lnTo>
                <a:lnTo>
                  <a:pt x="101576" y="464261"/>
                </a:lnTo>
                <a:lnTo>
                  <a:pt x="135976" y="486846"/>
                </a:lnTo>
                <a:lnTo>
                  <a:pt x="174623" y="507882"/>
                </a:lnTo>
                <a:lnTo>
                  <a:pt x="217239" y="527240"/>
                </a:lnTo>
                <a:lnTo>
                  <a:pt x="263543" y="544795"/>
                </a:lnTo>
                <a:lnTo>
                  <a:pt x="313257" y="560420"/>
                </a:lnTo>
                <a:lnTo>
                  <a:pt x="366102" y="573989"/>
                </a:lnTo>
                <a:lnTo>
                  <a:pt x="421798" y="585374"/>
                </a:lnTo>
                <a:lnTo>
                  <a:pt x="480066" y="594449"/>
                </a:lnTo>
                <a:lnTo>
                  <a:pt x="540627" y="601088"/>
                </a:lnTo>
                <a:lnTo>
                  <a:pt x="603202" y="605165"/>
                </a:lnTo>
                <a:lnTo>
                  <a:pt x="667511" y="606551"/>
                </a:lnTo>
                <a:lnTo>
                  <a:pt x="731568" y="605165"/>
                </a:lnTo>
                <a:lnTo>
                  <a:pt x="793919" y="601088"/>
                </a:lnTo>
                <a:lnTo>
                  <a:pt x="854284" y="594449"/>
                </a:lnTo>
                <a:lnTo>
                  <a:pt x="912383" y="585374"/>
                </a:lnTo>
                <a:lnTo>
                  <a:pt x="967933" y="573989"/>
                </a:lnTo>
                <a:lnTo>
                  <a:pt x="1020655" y="560420"/>
                </a:lnTo>
                <a:lnTo>
                  <a:pt x="1070266" y="544795"/>
                </a:lnTo>
                <a:lnTo>
                  <a:pt x="1116486" y="527240"/>
                </a:lnTo>
                <a:lnTo>
                  <a:pt x="1159035" y="507882"/>
                </a:lnTo>
                <a:lnTo>
                  <a:pt x="1197630" y="486846"/>
                </a:lnTo>
                <a:lnTo>
                  <a:pt x="1231990" y="464261"/>
                </a:lnTo>
                <a:lnTo>
                  <a:pt x="1261836" y="440251"/>
                </a:lnTo>
                <a:lnTo>
                  <a:pt x="1306858" y="388467"/>
                </a:lnTo>
                <a:lnTo>
                  <a:pt x="1330446" y="332506"/>
                </a:lnTo>
                <a:lnTo>
                  <a:pt x="1333499" y="303275"/>
                </a:lnTo>
                <a:lnTo>
                  <a:pt x="1330446" y="274045"/>
                </a:lnTo>
                <a:lnTo>
                  <a:pt x="1306858" y="218084"/>
                </a:lnTo>
                <a:lnTo>
                  <a:pt x="1261836" y="166300"/>
                </a:lnTo>
                <a:lnTo>
                  <a:pt x="1231990" y="142290"/>
                </a:lnTo>
                <a:lnTo>
                  <a:pt x="1197630" y="119705"/>
                </a:lnTo>
                <a:lnTo>
                  <a:pt x="1159035" y="98669"/>
                </a:lnTo>
                <a:lnTo>
                  <a:pt x="1116486" y="79311"/>
                </a:lnTo>
                <a:lnTo>
                  <a:pt x="1070266" y="61756"/>
                </a:lnTo>
                <a:lnTo>
                  <a:pt x="1020655" y="46131"/>
                </a:lnTo>
                <a:lnTo>
                  <a:pt x="967933" y="32562"/>
                </a:lnTo>
                <a:lnTo>
                  <a:pt x="912383" y="21177"/>
                </a:lnTo>
                <a:lnTo>
                  <a:pt x="854284" y="12102"/>
                </a:lnTo>
                <a:lnTo>
                  <a:pt x="793919" y="5463"/>
                </a:lnTo>
                <a:lnTo>
                  <a:pt x="731568" y="1386"/>
                </a:lnTo>
                <a:lnTo>
                  <a:pt x="667511" y="0"/>
                </a:lnTo>
                <a:close/>
              </a:path>
            </a:pathLst>
          </a:custGeom>
          <a:ln w="9524">
            <a:solidFill>
              <a:srgbClr val="000000"/>
            </a:solidFill>
          </a:ln>
        </p:spPr>
        <p:txBody>
          <a:bodyPr wrap="square" lIns="0" tIns="0" rIns="0" bIns="0" rtlCol="0"/>
          <a:lstStyle/>
          <a:p>
            <a:endParaRPr/>
          </a:p>
        </p:txBody>
      </p:sp>
      <p:sp>
        <p:nvSpPr>
          <p:cNvPr id="17" name="object 17"/>
          <p:cNvSpPr txBox="1"/>
          <p:nvPr/>
        </p:nvSpPr>
        <p:spPr>
          <a:xfrm>
            <a:off x="8120769" y="3457446"/>
            <a:ext cx="1035047" cy="244106"/>
          </a:xfrm>
          <a:prstGeom prst="rect">
            <a:avLst/>
          </a:prstGeom>
        </p:spPr>
        <p:txBody>
          <a:bodyPr vert="horz" wrap="square" lIns="0" tIns="10795" rIns="0" bIns="0" rtlCol="0">
            <a:spAutoFit/>
          </a:bodyPr>
          <a:lstStyle/>
          <a:p>
            <a:pPr marL="12700" marR="5080">
              <a:lnSpc>
                <a:spcPct val="100600"/>
              </a:lnSpc>
              <a:spcBef>
                <a:spcPts val="85"/>
              </a:spcBef>
            </a:pPr>
            <a:r>
              <a:rPr sz="1600" b="1" spc="-10" dirty="0" err="1" smtClean="0">
                <a:latin typeface="Arial"/>
                <a:cs typeface="Arial"/>
              </a:rPr>
              <a:t>Cantida</a:t>
            </a:r>
            <a:r>
              <a:rPr sz="1600" b="1" spc="-50" dirty="0" err="1" smtClean="0">
                <a:latin typeface="Arial"/>
                <a:cs typeface="Arial"/>
              </a:rPr>
              <a:t>d</a:t>
            </a:r>
            <a:endParaRPr sz="1600" dirty="0">
              <a:latin typeface="Arial"/>
              <a:cs typeface="Arial"/>
            </a:endParaRPr>
          </a:p>
        </p:txBody>
      </p:sp>
      <p:sp>
        <p:nvSpPr>
          <p:cNvPr id="18" name="object 18"/>
          <p:cNvSpPr/>
          <p:nvPr/>
        </p:nvSpPr>
        <p:spPr>
          <a:xfrm>
            <a:off x="2189865" y="4669535"/>
            <a:ext cx="504825" cy="899160"/>
          </a:xfrm>
          <a:custGeom>
            <a:avLst/>
            <a:gdLst/>
            <a:ahLst/>
            <a:cxnLst/>
            <a:rect l="l" t="t" r="r" b="b"/>
            <a:pathLst>
              <a:path w="504825" h="899160">
                <a:moveTo>
                  <a:pt x="0" y="0"/>
                </a:moveTo>
                <a:lnTo>
                  <a:pt x="504443" y="899159"/>
                </a:lnTo>
              </a:path>
            </a:pathLst>
          </a:custGeom>
          <a:ln w="9524">
            <a:solidFill>
              <a:srgbClr val="000000"/>
            </a:solidFill>
          </a:ln>
        </p:spPr>
        <p:txBody>
          <a:bodyPr wrap="square" lIns="0" tIns="0" rIns="0" bIns="0" rtlCol="0"/>
          <a:lstStyle/>
          <a:p>
            <a:endParaRPr/>
          </a:p>
        </p:txBody>
      </p:sp>
      <p:sp>
        <p:nvSpPr>
          <p:cNvPr id="19" name="object 19"/>
          <p:cNvSpPr/>
          <p:nvPr/>
        </p:nvSpPr>
        <p:spPr>
          <a:xfrm>
            <a:off x="3326770" y="5119115"/>
            <a:ext cx="253365" cy="449580"/>
          </a:xfrm>
          <a:custGeom>
            <a:avLst/>
            <a:gdLst/>
            <a:ahLst/>
            <a:cxnLst/>
            <a:rect l="l" t="t" r="r" b="b"/>
            <a:pathLst>
              <a:path w="253364" h="449579">
                <a:moveTo>
                  <a:pt x="252983" y="0"/>
                </a:moveTo>
                <a:lnTo>
                  <a:pt x="0" y="449579"/>
                </a:lnTo>
              </a:path>
            </a:pathLst>
          </a:custGeom>
          <a:ln w="9524">
            <a:solidFill>
              <a:srgbClr val="000000"/>
            </a:solidFill>
          </a:ln>
        </p:spPr>
        <p:txBody>
          <a:bodyPr wrap="square" lIns="0" tIns="0" rIns="0" bIns="0" rtlCol="0"/>
          <a:lstStyle/>
          <a:p>
            <a:endParaRPr/>
          </a:p>
        </p:txBody>
      </p:sp>
      <p:sp>
        <p:nvSpPr>
          <p:cNvPr id="20" name="object 20"/>
          <p:cNvSpPr/>
          <p:nvPr/>
        </p:nvSpPr>
        <p:spPr>
          <a:xfrm>
            <a:off x="6481450" y="3947159"/>
            <a:ext cx="2110740" cy="1496695"/>
          </a:xfrm>
          <a:custGeom>
            <a:avLst/>
            <a:gdLst/>
            <a:ahLst/>
            <a:cxnLst/>
            <a:rect l="l" t="t" r="r" b="b"/>
            <a:pathLst>
              <a:path w="2110740" h="1496695">
                <a:moveTo>
                  <a:pt x="0" y="124967"/>
                </a:moveTo>
                <a:lnTo>
                  <a:pt x="379475" y="1470659"/>
                </a:lnTo>
              </a:path>
              <a:path w="2110740" h="1496695">
                <a:moveTo>
                  <a:pt x="2110739" y="0"/>
                </a:moveTo>
                <a:lnTo>
                  <a:pt x="1353311" y="1496567"/>
                </a:lnTo>
              </a:path>
              <a:path w="2110740" h="1496695">
                <a:moveTo>
                  <a:pt x="938783" y="894587"/>
                </a:moveTo>
                <a:lnTo>
                  <a:pt x="938783" y="1493519"/>
                </a:lnTo>
              </a:path>
            </a:pathLst>
          </a:custGeom>
          <a:ln w="9524">
            <a:solidFill>
              <a:srgbClr val="000000"/>
            </a:solidFill>
          </a:ln>
        </p:spPr>
        <p:txBody>
          <a:bodyPr wrap="square" lIns="0" tIns="0" rIns="0" bIns="0" rtlCol="0"/>
          <a:lstStyle/>
          <a:p>
            <a:endParaRPr/>
          </a:p>
        </p:txBody>
      </p:sp>
      <p:sp>
        <p:nvSpPr>
          <p:cNvPr id="21" name="object 21"/>
          <p:cNvSpPr/>
          <p:nvPr/>
        </p:nvSpPr>
        <p:spPr>
          <a:xfrm>
            <a:off x="3704721" y="5826251"/>
            <a:ext cx="757555" cy="0"/>
          </a:xfrm>
          <a:custGeom>
            <a:avLst/>
            <a:gdLst/>
            <a:ahLst/>
            <a:cxnLst/>
            <a:rect l="l" t="t" r="r" b="b"/>
            <a:pathLst>
              <a:path w="757554">
                <a:moveTo>
                  <a:pt x="757427" y="0"/>
                </a:moveTo>
                <a:lnTo>
                  <a:pt x="0" y="0"/>
                </a:lnTo>
              </a:path>
            </a:pathLst>
          </a:custGeom>
          <a:ln w="9524">
            <a:solidFill>
              <a:srgbClr val="000000"/>
            </a:solidFill>
          </a:ln>
        </p:spPr>
        <p:txBody>
          <a:bodyPr wrap="square" lIns="0" tIns="0" rIns="0" bIns="0" rtlCol="0"/>
          <a:lstStyle/>
          <a:p>
            <a:endParaRPr/>
          </a:p>
        </p:txBody>
      </p:sp>
      <p:sp>
        <p:nvSpPr>
          <p:cNvPr id="22" name="object 22" descr="$PPTXTitle"/>
          <p:cNvSpPr txBox="1">
            <a:spLocks noGrp="1"/>
          </p:cNvSpPr>
          <p:nvPr>
            <p:ph type="title"/>
          </p:nvPr>
        </p:nvSpPr>
        <p:spPr>
          <a:xfrm>
            <a:off x="415068" y="626934"/>
            <a:ext cx="7705702" cy="1411351"/>
          </a:xfrm>
          <a:prstGeom prst="rect">
            <a:avLst/>
          </a:prstGeom>
        </p:spPr>
        <p:txBody>
          <a:bodyPr vert="horz" wrap="square" lIns="0" tIns="316865" rIns="0" bIns="0" rtlCol="0">
            <a:spAutoFit/>
          </a:bodyPr>
          <a:lstStyle/>
          <a:p>
            <a:pPr marL="844550">
              <a:lnSpc>
                <a:spcPct val="100000"/>
              </a:lnSpc>
              <a:spcBef>
                <a:spcPts val="95"/>
              </a:spcBef>
            </a:pPr>
            <a:r>
              <a:rPr sz="4000" b="1" dirty="0">
                <a:latin typeface="Arial"/>
                <a:cs typeface="Arial"/>
              </a:rPr>
              <a:t>Diagrama</a:t>
            </a:r>
            <a:r>
              <a:rPr sz="4000" b="1" spc="-114" dirty="0">
                <a:latin typeface="Arial"/>
                <a:cs typeface="Arial"/>
              </a:rPr>
              <a:t> </a:t>
            </a:r>
            <a:r>
              <a:rPr sz="4000" b="1" spc="-20" dirty="0">
                <a:latin typeface="Arial"/>
                <a:cs typeface="Arial"/>
              </a:rPr>
              <a:t>entidad-</a:t>
            </a:r>
            <a:r>
              <a:rPr sz="4000" b="1" spc="-10" dirty="0">
                <a:latin typeface="Arial"/>
                <a:cs typeface="Arial"/>
              </a:rPr>
              <a:t>relación</a:t>
            </a:r>
            <a:endParaRPr sz="4000" dirty="0">
              <a:latin typeface="Arial"/>
              <a:cs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Análisis de </a:t>
            </a:r>
            <a:r>
              <a:rPr lang="es-ES" dirty="0" err="1" smtClean="0"/>
              <a:t>cardinalidad</a:t>
            </a:r>
            <a:endParaRPr lang="en-US" dirty="0"/>
          </a:p>
        </p:txBody>
      </p:sp>
      <p:pic>
        <p:nvPicPr>
          <p:cNvPr id="4" name="Marcador de contenido 3"/>
          <p:cNvPicPr>
            <a:picLocks noGrp="1" noChangeAspect="1"/>
          </p:cNvPicPr>
          <p:nvPr>
            <p:ph idx="1"/>
          </p:nvPr>
        </p:nvPicPr>
        <p:blipFill>
          <a:blip r:embed="rId2"/>
          <a:stretch>
            <a:fillRect/>
          </a:stretch>
        </p:blipFill>
        <p:spPr>
          <a:xfrm>
            <a:off x="2495467" y="2196952"/>
            <a:ext cx="5746833" cy="3638698"/>
          </a:xfrm>
          <a:prstGeom prst="rect">
            <a:avLst/>
          </a:prstGeom>
        </p:spPr>
      </p:pic>
    </p:spTree>
    <p:extLst>
      <p:ext uri="{BB962C8B-B14F-4D97-AF65-F5344CB8AC3E}">
        <p14:creationId xmlns:p14="http://schemas.microsoft.com/office/powerpoint/2010/main" val="25975224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Ejemplo</a:t>
            </a:r>
            <a:endParaRPr lang="en-US" dirty="0"/>
          </a:p>
        </p:txBody>
      </p:sp>
      <p:sp>
        <p:nvSpPr>
          <p:cNvPr id="3" name="Marcador de contenido 2"/>
          <p:cNvSpPr>
            <a:spLocks noGrp="1"/>
          </p:cNvSpPr>
          <p:nvPr>
            <p:ph idx="1"/>
          </p:nvPr>
        </p:nvSpPr>
        <p:spPr/>
        <p:txBody>
          <a:bodyPr/>
          <a:lstStyle/>
          <a:p>
            <a:r>
              <a:rPr lang="es-ES" dirty="0" smtClean="0"/>
              <a:t>Elementos: </a:t>
            </a:r>
          </a:p>
          <a:p>
            <a:r>
              <a:rPr lang="es-ES" dirty="0" smtClean="0"/>
              <a:t>autor: </a:t>
            </a:r>
            <a:r>
              <a:rPr lang="es-ES" dirty="0" err="1" smtClean="0"/>
              <a:t>nombre,código</a:t>
            </a:r>
            <a:r>
              <a:rPr lang="es-ES" dirty="0" smtClean="0"/>
              <a:t>.</a:t>
            </a:r>
          </a:p>
          <a:p>
            <a:r>
              <a:rPr lang="es-ES" dirty="0" smtClean="0"/>
              <a:t> </a:t>
            </a:r>
            <a:r>
              <a:rPr lang="es-ES" dirty="0" err="1" smtClean="0"/>
              <a:t>libro:titulo,isbn,código</a:t>
            </a:r>
            <a:endParaRPr lang="es-ES" dirty="0" smtClean="0"/>
          </a:p>
          <a:p>
            <a:r>
              <a:rPr lang="es-ES" dirty="0" smtClean="0"/>
              <a:t> ejemplar: </a:t>
            </a:r>
            <a:r>
              <a:rPr lang="es-ES" dirty="0" err="1" smtClean="0"/>
              <a:t>código,detalle</a:t>
            </a:r>
            <a:endParaRPr lang="es-ES" dirty="0" smtClean="0"/>
          </a:p>
          <a:p>
            <a:r>
              <a:rPr lang="es-ES" dirty="0" smtClean="0"/>
              <a:t> usuario: código, nombre, dirección, teléfono.</a:t>
            </a:r>
            <a:endParaRPr lang="en-US" dirty="0"/>
          </a:p>
        </p:txBody>
      </p:sp>
    </p:spTree>
    <p:extLst>
      <p:ext uri="{BB962C8B-B14F-4D97-AF65-F5344CB8AC3E}">
        <p14:creationId xmlns:p14="http://schemas.microsoft.com/office/powerpoint/2010/main" val="10378339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n-US"/>
          </a:p>
        </p:txBody>
      </p:sp>
      <p:sp>
        <p:nvSpPr>
          <p:cNvPr id="3" name="Marcador de contenido 2"/>
          <p:cNvSpPr>
            <a:spLocks noGrp="1"/>
          </p:cNvSpPr>
          <p:nvPr>
            <p:ph idx="1"/>
          </p:nvPr>
        </p:nvSpPr>
        <p:spPr/>
        <p:txBody>
          <a:bodyPr/>
          <a:lstStyle/>
          <a:p>
            <a:r>
              <a:rPr lang="es-ES" dirty="0"/>
              <a:t>Autor: Los atributos de la entidad autor son código y nombre. El código es el atributo principal, ya que es único para cada autor.</a:t>
            </a:r>
          </a:p>
          <a:p>
            <a:r>
              <a:rPr lang="es-ES" dirty="0"/>
              <a:t>Libro: Los atributos de la entidad libro son páginas, código, título, ISBN y editorial. El código es el atributo principal y es único para cada libro.</a:t>
            </a:r>
          </a:p>
          <a:p>
            <a:r>
              <a:rPr lang="es-ES" dirty="0"/>
              <a:t>Ejemplar: Los atributos de la entidad ejemplar son código y localización. El código es el atributo principal y único para cada ejemplar.</a:t>
            </a:r>
          </a:p>
          <a:p>
            <a:r>
              <a:rPr lang="es-ES" dirty="0"/>
              <a:t>Usuario: Los atributos de la entidad usuario son código, nombre, teléfono y dirección. El código es el atributo principal y único para cada usuario.</a:t>
            </a:r>
          </a:p>
          <a:p>
            <a:endParaRPr lang="en-US" dirty="0"/>
          </a:p>
        </p:txBody>
      </p:sp>
    </p:spTree>
    <p:extLst>
      <p:ext uri="{BB962C8B-B14F-4D97-AF65-F5344CB8AC3E}">
        <p14:creationId xmlns:p14="http://schemas.microsoft.com/office/powerpoint/2010/main" val="23008864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n-US"/>
          </a:p>
        </p:txBody>
      </p:sp>
      <p:sp>
        <p:nvSpPr>
          <p:cNvPr id="3" name="Marcador de contenido 2"/>
          <p:cNvSpPr>
            <a:spLocks noGrp="1"/>
          </p:cNvSpPr>
          <p:nvPr>
            <p:ph idx="1"/>
          </p:nvPr>
        </p:nvSpPr>
        <p:spPr/>
        <p:txBody>
          <a:bodyPr/>
          <a:lstStyle/>
          <a:p>
            <a:r>
              <a:rPr lang="es-ES" b="1" dirty="0"/>
              <a:t>Autor - Libro</a:t>
            </a:r>
            <a:r>
              <a:rPr lang="es-ES" dirty="0"/>
              <a:t>: Un autor puede haber escrito varios libros. Esta es una relación entre las entidades autor y libro.</a:t>
            </a:r>
          </a:p>
          <a:p>
            <a:r>
              <a:rPr lang="es-ES" b="1" dirty="0"/>
              <a:t>Libro - Ejemplar</a:t>
            </a:r>
            <a:r>
              <a:rPr lang="es-ES" dirty="0"/>
              <a:t>: Un libro puede tener varios ejemplares. Esta relación conecta las entidades libro y ejemplar.</a:t>
            </a:r>
          </a:p>
          <a:p>
            <a:r>
              <a:rPr lang="es-ES" b="1" dirty="0"/>
              <a:t>Usuario - Ejemplar</a:t>
            </a:r>
            <a:r>
              <a:rPr lang="es-ES" dirty="0"/>
              <a:t>: Un usuario puede tener varios ejemplares prestados. Esta es la relación entre las entidades usuario y ejemplar.</a:t>
            </a:r>
          </a:p>
          <a:p>
            <a:endParaRPr lang="en-US" dirty="0"/>
          </a:p>
        </p:txBody>
      </p:sp>
    </p:spTree>
    <p:extLst>
      <p:ext uri="{BB962C8B-B14F-4D97-AF65-F5344CB8AC3E}">
        <p14:creationId xmlns:p14="http://schemas.microsoft.com/office/powerpoint/2010/main" val="36760497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endParaRPr lang="en-US"/>
          </a:p>
        </p:txBody>
      </p:sp>
      <p:pic>
        <p:nvPicPr>
          <p:cNvPr id="4" name="Marcador de contenido 3"/>
          <p:cNvPicPr>
            <a:picLocks noChangeAspect="1"/>
          </p:cNvPicPr>
          <p:nvPr/>
        </p:nvPicPr>
        <p:blipFill>
          <a:blip r:embed="rId2"/>
          <a:stretch>
            <a:fillRect/>
          </a:stretch>
        </p:blipFill>
        <p:spPr>
          <a:xfrm>
            <a:off x="1536700" y="1035050"/>
            <a:ext cx="8325281" cy="5359400"/>
          </a:xfrm>
          <a:prstGeom prst="rect">
            <a:avLst/>
          </a:prstGeom>
        </p:spPr>
      </p:pic>
    </p:spTree>
    <p:extLst>
      <p:ext uri="{BB962C8B-B14F-4D97-AF65-F5344CB8AC3E}">
        <p14:creationId xmlns:p14="http://schemas.microsoft.com/office/powerpoint/2010/main" val="32719238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Clase 2 -MR</a:t>
            </a:r>
            <a:endParaRPr lang="en-US" dirty="0"/>
          </a:p>
        </p:txBody>
      </p:sp>
      <p:sp>
        <p:nvSpPr>
          <p:cNvPr id="3" name="Marcador de contenido 2"/>
          <p:cNvSpPr>
            <a:spLocks noGrp="1"/>
          </p:cNvSpPr>
          <p:nvPr>
            <p:ph idx="1"/>
          </p:nvPr>
        </p:nvSpPr>
        <p:spPr/>
        <p:txBody>
          <a:bodyPr/>
          <a:lstStyle/>
          <a:p>
            <a:endParaRPr lang="en-US" dirty="0"/>
          </a:p>
        </p:txBody>
      </p:sp>
    </p:spTree>
    <p:extLst>
      <p:ext uri="{BB962C8B-B14F-4D97-AF65-F5344CB8AC3E}">
        <p14:creationId xmlns:p14="http://schemas.microsoft.com/office/powerpoint/2010/main" val="34898920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22300" y="577850"/>
            <a:ext cx="7705702" cy="1180450"/>
          </a:xfrm>
          <a:prstGeom prst="rect">
            <a:avLst/>
          </a:prstGeom>
        </p:spPr>
        <p:txBody>
          <a:bodyPr vert="horz" wrap="square" lIns="0" tIns="71754" rIns="0" bIns="0" rtlCol="0">
            <a:spAutoFit/>
          </a:bodyPr>
          <a:lstStyle/>
          <a:p>
            <a:pPr marL="2217420" marR="5080" indent="-1271270">
              <a:lnSpc>
                <a:spcPct val="100299"/>
              </a:lnSpc>
              <a:spcBef>
                <a:spcPts val="85"/>
              </a:spcBef>
            </a:pPr>
            <a:r>
              <a:rPr sz="3600" b="1" dirty="0">
                <a:latin typeface="Arial"/>
                <a:cs typeface="Arial"/>
              </a:rPr>
              <a:t>Reducción</a:t>
            </a:r>
            <a:r>
              <a:rPr sz="3600" b="1" spc="-20" dirty="0">
                <a:latin typeface="Arial"/>
                <a:cs typeface="Arial"/>
              </a:rPr>
              <a:t>  </a:t>
            </a:r>
            <a:r>
              <a:rPr sz="3600" b="1" dirty="0">
                <a:latin typeface="Arial"/>
                <a:cs typeface="Arial"/>
              </a:rPr>
              <a:t>de</a:t>
            </a:r>
            <a:r>
              <a:rPr sz="3600" b="1" spc="-5" dirty="0">
                <a:latin typeface="Arial"/>
                <a:cs typeface="Arial"/>
              </a:rPr>
              <a:t> </a:t>
            </a:r>
            <a:r>
              <a:rPr sz="3600" b="1" dirty="0">
                <a:latin typeface="Arial"/>
                <a:cs typeface="Arial"/>
              </a:rPr>
              <a:t>DER</a:t>
            </a:r>
            <a:r>
              <a:rPr sz="3600" b="1" spc="-10" dirty="0">
                <a:latin typeface="Arial"/>
                <a:cs typeface="Arial"/>
              </a:rPr>
              <a:t>  </a:t>
            </a:r>
            <a:r>
              <a:rPr sz="3600" b="1" dirty="0">
                <a:latin typeface="Arial"/>
                <a:cs typeface="Arial"/>
              </a:rPr>
              <a:t>a</a:t>
            </a:r>
            <a:r>
              <a:rPr sz="3600" b="1" spc="-5" dirty="0">
                <a:latin typeface="Arial"/>
                <a:cs typeface="Arial"/>
              </a:rPr>
              <a:t> </a:t>
            </a:r>
            <a:r>
              <a:rPr sz="3600" b="1" spc="-10" dirty="0">
                <a:latin typeface="Arial"/>
                <a:cs typeface="Arial"/>
              </a:rPr>
              <a:t>tablas </a:t>
            </a:r>
            <a:r>
              <a:rPr sz="3600" b="1" dirty="0">
                <a:latin typeface="Arial"/>
                <a:cs typeface="Arial"/>
              </a:rPr>
              <a:t>(mapa</a:t>
            </a:r>
            <a:r>
              <a:rPr sz="3600" b="1" spc="-25" dirty="0">
                <a:latin typeface="Arial"/>
                <a:cs typeface="Arial"/>
              </a:rPr>
              <a:t> </a:t>
            </a:r>
            <a:r>
              <a:rPr sz="3600" b="1" spc="-10" dirty="0">
                <a:latin typeface="Arial"/>
                <a:cs typeface="Arial"/>
              </a:rPr>
              <a:t>canónico)</a:t>
            </a:r>
          </a:p>
        </p:txBody>
      </p:sp>
      <p:sp>
        <p:nvSpPr>
          <p:cNvPr id="3" name="object 3"/>
          <p:cNvSpPr txBox="1"/>
          <p:nvPr/>
        </p:nvSpPr>
        <p:spPr>
          <a:xfrm>
            <a:off x="1259217" y="1973071"/>
            <a:ext cx="7886065" cy="4883388"/>
          </a:xfrm>
          <a:prstGeom prst="rect">
            <a:avLst/>
          </a:prstGeom>
        </p:spPr>
        <p:txBody>
          <a:bodyPr vert="horz" wrap="square" lIns="0" tIns="10160" rIns="0" bIns="0" rtlCol="0">
            <a:spAutoFit/>
          </a:bodyPr>
          <a:lstStyle/>
          <a:p>
            <a:pPr marL="405765" marR="551815" indent="-342900">
              <a:lnSpc>
                <a:spcPct val="100400"/>
              </a:lnSpc>
              <a:spcBef>
                <a:spcPts val="80"/>
              </a:spcBef>
            </a:pPr>
            <a:r>
              <a:rPr sz="2800" b="1" u="sng" dirty="0">
                <a:uFill>
                  <a:solidFill>
                    <a:srgbClr val="000000"/>
                  </a:solidFill>
                </a:uFill>
                <a:latin typeface="Arial"/>
                <a:cs typeface="Arial"/>
              </a:rPr>
              <a:t>Representación</a:t>
            </a:r>
            <a:r>
              <a:rPr sz="2800" b="1" u="sng" spc="-100" dirty="0">
                <a:uFill>
                  <a:solidFill>
                    <a:srgbClr val="000000"/>
                  </a:solidFill>
                </a:uFill>
                <a:latin typeface="Arial"/>
                <a:cs typeface="Arial"/>
              </a:rPr>
              <a:t> </a:t>
            </a:r>
            <a:r>
              <a:rPr sz="2800" b="1" u="sng" dirty="0">
                <a:uFill>
                  <a:solidFill>
                    <a:srgbClr val="000000"/>
                  </a:solidFill>
                </a:uFill>
                <a:latin typeface="Arial"/>
                <a:cs typeface="Arial"/>
              </a:rPr>
              <a:t>de</a:t>
            </a:r>
            <a:r>
              <a:rPr sz="2800" b="1" u="sng" spc="-95" dirty="0">
                <a:uFill>
                  <a:solidFill>
                    <a:srgbClr val="000000"/>
                  </a:solidFill>
                </a:uFill>
                <a:latin typeface="Arial"/>
                <a:cs typeface="Arial"/>
              </a:rPr>
              <a:t> </a:t>
            </a:r>
            <a:r>
              <a:rPr sz="2800" b="1" u="sng" dirty="0">
                <a:uFill>
                  <a:solidFill>
                    <a:srgbClr val="000000"/>
                  </a:solidFill>
                </a:uFill>
                <a:latin typeface="Arial"/>
                <a:cs typeface="Arial"/>
              </a:rPr>
              <a:t>conjuntos</a:t>
            </a:r>
            <a:r>
              <a:rPr sz="2800" b="1" u="sng" spc="-95" dirty="0">
                <a:uFill>
                  <a:solidFill>
                    <a:srgbClr val="000000"/>
                  </a:solidFill>
                </a:uFill>
                <a:latin typeface="Arial"/>
                <a:cs typeface="Arial"/>
              </a:rPr>
              <a:t> </a:t>
            </a:r>
            <a:r>
              <a:rPr sz="2800" b="1" u="sng" dirty="0">
                <a:uFill>
                  <a:solidFill>
                    <a:srgbClr val="000000"/>
                  </a:solidFill>
                </a:uFill>
                <a:latin typeface="Arial"/>
                <a:cs typeface="Arial"/>
              </a:rPr>
              <a:t>de</a:t>
            </a:r>
            <a:r>
              <a:rPr sz="2800" b="1" u="sng" spc="-85" dirty="0">
                <a:uFill>
                  <a:solidFill>
                    <a:srgbClr val="000000"/>
                  </a:solidFill>
                </a:uFill>
                <a:latin typeface="Arial"/>
                <a:cs typeface="Arial"/>
              </a:rPr>
              <a:t> </a:t>
            </a:r>
            <a:r>
              <a:rPr sz="2800" b="1" u="sng" spc="-10" dirty="0" err="1">
                <a:uFill>
                  <a:solidFill>
                    <a:srgbClr val="000000"/>
                  </a:solidFill>
                </a:uFill>
                <a:latin typeface="Arial"/>
                <a:cs typeface="Arial"/>
              </a:rPr>
              <a:t>entidades</a:t>
            </a:r>
            <a:r>
              <a:rPr sz="2800" b="1" spc="-10" dirty="0">
                <a:latin typeface="Arial"/>
                <a:cs typeface="Arial"/>
              </a:rPr>
              <a:t> </a:t>
            </a:r>
            <a:r>
              <a:rPr sz="2800" b="1" u="sng" spc="-10" dirty="0" err="1" smtClean="0">
                <a:uFill>
                  <a:solidFill>
                    <a:srgbClr val="000000"/>
                  </a:solidFill>
                </a:uFill>
                <a:latin typeface="Arial"/>
                <a:cs typeface="Arial"/>
              </a:rPr>
              <a:t>fuerte</a:t>
            </a:r>
            <a:r>
              <a:rPr lang="es-ES" sz="2800" b="1" u="sng" spc="-10" dirty="0" smtClean="0">
                <a:uFill>
                  <a:solidFill>
                    <a:srgbClr val="000000"/>
                  </a:solidFill>
                </a:uFill>
                <a:latin typeface="Arial"/>
                <a:cs typeface="Arial"/>
              </a:rPr>
              <a:t>s</a:t>
            </a:r>
            <a:endParaRPr sz="2800" dirty="0">
              <a:latin typeface="Arial"/>
              <a:cs typeface="Arial"/>
            </a:endParaRPr>
          </a:p>
          <a:p>
            <a:pPr>
              <a:lnSpc>
                <a:spcPct val="100000"/>
              </a:lnSpc>
              <a:spcBef>
                <a:spcPts val="1495"/>
              </a:spcBef>
            </a:pPr>
            <a:endParaRPr sz="2800" dirty="0">
              <a:latin typeface="Arial"/>
              <a:cs typeface="Arial"/>
            </a:endParaRPr>
          </a:p>
          <a:p>
            <a:pPr marL="404495" marR="1061720" indent="-341630">
              <a:lnSpc>
                <a:spcPct val="100000"/>
              </a:lnSpc>
              <a:buChar char="•"/>
              <a:tabLst>
                <a:tab pos="405765" algn="l"/>
                <a:tab pos="2800350" algn="l"/>
              </a:tabLst>
            </a:pPr>
            <a:r>
              <a:rPr sz="2800" dirty="0">
                <a:latin typeface="Arial MT"/>
                <a:cs typeface="Arial MT"/>
              </a:rPr>
              <a:t>Sea</a:t>
            </a:r>
            <a:r>
              <a:rPr sz="2800" spc="-50" dirty="0">
                <a:latin typeface="Arial MT"/>
                <a:cs typeface="Arial MT"/>
              </a:rPr>
              <a:t> </a:t>
            </a:r>
            <a:r>
              <a:rPr sz="2800" dirty="0">
                <a:latin typeface="Arial MT"/>
                <a:cs typeface="Arial MT"/>
              </a:rPr>
              <a:t>E</a:t>
            </a:r>
            <a:r>
              <a:rPr sz="2800" spc="-55" dirty="0">
                <a:latin typeface="Arial MT"/>
                <a:cs typeface="Arial MT"/>
              </a:rPr>
              <a:t> </a:t>
            </a:r>
            <a:r>
              <a:rPr sz="2800" dirty="0">
                <a:latin typeface="Arial MT"/>
                <a:cs typeface="Arial MT"/>
              </a:rPr>
              <a:t>una</a:t>
            </a:r>
            <a:r>
              <a:rPr sz="2800" spc="-45" dirty="0">
                <a:latin typeface="Arial MT"/>
                <a:cs typeface="Arial MT"/>
              </a:rPr>
              <a:t> </a:t>
            </a:r>
            <a:r>
              <a:rPr sz="2800" b="1" dirty="0">
                <a:latin typeface="Arial"/>
                <a:cs typeface="Arial"/>
              </a:rPr>
              <a:t>entidad</a:t>
            </a:r>
            <a:r>
              <a:rPr sz="2800" b="1" spc="-55" dirty="0">
                <a:latin typeface="Arial"/>
                <a:cs typeface="Arial"/>
              </a:rPr>
              <a:t> </a:t>
            </a:r>
            <a:r>
              <a:rPr sz="2800" b="1" dirty="0">
                <a:latin typeface="Arial"/>
                <a:cs typeface="Arial"/>
              </a:rPr>
              <a:t>fuerte</a:t>
            </a:r>
            <a:r>
              <a:rPr sz="2800" b="1" spc="-35" dirty="0">
                <a:latin typeface="Arial"/>
                <a:cs typeface="Arial"/>
              </a:rPr>
              <a:t> </a:t>
            </a:r>
            <a:r>
              <a:rPr sz="2800" dirty="0">
                <a:latin typeface="Arial MT"/>
                <a:cs typeface="Arial MT"/>
              </a:rPr>
              <a:t>con</a:t>
            </a:r>
            <a:r>
              <a:rPr sz="2800" spc="-45" dirty="0">
                <a:latin typeface="Arial MT"/>
                <a:cs typeface="Arial MT"/>
              </a:rPr>
              <a:t> </a:t>
            </a:r>
            <a:r>
              <a:rPr sz="2800" b="1" spc="-10" dirty="0">
                <a:latin typeface="Arial"/>
                <a:cs typeface="Arial"/>
              </a:rPr>
              <a:t>atributos 	descriptivos</a:t>
            </a:r>
            <a:r>
              <a:rPr sz="2800" b="1" dirty="0">
                <a:latin typeface="Arial"/>
                <a:cs typeface="Arial"/>
              </a:rPr>
              <a:t>	a</a:t>
            </a:r>
            <a:r>
              <a:rPr sz="2850" b="1" baseline="-20467" dirty="0">
                <a:latin typeface="Arial"/>
                <a:cs typeface="Arial"/>
              </a:rPr>
              <a:t>1</a:t>
            </a:r>
            <a:r>
              <a:rPr sz="2800" b="1" dirty="0">
                <a:latin typeface="Arial"/>
                <a:cs typeface="Arial"/>
              </a:rPr>
              <a:t>,</a:t>
            </a:r>
            <a:r>
              <a:rPr sz="2800" b="1" spc="-30" dirty="0">
                <a:latin typeface="Arial"/>
                <a:cs typeface="Arial"/>
              </a:rPr>
              <a:t> </a:t>
            </a:r>
            <a:r>
              <a:rPr sz="2800" b="1" dirty="0">
                <a:latin typeface="Arial"/>
                <a:cs typeface="Arial"/>
              </a:rPr>
              <a:t>a</a:t>
            </a:r>
            <a:r>
              <a:rPr sz="2850" b="1" baseline="-20467" dirty="0">
                <a:latin typeface="Arial"/>
                <a:cs typeface="Arial"/>
              </a:rPr>
              <a:t>2</a:t>
            </a:r>
            <a:r>
              <a:rPr sz="2800" b="1" dirty="0">
                <a:latin typeface="Arial"/>
                <a:cs typeface="Arial"/>
              </a:rPr>
              <a:t>,....,</a:t>
            </a:r>
            <a:r>
              <a:rPr sz="2800" b="1" spc="-25" dirty="0">
                <a:latin typeface="Arial"/>
                <a:cs typeface="Arial"/>
              </a:rPr>
              <a:t> a</a:t>
            </a:r>
            <a:r>
              <a:rPr sz="2850" b="1" spc="-37" baseline="-20467" dirty="0">
                <a:latin typeface="Arial"/>
                <a:cs typeface="Arial"/>
              </a:rPr>
              <a:t>n</a:t>
            </a:r>
            <a:r>
              <a:rPr sz="2800" spc="-25" dirty="0">
                <a:latin typeface="Arial MT"/>
                <a:cs typeface="Arial MT"/>
              </a:rPr>
              <a:t>.</a:t>
            </a:r>
            <a:endParaRPr sz="2800" dirty="0">
              <a:latin typeface="Arial MT"/>
              <a:cs typeface="Arial MT"/>
            </a:endParaRPr>
          </a:p>
          <a:p>
            <a:pPr>
              <a:lnSpc>
                <a:spcPct val="100000"/>
              </a:lnSpc>
              <a:spcBef>
                <a:spcPts val="1500"/>
              </a:spcBef>
              <a:buFont typeface="Arial MT"/>
              <a:buChar char="•"/>
            </a:pPr>
            <a:endParaRPr sz="2800" dirty="0">
              <a:latin typeface="Arial MT"/>
              <a:cs typeface="Arial MT"/>
            </a:endParaRPr>
          </a:p>
          <a:p>
            <a:pPr marL="405130" indent="-341630">
              <a:lnSpc>
                <a:spcPct val="100000"/>
              </a:lnSpc>
              <a:buChar char="•"/>
              <a:tabLst>
                <a:tab pos="405130" algn="l"/>
              </a:tabLst>
            </a:pPr>
            <a:r>
              <a:rPr sz="2800" dirty="0">
                <a:latin typeface="Arial MT"/>
                <a:cs typeface="Arial MT"/>
              </a:rPr>
              <a:t>Representamos</a:t>
            </a:r>
            <a:r>
              <a:rPr sz="2800" spc="-70" dirty="0">
                <a:latin typeface="Arial MT"/>
                <a:cs typeface="Arial MT"/>
              </a:rPr>
              <a:t> </a:t>
            </a:r>
            <a:r>
              <a:rPr sz="2800" dirty="0">
                <a:latin typeface="Arial MT"/>
                <a:cs typeface="Arial MT"/>
              </a:rPr>
              <a:t>esta</a:t>
            </a:r>
            <a:r>
              <a:rPr sz="2800" spc="-70" dirty="0">
                <a:latin typeface="Arial MT"/>
                <a:cs typeface="Arial MT"/>
              </a:rPr>
              <a:t> </a:t>
            </a:r>
            <a:r>
              <a:rPr sz="2800" dirty="0">
                <a:latin typeface="Arial MT"/>
                <a:cs typeface="Arial MT"/>
              </a:rPr>
              <a:t>entidad</a:t>
            </a:r>
            <a:r>
              <a:rPr sz="2800" spc="-70" dirty="0">
                <a:latin typeface="Arial MT"/>
                <a:cs typeface="Arial MT"/>
              </a:rPr>
              <a:t> </a:t>
            </a:r>
            <a:r>
              <a:rPr sz="2800" dirty="0">
                <a:latin typeface="Arial MT"/>
                <a:cs typeface="Arial MT"/>
              </a:rPr>
              <a:t>por</a:t>
            </a:r>
            <a:r>
              <a:rPr sz="2800" spc="-70" dirty="0">
                <a:latin typeface="Arial MT"/>
                <a:cs typeface="Arial MT"/>
              </a:rPr>
              <a:t> </a:t>
            </a:r>
            <a:r>
              <a:rPr sz="2800" dirty="0">
                <a:latin typeface="Arial MT"/>
                <a:cs typeface="Arial MT"/>
              </a:rPr>
              <a:t>medio</a:t>
            </a:r>
            <a:r>
              <a:rPr sz="2800" spc="-65" dirty="0">
                <a:latin typeface="Arial MT"/>
                <a:cs typeface="Arial MT"/>
              </a:rPr>
              <a:t> </a:t>
            </a:r>
            <a:r>
              <a:rPr sz="2800" dirty="0">
                <a:latin typeface="Arial MT"/>
                <a:cs typeface="Arial MT"/>
              </a:rPr>
              <a:t>de</a:t>
            </a:r>
            <a:r>
              <a:rPr sz="2800" spc="-70" dirty="0">
                <a:latin typeface="Arial MT"/>
                <a:cs typeface="Arial MT"/>
              </a:rPr>
              <a:t> </a:t>
            </a:r>
            <a:r>
              <a:rPr sz="2800" spc="-25" dirty="0">
                <a:latin typeface="Arial MT"/>
                <a:cs typeface="Arial MT"/>
              </a:rPr>
              <a:t>una</a:t>
            </a:r>
            <a:endParaRPr sz="2800" dirty="0">
              <a:latin typeface="Arial MT"/>
              <a:cs typeface="Arial MT"/>
            </a:endParaRPr>
          </a:p>
          <a:p>
            <a:pPr marL="406400">
              <a:lnSpc>
                <a:spcPct val="100000"/>
              </a:lnSpc>
            </a:pPr>
            <a:r>
              <a:rPr sz="2800" b="1" dirty="0">
                <a:latin typeface="Arial"/>
                <a:cs typeface="Arial"/>
              </a:rPr>
              <a:t>tabla</a:t>
            </a:r>
            <a:r>
              <a:rPr sz="2800" b="1" spc="-40" dirty="0">
                <a:latin typeface="Arial"/>
                <a:cs typeface="Arial"/>
              </a:rPr>
              <a:t> </a:t>
            </a:r>
            <a:r>
              <a:rPr sz="2800" dirty="0">
                <a:latin typeface="Arial MT"/>
                <a:cs typeface="Arial MT"/>
              </a:rPr>
              <a:t>llamada</a:t>
            </a:r>
            <a:r>
              <a:rPr sz="2800" spc="-40" dirty="0">
                <a:latin typeface="Arial MT"/>
                <a:cs typeface="Arial MT"/>
              </a:rPr>
              <a:t> </a:t>
            </a:r>
            <a:r>
              <a:rPr sz="2800" dirty="0">
                <a:latin typeface="Arial MT"/>
                <a:cs typeface="Arial MT"/>
              </a:rPr>
              <a:t>E</a:t>
            </a:r>
            <a:r>
              <a:rPr sz="2800" spc="-45" dirty="0">
                <a:latin typeface="Arial MT"/>
                <a:cs typeface="Arial MT"/>
              </a:rPr>
              <a:t> </a:t>
            </a:r>
            <a:r>
              <a:rPr sz="2800" dirty="0">
                <a:latin typeface="Arial MT"/>
                <a:cs typeface="Arial MT"/>
              </a:rPr>
              <a:t>con</a:t>
            </a:r>
            <a:r>
              <a:rPr sz="2800" spc="-45" dirty="0">
                <a:latin typeface="Arial MT"/>
                <a:cs typeface="Arial MT"/>
              </a:rPr>
              <a:t> </a:t>
            </a:r>
            <a:r>
              <a:rPr sz="2800" b="1" dirty="0">
                <a:latin typeface="Arial"/>
                <a:cs typeface="Arial"/>
              </a:rPr>
              <a:t>n</a:t>
            </a:r>
            <a:r>
              <a:rPr sz="2800" b="1" spc="-45" dirty="0">
                <a:latin typeface="Arial"/>
                <a:cs typeface="Arial"/>
              </a:rPr>
              <a:t> </a:t>
            </a:r>
            <a:r>
              <a:rPr sz="2800" b="1" spc="-10" dirty="0">
                <a:latin typeface="Arial"/>
                <a:cs typeface="Arial"/>
              </a:rPr>
              <a:t>columnas</a:t>
            </a:r>
            <a:endParaRPr sz="2800" dirty="0">
              <a:latin typeface="Arial"/>
              <a:cs typeface="Arial"/>
            </a:endParaRPr>
          </a:p>
          <a:p>
            <a:pPr marL="405130" indent="-341630">
              <a:lnSpc>
                <a:spcPct val="100000"/>
              </a:lnSpc>
              <a:spcBef>
                <a:spcPts val="670"/>
              </a:spcBef>
              <a:buChar char="•"/>
              <a:tabLst>
                <a:tab pos="405130" algn="l"/>
              </a:tabLst>
            </a:pPr>
            <a:r>
              <a:rPr sz="2800" dirty="0">
                <a:latin typeface="Arial MT"/>
                <a:cs typeface="Arial MT"/>
              </a:rPr>
              <a:t>Cada</a:t>
            </a:r>
            <a:r>
              <a:rPr sz="2800" spc="-80" dirty="0">
                <a:latin typeface="Arial MT"/>
                <a:cs typeface="Arial MT"/>
              </a:rPr>
              <a:t> </a:t>
            </a:r>
            <a:r>
              <a:rPr sz="2800" b="1" dirty="0">
                <a:latin typeface="Arial"/>
                <a:cs typeface="Arial"/>
              </a:rPr>
              <a:t>columna</a:t>
            </a:r>
            <a:r>
              <a:rPr sz="2800" b="1" spc="-75" dirty="0">
                <a:latin typeface="Arial"/>
                <a:cs typeface="Arial"/>
              </a:rPr>
              <a:t> </a:t>
            </a:r>
            <a:r>
              <a:rPr sz="2800" dirty="0">
                <a:latin typeface="Arial MT"/>
                <a:cs typeface="Arial MT"/>
              </a:rPr>
              <a:t>corresponde</a:t>
            </a:r>
            <a:r>
              <a:rPr sz="2800" spc="-65" dirty="0">
                <a:latin typeface="Arial MT"/>
                <a:cs typeface="Arial MT"/>
              </a:rPr>
              <a:t> </a:t>
            </a:r>
            <a:r>
              <a:rPr sz="2800" dirty="0">
                <a:latin typeface="Arial MT"/>
                <a:cs typeface="Arial MT"/>
              </a:rPr>
              <a:t>un</a:t>
            </a:r>
            <a:r>
              <a:rPr sz="2800" spc="-75" dirty="0">
                <a:latin typeface="Arial MT"/>
                <a:cs typeface="Arial MT"/>
              </a:rPr>
              <a:t> </a:t>
            </a:r>
            <a:r>
              <a:rPr sz="2800" dirty="0">
                <a:latin typeface="Arial MT"/>
                <a:cs typeface="Arial MT"/>
              </a:rPr>
              <a:t>atributo</a:t>
            </a:r>
            <a:r>
              <a:rPr sz="2800" spc="-75" dirty="0">
                <a:latin typeface="Arial MT"/>
                <a:cs typeface="Arial MT"/>
              </a:rPr>
              <a:t> </a:t>
            </a:r>
            <a:r>
              <a:rPr sz="2800" dirty="0">
                <a:latin typeface="Arial MT"/>
                <a:cs typeface="Arial MT"/>
              </a:rPr>
              <a:t>de</a:t>
            </a:r>
            <a:r>
              <a:rPr sz="2800" spc="-75" dirty="0">
                <a:latin typeface="Arial MT"/>
                <a:cs typeface="Arial MT"/>
              </a:rPr>
              <a:t> </a:t>
            </a:r>
            <a:r>
              <a:rPr sz="2800" spc="-25" dirty="0">
                <a:latin typeface="Arial MT"/>
                <a:cs typeface="Arial MT"/>
              </a:rPr>
              <a:t>E.</a:t>
            </a:r>
            <a:endParaRPr sz="2800" dirty="0">
              <a:latin typeface="Arial MT"/>
              <a:cs typeface="Arial MT"/>
            </a:endParaRPr>
          </a:p>
          <a:p>
            <a:pPr marL="405130" indent="-341630">
              <a:lnSpc>
                <a:spcPct val="100000"/>
              </a:lnSpc>
              <a:spcBef>
                <a:spcPts val="685"/>
              </a:spcBef>
              <a:buChar char="•"/>
              <a:tabLst>
                <a:tab pos="405130" algn="l"/>
              </a:tabLst>
            </a:pPr>
            <a:r>
              <a:rPr sz="2800" dirty="0">
                <a:latin typeface="Arial MT"/>
                <a:cs typeface="Arial MT"/>
              </a:rPr>
              <a:t>Cada</a:t>
            </a:r>
            <a:r>
              <a:rPr sz="2800" spc="-65" dirty="0">
                <a:latin typeface="Arial MT"/>
                <a:cs typeface="Arial MT"/>
              </a:rPr>
              <a:t> </a:t>
            </a:r>
            <a:r>
              <a:rPr sz="2800" b="1" dirty="0">
                <a:latin typeface="Arial"/>
                <a:cs typeface="Arial"/>
              </a:rPr>
              <a:t>fila</a:t>
            </a:r>
            <a:r>
              <a:rPr sz="2800" b="1" spc="-55" dirty="0">
                <a:latin typeface="Arial"/>
                <a:cs typeface="Arial"/>
              </a:rPr>
              <a:t> </a:t>
            </a:r>
            <a:r>
              <a:rPr sz="2800" dirty="0">
                <a:latin typeface="Arial MT"/>
                <a:cs typeface="Arial MT"/>
              </a:rPr>
              <a:t>corresponde</a:t>
            </a:r>
            <a:r>
              <a:rPr sz="2800" spc="-55" dirty="0">
                <a:latin typeface="Arial MT"/>
                <a:cs typeface="Arial MT"/>
              </a:rPr>
              <a:t> </a:t>
            </a:r>
            <a:r>
              <a:rPr sz="2800" dirty="0">
                <a:latin typeface="Arial MT"/>
                <a:cs typeface="Arial MT"/>
              </a:rPr>
              <a:t>a</a:t>
            </a:r>
            <a:r>
              <a:rPr sz="2800" spc="-55" dirty="0">
                <a:latin typeface="Arial MT"/>
                <a:cs typeface="Arial MT"/>
              </a:rPr>
              <a:t> </a:t>
            </a:r>
            <a:r>
              <a:rPr sz="2800" dirty="0">
                <a:latin typeface="Arial MT"/>
                <a:cs typeface="Arial MT"/>
              </a:rPr>
              <a:t>una</a:t>
            </a:r>
            <a:r>
              <a:rPr sz="2800" spc="-60" dirty="0">
                <a:latin typeface="Arial MT"/>
                <a:cs typeface="Arial MT"/>
              </a:rPr>
              <a:t> </a:t>
            </a:r>
            <a:r>
              <a:rPr sz="2800" spc="-10" dirty="0">
                <a:latin typeface="Arial MT"/>
                <a:cs typeface="Arial MT"/>
              </a:rPr>
              <a:t>entidad.</a:t>
            </a:r>
            <a:endParaRPr sz="2800" dirty="0">
              <a:latin typeface="Arial MT"/>
              <a:cs typeface="Arial M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10017" y="790447"/>
            <a:ext cx="5029446" cy="505267"/>
          </a:xfrm>
          <a:prstGeom prst="rect">
            <a:avLst/>
          </a:prstGeom>
        </p:spPr>
        <p:txBody>
          <a:bodyPr vert="horz" wrap="square" lIns="0" tIns="12700" rIns="0" bIns="0" rtlCol="0">
            <a:spAutoFit/>
          </a:bodyPr>
          <a:lstStyle/>
          <a:p>
            <a:pPr marL="12700">
              <a:lnSpc>
                <a:spcPct val="100000"/>
              </a:lnSpc>
              <a:spcBef>
                <a:spcPts val="100"/>
              </a:spcBef>
            </a:pPr>
            <a:r>
              <a:rPr sz="3200" b="1" dirty="0">
                <a:latin typeface="Arial"/>
                <a:cs typeface="Arial"/>
              </a:rPr>
              <a:t>Ejemplo:</a:t>
            </a:r>
            <a:r>
              <a:rPr sz="3200" b="1" spc="-45" dirty="0">
                <a:latin typeface="Arial"/>
                <a:cs typeface="Arial"/>
              </a:rPr>
              <a:t> </a:t>
            </a:r>
            <a:r>
              <a:rPr sz="3200" dirty="0" err="1" smtClean="0"/>
              <a:t>tabla</a:t>
            </a:r>
            <a:r>
              <a:rPr lang="es-ES" sz="3200" dirty="0" smtClean="0"/>
              <a:t> </a:t>
            </a:r>
            <a:r>
              <a:rPr lang="en-US" sz="3200" b="1" spc="-10" dirty="0" err="1">
                <a:latin typeface="Arial"/>
                <a:cs typeface="Arial"/>
              </a:rPr>
              <a:t>cuenta</a:t>
            </a:r>
            <a:endParaRPr sz="3200" dirty="0">
              <a:latin typeface="Arial"/>
              <a:cs typeface="Arial"/>
            </a:endParaRPr>
          </a:p>
        </p:txBody>
      </p:sp>
      <p:graphicFrame>
        <p:nvGraphicFramePr>
          <p:cNvPr id="3" name="object 3"/>
          <p:cNvGraphicFramePr>
            <a:graphicFrameLocks noGrp="1"/>
          </p:cNvGraphicFramePr>
          <p:nvPr/>
        </p:nvGraphicFramePr>
        <p:xfrm>
          <a:off x="6339463" y="842518"/>
          <a:ext cx="3215005" cy="5998841"/>
        </p:xfrm>
        <a:graphic>
          <a:graphicData uri="http://schemas.openxmlformats.org/drawingml/2006/table">
            <a:tbl>
              <a:tblPr firstRow="1" bandRow="1">
                <a:tableStyleId>{2D5ABB26-0587-4C30-8999-92F81FD0307C}</a:tableStyleId>
              </a:tblPr>
              <a:tblGrid>
                <a:gridCol w="2089150">
                  <a:extLst>
                    <a:ext uri="{9D8B030D-6E8A-4147-A177-3AD203B41FA5}">
                      <a16:colId xmlns:a16="http://schemas.microsoft.com/office/drawing/2014/main" val="20000"/>
                    </a:ext>
                  </a:extLst>
                </a:gridCol>
                <a:gridCol w="1125855">
                  <a:extLst>
                    <a:ext uri="{9D8B030D-6E8A-4147-A177-3AD203B41FA5}">
                      <a16:colId xmlns:a16="http://schemas.microsoft.com/office/drawing/2014/main" val="20001"/>
                    </a:ext>
                  </a:extLst>
                </a:gridCol>
              </a:tblGrid>
              <a:tr h="831850">
                <a:tc>
                  <a:txBody>
                    <a:bodyPr/>
                    <a:lstStyle/>
                    <a:p>
                      <a:pPr algn="ctr">
                        <a:lnSpc>
                          <a:spcPct val="100000"/>
                        </a:lnSpc>
                        <a:spcBef>
                          <a:spcPts val="290"/>
                        </a:spcBef>
                      </a:pPr>
                      <a:r>
                        <a:rPr sz="2000" b="1" spc="-10" dirty="0">
                          <a:latin typeface="Times New Roman"/>
                          <a:cs typeface="Times New Roman"/>
                        </a:rPr>
                        <a:t>N</a:t>
                      </a:r>
                      <a:r>
                        <a:rPr sz="2000" b="1" spc="-10" dirty="0">
                          <a:latin typeface="Arial"/>
                          <a:cs typeface="Arial"/>
                        </a:rPr>
                        <a:t>ú</a:t>
                      </a:r>
                      <a:r>
                        <a:rPr sz="2000" b="1" spc="-10" dirty="0">
                          <a:latin typeface="Times New Roman"/>
                          <a:cs typeface="Times New Roman"/>
                        </a:rPr>
                        <a:t>mero-cuenta</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258445">
                        <a:lnSpc>
                          <a:spcPct val="100000"/>
                        </a:lnSpc>
                        <a:spcBef>
                          <a:spcPts val="290"/>
                        </a:spcBef>
                      </a:pPr>
                      <a:r>
                        <a:rPr sz="2000" b="1" spc="-10" dirty="0">
                          <a:latin typeface="Times New Roman"/>
                          <a:cs typeface="Times New Roman"/>
                        </a:rPr>
                        <a:t>Saldo</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469265">
                <a:tc>
                  <a:txBody>
                    <a:bodyPr/>
                    <a:lstStyle/>
                    <a:p>
                      <a:pPr algn="ctr">
                        <a:lnSpc>
                          <a:spcPct val="100000"/>
                        </a:lnSpc>
                        <a:spcBef>
                          <a:spcPts val="290"/>
                        </a:spcBef>
                      </a:pPr>
                      <a:r>
                        <a:rPr sz="2000" spc="-25" dirty="0">
                          <a:latin typeface="Times New Roman"/>
                          <a:cs typeface="Times New Roman"/>
                        </a:rPr>
                        <a:t>259</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marR="84455" algn="r">
                        <a:lnSpc>
                          <a:spcPct val="100000"/>
                        </a:lnSpc>
                        <a:spcBef>
                          <a:spcPts val="290"/>
                        </a:spcBef>
                      </a:pPr>
                      <a:r>
                        <a:rPr sz="2000" spc="-20" dirty="0">
                          <a:latin typeface="Times New Roman"/>
                          <a:cs typeface="Times New Roman"/>
                        </a:rPr>
                        <a:t>1000</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470534">
                <a:tc>
                  <a:txBody>
                    <a:bodyPr/>
                    <a:lstStyle/>
                    <a:p>
                      <a:pPr algn="ctr">
                        <a:lnSpc>
                          <a:spcPct val="100000"/>
                        </a:lnSpc>
                        <a:spcBef>
                          <a:spcPts val="300"/>
                        </a:spcBef>
                      </a:pPr>
                      <a:r>
                        <a:rPr sz="2000" spc="-25" dirty="0">
                          <a:latin typeface="Times New Roman"/>
                          <a:cs typeface="Times New Roman"/>
                        </a:rPr>
                        <a:t>630</a:t>
                      </a:r>
                      <a:endParaRPr sz="2000">
                        <a:latin typeface="Times New Roman"/>
                        <a:cs typeface="Times New Roman"/>
                      </a:endParaRPr>
                    </a:p>
                  </a:txBody>
                  <a:tcPr marL="0" marR="0" marT="3810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4455" algn="r">
                        <a:lnSpc>
                          <a:spcPct val="100000"/>
                        </a:lnSpc>
                        <a:spcBef>
                          <a:spcPts val="300"/>
                        </a:spcBef>
                      </a:pPr>
                      <a:r>
                        <a:rPr sz="2000" spc="-20" dirty="0">
                          <a:latin typeface="Times New Roman"/>
                          <a:cs typeface="Times New Roman"/>
                        </a:rPr>
                        <a:t>2000</a:t>
                      </a:r>
                      <a:endParaRPr sz="2000">
                        <a:latin typeface="Times New Roman"/>
                        <a:cs typeface="Times New Roman"/>
                      </a:endParaRPr>
                    </a:p>
                  </a:txBody>
                  <a:tcPr marL="0" marR="0" marT="3810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469265">
                <a:tc>
                  <a:txBody>
                    <a:bodyPr/>
                    <a:lstStyle/>
                    <a:p>
                      <a:pPr algn="ctr">
                        <a:lnSpc>
                          <a:spcPct val="100000"/>
                        </a:lnSpc>
                        <a:spcBef>
                          <a:spcPts val="290"/>
                        </a:spcBef>
                      </a:pPr>
                      <a:r>
                        <a:rPr sz="2000" spc="-25" dirty="0">
                          <a:latin typeface="Times New Roman"/>
                          <a:cs typeface="Times New Roman"/>
                        </a:rPr>
                        <a:t>401</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4455" algn="r">
                        <a:lnSpc>
                          <a:spcPct val="100000"/>
                        </a:lnSpc>
                        <a:spcBef>
                          <a:spcPts val="290"/>
                        </a:spcBef>
                      </a:pPr>
                      <a:r>
                        <a:rPr sz="2000" spc="-20" dirty="0">
                          <a:latin typeface="Times New Roman"/>
                          <a:cs typeface="Times New Roman"/>
                        </a:rPr>
                        <a:t>1500</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469265">
                <a:tc>
                  <a:txBody>
                    <a:bodyPr/>
                    <a:lstStyle/>
                    <a:p>
                      <a:pPr algn="ctr">
                        <a:lnSpc>
                          <a:spcPct val="100000"/>
                        </a:lnSpc>
                        <a:spcBef>
                          <a:spcPts val="290"/>
                        </a:spcBef>
                      </a:pPr>
                      <a:r>
                        <a:rPr sz="2000" spc="-25" dirty="0">
                          <a:latin typeface="Times New Roman"/>
                          <a:cs typeface="Times New Roman"/>
                        </a:rPr>
                        <a:t>700</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4455" algn="r">
                        <a:lnSpc>
                          <a:spcPct val="100000"/>
                        </a:lnSpc>
                        <a:spcBef>
                          <a:spcPts val="290"/>
                        </a:spcBef>
                      </a:pPr>
                      <a:r>
                        <a:rPr sz="2000" spc="-20" dirty="0">
                          <a:latin typeface="Times New Roman"/>
                          <a:cs typeface="Times New Roman"/>
                        </a:rPr>
                        <a:t>1500</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r h="470534">
                <a:tc>
                  <a:txBody>
                    <a:bodyPr/>
                    <a:lstStyle/>
                    <a:p>
                      <a:pPr algn="ctr">
                        <a:lnSpc>
                          <a:spcPct val="100000"/>
                        </a:lnSpc>
                        <a:spcBef>
                          <a:spcPts val="300"/>
                        </a:spcBef>
                      </a:pPr>
                      <a:r>
                        <a:rPr sz="2000" spc="-25" dirty="0">
                          <a:latin typeface="Times New Roman"/>
                          <a:cs typeface="Times New Roman"/>
                        </a:rPr>
                        <a:t>199</a:t>
                      </a:r>
                      <a:endParaRPr sz="2000">
                        <a:latin typeface="Times New Roman"/>
                        <a:cs typeface="Times New Roman"/>
                      </a:endParaRPr>
                    </a:p>
                  </a:txBody>
                  <a:tcPr marL="0" marR="0" marT="3810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4455" algn="r">
                        <a:lnSpc>
                          <a:spcPct val="100000"/>
                        </a:lnSpc>
                        <a:spcBef>
                          <a:spcPts val="300"/>
                        </a:spcBef>
                      </a:pPr>
                      <a:r>
                        <a:rPr sz="2000" spc="-25" dirty="0">
                          <a:latin typeface="Times New Roman"/>
                          <a:cs typeface="Times New Roman"/>
                        </a:rPr>
                        <a:t>500</a:t>
                      </a:r>
                      <a:endParaRPr sz="2000">
                        <a:latin typeface="Times New Roman"/>
                        <a:cs typeface="Times New Roman"/>
                      </a:endParaRPr>
                    </a:p>
                  </a:txBody>
                  <a:tcPr marL="0" marR="0" marT="3810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5"/>
                  </a:ext>
                </a:extLst>
              </a:tr>
              <a:tr h="469265">
                <a:tc>
                  <a:txBody>
                    <a:bodyPr/>
                    <a:lstStyle/>
                    <a:p>
                      <a:pPr algn="ctr">
                        <a:lnSpc>
                          <a:spcPct val="100000"/>
                        </a:lnSpc>
                        <a:spcBef>
                          <a:spcPts val="290"/>
                        </a:spcBef>
                      </a:pPr>
                      <a:r>
                        <a:rPr sz="2000" spc="-25" dirty="0">
                          <a:latin typeface="Times New Roman"/>
                          <a:cs typeface="Times New Roman"/>
                        </a:rPr>
                        <a:t>467</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4455" algn="r">
                        <a:lnSpc>
                          <a:spcPct val="100000"/>
                        </a:lnSpc>
                        <a:spcBef>
                          <a:spcPts val="290"/>
                        </a:spcBef>
                      </a:pPr>
                      <a:r>
                        <a:rPr sz="2000" spc="-25" dirty="0">
                          <a:latin typeface="Times New Roman"/>
                          <a:cs typeface="Times New Roman"/>
                        </a:rPr>
                        <a:t>900</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6"/>
                  </a:ext>
                </a:extLst>
              </a:tr>
              <a:tr h="469265">
                <a:tc>
                  <a:txBody>
                    <a:bodyPr/>
                    <a:lstStyle/>
                    <a:p>
                      <a:pPr algn="ctr">
                        <a:lnSpc>
                          <a:spcPct val="100000"/>
                        </a:lnSpc>
                        <a:spcBef>
                          <a:spcPts val="290"/>
                        </a:spcBef>
                      </a:pPr>
                      <a:r>
                        <a:rPr sz="2000" spc="-25" dirty="0">
                          <a:latin typeface="Times New Roman"/>
                          <a:cs typeface="Times New Roman"/>
                        </a:rPr>
                        <a:t>115</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4455" algn="r">
                        <a:lnSpc>
                          <a:spcPct val="100000"/>
                        </a:lnSpc>
                        <a:spcBef>
                          <a:spcPts val="290"/>
                        </a:spcBef>
                      </a:pPr>
                      <a:r>
                        <a:rPr sz="2000" spc="-20" dirty="0">
                          <a:latin typeface="Times New Roman"/>
                          <a:cs typeface="Times New Roman"/>
                        </a:rPr>
                        <a:t>1200</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7"/>
                  </a:ext>
                </a:extLst>
              </a:tr>
              <a:tr h="470534">
                <a:tc>
                  <a:txBody>
                    <a:bodyPr/>
                    <a:lstStyle/>
                    <a:p>
                      <a:pPr algn="ctr">
                        <a:lnSpc>
                          <a:spcPct val="100000"/>
                        </a:lnSpc>
                        <a:spcBef>
                          <a:spcPts val="300"/>
                        </a:spcBef>
                      </a:pPr>
                      <a:r>
                        <a:rPr sz="2000" spc="-25" dirty="0">
                          <a:latin typeface="Times New Roman"/>
                          <a:cs typeface="Times New Roman"/>
                        </a:rPr>
                        <a:t>183</a:t>
                      </a:r>
                      <a:endParaRPr sz="2000">
                        <a:latin typeface="Times New Roman"/>
                        <a:cs typeface="Times New Roman"/>
                      </a:endParaRPr>
                    </a:p>
                  </a:txBody>
                  <a:tcPr marL="0" marR="0" marT="3810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4455" algn="r">
                        <a:lnSpc>
                          <a:spcPct val="100000"/>
                        </a:lnSpc>
                        <a:spcBef>
                          <a:spcPts val="300"/>
                        </a:spcBef>
                      </a:pPr>
                      <a:r>
                        <a:rPr sz="2000" spc="-20" dirty="0">
                          <a:latin typeface="Times New Roman"/>
                          <a:cs typeface="Times New Roman"/>
                        </a:rPr>
                        <a:t>1300</a:t>
                      </a:r>
                      <a:endParaRPr sz="2000">
                        <a:latin typeface="Times New Roman"/>
                        <a:cs typeface="Times New Roman"/>
                      </a:endParaRPr>
                    </a:p>
                  </a:txBody>
                  <a:tcPr marL="0" marR="0" marT="3810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8"/>
                  </a:ext>
                </a:extLst>
              </a:tr>
              <a:tr h="469265">
                <a:tc>
                  <a:txBody>
                    <a:bodyPr/>
                    <a:lstStyle/>
                    <a:p>
                      <a:pPr algn="ctr">
                        <a:lnSpc>
                          <a:spcPct val="100000"/>
                        </a:lnSpc>
                        <a:spcBef>
                          <a:spcPts val="290"/>
                        </a:spcBef>
                      </a:pPr>
                      <a:r>
                        <a:rPr sz="2000" spc="-25" dirty="0">
                          <a:latin typeface="Times New Roman"/>
                          <a:cs typeface="Times New Roman"/>
                        </a:rPr>
                        <a:t>118</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4455" algn="r">
                        <a:lnSpc>
                          <a:spcPct val="100000"/>
                        </a:lnSpc>
                        <a:spcBef>
                          <a:spcPts val="290"/>
                        </a:spcBef>
                      </a:pPr>
                      <a:r>
                        <a:rPr sz="2000" spc="-20" dirty="0">
                          <a:latin typeface="Times New Roman"/>
                          <a:cs typeface="Times New Roman"/>
                        </a:rPr>
                        <a:t>2000</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9"/>
                  </a:ext>
                </a:extLst>
              </a:tr>
              <a:tr h="469265">
                <a:tc>
                  <a:txBody>
                    <a:bodyPr/>
                    <a:lstStyle/>
                    <a:p>
                      <a:pPr algn="ctr">
                        <a:lnSpc>
                          <a:spcPct val="100000"/>
                        </a:lnSpc>
                        <a:spcBef>
                          <a:spcPts val="290"/>
                        </a:spcBef>
                      </a:pPr>
                      <a:r>
                        <a:rPr sz="2000" spc="-25" dirty="0">
                          <a:latin typeface="Times New Roman"/>
                          <a:cs typeface="Times New Roman"/>
                        </a:rPr>
                        <a:t>225</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9525">
                      <a:solidFill>
                        <a:srgbClr val="000000"/>
                      </a:solidFill>
                      <a:prstDash val="solid"/>
                    </a:lnT>
                    <a:lnB w="12700">
                      <a:solidFill>
                        <a:srgbClr val="000000"/>
                      </a:solidFill>
                      <a:prstDash val="solid"/>
                    </a:lnB>
                  </a:tcPr>
                </a:tc>
                <a:tc>
                  <a:txBody>
                    <a:bodyPr/>
                    <a:lstStyle/>
                    <a:p>
                      <a:pPr marR="84455" algn="r">
                        <a:lnSpc>
                          <a:spcPct val="100000"/>
                        </a:lnSpc>
                        <a:spcBef>
                          <a:spcPts val="290"/>
                        </a:spcBef>
                      </a:pPr>
                      <a:r>
                        <a:rPr sz="2000" spc="-20" dirty="0">
                          <a:latin typeface="Times New Roman"/>
                          <a:cs typeface="Times New Roman"/>
                        </a:rPr>
                        <a:t>2500</a:t>
                      </a:r>
                      <a:endParaRPr sz="2000">
                        <a:latin typeface="Times New Roman"/>
                        <a:cs typeface="Times New Roman"/>
                      </a:endParaRPr>
                    </a:p>
                  </a:txBody>
                  <a:tcPr marL="0" marR="0" marT="3683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10"/>
                  </a:ext>
                </a:extLst>
              </a:tr>
              <a:tr h="470534">
                <a:tc>
                  <a:txBody>
                    <a:bodyPr/>
                    <a:lstStyle/>
                    <a:p>
                      <a:pPr algn="ctr">
                        <a:lnSpc>
                          <a:spcPct val="100000"/>
                        </a:lnSpc>
                        <a:spcBef>
                          <a:spcPts val="300"/>
                        </a:spcBef>
                      </a:pPr>
                      <a:r>
                        <a:rPr sz="2000" spc="-25" dirty="0">
                          <a:latin typeface="Times New Roman"/>
                          <a:cs typeface="Times New Roman"/>
                        </a:rPr>
                        <a:t>210</a:t>
                      </a:r>
                      <a:endParaRPr sz="20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84455" algn="r">
                        <a:lnSpc>
                          <a:spcPct val="100000"/>
                        </a:lnSpc>
                        <a:spcBef>
                          <a:spcPts val="300"/>
                        </a:spcBef>
                      </a:pPr>
                      <a:r>
                        <a:rPr sz="2000" spc="-20" dirty="0">
                          <a:latin typeface="Times New Roman"/>
                          <a:cs typeface="Times New Roman"/>
                        </a:rPr>
                        <a:t>2200</a:t>
                      </a:r>
                      <a:endParaRPr sz="2000">
                        <a:latin typeface="Times New Roman"/>
                        <a:cs typeface="Times New Roman"/>
                      </a:endParaRPr>
                    </a:p>
                  </a:txBody>
                  <a:tcPr marL="0" marR="0" marT="38100" marB="0">
                    <a:lnL w="12700">
                      <a:solidFill>
                        <a:srgbClr val="000000"/>
                      </a:solidFill>
                      <a:prstDash val="solid"/>
                    </a:lnL>
                    <a:lnR w="12700">
                      <a:solidFill>
                        <a:srgbClr val="000000"/>
                      </a:solidFill>
                      <a:prstDash val="solid"/>
                    </a:lnR>
                    <a:lnT w="9525">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bl>
          </a:graphicData>
        </a:graphic>
      </p:graphicFrame>
      <p:grpSp>
        <p:nvGrpSpPr>
          <p:cNvPr id="4" name="object 4"/>
          <p:cNvGrpSpPr/>
          <p:nvPr/>
        </p:nvGrpSpPr>
        <p:grpSpPr>
          <a:xfrm>
            <a:off x="975503" y="1687829"/>
            <a:ext cx="5246370" cy="3252470"/>
            <a:chOff x="975503" y="1687829"/>
            <a:chExt cx="5246370" cy="3252470"/>
          </a:xfrm>
        </p:grpSpPr>
        <p:pic>
          <p:nvPicPr>
            <p:cNvPr id="5" name="object 5"/>
            <p:cNvPicPr/>
            <p:nvPr/>
          </p:nvPicPr>
          <p:blipFill>
            <a:blip r:embed="rId2" cstate="print"/>
            <a:stretch>
              <a:fillRect/>
            </a:stretch>
          </p:blipFill>
          <p:spPr>
            <a:xfrm>
              <a:off x="975503" y="2038496"/>
              <a:ext cx="4794844" cy="2692614"/>
            </a:xfrm>
            <a:prstGeom prst="rect">
              <a:avLst/>
            </a:prstGeom>
          </p:spPr>
        </p:pic>
        <p:sp>
          <p:nvSpPr>
            <p:cNvPr id="6" name="object 6"/>
            <p:cNvSpPr/>
            <p:nvPr/>
          </p:nvSpPr>
          <p:spPr>
            <a:xfrm>
              <a:off x="3703198" y="1706879"/>
              <a:ext cx="2499360" cy="3214370"/>
            </a:xfrm>
            <a:custGeom>
              <a:avLst/>
              <a:gdLst/>
              <a:ahLst/>
              <a:cxnLst/>
              <a:rect l="l" t="t" r="r" b="b"/>
              <a:pathLst>
                <a:path w="2499360" h="3214370">
                  <a:moveTo>
                    <a:pt x="1249679" y="0"/>
                  </a:moveTo>
                  <a:lnTo>
                    <a:pt x="1207579" y="894"/>
                  </a:lnTo>
                  <a:lnTo>
                    <a:pt x="1165828" y="3557"/>
                  </a:lnTo>
                  <a:lnTo>
                    <a:pt x="1124449" y="7962"/>
                  </a:lnTo>
                  <a:lnTo>
                    <a:pt x="1083462" y="14080"/>
                  </a:lnTo>
                  <a:lnTo>
                    <a:pt x="1042890" y="21883"/>
                  </a:lnTo>
                  <a:lnTo>
                    <a:pt x="1002755" y="31343"/>
                  </a:lnTo>
                  <a:lnTo>
                    <a:pt x="963079" y="42432"/>
                  </a:lnTo>
                  <a:lnTo>
                    <a:pt x="923883" y="55121"/>
                  </a:lnTo>
                  <a:lnTo>
                    <a:pt x="885189" y="69383"/>
                  </a:lnTo>
                  <a:lnTo>
                    <a:pt x="847019" y="85189"/>
                  </a:lnTo>
                  <a:lnTo>
                    <a:pt x="809395" y="102511"/>
                  </a:lnTo>
                  <a:lnTo>
                    <a:pt x="772339" y="121322"/>
                  </a:lnTo>
                  <a:lnTo>
                    <a:pt x="735873" y="141592"/>
                  </a:lnTo>
                  <a:lnTo>
                    <a:pt x="700018" y="163294"/>
                  </a:lnTo>
                  <a:lnTo>
                    <a:pt x="664796" y="186400"/>
                  </a:lnTo>
                  <a:lnTo>
                    <a:pt x="630229" y="210881"/>
                  </a:lnTo>
                  <a:lnTo>
                    <a:pt x="596340" y="236710"/>
                  </a:lnTo>
                  <a:lnTo>
                    <a:pt x="563149" y="263858"/>
                  </a:lnTo>
                  <a:lnTo>
                    <a:pt x="530679" y="292297"/>
                  </a:lnTo>
                  <a:lnTo>
                    <a:pt x="498951" y="322000"/>
                  </a:lnTo>
                  <a:lnTo>
                    <a:pt x="467987" y="352937"/>
                  </a:lnTo>
                  <a:lnTo>
                    <a:pt x="437810" y="385080"/>
                  </a:lnTo>
                  <a:lnTo>
                    <a:pt x="408441" y="418403"/>
                  </a:lnTo>
                  <a:lnTo>
                    <a:pt x="379902" y="452875"/>
                  </a:lnTo>
                  <a:lnTo>
                    <a:pt x="352214" y="488471"/>
                  </a:lnTo>
                  <a:lnTo>
                    <a:pt x="325400" y="525160"/>
                  </a:lnTo>
                  <a:lnTo>
                    <a:pt x="299481" y="562915"/>
                  </a:lnTo>
                  <a:lnTo>
                    <a:pt x="274479" y="601708"/>
                  </a:lnTo>
                  <a:lnTo>
                    <a:pt x="250417" y="641511"/>
                  </a:lnTo>
                  <a:lnTo>
                    <a:pt x="227315" y="682296"/>
                  </a:lnTo>
                  <a:lnTo>
                    <a:pt x="205196" y="724034"/>
                  </a:lnTo>
                  <a:lnTo>
                    <a:pt x="184082" y="766698"/>
                  </a:lnTo>
                  <a:lnTo>
                    <a:pt x="163994" y="810259"/>
                  </a:lnTo>
                  <a:lnTo>
                    <a:pt x="144954" y="854688"/>
                  </a:lnTo>
                  <a:lnTo>
                    <a:pt x="126985" y="899959"/>
                  </a:lnTo>
                  <a:lnTo>
                    <a:pt x="110107" y="946043"/>
                  </a:lnTo>
                  <a:lnTo>
                    <a:pt x="94343" y="992911"/>
                  </a:lnTo>
                  <a:lnTo>
                    <a:pt x="79715" y="1040536"/>
                  </a:lnTo>
                  <a:lnTo>
                    <a:pt x="66244" y="1088889"/>
                  </a:lnTo>
                  <a:lnTo>
                    <a:pt x="53952" y="1137943"/>
                  </a:lnTo>
                  <a:lnTo>
                    <a:pt x="42862" y="1187669"/>
                  </a:lnTo>
                  <a:lnTo>
                    <a:pt x="32994" y="1238038"/>
                  </a:lnTo>
                  <a:lnTo>
                    <a:pt x="24372" y="1289024"/>
                  </a:lnTo>
                  <a:lnTo>
                    <a:pt x="17016" y="1340597"/>
                  </a:lnTo>
                  <a:lnTo>
                    <a:pt x="10948" y="1392730"/>
                  </a:lnTo>
                  <a:lnTo>
                    <a:pt x="6191" y="1445395"/>
                  </a:lnTo>
                  <a:lnTo>
                    <a:pt x="2766" y="1498563"/>
                  </a:lnTo>
                  <a:lnTo>
                    <a:pt x="695" y="1552205"/>
                  </a:lnTo>
                  <a:lnTo>
                    <a:pt x="0" y="1606295"/>
                  </a:lnTo>
                  <a:lnTo>
                    <a:pt x="695" y="1660477"/>
                  </a:lnTo>
                  <a:lnTo>
                    <a:pt x="2766" y="1714208"/>
                  </a:lnTo>
                  <a:lnTo>
                    <a:pt x="6191" y="1767459"/>
                  </a:lnTo>
                  <a:lnTo>
                    <a:pt x="10948" y="1820204"/>
                  </a:lnTo>
                  <a:lnTo>
                    <a:pt x="17016" y="1872414"/>
                  </a:lnTo>
                  <a:lnTo>
                    <a:pt x="24372" y="1924061"/>
                  </a:lnTo>
                  <a:lnTo>
                    <a:pt x="32994" y="1975117"/>
                  </a:lnTo>
                  <a:lnTo>
                    <a:pt x="42862" y="2025553"/>
                  </a:lnTo>
                  <a:lnTo>
                    <a:pt x="53952" y="2075343"/>
                  </a:lnTo>
                  <a:lnTo>
                    <a:pt x="66244" y="2124457"/>
                  </a:lnTo>
                  <a:lnTo>
                    <a:pt x="79715" y="2172868"/>
                  </a:lnTo>
                  <a:lnTo>
                    <a:pt x="94343" y="2220548"/>
                  </a:lnTo>
                  <a:lnTo>
                    <a:pt x="110107" y="2267468"/>
                  </a:lnTo>
                  <a:lnTo>
                    <a:pt x="126985" y="2313600"/>
                  </a:lnTo>
                  <a:lnTo>
                    <a:pt x="144954" y="2358917"/>
                  </a:lnTo>
                  <a:lnTo>
                    <a:pt x="163994" y="2403391"/>
                  </a:lnTo>
                  <a:lnTo>
                    <a:pt x="184082" y="2446993"/>
                  </a:lnTo>
                  <a:lnTo>
                    <a:pt x="205196" y="2489695"/>
                  </a:lnTo>
                  <a:lnTo>
                    <a:pt x="227315" y="2531469"/>
                  </a:lnTo>
                  <a:lnTo>
                    <a:pt x="250417" y="2572288"/>
                  </a:lnTo>
                  <a:lnTo>
                    <a:pt x="274479" y="2612122"/>
                  </a:lnTo>
                  <a:lnTo>
                    <a:pt x="299481" y="2650945"/>
                  </a:lnTo>
                  <a:lnTo>
                    <a:pt x="325400" y="2688727"/>
                  </a:lnTo>
                  <a:lnTo>
                    <a:pt x="352214" y="2725442"/>
                  </a:lnTo>
                  <a:lnTo>
                    <a:pt x="379902" y="2761060"/>
                  </a:lnTo>
                  <a:lnTo>
                    <a:pt x="408441" y="2795555"/>
                  </a:lnTo>
                  <a:lnTo>
                    <a:pt x="437810" y="2828897"/>
                  </a:lnTo>
                  <a:lnTo>
                    <a:pt x="467987" y="2861058"/>
                  </a:lnTo>
                  <a:lnTo>
                    <a:pt x="498951" y="2892012"/>
                  </a:lnTo>
                  <a:lnTo>
                    <a:pt x="530679" y="2921729"/>
                  </a:lnTo>
                  <a:lnTo>
                    <a:pt x="563149" y="2950181"/>
                  </a:lnTo>
                  <a:lnTo>
                    <a:pt x="596340" y="2977341"/>
                  </a:lnTo>
                  <a:lnTo>
                    <a:pt x="630229" y="3003181"/>
                  </a:lnTo>
                  <a:lnTo>
                    <a:pt x="664796" y="3027671"/>
                  </a:lnTo>
                  <a:lnTo>
                    <a:pt x="700018" y="3050785"/>
                  </a:lnTo>
                  <a:lnTo>
                    <a:pt x="735873" y="3072495"/>
                  </a:lnTo>
                  <a:lnTo>
                    <a:pt x="772339" y="3092771"/>
                  </a:lnTo>
                  <a:lnTo>
                    <a:pt x="809395" y="3111587"/>
                  </a:lnTo>
                  <a:lnTo>
                    <a:pt x="847019" y="3128913"/>
                  </a:lnTo>
                  <a:lnTo>
                    <a:pt x="885189" y="3144723"/>
                  </a:lnTo>
                  <a:lnTo>
                    <a:pt x="923883" y="3158987"/>
                  </a:lnTo>
                  <a:lnTo>
                    <a:pt x="963079" y="3171679"/>
                  </a:lnTo>
                  <a:lnTo>
                    <a:pt x="1002755" y="3182769"/>
                  </a:lnTo>
                  <a:lnTo>
                    <a:pt x="1042890" y="3192230"/>
                  </a:lnTo>
                  <a:lnTo>
                    <a:pt x="1083462" y="3200034"/>
                  </a:lnTo>
                  <a:lnTo>
                    <a:pt x="1124449" y="3206153"/>
                  </a:lnTo>
                  <a:lnTo>
                    <a:pt x="1165828" y="3210558"/>
                  </a:lnTo>
                  <a:lnTo>
                    <a:pt x="1207579" y="3213221"/>
                  </a:lnTo>
                  <a:lnTo>
                    <a:pt x="1249679" y="3214115"/>
                  </a:lnTo>
                  <a:lnTo>
                    <a:pt x="1291780" y="3213221"/>
                  </a:lnTo>
                  <a:lnTo>
                    <a:pt x="1333531" y="3210558"/>
                  </a:lnTo>
                  <a:lnTo>
                    <a:pt x="1374910" y="3206153"/>
                  </a:lnTo>
                  <a:lnTo>
                    <a:pt x="1415897" y="3200034"/>
                  </a:lnTo>
                  <a:lnTo>
                    <a:pt x="1456469" y="3192230"/>
                  </a:lnTo>
                  <a:lnTo>
                    <a:pt x="1496604" y="3182769"/>
                  </a:lnTo>
                  <a:lnTo>
                    <a:pt x="1536280" y="3171679"/>
                  </a:lnTo>
                  <a:lnTo>
                    <a:pt x="1575476" y="3158987"/>
                  </a:lnTo>
                  <a:lnTo>
                    <a:pt x="1614170" y="3144723"/>
                  </a:lnTo>
                  <a:lnTo>
                    <a:pt x="1652340" y="3128913"/>
                  </a:lnTo>
                  <a:lnTo>
                    <a:pt x="1689964" y="3111587"/>
                  </a:lnTo>
                  <a:lnTo>
                    <a:pt x="1727020" y="3092771"/>
                  </a:lnTo>
                  <a:lnTo>
                    <a:pt x="1763486" y="3072495"/>
                  </a:lnTo>
                  <a:lnTo>
                    <a:pt x="1799341" y="3050785"/>
                  </a:lnTo>
                  <a:lnTo>
                    <a:pt x="1834563" y="3027671"/>
                  </a:lnTo>
                  <a:lnTo>
                    <a:pt x="1869130" y="3003181"/>
                  </a:lnTo>
                  <a:lnTo>
                    <a:pt x="1903019" y="2977341"/>
                  </a:lnTo>
                  <a:lnTo>
                    <a:pt x="1936210" y="2950181"/>
                  </a:lnTo>
                  <a:lnTo>
                    <a:pt x="1968680" y="2921729"/>
                  </a:lnTo>
                  <a:lnTo>
                    <a:pt x="2000408" y="2892012"/>
                  </a:lnTo>
                  <a:lnTo>
                    <a:pt x="2031371" y="2861058"/>
                  </a:lnTo>
                  <a:lnTo>
                    <a:pt x="2061549" y="2828897"/>
                  </a:lnTo>
                  <a:lnTo>
                    <a:pt x="2090918" y="2795555"/>
                  </a:lnTo>
                  <a:lnTo>
                    <a:pt x="2119457" y="2761060"/>
                  </a:lnTo>
                  <a:lnTo>
                    <a:pt x="2147145" y="2725442"/>
                  </a:lnTo>
                  <a:lnTo>
                    <a:pt x="2173959" y="2688727"/>
                  </a:lnTo>
                  <a:lnTo>
                    <a:pt x="2199878" y="2650945"/>
                  </a:lnTo>
                  <a:lnTo>
                    <a:pt x="2224879" y="2612122"/>
                  </a:lnTo>
                  <a:lnTo>
                    <a:pt x="2248942" y="2572288"/>
                  </a:lnTo>
                  <a:lnTo>
                    <a:pt x="2272044" y="2531469"/>
                  </a:lnTo>
                  <a:lnTo>
                    <a:pt x="2294163" y="2489695"/>
                  </a:lnTo>
                  <a:lnTo>
                    <a:pt x="2315277" y="2446993"/>
                  </a:lnTo>
                  <a:lnTo>
                    <a:pt x="2335365" y="2403391"/>
                  </a:lnTo>
                  <a:lnTo>
                    <a:pt x="2354405" y="2358917"/>
                  </a:lnTo>
                  <a:lnTo>
                    <a:pt x="2372374" y="2313600"/>
                  </a:lnTo>
                  <a:lnTo>
                    <a:pt x="2389252" y="2267468"/>
                  </a:lnTo>
                  <a:lnTo>
                    <a:pt x="2405016" y="2220548"/>
                  </a:lnTo>
                  <a:lnTo>
                    <a:pt x="2419644" y="2172868"/>
                  </a:lnTo>
                  <a:lnTo>
                    <a:pt x="2433115" y="2124457"/>
                  </a:lnTo>
                  <a:lnTo>
                    <a:pt x="2445407" y="2075343"/>
                  </a:lnTo>
                  <a:lnTo>
                    <a:pt x="2456497" y="2025553"/>
                  </a:lnTo>
                  <a:lnTo>
                    <a:pt x="2466365" y="1975117"/>
                  </a:lnTo>
                  <a:lnTo>
                    <a:pt x="2474987" y="1924061"/>
                  </a:lnTo>
                  <a:lnTo>
                    <a:pt x="2482343" y="1872414"/>
                  </a:lnTo>
                  <a:lnTo>
                    <a:pt x="2488411" y="1820204"/>
                  </a:lnTo>
                  <a:lnTo>
                    <a:pt x="2493168" y="1767459"/>
                  </a:lnTo>
                  <a:lnTo>
                    <a:pt x="2496593" y="1714208"/>
                  </a:lnTo>
                  <a:lnTo>
                    <a:pt x="2498664" y="1660477"/>
                  </a:lnTo>
                  <a:lnTo>
                    <a:pt x="2499359" y="1606295"/>
                  </a:lnTo>
                  <a:lnTo>
                    <a:pt x="2498664" y="1552205"/>
                  </a:lnTo>
                  <a:lnTo>
                    <a:pt x="2496593" y="1498563"/>
                  </a:lnTo>
                  <a:lnTo>
                    <a:pt x="2493168" y="1445395"/>
                  </a:lnTo>
                  <a:lnTo>
                    <a:pt x="2488411" y="1392730"/>
                  </a:lnTo>
                  <a:lnTo>
                    <a:pt x="2482343" y="1340597"/>
                  </a:lnTo>
                  <a:lnTo>
                    <a:pt x="2474987" y="1289024"/>
                  </a:lnTo>
                  <a:lnTo>
                    <a:pt x="2466365" y="1238038"/>
                  </a:lnTo>
                  <a:lnTo>
                    <a:pt x="2456497" y="1187669"/>
                  </a:lnTo>
                  <a:lnTo>
                    <a:pt x="2445407" y="1137943"/>
                  </a:lnTo>
                  <a:lnTo>
                    <a:pt x="2433115" y="1088889"/>
                  </a:lnTo>
                  <a:lnTo>
                    <a:pt x="2419644" y="1040536"/>
                  </a:lnTo>
                  <a:lnTo>
                    <a:pt x="2405016" y="992911"/>
                  </a:lnTo>
                  <a:lnTo>
                    <a:pt x="2389252" y="946043"/>
                  </a:lnTo>
                  <a:lnTo>
                    <a:pt x="2372374" y="899959"/>
                  </a:lnTo>
                  <a:lnTo>
                    <a:pt x="2354405" y="854688"/>
                  </a:lnTo>
                  <a:lnTo>
                    <a:pt x="2335365" y="810259"/>
                  </a:lnTo>
                  <a:lnTo>
                    <a:pt x="2315277" y="766698"/>
                  </a:lnTo>
                  <a:lnTo>
                    <a:pt x="2294163" y="724034"/>
                  </a:lnTo>
                  <a:lnTo>
                    <a:pt x="2272044" y="682296"/>
                  </a:lnTo>
                  <a:lnTo>
                    <a:pt x="2248942" y="641511"/>
                  </a:lnTo>
                  <a:lnTo>
                    <a:pt x="2224879" y="601708"/>
                  </a:lnTo>
                  <a:lnTo>
                    <a:pt x="2199878" y="562915"/>
                  </a:lnTo>
                  <a:lnTo>
                    <a:pt x="2173959" y="525160"/>
                  </a:lnTo>
                  <a:lnTo>
                    <a:pt x="2147145" y="488471"/>
                  </a:lnTo>
                  <a:lnTo>
                    <a:pt x="2119457" y="452875"/>
                  </a:lnTo>
                  <a:lnTo>
                    <a:pt x="2090918" y="418403"/>
                  </a:lnTo>
                  <a:lnTo>
                    <a:pt x="2061549" y="385080"/>
                  </a:lnTo>
                  <a:lnTo>
                    <a:pt x="2031371" y="352937"/>
                  </a:lnTo>
                  <a:lnTo>
                    <a:pt x="2000408" y="322000"/>
                  </a:lnTo>
                  <a:lnTo>
                    <a:pt x="1968680" y="292297"/>
                  </a:lnTo>
                  <a:lnTo>
                    <a:pt x="1936210" y="263858"/>
                  </a:lnTo>
                  <a:lnTo>
                    <a:pt x="1903019" y="236710"/>
                  </a:lnTo>
                  <a:lnTo>
                    <a:pt x="1869130" y="210881"/>
                  </a:lnTo>
                  <a:lnTo>
                    <a:pt x="1834563" y="186400"/>
                  </a:lnTo>
                  <a:lnTo>
                    <a:pt x="1799341" y="163294"/>
                  </a:lnTo>
                  <a:lnTo>
                    <a:pt x="1763486" y="141592"/>
                  </a:lnTo>
                  <a:lnTo>
                    <a:pt x="1727020" y="121322"/>
                  </a:lnTo>
                  <a:lnTo>
                    <a:pt x="1689964" y="102511"/>
                  </a:lnTo>
                  <a:lnTo>
                    <a:pt x="1652340" y="85189"/>
                  </a:lnTo>
                  <a:lnTo>
                    <a:pt x="1614170" y="69383"/>
                  </a:lnTo>
                  <a:lnTo>
                    <a:pt x="1575476" y="55121"/>
                  </a:lnTo>
                  <a:lnTo>
                    <a:pt x="1536280" y="42432"/>
                  </a:lnTo>
                  <a:lnTo>
                    <a:pt x="1496604" y="31343"/>
                  </a:lnTo>
                  <a:lnTo>
                    <a:pt x="1456469" y="21883"/>
                  </a:lnTo>
                  <a:lnTo>
                    <a:pt x="1415897" y="14080"/>
                  </a:lnTo>
                  <a:lnTo>
                    <a:pt x="1374910" y="7962"/>
                  </a:lnTo>
                  <a:lnTo>
                    <a:pt x="1333531" y="3557"/>
                  </a:lnTo>
                  <a:lnTo>
                    <a:pt x="1291780" y="894"/>
                  </a:lnTo>
                  <a:lnTo>
                    <a:pt x="1249679" y="0"/>
                  </a:lnTo>
                  <a:close/>
                </a:path>
              </a:pathLst>
            </a:custGeom>
            <a:ln w="38099">
              <a:solidFill>
                <a:srgbClr val="375D89"/>
              </a:solidFill>
            </a:ln>
          </p:spPr>
          <p:txBody>
            <a:bodyPr wrap="square" lIns="0" tIns="0" rIns="0" bIns="0" rtlCol="0"/>
            <a:lstStyle/>
            <a:p>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16865" rIns="0" bIns="0" rtlCol="0">
            <a:spAutoFit/>
          </a:bodyPr>
          <a:lstStyle/>
          <a:p>
            <a:pPr marL="2510155">
              <a:lnSpc>
                <a:spcPct val="100000"/>
              </a:lnSpc>
              <a:spcBef>
                <a:spcPts val="95"/>
              </a:spcBef>
            </a:pPr>
            <a:r>
              <a:rPr sz="4000" dirty="0"/>
              <a:t>Tabla</a:t>
            </a:r>
            <a:r>
              <a:rPr sz="4000" spc="-80" dirty="0"/>
              <a:t> </a:t>
            </a:r>
            <a:r>
              <a:rPr sz="4000" b="1" spc="-10" dirty="0">
                <a:latin typeface="Arial"/>
                <a:cs typeface="Arial"/>
              </a:rPr>
              <a:t>cuenta</a:t>
            </a:r>
            <a:endParaRPr sz="4000" dirty="0">
              <a:latin typeface="Arial"/>
              <a:cs typeface="Arial"/>
            </a:endParaRPr>
          </a:p>
        </p:txBody>
      </p:sp>
      <p:sp>
        <p:nvSpPr>
          <p:cNvPr id="3" name="object 3"/>
          <p:cNvSpPr txBox="1"/>
          <p:nvPr/>
        </p:nvSpPr>
        <p:spPr>
          <a:xfrm>
            <a:off x="1219085" y="1803907"/>
            <a:ext cx="7796530" cy="2499995"/>
          </a:xfrm>
          <a:prstGeom prst="rect">
            <a:avLst/>
          </a:prstGeom>
        </p:spPr>
        <p:txBody>
          <a:bodyPr vert="horz" wrap="square" lIns="0" tIns="12065" rIns="0" bIns="0" rtlCol="0">
            <a:spAutoFit/>
          </a:bodyPr>
          <a:lstStyle/>
          <a:p>
            <a:pPr marL="76200">
              <a:lnSpc>
                <a:spcPct val="100000"/>
              </a:lnSpc>
              <a:spcBef>
                <a:spcPts val="95"/>
              </a:spcBef>
            </a:pPr>
            <a:r>
              <a:rPr sz="2800" spc="-10" dirty="0">
                <a:latin typeface="Arial MT"/>
                <a:cs typeface="Arial MT"/>
              </a:rPr>
              <a:t>Sean:</a:t>
            </a:r>
            <a:endParaRPr sz="2800">
              <a:latin typeface="Arial MT"/>
              <a:cs typeface="Arial MT"/>
            </a:endParaRPr>
          </a:p>
          <a:p>
            <a:pPr marL="416559" marR="962660" indent="-340995">
              <a:lnSpc>
                <a:spcPts val="2690"/>
              </a:lnSpc>
              <a:spcBef>
                <a:spcPts val="645"/>
              </a:spcBef>
              <a:buFont typeface="Arial MT"/>
              <a:buChar char="•"/>
              <a:tabLst>
                <a:tab pos="419100" algn="l"/>
              </a:tabLst>
            </a:pPr>
            <a:r>
              <a:rPr sz="2800" b="1" dirty="0">
                <a:latin typeface="Arial"/>
                <a:cs typeface="Arial"/>
              </a:rPr>
              <a:t>D</a:t>
            </a:r>
            <a:r>
              <a:rPr sz="2850" b="1" baseline="-20467" dirty="0">
                <a:latin typeface="Arial"/>
                <a:cs typeface="Arial"/>
              </a:rPr>
              <a:t>1</a:t>
            </a:r>
            <a:r>
              <a:rPr sz="2850" b="1" spc="284" baseline="-20467" dirty="0">
                <a:latin typeface="Arial"/>
                <a:cs typeface="Arial"/>
              </a:rPr>
              <a:t> </a:t>
            </a:r>
            <a:r>
              <a:rPr sz="2800" dirty="0">
                <a:latin typeface="Arial MT"/>
                <a:cs typeface="Arial MT"/>
              </a:rPr>
              <a:t>el</a:t>
            </a:r>
            <a:r>
              <a:rPr sz="2800" spc="-60" dirty="0">
                <a:latin typeface="Arial MT"/>
                <a:cs typeface="Arial MT"/>
              </a:rPr>
              <a:t> </a:t>
            </a:r>
            <a:r>
              <a:rPr sz="2800" dirty="0">
                <a:latin typeface="Arial MT"/>
                <a:cs typeface="Arial MT"/>
              </a:rPr>
              <a:t>conjunto</a:t>
            </a:r>
            <a:r>
              <a:rPr sz="2800" spc="-50" dirty="0">
                <a:latin typeface="Arial MT"/>
                <a:cs typeface="Arial MT"/>
              </a:rPr>
              <a:t> </a:t>
            </a:r>
            <a:r>
              <a:rPr sz="2800" dirty="0">
                <a:latin typeface="Arial MT"/>
                <a:cs typeface="Arial MT"/>
              </a:rPr>
              <a:t>de</a:t>
            </a:r>
            <a:r>
              <a:rPr sz="2800" spc="-55" dirty="0">
                <a:latin typeface="Arial MT"/>
                <a:cs typeface="Arial MT"/>
              </a:rPr>
              <a:t> </a:t>
            </a:r>
            <a:r>
              <a:rPr sz="2800" dirty="0">
                <a:latin typeface="Arial MT"/>
                <a:cs typeface="Arial MT"/>
              </a:rPr>
              <a:t>todos</a:t>
            </a:r>
            <a:r>
              <a:rPr sz="2800" spc="-60" dirty="0">
                <a:latin typeface="Arial MT"/>
                <a:cs typeface="Arial MT"/>
              </a:rPr>
              <a:t> </a:t>
            </a:r>
            <a:r>
              <a:rPr sz="2800" b="1" dirty="0">
                <a:latin typeface="Arial"/>
                <a:cs typeface="Arial"/>
              </a:rPr>
              <a:t>los</a:t>
            </a:r>
            <a:r>
              <a:rPr sz="2800" b="1" spc="-50" dirty="0">
                <a:latin typeface="Arial"/>
                <a:cs typeface="Arial"/>
              </a:rPr>
              <a:t> </a:t>
            </a:r>
            <a:r>
              <a:rPr sz="2800" b="1" dirty="0">
                <a:latin typeface="Arial"/>
                <a:cs typeface="Arial"/>
              </a:rPr>
              <a:t>números</a:t>
            </a:r>
            <a:r>
              <a:rPr sz="2800" b="1" spc="-45" dirty="0">
                <a:latin typeface="Arial"/>
                <a:cs typeface="Arial"/>
              </a:rPr>
              <a:t> </a:t>
            </a:r>
            <a:r>
              <a:rPr sz="2800" b="1" spc="-25" dirty="0">
                <a:latin typeface="Arial"/>
                <a:cs typeface="Arial"/>
              </a:rPr>
              <a:t>de 	</a:t>
            </a:r>
            <a:r>
              <a:rPr sz="2800" b="1" dirty="0">
                <a:latin typeface="Arial"/>
                <a:cs typeface="Arial"/>
              </a:rPr>
              <a:t>cuentas</a:t>
            </a:r>
            <a:r>
              <a:rPr sz="2800" dirty="0">
                <a:latin typeface="Arial MT"/>
                <a:cs typeface="Arial MT"/>
              </a:rPr>
              <a:t>,</a:t>
            </a:r>
            <a:r>
              <a:rPr sz="2800" spc="-100" dirty="0">
                <a:latin typeface="Arial MT"/>
                <a:cs typeface="Arial MT"/>
              </a:rPr>
              <a:t> </a:t>
            </a:r>
            <a:r>
              <a:rPr sz="2800" spc="-50" dirty="0">
                <a:latin typeface="Arial MT"/>
                <a:cs typeface="Arial MT"/>
              </a:rPr>
              <a:t>y</a:t>
            </a:r>
            <a:endParaRPr sz="2800">
              <a:latin typeface="Arial MT"/>
              <a:cs typeface="Arial MT"/>
            </a:endParaRPr>
          </a:p>
          <a:p>
            <a:pPr marL="417195" indent="-340995">
              <a:lnSpc>
                <a:spcPct val="100000"/>
              </a:lnSpc>
              <a:spcBef>
                <a:spcPts val="20"/>
              </a:spcBef>
              <a:buFont typeface="Arial MT"/>
              <a:buChar char="•"/>
              <a:tabLst>
                <a:tab pos="417195" algn="l"/>
              </a:tabLst>
            </a:pPr>
            <a:r>
              <a:rPr sz="2800" b="1" dirty="0">
                <a:latin typeface="Arial"/>
                <a:cs typeface="Arial"/>
              </a:rPr>
              <a:t>D</a:t>
            </a:r>
            <a:r>
              <a:rPr sz="2850" b="1" baseline="-20467" dirty="0">
                <a:latin typeface="Arial"/>
                <a:cs typeface="Arial"/>
              </a:rPr>
              <a:t>2</a:t>
            </a:r>
            <a:r>
              <a:rPr sz="2850" b="1" spc="300" baseline="-20467" dirty="0">
                <a:latin typeface="Arial"/>
                <a:cs typeface="Arial"/>
              </a:rPr>
              <a:t> </a:t>
            </a:r>
            <a:r>
              <a:rPr sz="2800" dirty="0">
                <a:latin typeface="Arial MT"/>
                <a:cs typeface="Arial MT"/>
              </a:rPr>
              <a:t>el</a:t>
            </a:r>
            <a:r>
              <a:rPr sz="2800" spc="-45" dirty="0">
                <a:latin typeface="Arial MT"/>
                <a:cs typeface="Arial MT"/>
              </a:rPr>
              <a:t> </a:t>
            </a:r>
            <a:r>
              <a:rPr sz="2800" dirty="0">
                <a:latin typeface="Arial MT"/>
                <a:cs typeface="Arial MT"/>
              </a:rPr>
              <a:t>conjunto</a:t>
            </a:r>
            <a:r>
              <a:rPr sz="2800" spc="-45" dirty="0">
                <a:latin typeface="Arial MT"/>
                <a:cs typeface="Arial MT"/>
              </a:rPr>
              <a:t> </a:t>
            </a:r>
            <a:r>
              <a:rPr sz="2800" dirty="0">
                <a:latin typeface="Arial MT"/>
                <a:cs typeface="Arial MT"/>
              </a:rPr>
              <a:t>de</a:t>
            </a:r>
            <a:r>
              <a:rPr sz="2800" spc="-45" dirty="0">
                <a:latin typeface="Arial MT"/>
                <a:cs typeface="Arial MT"/>
              </a:rPr>
              <a:t> </a:t>
            </a:r>
            <a:r>
              <a:rPr sz="2800" dirty="0">
                <a:latin typeface="Arial MT"/>
                <a:cs typeface="Arial MT"/>
              </a:rPr>
              <a:t>todos</a:t>
            </a:r>
            <a:r>
              <a:rPr sz="2800" spc="-45" dirty="0">
                <a:latin typeface="Arial MT"/>
                <a:cs typeface="Arial MT"/>
              </a:rPr>
              <a:t> </a:t>
            </a:r>
            <a:r>
              <a:rPr sz="2800" b="1" dirty="0">
                <a:latin typeface="Arial"/>
                <a:cs typeface="Arial"/>
              </a:rPr>
              <a:t>los</a:t>
            </a:r>
            <a:r>
              <a:rPr sz="2800" b="1" spc="-45" dirty="0">
                <a:latin typeface="Arial"/>
                <a:cs typeface="Arial"/>
              </a:rPr>
              <a:t> </a:t>
            </a:r>
            <a:r>
              <a:rPr sz="2800" b="1" spc="-10" dirty="0">
                <a:latin typeface="Arial"/>
                <a:cs typeface="Arial"/>
              </a:rPr>
              <a:t>saldos.</a:t>
            </a:r>
            <a:endParaRPr sz="2800">
              <a:latin typeface="Arial"/>
              <a:cs typeface="Arial"/>
            </a:endParaRPr>
          </a:p>
          <a:p>
            <a:pPr>
              <a:lnSpc>
                <a:spcPct val="100000"/>
              </a:lnSpc>
              <a:spcBef>
                <a:spcPts val="140"/>
              </a:spcBef>
            </a:pPr>
            <a:endParaRPr sz="2800">
              <a:latin typeface="Arial"/>
              <a:cs typeface="Arial"/>
            </a:endParaRPr>
          </a:p>
          <a:p>
            <a:pPr marL="626110">
              <a:lnSpc>
                <a:spcPct val="100000"/>
              </a:lnSpc>
              <a:spcBef>
                <a:spcPts val="5"/>
              </a:spcBef>
            </a:pPr>
            <a:r>
              <a:rPr sz="2800" b="1" dirty="0">
                <a:latin typeface="Arial"/>
                <a:cs typeface="Arial"/>
              </a:rPr>
              <a:t>Cualquier</a:t>
            </a:r>
            <a:r>
              <a:rPr sz="2800" b="1" spc="-60" dirty="0">
                <a:latin typeface="Arial"/>
                <a:cs typeface="Arial"/>
              </a:rPr>
              <a:t> </a:t>
            </a:r>
            <a:r>
              <a:rPr sz="2800" b="1" dirty="0">
                <a:latin typeface="Arial"/>
                <a:cs typeface="Arial"/>
              </a:rPr>
              <a:t>fila</a:t>
            </a:r>
            <a:r>
              <a:rPr sz="2800" b="1" spc="-55" dirty="0">
                <a:latin typeface="Arial"/>
                <a:cs typeface="Arial"/>
              </a:rPr>
              <a:t> </a:t>
            </a:r>
            <a:r>
              <a:rPr sz="2800" dirty="0">
                <a:latin typeface="Arial MT"/>
                <a:cs typeface="Arial MT"/>
              </a:rPr>
              <a:t>de</a:t>
            </a:r>
            <a:r>
              <a:rPr sz="2800" spc="-55" dirty="0">
                <a:latin typeface="Arial MT"/>
                <a:cs typeface="Arial MT"/>
              </a:rPr>
              <a:t> </a:t>
            </a:r>
            <a:r>
              <a:rPr sz="2800" dirty="0">
                <a:latin typeface="Arial MT"/>
                <a:cs typeface="Arial MT"/>
              </a:rPr>
              <a:t>la</a:t>
            </a:r>
            <a:r>
              <a:rPr sz="2800" spc="-55" dirty="0">
                <a:latin typeface="Arial MT"/>
                <a:cs typeface="Arial MT"/>
              </a:rPr>
              <a:t> </a:t>
            </a:r>
            <a:r>
              <a:rPr sz="2800" dirty="0">
                <a:latin typeface="Arial MT"/>
                <a:cs typeface="Arial MT"/>
              </a:rPr>
              <a:t>tabla</a:t>
            </a:r>
            <a:r>
              <a:rPr sz="2800" spc="-55" dirty="0">
                <a:latin typeface="Arial MT"/>
                <a:cs typeface="Arial MT"/>
              </a:rPr>
              <a:t> </a:t>
            </a:r>
            <a:r>
              <a:rPr sz="2800" dirty="0">
                <a:latin typeface="Arial MT"/>
                <a:cs typeface="Arial MT"/>
              </a:rPr>
              <a:t>Cuenta</a:t>
            </a:r>
            <a:r>
              <a:rPr sz="2800" spc="-60" dirty="0">
                <a:latin typeface="Arial MT"/>
                <a:cs typeface="Arial MT"/>
              </a:rPr>
              <a:t> </a:t>
            </a:r>
            <a:r>
              <a:rPr sz="2800" dirty="0">
                <a:latin typeface="Arial MT"/>
                <a:cs typeface="Arial MT"/>
              </a:rPr>
              <a:t>consiste</a:t>
            </a:r>
            <a:r>
              <a:rPr sz="2800" spc="-55" dirty="0">
                <a:latin typeface="Arial MT"/>
                <a:cs typeface="Arial MT"/>
              </a:rPr>
              <a:t> </a:t>
            </a:r>
            <a:r>
              <a:rPr sz="2800" spc="-25" dirty="0">
                <a:latin typeface="Arial MT"/>
                <a:cs typeface="Arial MT"/>
              </a:rPr>
              <a:t>en</a:t>
            </a:r>
            <a:endParaRPr sz="2800">
              <a:latin typeface="Arial MT"/>
              <a:cs typeface="Arial MT"/>
            </a:endParaRPr>
          </a:p>
        </p:txBody>
      </p:sp>
      <p:sp>
        <p:nvSpPr>
          <p:cNvPr id="4" name="object 4"/>
          <p:cNvSpPr txBox="1"/>
          <p:nvPr/>
        </p:nvSpPr>
        <p:spPr>
          <a:xfrm>
            <a:off x="1351674" y="4280406"/>
            <a:ext cx="3910329" cy="452120"/>
          </a:xfrm>
          <a:prstGeom prst="rect">
            <a:avLst/>
          </a:prstGeom>
        </p:spPr>
        <p:txBody>
          <a:bodyPr vert="horz" wrap="square" lIns="0" tIns="12065" rIns="0" bIns="0" rtlCol="0">
            <a:spAutoFit/>
          </a:bodyPr>
          <a:lstStyle/>
          <a:p>
            <a:pPr marL="38100">
              <a:lnSpc>
                <a:spcPct val="100000"/>
              </a:lnSpc>
              <a:spcBef>
                <a:spcPts val="95"/>
              </a:spcBef>
            </a:pPr>
            <a:r>
              <a:rPr sz="2800" dirty="0">
                <a:latin typeface="Arial MT"/>
                <a:cs typeface="Arial MT"/>
              </a:rPr>
              <a:t>una</a:t>
            </a:r>
            <a:r>
              <a:rPr sz="2800" spc="-45" dirty="0">
                <a:latin typeface="Arial MT"/>
                <a:cs typeface="Arial MT"/>
              </a:rPr>
              <a:t> </a:t>
            </a:r>
            <a:r>
              <a:rPr sz="2800" dirty="0">
                <a:latin typeface="Arial MT"/>
                <a:cs typeface="Arial MT"/>
              </a:rPr>
              <a:t>tupla</a:t>
            </a:r>
            <a:r>
              <a:rPr sz="2800" spc="-40" dirty="0">
                <a:latin typeface="Arial MT"/>
                <a:cs typeface="Arial MT"/>
              </a:rPr>
              <a:t> </a:t>
            </a:r>
            <a:r>
              <a:rPr sz="2800" dirty="0">
                <a:latin typeface="Arial MT"/>
                <a:cs typeface="Arial MT"/>
              </a:rPr>
              <a:t>binaria</a:t>
            </a:r>
            <a:r>
              <a:rPr sz="2800" spc="685" dirty="0">
                <a:latin typeface="Arial MT"/>
                <a:cs typeface="Arial MT"/>
              </a:rPr>
              <a:t> </a:t>
            </a:r>
            <a:r>
              <a:rPr sz="2800" b="1" spc="-10" dirty="0">
                <a:latin typeface="Arial"/>
                <a:cs typeface="Arial"/>
              </a:rPr>
              <a:t>(v</a:t>
            </a:r>
            <a:r>
              <a:rPr sz="2850" b="1" spc="-15" baseline="-20467" dirty="0">
                <a:latin typeface="Arial"/>
                <a:cs typeface="Arial"/>
              </a:rPr>
              <a:t>1</a:t>
            </a:r>
            <a:r>
              <a:rPr sz="2800" b="1" spc="-10" dirty="0">
                <a:latin typeface="Arial"/>
                <a:cs typeface="Arial"/>
              </a:rPr>
              <a:t>,v</a:t>
            </a:r>
            <a:r>
              <a:rPr sz="2850" b="1" spc="-15" baseline="-20467" dirty="0">
                <a:latin typeface="Arial"/>
                <a:cs typeface="Arial"/>
              </a:rPr>
              <a:t>2</a:t>
            </a:r>
            <a:r>
              <a:rPr sz="2800" b="1" spc="-10" dirty="0">
                <a:latin typeface="Arial"/>
                <a:cs typeface="Arial"/>
              </a:rPr>
              <a:t>)</a:t>
            </a:r>
            <a:endParaRPr sz="2800">
              <a:latin typeface="Arial"/>
              <a:cs typeface="Arial"/>
            </a:endParaRPr>
          </a:p>
        </p:txBody>
      </p:sp>
      <p:sp>
        <p:nvSpPr>
          <p:cNvPr id="5" name="object 5"/>
          <p:cNvSpPr txBox="1"/>
          <p:nvPr/>
        </p:nvSpPr>
        <p:spPr>
          <a:xfrm>
            <a:off x="5268370" y="4280406"/>
            <a:ext cx="4215130" cy="793115"/>
          </a:xfrm>
          <a:prstGeom prst="rect">
            <a:avLst/>
          </a:prstGeom>
        </p:spPr>
        <p:txBody>
          <a:bodyPr vert="horz" wrap="square" lIns="0" tIns="97155" rIns="0" bIns="0" rtlCol="0">
            <a:spAutoFit/>
          </a:bodyPr>
          <a:lstStyle/>
          <a:p>
            <a:pPr marL="76200" marR="30480" indent="471805">
              <a:lnSpc>
                <a:spcPct val="80000"/>
              </a:lnSpc>
              <a:spcBef>
                <a:spcPts val="765"/>
              </a:spcBef>
              <a:tabLst>
                <a:tab pos="2756535" algn="l"/>
                <a:tab pos="3230245" algn="l"/>
                <a:tab pos="3761104" algn="l"/>
              </a:tabLst>
            </a:pPr>
            <a:r>
              <a:rPr sz="2800" dirty="0">
                <a:latin typeface="Arial MT"/>
                <a:cs typeface="Arial MT"/>
              </a:rPr>
              <a:t>con</a:t>
            </a:r>
            <a:r>
              <a:rPr sz="2800" spc="-30" dirty="0">
                <a:latin typeface="Arial MT"/>
                <a:cs typeface="Arial MT"/>
              </a:rPr>
              <a:t> </a:t>
            </a:r>
            <a:r>
              <a:rPr sz="2800" b="1" dirty="0">
                <a:latin typeface="Arial"/>
                <a:cs typeface="Arial"/>
              </a:rPr>
              <a:t>v</a:t>
            </a:r>
            <a:r>
              <a:rPr sz="2850" b="1" baseline="-20467" dirty="0">
                <a:latin typeface="Arial"/>
                <a:cs typeface="Arial"/>
              </a:rPr>
              <a:t>1</a:t>
            </a:r>
            <a:r>
              <a:rPr sz="2850" b="1" spc="322" baseline="-20467" dirty="0">
                <a:latin typeface="Arial"/>
                <a:cs typeface="Arial"/>
              </a:rPr>
              <a:t> </a:t>
            </a:r>
            <a:r>
              <a:rPr sz="2800" b="1" dirty="0">
                <a:latin typeface="Arial"/>
                <a:cs typeface="Arial"/>
              </a:rPr>
              <a:t>en</a:t>
            </a:r>
            <a:r>
              <a:rPr sz="2800" b="1" spc="-25" dirty="0">
                <a:latin typeface="Arial"/>
                <a:cs typeface="Arial"/>
              </a:rPr>
              <a:t> D</a:t>
            </a:r>
            <a:r>
              <a:rPr sz="2850" b="1" spc="-37" baseline="-20467" dirty="0">
                <a:latin typeface="Arial"/>
                <a:cs typeface="Arial"/>
              </a:rPr>
              <a:t>1</a:t>
            </a:r>
            <a:r>
              <a:rPr sz="2850" b="1" baseline="-20467" dirty="0">
                <a:latin typeface="Arial"/>
                <a:cs typeface="Arial"/>
              </a:rPr>
              <a:t>	</a:t>
            </a:r>
            <a:r>
              <a:rPr sz="2800" spc="-50" dirty="0">
                <a:latin typeface="Arial MT"/>
                <a:cs typeface="Arial MT"/>
              </a:rPr>
              <a:t>y</a:t>
            </a:r>
            <a:r>
              <a:rPr sz="2800" dirty="0">
                <a:latin typeface="Arial MT"/>
                <a:cs typeface="Arial MT"/>
              </a:rPr>
              <a:t>	</a:t>
            </a:r>
            <a:r>
              <a:rPr sz="2800" b="1" spc="-25" dirty="0">
                <a:latin typeface="Arial"/>
                <a:cs typeface="Arial"/>
              </a:rPr>
              <a:t>v</a:t>
            </a:r>
            <a:r>
              <a:rPr sz="2850" b="1" spc="-37" baseline="-20467" dirty="0">
                <a:latin typeface="Arial"/>
                <a:cs typeface="Arial"/>
              </a:rPr>
              <a:t>2</a:t>
            </a:r>
            <a:r>
              <a:rPr sz="2850" b="1" baseline="-20467" dirty="0">
                <a:latin typeface="Arial"/>
                <a:cs typeface="Arial"/>
              </a:rPr>
              <a:t>	</a:t>
            </a:r>
            <a:r>
              <a:rPr sz="2800" b="1" spc="-25" dirty="0">
                <a:latin typeface="Arial"/>
                <a:cs typeface="Arial"/>
              </a:rPr>
              <a:t>en D</a:t>
            </a:r>
            <a:r>
              <a:rPr sz="2850" b="1" spc="-37" baseline="-20467" dirty="0">
                <a:latin typeface="Arial"/>
                <a:cs typeface="Arial"/>
              </a:rPr>
              <a:t>2</a:t>
            </a:r>
            <a:r>
              <a:rPr sz="2800" spc="-25" dirty="0">
                <a:latin typeface="Arial MT"/>
                <a:cs typeface="Arial MT"/>
              </a:rPr>
              <a:t>.</a:t>
            </a:r>
            <a:endParaRPr sz="2800">
              <a:latin typeface="Arial MT"/>
              <a:cs typeface="Arial MT"/>
            </a:endParaRPr>
          </a:p>
        </p:txBody>
      </p:sp>
      <p:sp>
        <p:nvSpPr>
          <p:cNvPr id="6" name="object 6"/>
          <p:cNvSpPr txBox="1"/>
          <p:nvPr/>
        </p:nvSpPr>
        <p:spPr>
          <a:xfrm>
            <a:off x="1244465" y="5473697"/>
            <a:ext cx="8098155" cy="1414145"/>
          </a:xfrm>
          <a:prstGeom prst="rect">
            <a:avLst/>
          </a:prstGeom>
        </p:spPr>
        <p:txBody>
          <a:bodyPr vert="horz" wrap="square" lIns="0" tIns="12700" rIns="0" bIns="0" rtlCol="0">
            <a:spAutoFit/>
          </a:bodyPr>
          <a:lstStyle/>
          <a:p>
            <a:pPr marL="393065" indent="-342265">
              <a:lnSpc>
                <a:spcPts val="2590"/>
              </a:lnSpc>
              <a:spcBef>
                <a:spcPts val="100"/>
              </a:spcBef>
              <a:buChar char="•"/>
              <a:tabLst>
                <a:tab pos="393065" algn="l"/>
              </a:tabLst>
            </a:pPr>
            <a:r>
              <a:rPr sz="2400" dirty="0">
                <a:latin typeface="Arial MT"/>
                <a:cs typeface="Arial MT"/>
              </a:rPr>
              <a:t>El</a:t>
            </a:r>
            <a:r>
              <a:rPr sz="2400" spc="-55" dirty="0">
                <a:latin typeface="Arial MT"/>
                <a:cs typeface="Arial MT"/>
              </a:rPr>
              <a:t> </a:t>
            </a:r>
            <a:r>
              <a:rPr sz="2400" dirty="0">
                <a:latin typeface="Arial MT"/>
                <a:cs typeface="Arial MT"/>
              </a:rPr>
              <a:t>conjunto</a:t>
            </a:r>
            <a:r>
              <a:rPr sz="2400" spc="-40" dirty="0">
                <a:latin typeface="Arial MT"/>
                <a:cs typeface="Arial MT"/>
              </a:rPr>
              <a:t> </a:t>
            </a:r>
            <a:r>
              <a:rPr sz="2400" dirty="0">
                <a:latin typeface="Arial MT"/>
                <a:cs typeface="Arial MT"/>
              </a:rPr>
              <a:t>de</a:t>
            </a:r>
            <a:r>
              <a:rPr sz="2400" spc="-50" dirty="0">
                <a:latin typeface="Arial MT"/>
                <a:cs typeface="Arial MT"/>
              </a:rPr>
              <a:t> </a:t>
            </a:r>
            <a:r>
              <a:rPr sz="2400" b="1" dirty="0">
                <a:latin typeface="Arial"/>
                <a:cs typeface="Arial"/>
              </a:rPr>
              <a:t>todas</a:t>
            </a:r>
            <a:r>
              <a:rPr sz="2400" b="1" spc="-60" dirty="0">
                <a:latin typeface="Arial"/>
                <a:cs typeface="Arial"/>
              </a:rPr>
              <a:t> </a:t>
            </a:r>
            <a:r>
              <a:rPr sz="2400" b="1" dirty="0">
                <a:latin typeface="Arial"/>
                <a:cs typeface="Arial"/>
              </a:rPr>
              <a:t>la</a:t>
            </a:r>
            <a:r>
              <a:rPr sz="2400" b="1" spc="-50" dirty="0">
                <a:latin typeface="Arial"/>
                <a:cs typeface="Arial"/>
              </a:rPr>
              <a:t> </a:t>
            </a:r>
            <a:r>
              <a:rPr sz="2400" b="1" dirty="0">
                <a:latin typeface="Arial"/>
                <a:cs typeface="Arial"/>
              </a:rPr>
              <a:t>filas</a:t>
            </a:r>
            <a:r>
              <a:rPr sz="2400" b="1" spc="-45" dirty="0">
                <a:latin typeface="Arial"/>
                <a:cs typeface="Arial"/>
              </a:rPr>
              <a:t> </a:t>
            </a:r>
            <a:r>
              <a:rPr sz="2400" b="1" dirty="0">
                <a:latin typeface="Arial"/>
                <a:cs typeface="Arial"/>
              </a:rPr>
              <a:t>posibles</a:t>
            </a:r>
            <a:r>
              <a:rPr sz="2400" b="1" spc="-50" dirty="0">
                <a:latin typeface="Arial"/>
                <a:cs typeface="Arial"/>
              </a:rPr>
              <a:t> </a:t>
            </a:r>
            <a:r>
              <a:rPr sz="2400" dirty="0">
                <a:latin typeface="Arial MT"/>
                <a:cs typeface="Arial MT"/>
              </a:rPr>
              <a:t>de</a:t>
            </a:r>
            <a:r>
              <a:rPr sz="2400" spc="-45" dirty="0">
                <a:latin typeface="Arial MT"/>
                <a:cs typeface="Arial MT"/>
              </a:rPr>
              <a:t> </a:t>
            </a:r>
            <a:r>
              <a:rPr sz="2400" b="1" dirty="0">
                <a:latin typeface="Arial"/>
                <a:cs typeface="Arial"/>
              </a:rPr>
              <a:t>Cuenta</a:t>
            </a:r>
            <a:r>
              <a:rPr sz="2400" b="1" spc="-50" dirty="0">
                <a:latin typeface="Arial"/>
                <a:cs typeface="Arial"/>
              </a:rPr>
              <a:t> </a:t>
            </a:r>
            <a:r>
              <a:rPr sz="2400" dirty="0">
                <a:latin typeface="Arial MT"/>
                <a:cs typeface="Arial MT"/>
              </a:rPr>
              <a:t>es</a:t>
            </a:r>
            <a:r>
              <a:rPr sz="2400" spc="-45" dirty="0">
                <a:latin typeface="Arial MT"/>
                <a:cs typeface="Arial MT"/>
              </a:rPr>
              <a:t> </a:t>
            </a:r>
            <a:r>
              <a:rPr sz="2400" spc="-25" dirty="0">
                <a:latin typeface="Arial MT"/>
                <a:cs typeface="Arial MT"/>
              </a:rPr>
              <a:t>el</a:t>
            </a:r>
            <a:endParaRPr sz="2400">
              <a:latin typeface="Arial MT"/>
              <a:cs typeface="Arial MT"/>
            </a:endParaRPr>
          </a:p>
          <a:p>
            <a:pPr marL="393700">
              <a:lnSpc>
                <a:spcPts val="2590"/>
              </a:lnSpc>
            </a:pPr>
            <a:r>
              <a:rPr sz="2400" b="1" dirty="0">
                <a:latin typeface="Arial"/>
                <a:cs typeface="Arial"/>
              </a:rPr>
              <a:t>producto</a:t>
            </a:r>
            <a:r>
              <a:rPr sz="2400" b="1" spc="-70" dirty="0">
                <a:latin typeface="Arial"/>
                <a:cs typeface="Arial"/>
              </a:rPr>
              <a:t> </a:t>
            </a:r>
            <a:r>
              <a:rPr sz="2400" b="1" dirty="0">
                <a:latin typeface="Arial"/>
                <a:cs typeface="Arial"/>
              </a:rPr>
              <a:t>cartesiano</a:t>
            </a:r>
            <a:r>
              <a:rPr sz="2400" b="1" spc="-55" dirty="0">
                <a:latin typeface="Arial"/>
                <a:cs typeface="Arial"/>
              </a:rPr>
              <a:t> </a:t>
            </a:r>
            <a:r>
              <a:rPr sz="2400" b="1" dirty="0">
                <a:latin typeface="Arial"/>
                <a:cs typeface="Arial"/>
              </a:rPr>
              <a:t>D</a:t>
            </a:r>
            <a:r>
              <a:rPr sz="2400" b="1" baseline="-20833" dirty="0">
                <a:latin typeface="Arial"/>
                <a:cs typeface="Arial"/>
              </a:rPr>
              <a:t>1</a:t>
            </a:r>
            <a:r>
              <a:rPr sz="2400" b="1" spc="-67" baseline="-20833" dirty="0">
                <a:latin typeface="Arial"/>
                <a:cs typeface="Arial"/>
              </a:rPr>
              <a:t> </a:t>
            </a:r>
            <a:r>
              <a:rPr sz="2400" b="1" dirty="0">
                <a:latin typeface="Arial"/>
                <a:cs typeface="Arial"/>
              </a:rPr>
              <a:t>x</a:t>
            </a:r>
            <a:r>
              <a:rPr sz="2400" b="1" spc="-55" dirty="0">
                <a:latin typeface="Arial"/>
                <a:cs typeface="Arial"/>
              </a:rPr>
              <a:t> </a:t>
            </a:r>
            <a:r>
              <a:rPr sz="2400" b="1" spc="-25" dirty="0">
                <a:latin typeface="Arial"/>
                <a:cs typeface="Arial"/>
              </a:rPr>
              <a:t>D</a:t>
            </a:r>
            <a:r>
              <a:rPr sz="2400" b="1" spc="-37" baseline="-20833" dirty="0">
                <a:latin typeface="Arial"/>
                <a:cs typeface="Arial"/>
              </a:rPr>
              <a:t>2</a:t>
            </a:r>
            <a:r>
              <a:rPr sz="2400" spc="-25" dirty="0">
                <a:latin typeface="Arial MT"/>
                <a:cs typeface="Arial MT"/>
              </a:rPr>
              <a:t>.</a:t>
            </a:r>
            <a:endParaRPr sz="2400">
              <a:latin typeface="Arial MT"/>
              <a:cs typeface="Arial MT"/>
            </a:endParaRPr>
          </a:p>
          <a:p>
            <a:pPr>
              <a:lnSpc>
                <a:spcPct val="100000"/>
              </a:lnSpc>
              <a:spcBef>
                <a:spcPts val="105"/>
              </a:spcBef>
            </a:pPr>
            <a:endParaRPr sz="2400">
              <a:latin typeface="Arial MT"/>
              <a:cs typeface="Arial MT"/>
            </a:endParaRPr>
          </a:p>
          <a:p>
            <a:pPr marL="393065" indent="-342265">
              <a:lnSpc>
                <a:spcPct val="100000"/>
              </a:lnSpc>
              <a:buChar char="•"/>
              <a:tabLst>
                <a:tab pos="393065" algn="l"/>
              </a:tabLst>
            </a:pPr>
            <a:r>
              <a:rPr sz="2400" dirty="0">
                <a:latin typeface="Arial MT"/>
                <a:cs typeface="Arial MT"/>
              </a:rPr>
              <a:t>La</a:t>
            </a:r>
            <a:r>
              <a:rPr sz="2400" spc="-50" dirty="0">
                <a:latin typeface="Arial MT"/>
                <a:cs typeface="Arial MT"/>
              </a:rPr>
              <a:t> </a:t>
            </a:r>
            <a:r>
              <a:rPr sz="2400" b="1" dirty="0">
                <a:latin typeface="Arial"/>
                <a:cs typeface="Arial"/>
              </a:rPr>
              <a:t>tabla</a:t>
            </a:r>
            <a:r>
              <a:rPr sz="2400" b="1" spc="-50" dirty="0">
                <a:latin typeface="Arial"/>
                <a:cs typeface="Arial"/>
              </a:rPr>
              <a:t> </a:t>
            </a:r>
            <a:r>
              <a:rPr sz="2400" b="1" dirty="0">
                <a:latin typeface="Arial"/>
                <a:cs typeface="Arial"/>
              </a:rPr>
              <a:t>Cuenta</a:t>
            </a:r>
            <a:r>
              <a:rPr sz="2400" b="1" spc="-45" dirty="0">
                <a:latin typeface="Arial"/>
                <a:cs typeface="Arial"/>
              </a:rPr>
              <a:t> </a:t>
            </a:r>
            <a:r>
              <a:rPr sz="2400" dirty="0">
                <a:latin typeface="Arial MT"/>
                <a:cs typeface="Arial MT"/>
              </a:rPr>
              <a:t>contendrá</a:t>
            </a:r>
            <a:r>
              <a:rPr sz="2400" spc="-50" dirty="0">
                <a:latin typeface="Arial MT"/>
                <a:cs typeface="Arial MT"/>
              </a:rPr>
              <a:t> </a:t>
            </a:r>
            <a:r>
              <a:rPr sz="2400" dirty="0">
                <a:latin typeface="Arial MT"/>
                <a:cs typeface="Arial MT"/>
              </a:rPr>
              <a:t>un</a:t>
            </a:r>
            <a:r>
              <a:rPr sz="2400" spc="-55" dirty="0">
                <a:latin typeface="Arial MT"/>
                <a:cs typeface="Arial MT"/>
              </a:rPr>
              <a:t> </a:t>
            </a:r>
            <a:r>
              <a:rPr sz="2400" b="1" dirty="0">
                <a:latin typeface="Arial"/>
                <a:cs typeface="Arial"/>
              </a:rPr>
              <a:t>subconjunto</a:t>
            </a:r>
            <a:r>
              <a:rPr sz="2400" b="1" spc="-45" dirty="0">
                <a:latin typeface="Arial"/>
                <a:cs typeface="Arial"/>
              </a:rPr>
              <a:t> </a:t>
            </a:r>
            <a:r>
              <a:rPr sz="2400" b="1" dirty="0">
                <a:latin typeface="Arial"/>
                <a:cs typeface="Arial"/>
              </a:rPr>
              <a:t>de</a:t>
            </a:r>
            <a:r>
              <a:rPr sz="2400" b="1" spc="-50" dirty="0">
                <a:latin typeface="Arial"/>
                <a:cs typeface="Arial"/>
              </a:rPr>
              <a:t> </a:t>
            </a:r>
            <a:r>
              <a:rPr sz="2400" b="1" dirty="0">
                <a:latin typeface="Arial"/>
                <a:cs typeface="Arial"/>
              </a:rPr>
              <a:t>D</a:t>
            </a:r>
            <a:r>
              <a:rPr sz="2400" b="1" baseline="-20833" dirty="0">
                <a:latin typeface="Arial"/>
                <a:cs typeface="Arial"/>
              </a:rPr>
              <a:t>1</a:t>
            </a:r>
            <a:r>
              <a:rPr sz="2400" b="1" spc="270" baseline="-20833" dirty="0">
                <a:latin typeface="Arial"/>
                <a:cs typeface="Arial"/>
              </a:rPr>
              <a:t> </a:t>
            </a:r>
            <a:r>
              <a:rPr sz="2400" b="1" dirty="0">
                <a:latin typeface="Arial"/>
                <a:cs typeface="Arial"/>
              </a:rPr>
              <a:t>x</a:t>
            </a:r>
            <a:r>
              <a:rPr sz="2400" b="1" spc="-70" dirty="0">
                <a:latin typeface="Arial"/>
                <a:cs typeface="Arial"/>
              </a:rPr>
              <a:t> </a:t>
            </a:r>
            <a:r>
              <a:rPr sz="2400" b="1" spc="-25" dirty="0">
                <a:latin typeface="Arial"/>
                <a:cs typeface="Arial"/>
              </a:rPr>
              <a:t>D</a:t>
            </a:r>
            <a:r>
              <a:rPr sz="2400" b="1" spc="-37" baseline="-20833" dirty="0">
                <a:latin typeface="Arial"/>
                <a:cs typeface="Arial"/>
              </a:rPr>
              <a:t>2</a:t>
            </a:r>
            <a:r>
              <a:rPr sz="2400" b="1" spc="-25" dirty="0">
                <a:latin typeface="Arial"/>
                <a:cs typeface="Arial"/>
              </a:rPr>
              <a:t>.</a:t>
            </a:r>
            <a:endParaRPr sz="2400">
              <a:latin typeface="Arial"/>
              <a:cs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46099" y="654050"/>
            <a:ext cx="8687825" cy="1551066"/>
          </a:xfrm>
          <a:prstGeom prst="rect">
            <a:avLst/>
          </a:prstGeom>
        </p:spPr>
        <p:txBody>
          <a:bodyPr vert="horz" wrap="square" lIns="0" tIns="316865" rIns="0" bIns="0" rtlCol="0">
            <a:spAutoFit/>
          </a:bodyPr>
          <a:lstStyle/>
          <a:p>
            <a:pPr marL="250190">
              <a:lnSpc>
                <a:spcPct val="100000"/>
              </a:lnSpc>
              <a:spcBef>
                <a:spcPts val="95"/>
              </a:spcBef>
            </a:pPr>
            <a:r>
              <a:rPr sz="4000" dirty="0"/>
              <a:t>Tabla</a:t>
            </a:r>
            <a:r>
              <a:rPr sz="4000" spc="-95" dirty="0"/>
              <a:t> </a:t>
            </a:r>
            <a:r>
              <a:rPr sz="4000" dirty="0"/>
              <a:t>proveniente</a:t>
            </a:r>
            <a:r>
              <a:rPr sz="4000" spc="-105" dirty="0"/>
              <a:t> </a:t>
            </a:r>
            <a:r>
              <a:rPr sz="4000" dirty="0"/>
              <a:t>de</a:t>
            </a:r>
            <a:r>
              <a:rPr sz="4000" spc="-100" dirty="0"/>
              <a:t> </a:t>
            </a:r>
            <a:r>
              <a:rPr sz="4000" dirty="0" err="1" smtClean="0"/>
              <a:t>una</a:t>
            </a:r>
            <a:r>
              <a:rPr lang="es-ES" sz="4000" dirty="0" smtClean="0"/>
              <a:t> </a:t>
            </a:r>
            <a:r>
              <a:rPr sz="4000" spc="-10" dirty="0" err="1" smtClean="0"/>
              <a:t>entidad</a:t>
            </a:r>
            <a:endParaRPr sz="4000" dirty="0"/>
          </a:p>
        </p:txBody>
      </p:sp>
      <p:sp>
        <p:nvSpPr>
          <p:cNvPr id="3" name="object 3"/>
          <p:cNvSpPr txBox="1"/>
          <p:nvPr/>
        </p:nvSpPr>
        <p:spPr>
          <a:xfrm>
            <a:off x="1316110" y="2230627"/>
            <a:ext cx="7917815" cy="3782060"/>
          </a:xfrm>
          <a:prstGeom prst="rect">
            <a:avLst/>
          </a:prstGeom>
        </p:spPr>
        <p:txBody>
          <a:bodyPr vert="horz" wrap="square" lIns="0" tIns="12065" rIns="0" bIns="0" rtlCol="0">
            <a:spAutoFit/>
          </a:bodyPr>
          <a:lstStyle/>
          <a:p>
            <a:pPr marL="50800">
              <a:lnSpc>
                <a:spcPct val="100000"/>
              </a:lnSpc>
              <a:spcBef>
                <a:spcPts val="95"/>
              </a:spcBef>
            </a:pPr>
            <a:r>
              <a:rPr sz="2800" dirty="0">
                <a:latin typeface="Arial MT"/>
                <a:cs typeface="Arial MT"/>
              </a:rPr>
              <a:t>En</a:t>
            </a:r>
            <a:r>
              <a:rPr sz="2800" spc="-25" dirty="0">
                <a:latin typeface="Arial MT"/>
                <a:cs typeface="Arial MT"/>
              </a:rPr>
              <a:t> </a:t>
            </a:r>
            <a:r>
              <a:rPr sz="2800" spc="-10" dirty="0">
                <a:latin typeface="Arial MT"/>
                <a:cs typeface="Arial MT"/>
              </a:rPr>
              <a:t>general,</a:t>
            </a:r>
            <a:endParaRPr sz="2800">
              <a:latin typeface="Arial MT"/>
              <a:cs typeface="Arial MT"/>
            </a:endParaRPr>
          </a:p>
          <a:p>
            <a:pPr marL="1450975" marR="1214755" algn="ctr">
              <a:lnSpc>
                <a:spcPct val="100000"/>
              </a:lnSpc>
            </a:pPr>
            <a:r>
              <a:rPr sz="2800" dirty="0">
                <a:latin typeface="Arial MT"/>
                <a:cs typeface="Arial MT"/>
              </a:rPr>
              <a:t>para</a:t>
            </a:r>
            <a:r>
              <a:rPr sz="2800" spc="-45" dirty="0">
                <a:latin typeface="Arial MT"/>
                <a:cs typeface="Arial MT"/>
              </a:rPr>
              <a:t> </a:t>
            </a:r>
            <a:r>
              <a:rPr sz="2800" dirty="0">
                <a:latin typeface="Arial MT"/>
                <a:cs typeface="Arial MT"/>
              </a:rPr>
              <a:t>una</a:t>
            </a:r>
            <a:r>
              <a:rPr sz="2800" spc="-30" dirty="0">
                <a:latin typeface="Arial MT"/>
                <a:cs typeface="Arial MT"/>
              </a:rPr>
              <a:t> </a:t>
            </a:r>
            <a:r>
              <a:rPr sz="2800" b="1" dirty="0">
                <a:latin typeface="Arial"/>
                <a:cs typeface="Arial"/>
              </a:rPr>
              <a:t>tabla</a:t>
            </a:r>
            <a:r>
              <a:rPr sz="2800" b="1" spc="-45" dirty="0">
                <a:latin typeface="Arial"/>
                <a:cs typeface="Arial"/>
              </a:rPr>
              <a:t> </a:t>
            </a:r>
            <a:r>
              <a:rPr sz="2800" b="1" dirty="0">
                <a:latin typeface="Arial"/>
                <a:cs typeface="Arial"/>
              </a:rPr>
              <a:t>con</a:t>
            </a:r>
            <a:r>
              <a:rPr sz="2800" b="1" spc="-50" dirty="0">
                <a:latin typeface="Arial"/>
                <a:cs typeface="Arial"/>
              </a:rPr>
              <a:t> </a:t>
            </a:r>
            <a:r>
              <a:rPr sz="2800" b="1" dirty="0">
                <a:latin typeface="Arial"/>
                <a:cs typeface="Arial"/>
              </a:rPr>
              <a:t>n</a:t>
            </a:r>
            <a:r>
              <a:rPr sz="2800" b="1" spc="-50" dirty="0">
                <a:latin typeface="Arial"/>
                <a:cs typeface="Arial"/>
              </a:rPr>
              <a:t> </a:t>
            </a:r>
            <a:r>
              <a:rPr sz="2800" b="1" spc="-10" dirty="0">
                <a:latin typeface="Arial"/>
                <a:cs typeface="Arial"/>
              </a:rPr>
              <a:t>columnas</a:t>
            </a:r>
            <a:r>
              <a:rPr sz="2800" spc="-10" dirty="0">
                <a:latin typeface="Arial MT"/>
                <a:cs typeface="Arial MT"/>
              </a:rPr>
              <a:t>, </a:t>
            </a:r>
            <a:r>
              <a:rPr sz="2800" dirty="0">
                <a:latin typeface="Arial MT"/>
                <a:cs typeface="Arial MT"/>
              </a:rPr>
              <a:t>el</a:t>
            </a:r>
            <a:r>
              <a:rPr sz="2800" spc="680" dirty="0">
                <a:latin typeface="Arial MT"/>
                <a:cs typeface="Arial MT"/>
              </a:rPr>
              <a:t> </a:t>
            </a:r>
            <a:r>
              <a:rPr sz="2800" b="1" dirty="0">
                <a:latin typeface="Arial"/>
                <a:cs typeface="Arial"/>
              </a:rPr>
              <a:t>producto</a:t>
            </a:r>
            <a:r>
              <a:rPr sz="2800" b="1" spc="-50" dirty="0">
                <a:latin typeface="Arial"/>
                <a:cs typeface="Arial"/>
              </a:rPr>
              <a:t> </a:t>
            </a:r>
            <a:r>
              <a:rPr sz="2800" b="1" spc="-10" dirty="0">
                <a:latin typeface="Arial"/>
                <a:cs typeface="Arial"/>
              </a:rPr>
              <a:t>cartesiano</a:t>
            </a:r>
            <a:endParaRPr sz="2800">
              <a:latin typeface="Arial"/>
              <a:cs typeface="Arial"/>
            </a:endParaRPr>
          </a:p>
          <a:p>
            <a:pPr marL="226695" algn="ctr">
              <a:lnSpc>
                <a:spcPct val="100000"/>
              </a:lnSpc>
            </a:pPr>
            <a:r>
              <a:rPr sz="2800" b="1" dirty="0">
                <a:latin typeface="Arial"/>
                <a:cs typeface="Arial"/>
              </a:rPr>
              <a:t>D</a:t>
            </a:r>
            <a:r>
              <a:rPr sz="2850" b="1" baseline="-20467" dirty="0">
                <a:latin typeface="Arial"/>
                <a:cs typeface="Arial"/>
              </a:rPr>
              <a:t>1</a:t>
            </a:r>
            <a:r>
              <a:rPr sz="2850" b="1" spc="-30" baseline="-20467" dirty="0">
                <a:latin typeface="Arial"/>
                <a:cs typeface="Arial"/>
              </a:rPr>
              <a:t> </a:t>
            </a:r>
            <a:r>
              <a:rPr sz="2800" b="1" dirty="0">
                <a:latin typeface="Arial"/>
                <a:cs typeface="Arial"/>
              </a:rPr>
              <a:t>x</a:t>
            </a:r>
            <a:r>
              <a:rPr sz="2800" b="1" spc="-10" dirty="0">
                <a:latin typeface="Arial"/>
                <a:cs typeface="Arial"/>
              </a:rPr>
              <a:t> </a:t>
            </a:r>
            <a:r>
              <a:rPr sz="2800" b="1" dirty="0">
                <a:latin typeface="Arial"/>
                <a:cs typeface="Arial"/>
              </a:rPr>
              <a:t>D</a:t>
            </a:r>
            <a:r>
              <a:rPr sz="2850" b="1" baseline="-20467" dirty="0">
                <a:latin typeface="Arial"/>
                <a:cs typeface="Arial"/>
              </a:rPr>
              <a:t>2</a:t>
            </a:r>
            <a:r>
              <a:rPr sz="2850" b="1" spc="-22" baseline="-20467" dirty="0">
                <a:latin typeface="Arial"/>
                <a:cs typeface="Arial"/>
              </a:rPr>
              <a:t> </a:t>
            </a:r>
            <a:r>
              <a:rPr sz="2800" b="1" dirty="0">
                <a:latin typeface="Arial"/>
                <a:cs typeface="Arial"/>
              </a:rPr>
              <a:t>x</a:t>
            </a:r>
            <a:r>
              <a:rPr sz="2800" b="1" spc="-10" dirty="0">
                <a:latin typeface="Arial"/>
                <a:cs typeface="Arial"/>
              </a:rPr>
              <a:t> </a:t>
            </a:r>
            <a:r>
              <a:rPr sz="2800" b="1" dirty="0">
                <a:latin typeface="Arial"/>
                <a:cs typeface="Arial"/>
              </a:rPr>
              <a:t>....</a:t>
            </a:r>
            <a:r>
              <a:rPr sz="2800" b="1" spc="-20" dirty="0">
                <a:latin typeface="Arial"/>
                <a:cs typeface="Arial"/>
              </a:rPr>
              <a:t> </a:t>
            </a:r>
            <a:r>
              <a:rPr sz="2800" b="1" dirty="0">
                <a:latin typeface="Arial"/>
                <a:cs typeface="Arial"/>
              </a:rPr>
              <a:t>x</a:t>
            </a:r>
            <a:r>
              <a:rPr sz="2800" b="1" spc="-20" dirty="0">
                <a:latin typeface="Arial"/>
                <a:cs typeface="Arial"/>
              </a:rPr>
              <a:t> </a:t>
            </a:r>
            <a:r>
              <a:rPr sz="2800" b="1" spc="-25" dirty="0">
                <a:latin typeface="Arial"/>
                <a:cs typeface="Arial"/>
              </a:rPr>
              <a:t>D</a:t>
            </a:r>
            <a:r>
              <a:rPr sz="2850" b="1" spc="-37" baseline="-20467" dirty="0">
                <a:latin typeface="Arial"/>
                <a:cs typeface="Arial"/>
              </a:rPr>
              <a:t>n</a:t>
            </a:r>
            <a:endParaRPr sz="2850" baseline="-20467">
              <a:latin typeface="Arial"/>
              <a:cs typeface="Arial"/>
            </a:endParaRPr>
          </a:p>
          <a:p>
            <a:pPr marL="227329" algn="ctr">
              <a:lnSpc>
                <a:spcPct val="100000"/>
              </a:lnSpc>
              <a:spcBef>
                <a:spcPts val="10"/>
              </a:spcBef>
            </a:pPr>
            <a:r>
              <a:rPr sz="2800" dirty="0">
                <a:latin typeface="Arial MT"/>
                <a:cs typeface="Arial MT"/>
              </a:rPr>
              <a:t>es</a:t>
            </a:r>
            <a:r>
              <a:rPr sz="2800" spc="-45" dirty="0">
                <a:latin typeface="Arial MT"/>
                <a:cs typeface="Arial MT"/>
              </a:rPr>
              <a:t> </a:t>
            </a:r>
            <a:r>
              <a:rPr sz="2800" dirty="0">
                <a:latin typeface="Arial MT"/>
                <a:cs typeface="Arial MT"/>
              </a:rPr>
              <a:t>el</a:t>
            </a:r>
            <a:r>
              <a:rPr sz="2800" spc="-50" dirty="0">
                <a:latin typeface="Arial MT"/>
                <a:cs typeface="Arial MT"/>
              </a:rPr>
              <a:t> </a:t>
            </a:r>
            <a:r>
              <a:rPr sz="2800" dirty="0">
                <a:latin typeface="Arial MT"/>
                <a:cs typeface="Arial MT"/>
              </a:rPr>
              <a:t>conjunto</a:t>
            </a:r>
            <a:r>
              <a:rPr sz="2800" spc="-40" dirty="0">
                <a:latin typeface="Arial MT"/>
                <a:cs typeface="Arial MT"/>
              </a:rPr>
              <a:t> </a:t>
            </a:r>
            <a:r>
              <a:rPr sz="2800" dirty="0">
                <a:latin typeface="Arial MT"/>
                <a:cs typeface="Arial MT"/>
              </a:rPr>
              <a:t>de</a:t>
            </a:r>
            <a:r>
              <a:rPr sz="2800" spc="-50" dirty="0">
                <a:latin typeface="Arial MT"/>
                <a:cs typeface="Arial MT"/>
              </a:rPr>
              <a:t> </a:t>
            </a:r>
            <a:r>
              <a:rPr sz="2800" b="1" dirty="0">
                <a:latin typeface="Arial"/>
                <a:cs typeface="Arial"/>
              </a:rPr>
              <a:t>todas</a:t>
            </a:r>
            <a:r>
              <a:rPr sz="2800" b="1" spc="-45" dirty="0">
                <a:latin typeface="Arial"/>
                <a:cs typeface="Arial"/>
              </a:rPr>
              <a:t> </a:t>
            </a:r>
            <a:r>
              <a:rPr sz="2800" b="1" dirty="0">
                <a:latin typeface="Arial"/>
                <a:cs typeface="Arial"/>
              </a:rPr>
              <a:t>las</a:t>
            </a:r>
            <a:r>
              <a:rPr sz="2800" b="1" spc="-40" dirty="0">
                <a:latin typeface="Arial"/>
                <a:cs typeface="Arial"/>
              </a:rPr>
              <a:t> </a:t>
            </a:r>
            <a:r>
              <a:rPr sz="2800" b="1" dirty="0">
                <a:latin typeface="Arial"/>
                <a:cs typeface="Arial"/>
              </a:rPr>
              <a:t>filas</a:t>
            </a:r>
            <a:r>
              <a:rPr sz="2800" b="1" spc="-45" dirty="0">
                <a:latin typeface="Arial"/>
                <a:cs typeface="Arial"/>
              </a:rPr>
              <a:t> </a:t>
            </a:r>
            <a:r>
              <a:rPr sz="2800" b="1" spc="-10" dirty="0">
                <a:latin typeface="Arial"/>
                <a:cs typeface="Arial"/>
              </a:rPr>
              <a:t>posibles</a:t>
            </a:r>
            <a:r>
              <a:rPr sz="2800" spc="-10" dirty="0">
                <a:latin typeface="Arial MT"/>
                <a:cs typeface="Arial MT"/>
              </a:rPr>
              <a:t>.</a:t>
            </a:r>
            <a:endParaRPr sz="2800">
              <a:latin typeface="Arial MT"/>
              <a:cs typeface="Arial MT"/>
            </a:endParaRPr>
          </a:p>
          <a:p>
            <a:pPr>
              <a:lnSpc>
                <a:spcPct val="100000"/>
              </a:lnSpc>
            </a:pPr>
            <a:endParaRPr sz="2800">
              <a:latin typeface="Arial MT"/>
              <a:cs typeface="Arial MT"/>
            </a:endParaRPr>
          </a:p>
          <a:p>
            <a:pPr>
              <a:lnSpc>
                <a:spcPct val="100000"/>
              </a:lnSpc>
              <a:spcBef>
                <a:spcPts val="280"/>
              </a:spcBef>
            </a:pPr>
            <a:endParaRPr sz="2800">
              <a:latin typeface="Arial MT"/>
              <a:cs typeface="Arial MT"/>
            </a:endParaRPr>
          </a:p>
          <a:p>
            <a:pPr marL="392430" indent="-341630">
              <a:lnSpc>
                <a:spcPts val="3025"/>
              </a:lnSpc>
              <a:buChar char="•"/>
              <a:tabLst>
                <a:tab pos="392430" algn="l"/>
              </a:tabLst>
            </a:pPr>
            <a:r>
              <a:rPr sz="2800" dirty="0">
                <a:latin typeface="Arial MT"/>
                <a:cs typeface="Arial MT"/>
              </a:rPr>
              <a:t>La</a:t>
            </a:r>
            <a:r>
              <a:rPr sz="2800" spc="-50" dirty="0">
                <a:latin typeface="Arial MT"/>
                <a:cs typeface="Arial MT"/>
              </a:rPr>
              <a:t> </a:t>
            </a:r>
            <a:r>
              <a:rPr sz="2800" dirty="0">
                <a:latin typeface="Arial MT"/>
                <a:cs typeface="Arial MT"/>
              </a:rPr>
              <a:t>tabla</a:t>
            </a:r>
            <a:r>
              <a:rPr sz="2800" spc="-50" dirty="0">
                <a:latin typeface="Arial MT"/>
                <a:cs typeface="Arial MT"/>
              </a:rPr>
              <a:t> </a:t>
            </a:r>
            <a:r>
              <a:rPr sz="2800" dirty="0">
                <a:latin typeface="Arial MT"/>
                <a:cs typeface="Arial MT"/>
              </a:rPr>
              <a:t>contiene</a:t>
            </a:r>
            <a:r>
              <a:rPr sz="2800" spc="-50" dirty="0">
                <a:latin typeface="Arial MT"/>
                <a:cs typeface="Arial MT"/>
              </a:rPr>
              <a:t> </a:t>
            </a:r>
            <a:r>
              <a:rPr sz="2800" dirty="0">
                <a:latin typeface="Arial MT"/>
                <a:cs typeface="Arial MT"/>
              </a:rPr>
              <a:t>un</a:t>
            </a:r>
            <a:r>
              <a:rPr sz="2800" spc="-55" dirty="0">
                <a:latin typeface="Arial MT"/>
                <a:cs typeface="Arial MT"/>
              </a:rPr>
              <a:t> </a:t>
            </a:r>
            <a:r>
              <a:rPr sz="2800" b="1" dirty="0">
                <a:latin typeface="Arial"/>
                <a:cs typeface="Arial"/>
              </a:rPr>
              <a:t>subconjunto</a:t>
            </a:r>
            <a:r>
              <a:rPr sz="2800" b="1" spc="-55" dirty="0">
                <a:latin typeface="Arial"/>
                <a:cs typeface="Arial"/>
              </a:rPr>
              <a:t> </a:t>
            </a:r>
            <a:r>
              <a:rPr sz="2800" dirty="0">
                <a:latin typeface="Arial MT"/>
                <a:cs typeface="Arial MT"/>
              </a:rPr>
              <a:t>de</a:t>
            </a:r>
            <a:r>
              <a:rPr sz="2800" spc="-50" dirty="0">
                <a:latin typeface="Arial MT"/>
                <a:cs typeface="Arial MT"/>
              </a:rPr>
              <a:t> </a:t>
            </a:r>
            <a:r>
              <a:rPr sz="2800" dirty="0">
                <a:latin typeface="Arial MT"/>
                <a:cs typeface="Arial MT"/>
              </a:rPr>
              <a:t>D</a:t>
            </a:r>
            <a:r>
              <a:rPr sz="2850" baseline="-20467" dirty="0">
                <a:latin typeface="Arial MT"/>
                <a:cs typeface="Arial MT"/>
              </a:rPr>
              <a:t>1</a:t>
            </a:r>
            <a:r>
              <a:rPr sz="2850" spc="292" baseline="-20467" dirty="0">
                <a:latin typeface="Arial MT"/>
                <a:cs typeface="Arial MT"/>
              </a:rPr>
              <a:t> </a:t>
            </a:r>
            <a:r>
              <a:rPr sz="2800" dirty="0">
                <a:latin typeface="Arial MT"/>
                <a:cs typeface="Arial MT"/>
              </a:rPr>
              <a:t>x</a:t>
            </a:r>
            <a:r>
              <a:rPr sz="2800" spc="-50" dirty="0">
                <a:latin typeface="Arial MT"/>
                <a:cs typeface="Arial MT"/>
              </a:rPr>
              <a:t> </a:t>
            </a:r>
            <a:r>
              <a:rPr sz="2800" dirty="0">
                <a:latin typeface="Arial MT"/>
                <a:cs typeface="Arial MT"/>
              </a:rPr>
              <a:t>D</a:t>
            </a:r>
            <a:r>
              <a:rPr sz="2850" baseline="-20467" dirty="0">
                <a:latin typeface="Arial MT"/>
                <a:cs typeface="Arial MT"/>
              </a:rPr>
              <a:t>2</a:t>
            </a:r>
            <a:r>
              <a:rPr sz="2850" spc="307" baseline="-20467" dirty="0">
                <a:latin typeface="Arial MT"/>
                <a:cs typeface="Arial MT"/>
              </a:rPr>
              <a:t> </a:t>
            </a:r>
            <a:r>
              <a:rPr sz="2800" spc="-50" dirty="0">
                <a:latin typeface="Arial MT"/>
                <a:cs typeface="Arial MT"/>
              </a:rPr>
              <a:t>x</a:t>
            </a:r>
            <a:endParaRPr sz="2800">
              <a:latin typeface="Arial MT"/>
              <a:cs typeface="Arial MT"/>
            </a:endParaRPr>
          </a:p>
          <a:p>
            <a:pPr marL="393700">
              <a:lnSpc>
                <a:spcPts val="3025"/>
              </a:lnSpc>
            </a:pPr>
            <a:r>
              <a:rPr sz="2800" dirty="0">
                <a:latin typeface="Arial MT"/>
                <a:cs typeface="Arial MT"/>
              </a:rPr>
              <a:t>....x</a:t>
            </a:r>
            <a:r>
              <a:rPr sz="2800" spc="-20" dirty="0">
                <a:latin typeface="Arial MT"/>
                <a:cs typeface="Arial MT"/>
              </a:rPr>
              <a:t> </a:t>
            </a:r>
            <a:r>
              <a:rPr sz="2800" spc="-35" dirty="0">
                <a:latin typeface="Arial MT"/>
                <a:cs typeface="Arial MT"/>
              </a:rPr>
              <a:t>D</a:t>
            </a:r>
            <a:r>
              <a:rPr sz="2850" spc="-52" baseline="-20467" dirty="0">
                <a:latin typeface="Arial MT"/>
                <a:cs typeface="Arial MT"/>
              </a:rPr>
              <a:t>n</a:t>
            </a:r>
            <a:endParaRPr sz="2850" baseline="-20467">
              <a:latin typeface="Arial MT"/>
              <a:cs typeface="Arial M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95671" y="1681880"/>
            <a:ext cx="5775960" cy="3068955"/>
            <a:chOff x="795671" y="1681880"/>
            <a:chExt cx="5775960" cy="3068955"/>
          </a:xfrm>
        </p:grpSpPr>
        <p:pic>
          <p:nvPicPr>
            <p:cNvPr id="3" name="object 3"/>
            <p:cNvPicPr/>
            <p:nvPr/>
          </p:nvPicPr>
          <p:blipFill>
            <a:blip r:embed="rId2" cstate="print"/>
            <a:stretch>
              <a:fillRect/>
            </a:stretch>
          </p:blipFill>
          <p:spPr>
            <a:xfrm>
              <a:off x="795671" y="1681880"/>
              <a:ext cx="4794844" cy="2692614"/>
            </a:xfrm>
            <a:prstGeom prst="rect">
              <a:avLst/>
            </a:prstGeom>
          </p:spPr>
        </p:pic>
        <p:sp>
          <p:nvSpPr>
            <p:cNvPr id="4" name="object 4"/>
            <p:cNvSpPr/>
            <p:nvPr/>
          </p:nvSpPr>
          <p:spPr>
            <a:xfrm>
              <a:off x="3131693" y="3563111"/>
              <a:ext cx="3439795" cy="1187450"/>
            </a:xfrm>
            <a:custGeom>
              <a:avLst/>
              <a:gdLst/>
              <a:ahLst/>
              <a:cxnLst/>
              <a:rect l="l" t="t" r="r" b="b"/>
              <a:pathLst>
                <a:path w="3439795" h="1187450">
                  <a:moveTo>
                    <a:pt x="3439668" y="0"/>
                  </a:moveTo>
                  <a:lnTo>
                    <a:pt x="1530096" y="0"/>
                  </a:lnTo>
                  <a:lnTo>
                    <a:pt x="0" y="0"/>
                  </a:lnTo>
                  <a:lnTo>
                    <a:pt x="0" y="742188"/>
                  </a:lnTo>
                  <a:lnTo>
                    <a:pt x="0" y="1187196"/>
                  </a:lnTo>
                  <a:lnTo>
                    <a:pt x="1530096" y="1187196"/>
                  </a:lnTo>
                  <a:lnTo>
                    <a:pt x="1530096" y="742188"/>
                  </a:lnTo>
                  <a:lnTo>
                    <a:pt x="3439668" y="742188"/>
                  </a:lnTo>
                  <a:lnTo>
                    <a:pt x="3439668" y="0"/>
                  </a:lnTo>
                  <a:close/>
                </a:path>
              </a:pathLst>
            </a:custGeom>
            <a:solidFill>
              <a:srgbClr val="FFFFFF"/>
            </a:solidFill>
          </p:spPr>
          <p:txBody>
            <a:bodyPr wrap="square" lIns="0" tIns="0" rIns="0" bIns="0" rtlCol="0"/>
            <a:lstStyle/>
            <a:p>
              <a:endParaRPr/>
            </a:p>
          </p:txBody>
        </p:sp>
      </p:grpSp>
      <p:sp>
        <p:nvSpPr>
          <p:cNvPr id="5" name="object 5" descr="$PPTXTitle"/>
          <p:cNvSpPr txBox="1">
            <a:spLocks noGrp="1"/>
          </p:cNvSpPr>
          <p:nvPr>
            <p:ph type="title"/>
          </p:nvPr>
        </p:nvSpPr>
        <p:spPr>
          <a:prstGeom prst="rect">
            <a:avLst/>
          </a:prstGeom>
        </p:spPr>
        <p:txBody>
          <a:bodyPr vert="horz" wrap="square" lIns="0" tIns="316865" rIns="0" bIns="0" rtlCol="0">
            <a:spAutoFit/>
          </a:bodyPr>
          <a:lstStyle/>
          <a:p>
            <a:pPr marL="2524125">
              <a:lnSpc>
                <a:spcPct val="100000"/>
              </a:lnSpc>
              <a:spcBef>
                <a:spcPts val="95"/>
              </a:spcBef>
            </a:pPr>
            <a:r>
              <a:rPr sz="4000" dirty="0"/>
              <a:t>Tabla</a:t>
            </a:r>
            <a:r>
              <a:rPr sz="4000" spc="-80" dirty="0"/>
              <a:t> </a:t>
            </a:r>
            <a:r>
              <a:rPr sz="4000" b="1" spc="-10" dirty="0">
                <a:latin typeface="Arial"/>
                <a:cs typeface="Arial"/>
              </a:rPr>
              <a:t>cliente</a:t>
            </a:r>
            <a:endParaRPr sz="4000">
              <a:latin typeface="Arial"/>
              <a:cs typeface="Arial"/>
            </a:endParaRPr>
          </a:p>
        </p:txBody>
      </p:sp>
      <p:graphicFrame>
        <p:nvGraphicFramePr>
          <p:cNvPr id="6" name="object 6"/>
          <p:cNvGraphicFramePr>
            <a:graphicFrameLocks noGrp="1"/>
          </p:cNvGraphicFramePr>
          <p:nvPr/>
        </p:nvGraphicFramePr>
        <p:xfrm>
          <a:off x="3125347" y="3556761"/>
          <a:ext cx="6501129" cy="3410582"/>
        </p:xfrm>
        <a:graphic>
          <a:graphicData uri="http://schemas.openxmlformats.org/drawingml/2006/table">
            <a:tbl>
              <a:tblPr firstRow="1" bandRow="1">
                <a:tableStyleId>{2D5ABB26-0587-4C30-8999-92F81FD0307C}</a:tableStyleId>
              </a:tblPr>
              <a:tblGrid>
                <a:gridCol w="1530350">
                  <a:extLst>
                    <a:ext uri="{9D8B030D-6E8A-4147-A177-3AD203B41FA5}">
                      <a16:colId xmlns:a16="http://schemas.microsoft.com/office/drawing/2014/main" val="20000"/>
                    </a:ext>
                  </a:extLst>
                </a:gridCol>
                <a:gridCol w="1910079">
                  <a:extLst>
                    <a:ext uri="{9D8B030D-6E8A-4147-A177-3AD203B41FA5}">
                      <a16:colId xmlns:a16="http://schemas.microsoft.com/office/drawing/2014/main" val="20001"/>
                    </a:ext>
                  </a:extLst>
                </a:gridCol>
                <a:gridCol w="1530350">
                  <a:extLst>
                    <a:ext uri="{9D8B030D-6E8A-4147-A177-3AD203B41FA5}">
                      <a16:colId xmlns:a16="http://schemas.microsoft.com/office/drawing/2014/main" val="20002"/>
                    </a:ext>
                  </a:extLst>
                </a:gridCol>
                <a:gridCol w="1530350">
                  <a:extLst>
                    <a:ext uri="{9D8B030D-6E8A-4147-A177-3AD203B41FA5}">
                      <a16:colId xmlns:a16="http://schemas.microsoft.com/office/drawing/2014/main" val="20003"/>
                    </a:ext>
                  </a:extLst>
                </a:gridCol>
              </a:tblGrid>
              <a:tr h="741680">
                <a:tc>
                  <a:txBody>
                    <a:bodyPr/>
                    <a:lstStyle/>
                    <a:p>
                      <a:pPr marL="444500" marR="320040" indent="-119380">
                        <a:lnSpc>
                          <a:spcPct val="100600"/>
                        </a:lnSpc>
                        <a:spcBef>
                          <a:spcPts val="300"/>
                        </a:spcBef>
                      </a:pPr>
                      <a:r>
                        <a:rPr sz="1800" b="1" dirty="0">
                          <a:latin typeface="Times New Roman"/>
                          <a:cs typeface="Times New Roman"/>
                        </a:rPr>
                        <a:t>Nombre-</a:t>
                      </a:r>
                      <a:r>
                        <a:rPr sz="1800" b="1" spc="-10" dirty="0">
                          <a:latin typeface="Times New Roman"/>
                          <a:cs typeface="Times New Roman"/>
                        </a:rPr>
                        <a:t>cliente</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solidFill>
                      <a:srgbClr val="FFFFFF"/>
                    </a:solidFill>
                  </a:tcPr>
                </a:tc>
                <a:tc>
                  <a:txBody>
                    <a:bodyPr/>
                    <a:lstStyle/>
                    <a:p>
                      <a:pPr algn="ctr">
                        <a:lnSpc>
                          <a:spcPct val="100000"/>
                        </a:lnSpc>
                        <a:spcBef>
                          <a:spcPts val="320"/>
                        </a:spcBef>
                      </a:pPr>
                      <a:r>
                        <a:rPr sz="1800" b="1" spc="-10" dirty="0">
                          <a:latin typeface="Times New Roman"/>
                          <a:cs typeface="Times New Roman"/>
                        </a:rPr>
                        <a:t>Seguridad-social</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solidFill>
                      <a:srgbClr val="FFFFFF"/>
                    </a:solidFill>
                  </a:tcPr>
                </a:tc>
                <a:tc>
                  <a:txBody>
                    <a:bodyPr/>
                    <a:lstStyle/>
                    <a:p>
                      <a:pPr algn="ctr">
                        <a:lnSpc>
                          <a:spcPct val="100000"/>
                        </a:lnSpc>
                        <a:spcBef>
                          <a:spcPts val="320"/>
                        </a:spcBef>
                      </a:pPr>
                      <a:r>
                        <a:rPr sz="1800" b="1" spc="-10" dirty="0">
                          <a:latin typeface="Times New Roman"/>
                          <a:cs typeface="Times New Roman"/>
                        </a:rPr>
                        <a:t>Calle</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446405" marR="357505" indent="-81280">
                        <a:lnSpc>
                          <a:spcPct val="100600"/>
                        </a:lnSpc>
                        <a:spcBef>
                          <a:spcPts val="300"/>
                        </a:spcBef>
                      </a:pPr>
                      <a:r>
                        <a:rPr sz="1800" b="1" dirty="0">
                          <a:latin typeface="Times New Roman"/>
                          <a:cs typeface="Times New Roman"/>
                        </a:rPr>
                        <a:t>Ciudad-</a:t>
                      </a:r>
                      <a:r>
                        <a:rPr sz="1800" b="1" spc="-10" dirty="0">
                          <a:latin typeface="Times New Roman"/>
                          <a:cs typeface="Times New Roman"/>
                        </a:rPr>
                        <a:t>cliente</a:t>
                      </a:r>
                      <a:endParaRPr sz="1800">
                        <a:latin typeface="Times New Roman"/>
                        <a:cs typeface="Times New Roman"/>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413384">
                <a:tc>
                  <a:txBody>
                    <a:bodyPr/>
                    <a:lstStyle/>
                    <a:p>
                      <a:pPr marR="466090" algn="r">
                        <a:lnSpc>
                          <a:spcPct val="100000"/>
                        </a:lnSpc>
                        <a:spcBef>
                          <a:spcPts val="310"/>
                        </a:spcBef>
                      </a:pPr>
                      <a:r>
                        <a:rPr sz="1800" spc="-10" dirty="0">
                          <a:latin typeface="Times New Roman"/>
                          <a:cs typeface="Times New Roman"/>
                        </a:rPr>
                        <a:t>Oliver</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28575">
                      <a:solidFill>
                        <a:srgbClr val="000000"/>
                      </a:solidFill>
                      <a:prstDash val="solid"/>
                    </a:lnT>
                  </a:tcPr>
                </a:tc>
                <a:tc>
                  <a:txBody>
                    <a:bodyPr/>
                    <a:lstStyle/>
                    <a:p>
                      <a:pPr algn="ctr">
                        <a:lnSpc>
                          <a:spcPct val="100000"/>
                        </a:lnSpc>
                        <a:spcBef>
                          <a:spcPts val="310"/>
                        </a:spcBef>
                      </a:pPr>
                      <a:r>
                        <a:rPr sz="1800" spc="-10" dirty="0">
                          <a:latin typeface="Times New Roman"/>
                          <a:cs typeface="Times New Roman"/>
                        </a:rPr>
                        <a:t>654-32-</a:t>
                      </a:r>
                      <a:r>
                        <a:rPr sz="1800" spc="-20" dirty="0">
                          <a:latin typeface="Times New Roman"/>
                          <a:cs typeface="Times New Roman"/>
                        </a:rPr>
                        <a:t>1098</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28575">
                      <a:solidFill>
                        <a:srgbClr val="000000"/>
                      </a:solidFill>
                      <a:prstDash val="solid"/>
                    </a:lnT>
                  </a:tcPr>
                </a:tc>
                <a:tc>
                  <a:txBody>
                    <a:bodyPr/>
                    <a:lstStyle/>
                    <a:p>
                      <a:pPr marL="1270" algn="ctr">
                        <a:lnSpc>
                          <a:spcPct val="100000"/>
                        </a:lnSpc>
                        <a:spcBef>
                          <a:spcPts val="310"/>
                        </a:spcBef>
                      </a:pPr>
                      <a:r>
                        <a:rPr sz="1800" spc="-20" dirty="0">
                          <a:latin typeface="Times New Roman"/>
                          <a:cs typeface="Times New Roman"/>
                        </a:rPr>
                        <a:t>Main</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28575">
                      <a:solidFill>
                        <a:srgbClr val="000000"/>
                      </a:solidFill>
                      <a:prstDash val="solid"/>
                    </a:lnT>
                  </a:tcPr>
                </a:tc>
                <a:tc>
                  <a:txBody>
                    <a:bodyPr/>
                    <a:lstStyle/>
                    <a:p>
                      <a:pPr algn="ctr">
                        <a:lnSpc>
                          <a:spcPct val="100000"/>
                        </a:lnSpc>
                        <a:spcBef>
                          <a:spcPts val="310"/>
                        </a:spcBef>
                      </a:pPr>
                      <a:r>
                        <a:rPr sz="1800" spc="-10" dirty="0">
                          <a:latin typeface="Times New Roman"/>
                          <a:cs typeface="Times New Roman"/>
                        </a:rPr>
                        <a:t>Austin</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28575">
                      <a:solidFill>
                        <a:srgbClr val="000000"/>
                      </a:solidFill>
                      <a:prstDash val="solid"/>
                    </a:lnT>
                  </a:tcPr>
                </a:tc>
                <a:extLst>
                  <a:ext uri="{0D108BD9-81ED-4DB2-BD59-A6C34878D82A}">
                    <a16:rowId xmlns:a16="http://schemas.microsoft.com/office/drawing/2014/main" val="10001"/>
                  </a:ext>
                </a:extLst>
              </a:tr>
              <a:tr h="445134">
                <a:tc>
                  <a:txBody>
                    <a:bodyPr/>
                    <a:lstStyle/>
                    <a:p>
                      <a:pPr marR="471805" algn="r">
                        <a:lnSpc>
                          <a:spcPct val="100000"/>
                        </a:lnSpc>
                        <a:spcBef>
                          <a:spcPts val="560"/>
                        </a:spcBef>
                      </a:pPr>
                      <a:r>
                        <a:rPr sz="1800" spc="-10" dirty="0">
                          <a:latin typeface="Times New Roman"/>
                          <a:cs typeface="Times New Roman"/>
                        </a:rPr>
                        <a:t>Harris</a:t>
                      </a:r>
                      <a:endParaRPr sz="1800">
                        <a:latin typeface="Times New Roman"/>
                        <a:cs typeface="Times New Roman"/>
                      </a:endParaRPr>
                    </a:p>
                  </a:txBody>
                  <a:tcPr marL="0" marR="0" marT="71120" marB="0">
                    <a:lnL w="12700">
                      <a:solidFill>
                        <a:srgbClr val="000000"/>
                      </a:solidFill>
                      <a:prstDash val="solid"/>
                    </a:lnL>
                    <a:lnR w="12700">
                      <a:solidFill>
                        <a:srgbClr val="000000"/>
                      </a:solidFill>
                      <a:prstDash val="solid"/>
                    </a:lnR>
                  </a:tcPr>
                </a:tc>
                <a:tc>
                  <a:txBody>
                    <a:bodyPr/>
                    <a:lstStyle/>
                    <a:p>
                      <a:pPr algn="ctr">
                        <a:lnSpc>
                          <a:spcPct val="100000"/>
                        </a:lnSpc>
                        <a:spcBef>
                          <a:spcPts val="560"/>
                        </a:spcBef>
                      </a:pPr>
                      <a:r>
                        <a:rPr sz="1800" spc="-10" dirty="0">
                          <a:latin typeface="Times New Roman"/>
                          <a:cs typeface="Times New Roman"/>
                        </a:rPr>
                        <a:t>890-12-</a:t>
                      </a:r>
                      <a:r>
                        <a:rPr sz="1800" spc="-20" dirty="0">
                          <a:latin typeface="Times New Roman"/>
                          <a:cs typeface="Times New Roman"/>
                        </a:rPr>
                        <a:t>3456</a:t>
                      </a:r>
                      <a:endParaRPr sz="1800">
                        <a:latin typeface="Times New Roman"/>
                        <a:cs typeface="Times New Roman"/>
                      </a:endParaRPr>
                    </a:p>
                  </a:txBody>
                  <a:tcPr marL="0" marR="0" marT="71120" marB="0">
                    <a:lnL w="12700">
                      <a:solidFill>
                        <a:srgbClr val="000000"/>
                      </a:solidFill>
                      <a:prstDash val="solid"/>
                    </a:lnL>
                    <a:lnR w="12700">
                      <a:solidFill>
                        <a:srgbClr val="000000"/>
                      </a:solidFill>
                      <a:prstDash val="solid"/>
                    </a:lnR>
                  </a:tcPr>
                </a:tc>
                <a:tc>
                  <a:txBody>
                    <a:bodyPr/>
                    <a:lstStyle/>
                    <a:p>
                      <a:pPr algn="ctr">
                        <a:lnSpc>
                          <a:spcPct val="100000"/>
                        </a:lnSpc>
                        <a:spcBef>
                          <a:spcPts val="560"/>
                        </a:spcBef>
                      </a:pPr>
                      <a:r>
                        <a:rPr sz="1800" spc="-10" dirty="0">
                          <a:latin typeface="Times New Roman"/>
                          <a:cs typeface="Times New Roman"/>
                        </a:rPr>
                        <a:t>North</a:t>
                      </a:r>
                      <a:endParaRPr sz="1800">
                        <a:latin typeface="Times New Roman"/>
                        <a:cs typeface="Times New Roman"/>
                      </a:endParaRPr>
                    </a:p>
                  </a:txBody>
                  <a:tcPr marL="0" marR="0" marT="71120" marB="0">
                    <a:lnL w="12700">
                      <a:solidFill>
                        <a:srgbClr val="000000"/>
                      </a:solidFill>
                      <a:prstDash val="solid"/>
                    </a:lnL>
                    <a:lnR w="12700">
                      <a:solidFill>
                        <a:srgbClr val="000000"/>
                      </a:solidFill>
                      <a:prstDash val="solid"/>
                    </a:lnR>
                  </a:tcPr>
                </a:tc>
                <a:tc>
                  <a:txBody>
                    <a:bodyPr/>
                    <a:lstStyle/>
                    <a:p>
                      <a:pPr algn="ctr">
                        <a:lnSpc>
                          <a:spcPct val="100000"/>
                        </a:lnSpc>
                        <a:spcBef>
                          <a:spcPts val="560"/>
                        </a:spcBef>
                      </a:pPr>
                      <a:r>
                        <a:rPr sz="1800" spc="-10" dirty="0">
                          <a:latin typeface="Times New Roman"/>
                          <a:cs typeface="Times New Roman"/>
                        </a:rPr>
                        <a:t>Georgetown</a:t>
                      </a:r>
                      <a:endParaRPr sz="1800">
                        <a:latin typeface="Times New Roman"/>
                        <a:cs typeface="Times New Roman"/>
                      </a:endParaRPr>
                    </a:p>
                  </a:txBody>
                  <a:tcPr marL="0" marR="0" marT="71120"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02"/>
                  </a:ext>
                </a:extLst>
              </a:tr>
              <a:tr h="444500">
                <a:tc>
                  <a:txBody>
                    <a:bodyPr/>
                    <a:lstStyle/>
                    <a:p>
                      <a:pPr marR="466090" algn="r">
                        <a:lnSpc>
                          <a:spcPct val="100000"/>
                        </a:lnSpc>
                        <a:spcBef>
                          <a:spcPts val="565"/>
                        </a:spcBef>
                      </a:pPr>
                      <a:r>
                        <a:rPr sz="1800" spc="-10" dirty="0">
                          <a:latin typeface="Times New Roman"/>
                          <a:cs typeface="Times New Roman"/>
                        </a:rPr>
                        <a:t>Marsh</a:t>
                      </a:r>
                      <a:endParaRPr sz="1800">
                        <a:latin typeface="Times New Roman"/>
                        <a:cs typeface="Times New Roman"/>
                      </a:endParaRPr>
                    </a:p>
                  </a:txBody>
                  <a:tcPr marL="0" marR="0" marT="71755" marB="0">
                    <a:lnL w="12700">
                      <a:solidFill>
                        <a:srgbClr val="000000"/>
                      </a:solidFill>
                      <a:prstDash val="solid"/>
                    </a:lnL>
                    <a:lnR w="12700">
                      <a:solidFill>
                        <a:srgbClr val="000000"/>
                      </a:solidFill>
                      <a:prstDash val="solid"/>
                    </a:lnR>
                  </a:tcPr>
                </a:tc>
                <a:tc>
                  <a:txBody>
                    <a:bodyPr/>
                    <a:lstStyle/>
                    <a:p>
                      <a:pPr algn="ctr">
                        <a:lnSpc>
                          <a:spcPct val="100000"/>
                        </a:lnSpc>
                        <a:spcBef>
                          <a:spcPts val="565"/>
                        </a:spcBef>
                      </a:pPr>
                      <a:r>
                        <a:rPr sz="1800" spc="-10" dirty="0">
                          <a:latin typeface="Times New Roman"/>
                          <a:cs typeface="Times New Roman"/>
                        </a:rPr>
                        <a:t>456-78-</a:t>
                      </a:r>
                      <a:r>
                        <a:rPr sz="1800" spc="-20" dirty="0">
                          <a:latin typeface="Times New Roman"/>
                          <a:cs typeface="Times New Roman"/>
                        </a:rPr>
                        <a:t>9012</a:t>
                      </a:r>
                      <a:endParaRPr sz="1800">
                        <a:latin typeface="Times New Roman"/>
                        <a:cs typeface="Times New Roman"/>
                      </a:endParaRPr>
                    </a:p>
                  </a:txBody>
                  <a:tcPr marL="0" marR="0" marT="71755" marB="0">
                    <a:lnL w="12700">
                      <a:solidFill>
                        <a:srgbClr val="000000"/>
                      </a:solidFill>
                      <a:prstDash val="solid"/>
                    </a:lnL>
                    <a:lnR w="12700">
                      <a:solidFill>
                        <a:srgbClr val="000000"/>
                      </a:solidFill>
                      <a:prstDash val="solid"/>
                    </a:lnR>
                  </a:tcPr>
                </a:tc>
                <a:tc>
                  <a:txBody>
                    <a:bodyPr/>
                    <a:lstStyle/>
                    <a:p>
                      <a:pPr marL="1270" algn="ctr">
                        <a:lnSpc>
                          <a:spcPct val="100000"/>
                        </a:lnSpc>
                        <a:spcBef>
                          <a:spcPts val="565"/>
                        </a:spcBef>
                      </a:pPr>
                      <a:r>
                        <a:rPr sz="1800" spc="-20" dirty="0">
                          <a:latin typeface="Times New Roman"/>
                          <a:cs typeface="Times New Roman"/>
                        </a:rPr>
                        <a:t>Main</a:t>
                      </a:r>
                      <a:endParaRPr sz="1800">
                        <a:latin typeface="Times New Roman"/>
                        <a:cs typeface="Times New Roman"/>
                      </a:endParaRPr>
                    </a:p>
                  </a:txBody>
                  <a:tcPr marL="0" marR="0" marT="71755" marB="0">
                    <a:lnL w="12700">
                      <a:solidFill>
                        <a:srgbClr val="000000"/>
                      </a:solidFill>
                      <a:prstDash val="solid"/>
                    </a:lnL>
                    <a:lnR w="12700">
                      <a:solidFill>
                        <a:srgbClr val="000000"/>
                      </a:solidFill>
                      <a:prstDash val="solid"/>
                    </a:lnR>
                  </a:tcPr>
                </a:tc>
                <a:tc>
                  <a:txBody>
                    <a:bodyPr/>
                    <a:lstStyle/>
                    <a:p>
                      <a:pPr algn="ctr">
                        <a:lnSpc>
                          <a:spcPct val="100000"/>
                        </a:lnSpc>
                        <a:spcBef>
                          <a:spcPts val="565"/>
                        </a:spcBef>
                      </a:pPr>
                      <a:r>
                        <a:rPr sz="1800" spc="-10" dirty="0">
                          <a:latin typeface="Times New Roman"/>
                          <a:cs typeface="Times New Roman"/>
                        </a:rPr>
                        <a:t>Austin</a:t>
                      </a:r>
                      <a:endParaRPr sz="1800">
                        <a:latin typeface="Times New Roman"/>
                        <a:cs typeface="Times New Roman"/>
                      </a:endParaRPr>
                    </a:p>
                  </a:txBody>
                  <a:tcPr marL="0" marR="0" marT="7175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03"/>
                  </a:ext>
                </a:extLst>
              </a:tr>
              <a:tr h="444500">
                <a:tc>
                  <a:txBody>
                    <a:bodyPr/>
                    <a:lstStyle/>
                    <a:p>
                      <a:pPr marR="440055" algn="r">
                        <a:lnSpc>
                          <a:spcPct val="100000"/>
                        </a:lnSpc>
                        <a:spcBef>
                          <a:spcPts val="550"/>
                        </a:spcBef>
                      </a:pPr>
                      <a:r>
                        <a:rPr sz="1800" spc="-10" dirty="0">
                          <a:latin typeface="Times New Roman"/>
                          <a:cs typeface="Times New Roman"/>
                        </a:rPr>
                        <a:t>Pepper</a:t>
                      </a:r>
                      <a:endParaRPr sz="1800">
                        <a:latin typeface="Times New Roman"/>
                        <a:cs typeface="Times New Roman"/>
                      </a:endParaRPr>
                    </a:p>
                  </a:txBody>
                  <a:tcPr marL="0" marR="0" marT="69850" marB="0">
                    <a:lnL w="12700">
                      <a:solidFill>
                        <a:srgbClr val="000000"/>
                      </a:solidFill>
                      <a:prstDash val="solid"/>
                    </a:lnL>
                    <a:lnR w="12700">
                      <a:solidFill>
                        <a:srgbClr val="000000"/>
                      </a:solidFill>
                      <a:prstDash val="solid"/>
                    </a:lnR>
                  </a:tcPr>
                </a:tc>
                <a:tc>
                  <a:txBody>
                    <a:bodyPr/>
                    <a:lstStyle/>
                    <a:p>
                      <a:pPr algn="ctr">
                        <a:lnSpc>
                          <a:spcPct val="100000"/>
                        </a:lnSpc>
                        <a:spcBef>
                          <a:spcPts val="550"/>
                        </a:spcBef>
                      </a:pPr>
                      <a:r>
                        <a:rPr sz="1800" spc="-10" dirty="0">
                          <a:latin typeface="Times New Roman"/>
                          <a:cs typeface="Times New Roman"/>
                        </a:rPr>
                        <a:t>369-12-</a:t>
                      </a:r>
                      <a:r>
                        <a:rPr sz="1800" spc="-20" dirty="0">
                          <a:latin typeface="Times New Roman"/>
                          <a:cs typeface="Times New Roman"/>
                        </a:rPr>
                        <a:t>1518</a:t>
                      </a:r>
                      <a:endParaRPr sz="1800">
                        <a:latin typeface="Times New Roman"/>
                        <a:cs typeface="Times New Roman"/>
                      </a:endParaRPr>
                    </a:p>
                  </a:txBody>
                  <a:tcPr marL="0" marR="0" marT="69850" marB="0">
                    <a:lnL w="12700">
                      <a:solidFill>
                        <a:srgbClr val="000000"/>
                      </a:solidFill>
                      <a:prstDash val="solid"/>
                    </a:lnL>
                    <a:lnR w="12700">
                      <a:solidFill>
                        <a:srgbClr val="000000"/>
                      </a:solidFill>
                      <a:prstDash val="solid"/>
                    </a:lnR>
                  </a:tcPr>
                </a:tc>
                <a:tc>
                  <a:txBody>
                    <a:bodyPr/>
                    <a:lstStyle/>
                    <a:p>
                      <a:pPr algn="ctr">
                        <a:lnSpc>
                          <a:spcPct val="100000"/>
                        </a:lnSpc>
                        <a:spcBef>
                          <a:spcPts val="550"/>
                        </a:spcBef>
                      </a:pPr>
                      <a:r>
                        <a:rPr sz="1800" spc="-10" dirty="0">
                          <a:latin typeface="Times New Roman"/>
                          <a:cs typeface="Times New Roman"/>
                        </a:rPr>
                        <a:t>North</a:t>
                      </a:r>
                      <a:endParaRPr sz="1800">
                        <a:latin typeface="Times New Roman"/>
                        <a:cs typeface="Times New Roman"/>
                      </a:endParaRPr>
                    </a:p>
                  </a:txBody>
                  <a:tcPr marL="0" marR="0" marT="69850" marB="0">
                    <a:lnL w="12700">
                      <a:solidFill>
                        <a:srgbClr val="000000"/>
                      </a:solidFill>
                      <a:prstDash val="solid"/>
                    </a:lnL>
                    <a:lnR w="12700">
                      <a:solidFill>
                        <a:srgbClr val="000000"/>
                      </a:solidFill>
                      <a:prstDash val="solid"/>
                    </a:lnR>
                  </a:tcPr>
                </a:tc>
                <a:tc>
                  <a:txBody>
                    <a:bodyPr/>
                    <a:lstStyle/>
                    <a:p>
                      <a:pPr algn="ctr">
                        <a:lnSpc>
                          <a:spcPct val="100000"/>
                        </a:lnSpc>
                        <a:spcBef>
                          <a:spcPts val="550"/>
                        </a:spcBef>
                      </a:pPr>
                      <a:r>
                        <a:rPr sz="1800" spc="-10" dirty="0">
                          <a:latin typeface="Times New Roman"/>
                          <a:cs typeface="Times New Roman"/>
                        </a:rPr>
                        <a:t>Georgetown</a:t>
                      </a:r>
                      <a:endParaRPr sz="1800">
                        <a:latin typeface="Times New Roman"/>
                        <a:cs typeface="Times New Roman"/>
                      </a:endParaRPr>
                    </a:p>
                  </a:txBody>
                  <a:tcPr marL="0" marR="0" marT="69850"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04"/>
                  </a:ext>
                </a:extLst>
              </a:tr>
              <a:tr h="445134">
                <a:tc>
                  <a:txBody>
                    <a:bodyPr/>
                    <a:lstStyle/>
                    <a:p>
                      <a:pPr marR="458470" algn="r">
                        <a:lnSpc>
                          <a:spcPct val="100000"/>
                        </a:lnSpc>
                        <a:spcBef>
                          <a:spcPts val="565"/>
                        </a:spcBef>
                      </a:pPr>
                      <a:r>
                        <a:rPr sz="1800" spc="-10" dirty="0">
                          <a:latin typeface="Times New Roman"/>
                          <a:cs typeface="Times New Roman"/>
                        </a:rPr>
                        <a:t>Ratliff</a:t>
                      </a:r>
                      <a:endParaRPr sz="1800">
                        <a:latin typeface="Times New Roman"/>
                        <a:cs typeface="Times New Roman"/>
                      </a:endParaRPr>
                    </a:p>
                  </a:txBody>
                  <a:tcPr marL="0" marR="0" marT="71755" marB="0">
                    <a:lnL w="12700">
                      <a:solidFill>
                        <a:srgbClr val="000000"/>
                      </a:solidFill>
                      <a:prstDash val="solid"/>
                    </a:lnL>
                    <a:lnR w="12700">
                      <a:solidFill>
                        <a:srgbClr val="000000"/>
                      </a:solidFill>
                      <a:prstDash val="solid"/>
                    </a:lnR>
                  </a:tcPr>
                </a:tc>
                <a:tc>
                  <a:txBody>
                    <a:bodyPr/>
                    <a:lstStyle/>
                    <a:p>
                      <a:pPr algn="ctr">
                        <a:lnSpc>
                          <a:spcPct val="100000"/>
                        </a:lnSpc>
                        <a:spcBef>
                          <a:spcPts val="565"/>
                        </a:spcBef>
                      </a:pPr>
                      <a:r>
                        <a:rPr sz="1800" spc="-10" dirty="0">
                          <a:latin typeface="Times New Roman"/>
                          <a:cs typeface="Times New Roman"/>
                        </a:rPr>
                        <a:t>246-80-</a:t>
                      </a:r>
                      <a:r>
                        <a:rPr sz="1800" spc="-20" dirty="0">
                          <a:latin typeface="Times New Roman"/>
                          <a:cs typeface="Times New Roman"/>
                        </a:rPr>
                        <a:t>1214</a:t>
                      </a:r>
                      <a:endParaRPr sz="1800">
                        <a:latin typeface="Times New Roman"/>
                        <a:cs typeface="Times New Roman"/>
                      </a:endParaRPr>
                    </a:p>
                  </a:txBody>
                  <a:tcPr marL="0" marR="0" marT="71755" marB="0">
                    <a:lnL w="12700">
                      <a:solidFill>
                        <a:srgbClr val="000000"/>
                      </a:solidFill>
                      <a:prstDash val="solid"/>
                    </a:lnL>
                    <a:lnR w="12700">
                      <a:solidFill>
                        <a:srgbClr val="000000"/>
                      </a:solidFill>
                      <a:prstDash val="solid"/>
                    </a:lnR>
                  </a:tcPr>
                </a:tc>
                <a:tc>
                  <a:txBody>
                    <a:bodyPr/>
                    <a:lstStyle/>
                    <a:p>
                      <a:pPr marL="1270" algn="ctr">
                        <a:lnSpc>
                          <a:spcPct val="100000"/>
                        </a:lnSpc>
                        <a:spcBef>
                          <a:spcPts val="565"/>
                        </a:spcBef>
                      </a:pPr>
                      <a:r>
                        <a:rPr sz="1800" spc="-20" dirty="0">
                          <a:latin typeface="Times New Roman"/>
                          <a:cs typeface="Times New Roman"/>
                        </a:rPr>
                        <a:t>Park</a:t>
                      </a:r>
                      <a:endParaRPr sz="1800">
                        <a:latin typeface="Times New Roman"/>
                        <a:cs typeface="Times New Roman"/>
                      </a:endParaRPr>
                    </a:p>
                  </a:txBody>
                  <a:tcPr marL="0" marR="0" marT="71755" marB="0">
                    <a:lnL w="12700">
                      <a:solidFill>
                        <a:srgbClr val="000000"/>
                      </a:solidFill>
                      <a:prstDash val="solid"/>
                    </a:lnL>
                    <a:lnR w="12700">
                      <a:solidFill>
                        <a:srgbClr val="000000"/>
                      </a:solidFill>
                      <a:prstDash val="solid"/>
                    </a:lnR>
                  </a:tcPr>
                </a:tc>
                <a:tc>
                  <a:txBody>
                    <a:bodyPr/>
                    <a:lstStyle/>
                    <a:p>
                      <a:pPr marL="1270" algn="ctr">
                        <a:lnSpc>
                          <a:spcPct val="100000"/>
                        </a:lnSpc>
                        <a:spcBef>
                          <a:spcPts val="565"/>
                        </a:spcBef>
                      </a:pPr>
                      <a:r>
                        <a:rPr sz="1800" dirty="0">
                          <a:latin typeface="Times New Roman"/>
                          <a:cs typeface="Times New Roman"/>
                        </a:rPr>
                        <a:t>Round</a:t>
                      </a:r>
                      <a:r>
                        <a:rPr sz="1800" spc="-25" dirty="0">
                          <a:latin typeface="Times New Roman"/>
                          <a:cs typeface="Times New Roman"/>
                        </a:rPr>
                        <a:t> </a:t>
                      </a:r>
                      <a:r>
                        <a:rPr sz="1800" spc="-20" dirty="0">
                          <a:latin typeface="Times New Roman"/>
                          <a:cs typeface="Times New Roman"/>
                        </a:rPr>
                        <a:t>Rock</a:t>
                      </a:r>
                      <a:endParaRPr sz="1800">
                        <a:latin typeface="Times New Roman"/>
                        <a:cs typeface="Times New Roman"/>
                      </a:endParaRPr>
                    </a:p>
                  </a:txBody>
                  <a:tcPr marL="0" marR="0" marT="7175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05"/>
                  </a:ext>
                </a:extLst>
              </a:tr>
              <a:tr h="476250">
                <a:tc>
                  <a:txBody>
                    <a:bodyPr/>
                    <a:lstStyle/>
                    <a:p>
                      <a:pPr algn="ctr">
                        <a:lnSpc>
                          <a:spcPct val="100000"/>
                        </a:lnSpc>
                        <a:spcBef>
                          <a:spcPts val="560"/>
                        </a:spcBef>
                      </a:pPr>
                      <a:r>
                        <a:rPr sz="1800" spc="-10" dirty="0">
                          <a:latin typeface="Times New Roman"/>
                          <a:cs typeface="Times New Roman"/>
                        </a:rPr>
                        <a:t>Brill</a:t>
                      </a:r>
                      <a:endParaRPr sz="1800">
                        <a:latin typeface="Times New Roman"/>
                        <a:cs typeface="Times New Roman"/>
                      </a:endParaRPr>
                    </a:p>
                  </a:txBody>
                  <a:tcPr marL="0" marR="0" marT="71120" marB="0">
                    <a:lnL w="12700">
                      <a:solidFill>
                        <a:srgbClr val="000000"/>
                      </a:solidFill>
                      <a:prstDash val="solid"/>
                    </a:lnL>
                    <a:lnR w="12700">
                      <a:solidFill>
                        <a:srgbClr val="000000"/>
                      </a:solidFill>
                      <a:prstDash val="solid"/>
                    </a:lnR>
                    <a:lnB w="12700">
                      <a:solidFill>
                        <a:srgbClr val="000000"/>
                      </a:solidFill>
                      <a:prstDash val="solid"/>
                    </a:lnB>
                  </a:tcPr>
                </a:tc>
                <a:tc>
                  <a:txBody>
                    <a:bodyPr/>
                    <a:lstStyle/>
                    <a:p>
                      <a:pPr algn="ctr">
                        <a:lnSpc>
                          <a:spcPct val="100000"/>
                        </a:lnSpc>
                        <a:spcBef>
                          <a:spcPts val="560"/>
                        </a:spcBef>
                      </a:pPr>
                      <a:r>
                        <a:rPr sz="1800" spc="-10" dirty="0">
                          <a:latin typeface="Times New Roman"/>
                          <a:cs typeface="Times New Roman"/>
                        </a:rPr>
                        <a:t>121-21-</a:t>
                      </a:r>
                      <a:r>
                        <a:rPr sz="1800" spc="-20" dirty="0">
                          <a:latin typeface="Times New Roman"/>
                          <a:cs typeface="Times New Roman"/>
                        </a:rPr>
                        <a:t>2121</a:t>
                      </a:r>
                      <a:endParaRPr sz="1800">
                        <a:latin typeface="Times New Roman"/>
                        <a:cs typeface="Times New Roman"/>
                      </a:endParaRPr>
                    </a:p>
                  </a:txBody>
                  <a:tcPr marL="0" marR="0" marT="71120" marB="0">
                    <a:lnL w="12700">
                      <a:solidFill>
                        <a:srgbClr val="000000"/>
                      </a:solidFill>
                      <a:prstDash val="solid"/>
                    </a:lnL>
                    <a:lnR w="12700">
                      <a:solidFill>
                        <a:srgbClr val="000000"/>
                      </a:solidFill>
                      <a:prstDash val="solid"/>
                    </a:lnR>
                    <a:lnB w="12700">
                      <a:solidFill>
                        <a:srgbClr val="000000"/>
                      </a:solidFill>
                      <a:prstDash val="solid"/>
                    </a:lnB>
                  </a:tcPr>
                </a:tc>
                <a:tc>
                  <a:txBody>
                    <a:bodyPr/>
                    <a:lstStyle/>
                    <a:p>
                      <a:pPr marL="635" algn="ctr">
                        <a:lnSpc>
                          <a:spcPct val="100000"/>
                        </a:lnSpc>
                        <a:spcBef>
                          <a:spcPts val="560"/>
                        </a:spcBef>
                      </a:pPr>
                      <a:r>
                        <a:rPr sz="1800" spc="-10" dirty="0">
                          <a:latin typeface="Times New Roman"/>
                          <a:cs typeface="Times New Roman"/>
                        </a:rPr>
                        <a:t>Putnam</a:t>
                      </a:r>
                      <a:endParaRPr sz="1800">
                        <a:latin typeface="Times New Roman"/>
                        <a:cs typeface="Times New Roman"/>
                      </a:endParaRPr>
                    </a:p>
                  </a:txBody>
                  <a:tcPr marL="0" marR="0" marT="71120" marB="0">
                    <a:lnL w="12700">
                      <a:solidFill>
                        <a:srgbClr val="000000"/>
                      </a:solidFill>
                      <a:prstDash val="solid"/>
                    </a:lnL>
                    <a:lnR w="12700">
                      <a:solidFill>
                        <a:srgbClr val="000000"/>
                      </a:solidFill>
                      <a:prstDash val="solid"/>
                    </a:lnR>
                    <a:lnB w="12700">
                      <a:solidFill>
                        <a:srgbClr val="000000"/>
                      </a:solidFill>
                      <a:prstDash val="solid"/>
                    </a:lnB>
                  </a:tcPr>
                </a:tc>
                <a:tc>
                  <a:txBody>
                    <a:bodyPr/>
                    <a:lstStyle/>
                    <a:p>
                      <a:pPr marL="1905" algn="ctr">
                        <a:lnSpc>
                          <a:spcPct val="100000"/>
                        </a:lnSpc>
                        <a:spcBef>
                          <a:spcPts val="560"/>
                        </a:spcBef>
                      </a:pPr>
                      <a:r>
                        <a:rPr sz="1800" dirty="0">
                          <a:latin typeface="Times New Roman"/>
                          <a:cs typeface="Times New Roman"/>
                        </a:rPr>
                        <a:t>San</a:t>
                      </a:r>
                      <a:r>
                        <a:rPr sz="1800" spc="-15" dirty="0">
                          <a:latin typeface="Times New Roman"/>
                          <a:cs typeface="Times New Roman"/>
                        </a:rPr>
                        <a:t> </a:t>
                      </a:r>
                      <a:r>
                        <a:rPr sz="1800" spc="-10" dirty="0">
                          <a:latin typeface="Times New Roman"/>
                          <a:cs typeface="Times New Roman"/>
                        </a:rPr>
                        <a:t>Marcos</a:t>
                      </a:r>
                      <a:endParaRPr sz="1800">
                        <a:latin typeface="Times New Roman"/>
                        <a:cs typeface="Times New Roman"/>
                      </a:endParaRPr>
                    </a:p>
                  </a:txBody>
                  <a:tcPr marL="0" marR="0" marT="71120" marB="0">
                    <a:lnL w="12700">
                      <a:solidFill>
                        <a:srgbClr val="000000"/>
                      </a:solidFill>
                      <a:prstDash val="solid"/>
                    </a:lnL>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6"/>
                  </a:ext>
                </a:extLst>
              </a:tr>
            </a:tbl>
          </a:graphicData>
        </a:graphic>
      </p:graphicFrame>
      <p:sp>
        <p:nvSpPr>
          <p:cNvPr id="7" name="object 7"/>
          <p:cNvSpPr/>
          <p:nvPr/>
        </p:nvSpPr>
        <p:spPr>
          <a:xfrm>
            <a:off x="774073" y="1420367"/>
            <a:ext cx="2357755" cy="2929255"/>
          </a:xfrm>
          <a:custGeom>
            <a:avLst/>
            <a:gdLst/>
            <a:ahLst/>
            <a:cxnLst/>
            <a:rect l="l" t="t" r="r" b="b"/>
            <a:pathLst>
              <a:path w="2357755" h="2929254">
                <a:moveTo>
                  <a:pt x="1178048" y="0"/>
                </a:moveTo>
                <a:lnTo>
                  <a:pt x="1134853" y="965"/>
                </a:lnTo>
                <a:lnTo>
                  <a:pt x="1092049" y="3839"/>
                </a:lnTo>
                <a:lnTo>
                  <a:pt x="1049665" y="8589"/>
                </a:lnTo>
                <a:lnTo>
                  <a:pt x="1007726" y="15181"/>
                </a:lnTo>
                <a:lnTo>
                  <a:pt x="966259" y="23583"/>
                </a:lnTo>
                <a:lnTo>
                  <a:pt x="925291" y="33761"/>
                </a:lnTo>
                <a:lnTo>
                  <a:pt x="884849" y="45684"/>
                </a:lnTo>
                <a:lnTo>
                  <a:pt x="844958" y="59316"/>
                </a:lnTo>
                <a:lnTo>
                  <a:pt x="805645" y="74627"/>
                </a:lnTo>
                <a:lnTo>
                  <a:pt x="766938" y="91582"/>
                </a:lnTo>
                <a:lnTo>
                  <a:pt x="728862" y="110148"/>
                </a:lnTo>
                <a:lnTo>
                  <a:pt x="691445" y="130293"/>
                </a:lnTo>
                <a:lnTo>
                  <a:pt x="654712" y="151984"/>
                </a:lnTo>
                <a:lnTo>
                  <a:pt x="618691" y="175187"/>
                </a:lnTo>
                <a:lnTo>
                  <a:pt x="583408" y="199869"/>
                </a:lnTo>
                <a:lnTo>
                  <a:pt x="548890" y="225998"/>
                </a:lnTo>
                <a:lnTo>
                  <a:pt x="515163" y="253541"/>
                </a:lnTo>
                <a:lnTo>
                  <a:pt x="482253" y="282464"/>
                </a:lnTo>
                <a:lnTo>
                  <a:pt x="450188" y="312734"/>
                </a:lnTo>
                <a:lnTo>
                  <a:pt x="418994" y="344319"/>
                </a:lnTo>
                <a:lnTo>
                  <a:pt x="388698" y="377185"/>
                </a:lnTo>
                <a:lnTo>
                  <a:pt x="359326" y="411300"/>
                </a:lnTo>
                <a:lnTo>
                  <a:pt x="330904" y="446630"/>
                </a:lnTo>
                <a:lnTo>
                  <a:pt x="303460" y="483142"/>
                </a:lnTo>
                <a:lnTo>
                  <a:pt x="277020" y="520804"/>
                </a:lnTo>
                <a:lnTo>
                  <a:pt x="251611" y="559582"/>
                </a:lnTo>
                <a:lnTo>
                  <a:pt x="227258" y="599444"/>
                </a:lnTo>
                <a:lnTo>
                  <a:pt x="203989" y="640355"/>
                </a:lnTo>
                <a:lnTo>
                  <a:pt x="181831" y="682284"/>
                </a:lnTo>
                <a:lnTo>
                  <a:pt x="160810" y="725198"/>
                </a:lnTo>
                <a:lnTo>
                  <a:pt x="140952" y="769062"/>
                </a:lnTo>
                <a:lnTo>
                  <a:pt x="122284" y="813845"/>
                </a:lnTo>
                <a:lnTo>
                  <a:pt x="104833" y="859513"/>
                </a:lnTo>
                <a:lnTo>
                  <a:pt x="88625" y="906034"/>
                </a:lnTo>
                <a:lnTo>
                  <a:pt x="73687" y="953373"/>
                </a:lnTo>
                <a:lnTo>
                  <a:pt x="60045" y="1001499"/>
                </a:lnTo>
                <a:lnTo>
                  <a:pt x="47727" y="1050378"/>
                </a:lnTo>
                <a:lnTo>
                  <a:pt x="36758" y="1099977"/>
                </a:lnTo>
                <a:lnTo>
                  <a:pt x="27165" y="1150264"/>
                </a:lnTo>
                <a:lnTo>
                  <a:pt x="18975" y="1201204"/>
                </a:lnTo>
                <a:lnTo>
                  <a:pt x="12215" y="1252766"/>
                </a:lnTo>
                <a:lnTo>
                  <a:pt x="6911" y="1304916"/>
                </a:lnTo>
                <a:lnTo>
                  <a:pt x="3089" y="1357620"/>
                </a:lnTo>
                <a:lnTo>
                  <a:pt x="776" y="1410847"/>
                </a:lnTo>
                <a:lnTo>
                  <a:pt x="0" y="1464563"/>
                </a:lnTo>
                <a:lnTo>
                  <a:pt x="776" y="1518280"/>
                </a:lnTo>
                <a:lnTo>
                  <a:pt x="3089" y="1571507"/>
                </a:lnTo>
                <a:lnTo>
                  <a:pt x="6911" y="1624211"/>
                </a:lnTo>
                <a:lnTo>
                  <a:pt x="12215" y="1676361"/>
                </a:lnTo>
                <a:lnTo>
                  <a:pt x="18975" y="1727923"/>
                </a:lnTo>
                <a:lnTo>
                  <a:pt x="27165" y="1778863"/>
                </a:lnTo>
                <a:lnTo>
                  <a:pt x="36758" y="1829150"/>
                </a:lnTo>
                <a:lnTo>
                  <a:pt x="47727" y="1878749"/>
                </a:lnTo>
                <a:lnTo>
                  <a:pt x="60045" y="1927628"/>
                </a:lnTo>
                <a:lnTo>
                  <a:pt x="73687" y="1975754"/>
                </a:lnTo>
                <a:lnTo>
                  <a:pt x="88625" y="2023093"/>
                </a:lnTo>
                <a:lnTo>
                  <a:pt x="104833" y="2069614"/>
                </a:lnTo>
                <a:lnTo>
                  <a:pt x="122284" y="2115282"/>
                </a:lnTo>
                <a:lnTo>
                  <a:pt x="140952" y="2160065"/>
                </a:lnTo>
                <a:lnTo>
                  <a:pt x="160810" y="2203929"/>
                </a:lnTo>
                <a:lnTo>
                  <a:pt x="181831" y="2246843"/>
                </a:lnTo>
                <a:lnTo>
                  <a:pt x="203989" y="2288772"/>
                </a:lnTo>
                <a:lnTo>
                  <a:pt x="227258" y="2329683"/>
                </a:lnTo>
                <a:lnTo>
                  <a:pt x="251611" y="2369545"/>
                </a:lnTo>
                <a:lnTo>
                  <a:pt x="277020" y="2408323"/>
                </a:lnTo>
                <a:lnTo>
                  <a:pt x="303460" y="2445985"/>
                </a:lnTo>
                <a:lnTo>
                  <a:pt x="330904" y="2482497"/>
                </a:lnTo>
                <a:lnTo>
                  <a:pt x="359326" y="2517827"/>
                </a:lnTo>
                <a:lnTo>
                  <a:pt x="388698" y="2551942"/>
                </a:lnTo>
                <a:lnTo>
                  <a:pt x="418994" y="2584808"/>
                </a:lnTo>
                <a:lnTo>
                  <a:pt x="450188" y="2616393"/>
                </a:lnTo>
                <a:lnTo>
                  <a:pt x="482253" y="2646663"/>
                </a:lnTo>
                <a:lnTo>
                  <a:pt x="515163" y="2675586"/>
                </a:lnTo>
                <a:lnTo>
                  <a:pt x="548890" y="2703129"/>
                </a:lnTo>
                <a:lnTo>
                  <a:pt x="583408" y="2729258"/>
                </a:lnTo>
                <a:lnTo>
                  <a:pt x="618691" y="2753940"/>
                </a:lnTo>
                <a:lnTo>
                  <a:pt x="654712" y="2777143"/>
                </a:lnTo>
                <a:lnTo>
                  <a:pt x="691445" y="2798834"/>
                </a:lnTo>
                <a:lnTo>
                  <a:pt x="728862" y="2818979"/>
                </a:lnTo>
                <a:lnTo>
                  <a:pt x="766938" y="2837545"/>
                </a:lnTo>
                <a:lnTo>
                  <a:pt x="805645" y="2854500"/>
                </a:lnTo>
                <a:lnTo>
                  <a:pt x="844958" y="2869811"/>
                </a:lnTo>
                <a:lnTo>
                  <a:pt x="884849" y="2883443"/>
                </a:lnTo>
                <a:lnTo>
                  <a:pt x="925291" y="2895366"/>
                </a:lnTo>
                <a:lnTo>
                  <a:pt x="966259" y="2905544"/>
                </a:lnTo>
                <a:lnTo>
                  <a:pt x="1007726" y="2913946"/>
                </a:lnTo>
                <a:lnTo>
                  <a:pt x="1049665" y="2920538"/>
                </a:lnTo>
                <a:lnTo>
                  <a:pt x="1092049" y="2925288"/>
                </a:lnTo>
                <a:lnTo>
                  <a:pt x="1134853" y="2928162"/>
                </a:lnTo>
                <a:lnTo>
                  <a:pt x="1178048" y="2929127"/>
                </a:lnTo>
                <a:lnTo>
                  <a:pt x="1221344" y="2928162"/>
                </a:lnTo>
                <a:lnTo>
                  <a:pt x="1264242" y="2925288"/>
                </a:lnTo>
                <a:lnTo>
                  <a:pt x="1306717" y="2920538"/>
                </a:lnTo>
                <a:lnTo>
                  <a:pt x="1348743" y="2913946"/>
                </a:lnTo>
                <a:lnTo>
                  <a:pt x="1390292" y="2905544"/>
                </a:lnTo>
                <a:lnTo>
                  <a:pt x="1431339" y="2895366"/>
                </a:lnTo>
                <a:lnTo>
                  <a:pt x="1471856" y="2883443"/>
                </a:lnTo>
                <a:lnTo>
                  <a:pt x="1511817" y="2869811"/>
                </a:lnTo>
                <a:lnTo>
                  <a:pt x="1551197" y="2854500"/>
                </a:lnTo>
                <a:lnTo>
                  <a:pt x="1589967" y="2837545"/>
                </a:lnTo>
                <a:lnTo>
                  <a:pt x="1628103" y="2818979"/>
                </a:lnTo>
                <a:lnTo>
                  <a:pt x="1665577" y="2798834"/>
                </a:lnTo>
                <a:lnTo>
                  <a:pt x="1702362" y="2777143"/>
                </a:lnTo>
                <a:lnTo>
                  <a:pt x="1738433" y="2753940"/>
                </a:lnTo>
                <a:lnTo>
                  <a:pt x="1773763" y="2729258"/>
                </a:lnTo>
                <a:lnTo>
                  <a:pt x="1808325" y="2703129"/>
                </a:lnTo>
                <a:lnTo>
                  <a:pt x="1842093" y="2675586"/>
                </a:lnTo>
                <a:lnTo>
                  <a:pt x="1875041" y="2646663"/>
                </a:lnTo>
                <a:lnTo>
                  <a:pt x="1907141" y="2616393"/>
                </a:lnTo>
                <a:lnTo>
                  <a:pt x="1938368" y="2584808"/>
                </a:lnTo>
                <a:lnTo>
                  <a:pt x="1968694" y="2551942"/>
                </a:lnTo>
                <a:lnTo>
                  <a:pt x="1998094" y="2517827"/>
                </a:lnTo>
                <a:lnTo>
                  <a:pt x="2026541" y="2482497"/>
                </a:lnTo>
                <a:lnTo>
                  <a:pt x="2054008" y="2445985"/>
                </a:lnTo>
                <a:lnTo>
                  <a:pt x="2080470" y="2408323"/>
                </a:lnTo>
                <a:lnTo>
                  <a:pt x="2105898" y="2369545"/>
                </a:lnTo>
                <a:lnTo>
                  <a:pt x="2130268" y="2329683"/>
                </a:lnTo>
                <a:lnTo>
                  <a:pt x="2153552" y="2288772"/>
                </a:lnTo>
                <a:lnTo>
                  <a:pt x="2175724" y="2246843"/>
                </a:lnTo>
                <a:lnTo>
                  <a:pt x="2196758" y="2203929"/>
                </a:lnTo>
                <a:lnTo>
                  <a:pt x="2216626" y="2160065"/>
                </a:lnTo>
                <a:lnTo>
                  <a:pt x="2235303" y="2115282"/>
                </a:lnTo>
                <a:lnTo>
                  <a:pt x="2252762" y="2069614"/>
                </a:lnTo>
                <a:lnTo>
                  <a:pt x="2268977" y="2023093"/>
                </a:lnTo>
                <a:lnTo>
                  <a:pt x="2283920" y="1975754"/>
                </a:lnTo>
                <a:lnTo>
                  <a:pt x="2297567" y="1927628"/>
                </a:lnTo>
                <a:lnTo>
                  <a:pt x="2309889" y="1878749"/>
                </a:lnTo>
                <a:lnTo>
                  <a:pt x="2320860" y="1829150"/>
                </a:lnTo>
                <a:lnTo>
                  <a:pt x="2330455" y="1778863"/>
                </a:lnTo>
                <a:lnTo>
                  <a:pt x="2338647" y="1727923"/>
                </a:lnTo>
                <a:lnTo>
                  <a:pt x="2345408" y="1676361"/>
                </a:lnTo>
                <a:lnTo>
                  <a:pt x="2350713" y="1624211"/>
                </a:lnTo>
                <a:lnTo>
                  <a:pt x="2354535" y="1571507"/>
                </a:lnTo>
                <a:lnTo>
                  <a:pt x="2356848" y="1518280"/>
                </a:lnTo>
                <a:lnTo>
                  <a:pt x="2357624" y="1464563"/>
                </a:lnTo>
                <a:lnTo>
                  <a:pt x="2356848" y="1410847"/>
                </a:lnTo>
                <a:lnTo>
                  <a:pt x="2354535" y="1357620"/>
                </a:lnTo>
                <a:lnTo>
                  <a:pt x="2350713" y="1304916"/>
                </a:lnTo>
                <a:lnTo>
                  <a:pt x="2345408" y="1252766"/>
                </a:lnTo>
                <a:lnTo>
                  <a:pt x="2338647" y="1201204"/>
                </a:lnTo>
                <a:lnTo>
                  <a:pt x="2330455" y="1150264"/>
                </a:lnTo>
                <a:lnTo>
                  <a:pt x="2320860" y="1099977"/>
                </a:lnTo>
                <a:lnTo>
                  <a:pt x="2309889" y="1050378"/>
                </a:lnTo>
                <a:lnTo>
                  <a:pt x="2297567" y="1001499"/>
                </a:lnTo>
                <a:lnTo>
                  <a:pt x="2283920" y="953373"/>
                </a:lnTo>
                <a:lnTo>
                  <a:pt x="2268977" y="906034"/>
                </a:lnTo>
                <a:lnTo>
                  <a:pt x="2252762" y="859513"/>
                </a:lnTo>
                <a:lnTo>
                  <a:pt x="2235303" y="813845"/>
                </a:lnTo>
                <a:lnTo>
                  <a:pt x="2216626" y="769062"/>
                </a:lnTo>
                <a:lnTo>
                  <a:pt x="2196758" y="725198"/>
                </a:lnTo>
                <a:lnTo>
                  <a:pt x="2175724" y="682284"/>
                </a:lnTo>
                <a:lnTo>
                  <a:pt x="2153552" y="640355"/>
                </a:lnTo>
                <a:lnTo>
                  <a:pt x="2130268" y="599444"/>
                </a:lnTo>
                <a:lnTo>
                  <a:pt x="2105898" y="559582"/>
                </a:lnTo>
                <a:lnTo>
                  <a:pt x="2080470" y="520804"/>
                </a:lnTo>
                <a:lnTo>
                  <a:pt x="2054008" y="483142"/>
                </a:lnTo>
                <a:lnTo>
                  <a:pt x="2026541" y="446630"/>
                </a:lnTo>
                <a:lnTo>
                  <a:pt x="1998094" y="411300"/>
                </a:lnTo>
                <a:lnTo>
                  <a:pt x="1968694" y="377185"/>
                </a:lnTo>
                <a:lnTo>
                  <a:pt x="1938368" y="344319"/>
                </a:lnTo>
                <a:lnTo>
                  <a:pt x="1907141" y="312734"/>
                </a:lnTo>
                <a:lnTo>
                  <a:pt x="1875041" y="282464"/>
                </a:lnTo>
                <a:lnTo>
                  <a:pt x="1842093" y="253541"/>
                </a:lnTo>
                <a:lnTo>
                  <a:pt x="1808325" y="225998"/>
                </a:lnTo>
                <a:lnTo>
                  <a:pt x="1773763" y="199869"/>
                </a:lnTo>
                <a:lnTo>
                  <a:pt x="1738433" y="175187"/>
                </a:lnTo>
                <a:lnTo>
                  <a:pt x="1702362" y="151984"/>
                </a:lnTo>
                <a:lnTo>
                  <a:pt x="1665577" y="130293"/>
                </a:lnTo>
                <a:lnTo>
                  <a:pt x="1628103" y="110148"/>
                </a:lnTo>
                <a:lnTo>
                  <a:pt x="1589967" y="91582"/>
                </a:lnTo>
                <a:lnTo>
                  <a:pt x="1551197" y="74627"/>
                </a:lnTo>
                <a:lnTo>
                  <a:pt x="1511817" y="59316"/>
                </a:lnTo>
                <a:lnTo>
                  <a:pt x="1471856" y="45684"/>
                </a:lnTo>
                <a:lnTo>
                  <a:pt x="1431339" y="33761"/>
                </a:lnTo>
                <a:lnTo>
                  <a:pt x="1390292" y="23583"/>
                </a:lnTo>
                <a:lnTo>
                  <a:pt x="1348743" y="15181"/>
                </a:lnTo>
                <a:lnTo>
                  <a:pt x="1306717" y="8589"/>
                </a:lnTo>
                <a:lnTo>
                  <a:pt x="1264242" y="3839"/>
                </a:lnTo>
                <a:lnTo>
                  <a:pt x="1221344" y="965"/>
                </a:lnTo>
                <a:lnTo>
                  <a:pt x="1178048" y="0"/>
                </a:lnTo>
                <a:close/>
              </a:path>
            </a:pathLst>
          </a:custGeom>
          <a:ln w="38099">
            <a:solidFill>
              <a:srgbClr val="375D89"/>
            </a:solidFill>
          </a:ln>
        </p:spPr>
        <p:txBody>
          <a:bodyPr wrap="square" lIns="0" tIns="0" rIns="0" bIns="0" rtlCol="0"/>
          <a:lstStyle/>
          <a:p>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003299" y="654050"/>
            <a:ext cx="8396617" cy="1243289"/>
          </a:xfrm>
          <a:prstGeom prst="rect">
            <a:avLst/>
          </a:prstGeom>
        </p:spPr>
        <p:txBody>
          <a:bodyPr vert="horz" wrap="square" lIns="0" tIns="12065" rIns="0" bIns="0" rtlCol="0">
            <a:spAutoFit/>
          </a:bodyPr>
          <a:lstStyle/>
          <a:p>
            <a:pPr marL="3228975" marR="5080" indent="-2499360">
              <a:lnSpc>
                <a:spcPct val="100000"/>
              </a:lnSpc>
              <a:spcBef>
                <a:spcPts val="95"/>
              </a:spcBef>
            </a:pPr>
            <a:r>
              <a:rPr sz="4000" spc="-10" dirty="0"/>
              <a:t>Representación</a:t>
            </a:r>
            <a:r>
              <a:rPr sz="4000" spc="-105" dirty="0"/>
              <a:t> </a:t>
            </a:r>
            <a:r>
              <a:rPr sz="4000" dirty="0"/>
              <a:t>de</a:t>
            </a:r>
            <a:r>
              <a:rPr sz="4000" spc="-95" dirty="0"/>
              <a:t> </a:t>
            </a:r>
            <a:r>
              <a:rPr sz="4000" spc="-10" dirty="0"/>
              <a:t>entidades débiles</a:t>
            </a:r>
            <a:endParaRPr sz="4000" dirty="0"/>
          </a:p>
        </p:txBody>
      </p:sp>
      <p:sp>
        <p:nvSpPr>
          <p:cNvPr id="3" name="object 3"/>
          <p:cNvSpPr txBox="1"/>
          <p:nvPr/>
        </p:nvSpPr>
        <p:spPr>
          <a:xfrm>
            <a:off x="1271917" y="1893213"/>
            <a:ext cx="8128000" cy="4824730"/>
          </a:xfrm>
          <a:prstGeom prst="rect">
            <a:avLst/>
          </a:prstGeom>
        </p:spPr>
        <p:txBody>
          <a:bodyPr vert="horz" wrap="square" lIns="0" tIns="56515" rIns="0" bIns="0" rtlCol="0">
            <a:spAutoFit/>
          </a:bodyPr>
          <a:lstStyle/>
          <a:p>
            <a:pPr marL="50800">
              <a:lnSpc>
                <a:spcPct val="100000"/>
              </a:lnSpc>
              <a:spcBef>
                <a:spcPts val="445"/>
              </a:spcBef>
            </a:pPr>
            <a:r>
              <a:rPr sz="2800" spc="-10" dirty="0">
                <a:latin typeface="Arial MT"/>
                <a:cs typeface="Arial MT"/>
              </a:rPr>
              <a:t>Sean:</a:t>
            </a:r>
            <a:endParaRPr sz="2800">
              <a:latin typeface="Arial MT"/>
              <a:cs typeface="Arial MT"/>
            </a:endParaRPr>
          </a:p>
          <a:p>
            <a:pPr marL="391160" marR="2188845" indent="-340995">
              <a:lnSpc>
                <a:spcPts val="3020"/>
              </a:lnSpc>
              <a:spcBef>
                <a:spcPts val="735"/>
              </a:spcBef>
              <a:buFont typeface="Arial MT"/>
              <a:buChar char="•"/>
              <a:tabLst>
                <a:tab pos="393065" algn="l"/>
                <a:tab pos="2787650" algn="l"/>
              </a:tabLst>
            </a:pPr>
            <a:r>
              <a:rPr sz="2800" b="1" dirty="0">
                <a:latin typeface="Arial"/>
                <a:cs typeface="Arial"/>
              </a:rPr>
              <a:t>A</a:t>
            </a:r>
            <a:r>
              <a:rPr sz="2800" b="1" spc="-60" dirty="0">
                <a:latin typeface="Arial"/>
                <a:cs typeface="Arial"/>
              </a:rPr>
              <a:t> </a:t>
            </a:r>
            <a:r>
              <a:rPr sz="2800" dirty="0">
                <a:latin typeface="Arial MT"/>
                <a:cs typeface="Arial MT"/>
              </a:rPr>
              <a:t>una</a:t>
            </a:r>
            <a:r>
              <a:rPr sz="2800" spc="-45" dirty="0">
                <a:latin typeface="Arial MT"/>
                <a:cs typeface="Arial MT"/>
              </a:rPr>
              <a:t> </a:t>
            </a:r>
            <a:r>
              <a:rPr sz="2800" b="1" dirty="0">
                <a:latin typeface="Arial"/>
                <a:cs typeface="Arial"/>
              </a:rPr>
              <a:t>entidad</a:t>
            </a:r>
            <a:r>
              <a:rPr sz="2800" b="1" spc="-45" dirty="0">
                <a:latin typeface="Arial"/>
                <a:cs typeface="Arial"/>
              </a:rPr>
              <a:t> </a:t>
            </a:r>
            <a:r>
              <a:rPr sz="2800" b="1" dirty="0">
                <a:latin typeface="Arial"/>
                <a:cs typeface="Arial"/>
              </a:rPr>
              <a:t>débil</a:t>
            </a:r>
            <a:r>
              <a:rPr sz="2800" b="1" spc="-45" dirty="0">
                <a:latin typeface="Arial"/>
                <a:cs typeface="Arial"/>
              </a:rPr>
              <a:t> </a:t>
            </a:r>
            <a:r>
              <a:rPr sz="2800" dirty="0">
                <a:latin typeface="Arial MT"/>
                <a:cs typeface="Arial MT"/>
              </a:rPr>
              <a:t>con</a:t>
            </a:r>
            <a:r>
              <a:rPr sz="2800" spc="-45" dirty="0">
                <a:latin typeface="Arial MT"/>
                <a:cs typeface="Arial MT"/>
              </a:rPr>
              <a:t> </a:t>
            </a:r>
            <a:r>
              <a:rPr sz="2800" b="1" spc="-10" dirty="0">
                <a:latin typeface="Arial"/>
                <a:cs typeface="Arial"/>
              </a:rPr>
              <a:t>atributos 	descriptivos</a:t>
            </a:r>
            <a:r>
              <a:rPr sz="2800" b="1" dirty="0">
                <a:latin typeface="Arial"/>
                <a:cs typeface="Arial"/>
              </a:rPr>
              <a:t>	</a:t>
            </a:r>
            <a:r>
              <a:rPr sz="2800" b="1" spc="-10" dirty="0">
                <a:latin typeface="Arial"/>
                <a:cs typeface="Arial"/>
              </a:rPr>
              <a:t>a</a:t>
            </a:r>
            <a:r>
              <a:rPr sz="2850" b="1" spc="-15" baseline="-20467" dirty="0">
                <a:latin typeface="Arial"/>
                <a:cs typeface="Arial"/>
              </a:rPr>
              <a:t>1</a:t>
            </a:r>
            <a:r>
              <a:rPr sz="2800" b="1" spc="-10" dirty="0">
                <a:latin typeface="Arial"/>
                <a:cs typeface="Arial"/>
              </a:rPr>
              <a:t>,a</a:t>
            </a:r>
            <a:r>
              <a:rPr sz="2850" b="1" spc="-15" baseline="-20467" dirty="0">
                <a:latin typeface="Arial"/>
                <a:cs typeface="Arial"/>
              </a:rPr>
              <a:t>2</a:t>
            </a:r>
            <a:r>
              <a:rPr sz="2800" b="1" spc="-10" dirty="0">
                <a:latin typeface="Arial"/>
                <a:cs typeface="Arial"/>
              </a:rPr>
              <a:t>,....,a</a:t>
            </a:r>
            <a:r>
              <a:rPr sz="2850" b="1" spc="-15" baseline="-20467" dirty="0">
                <a:latin typeface="Arial"/>
                <a:cs typeface="Arial"/>
              </a:rPr>
              <a:t>r</a:t>
            </a:r>
            <a:r>
              <a:rPr sz="2800" spc="-10" dirty="0">
                <a:latin typeface="Arial MT"/>
                <a:cs typeface="Arial MT"/>
              </a:rPr>
              <a:t>.</a:t>
            </a:r>
            <a:endParaRPr sz="2800">
              <a:latin typeface="Arial MT"/>
              <a:cs typeface="Arial MT"/>
            </a:endParaRPr>
          </a:p>
          <a:p>
            <a:pPr marL="391795" indent="-340995">
              <a:lnSpc>
                <a:spcPct val="100000"/>
              </a:lnSpc>
              <a:spcBef>
                <a:spcPts val="295"/>
              </a:spcBef>
              <a:buFont typeface="Arial MT"/>
              <a:buChar char="•"/>
              <a:tabLst>
                <a:tab pos="391795" algn="l"/>
              </a:tabLst>
            </a:pPr>
            <a:r>
              <a:rPr sz="2800" b="1" dirty="0">
                <a:latin typeface="Arial"/>
                <a:cs typeface="Arial"/>
              </a:rPr>
              <a:t>B</a:t>
            </a:r>
            <a:r>
              <a:rPr sz="2800" b="1" spc="-55" dirty="0">
                <a:latin typeface="Arial"/>
                <a:cs typeface="Arial"/>
              </a:rPr>
              <a:t> </a:t>
            </a:r>
            <a:r>
              <a:rPr sz="2800" dirty="0">
                <a:latin typeface="Arial MT"/>
                <a:cs typeface="Arial MT"/>
              </a:rPr>
              <a:t>la</a:t>
            </a:r>
            <a:r>
              <a:rPr sz="2800" spc="-45" dirty="0">
                <a:latin typeface="Arial MT"/>
                <a:cs typeface="Arial MT"/>
              </a:rPr>
              <a:t> </a:t>
            </a:r>
            <a:r>
              <a:rPr sz="2800" b="1" dirty="0">
                <a:latin typeface="Arial"/>
                <a:cs typeface="Arial"/>
              </a:rPr>
              <a:t>entidad</a:t>
            </a:r>
            <a:r>
              <a:rPr sz="2800" b="1" spc="-50" dirty="0">
                <a:latin typeface="Arial"/>
                <a:cs typeface="Arial"/>
              </a:rPr>
              <a:t> </a:t>
            </a:r>
            <a:r>
              <a:rPr sz="2800" b="1" dirty="0">
                <a:latin typeface="Arial"/>
                <a:cs typeface="Arial"/>
              </a:rPr>
              <a:t>fuerte</a:t>
            </a:r>
            <a:r>
              <a:rPr sz="2800" b="1" spc="-45" dirty="0">
                <a:latin typeface="Arial"/>
                <a:cs typeface="Arial"/>
              </a:rPr>
              <a:t> </a:t>
            </a:r>
            <a:r>
              <a:rPr sz="2800" dirty="0">
                <a:latin typeface="Arial MT"/>
                <a:cs typeface="Arial MT"/>
              </a:rPr>
              <a:t>de</a:t>
            </a:r>
            <a:r>
              <a:rPr sz="2800" spc="-45" dirty="0">
                <a:latin typeface="Arial MT"/>
                <a:cs typeface="Arial MT"/>
              </a:rPr>
              <a:t> </a:t>
            </a:r>
            <a:r>
              <a:rPr sz="2800" dirty="0">
                <a:latin typeface="Arial MT"/>
                <a:cs typeface="Arial MT"/>
              </a:rPr>
              <a:t>la</a:t>
            </a:r>
            <a:r>
              <a:rPr sz="2800" spc="-40" dirty="0">
                <a:latin typeface="Arial MT"/>
                <a:cs typeface="Arial MT"/>
              </a:rPr>
              <a:t> </a:t>
            </a:r>
            <a:r>
              <a:rPr sz="2800" dirty="0">
                <a:latin typeface="Arial MT"/>
                <a:cs typeface="Arial MT"/>
              </a:rPr>
              <a:t>que</a:t>
            </a:r>
            <a:r>
              <a:rPr sz="2800" spc="-45" dirty="0">
                <a:latin typeface="Arial MT"/>
                <a:cs typeface="Arial MT"/>
              </a:rPr>
              <a:t> </a:t>
            </a:r>
            <a:r>
              <a:rPr sz="2800" dirty="0">
                <a:latin typeface="Arial MT"/>
                <a:cs typeface="Arial MT"/>
              </a:rPr>
              <a:t>depende</a:t>
            </a:r>
            <a:r>
              <a:rPr sz="2800" spc="-45" dirty="0">
                <a:latin typeface="Arial MT"/>
                <a:cs typeface="Arial MT"/>
              </a:rPr>
              <a:t> </a:t>
            </a:r>
            <a:r>
              <a:rPr sz="2800" spc="-25" dirty="0">
                <a:latin typeface="Arial MT"/>
                <a:cs typeface="Arial MT"/>
              </a:rPr>
              <a:t>A.</a:t>
            </a:r>
            <a:endParaRPr sz="2800">
              <a:latin typeface="Arial MT"/>
              <a:cs typeface="Arial MT"/>
            </a:endParaRPr>
          </a:p>
          <a:p>
            <a:pPr marL="392430" indent="-341630">
              <a:lnSpc>
                <a:spcPct val="100000"/>
              </a:lnSpc>
              <a:spcBef>
                <a:spcPts val="335"/>
              </a:spcBef>
              <a:buChar char="•"/>
              <a:tabLst>
                <a:tab pos="392430" algn="l"/>
              </a:tabLst>
            </a:pPr>
            <a:r>
              <a:rPr sz="2800" dirty="0">
                <a:latin typeface="Arial MT"/>
                <a:cs typeface="Arial MT"/>
              </a:rPr>
              <a:t>La</a:t>
            </a:r>
            <a:r>
              <a:rPr sz="2800" spc="-35" dirty="0">
                <a:latin typeface="Arial MT"/>
                <a:cs typeface="Arial MT"/>
              </a:rPr>
              <a:t> </a:t>
            </a:r>
            <a:r>
              <a:rPr sz="2800" b="1" dirty="0">
                <a:latin typeface="Arial"/>
                <a:cs typeface="Arial"/>
              </a:rPr>
              <a:t>clave</a:t>
            </a:r>
            <a:r>
              <a:rPr sz="2800" b="1" spc="-35" dirty="0">
                <a:latin typeface="Arial"/>
                <a:cs typeface="Arial"/>
              </a:rPr>
              <a:t> </a:t>
            </a:r>
            <a:r>
              <a:rPr sz="2800" b="1" dirty="0">
                <a:latin typeface="Arial"/>
                <a:cs typeface="Arial"/>
              </a:rPr>
              <a:t>primaria</a:t>
            </a:r>
            <a:r>
              <a:rPr sz="2800" b="1" spc="-50" dirty="0">
                <a:latin typeface="Arial"/>
                <a:cs typeface="Arial"/>
              </a:rPr>
              <a:t> </a:t>
            </a:r>
            <a:r>
              <a:rPr sz="2800" b="1" dirty="0">
                <a:latin typeface="Arial"/>
                <a:cs typeface="Arial"/>
              </a:rPr>
              <a:t>de</a:t>
            </a:r>
            <a:r>
              <a:rPr sz="2800" b="1" spc="-35" dirty="0">
                <a:latin typeface="Arial"/>
                <a:cs typeface="Arial"/>
              </a:rPr>
              <a:t> </a:t>
            </a:r>
            <a:r>
              <a:rPr sz="2800" b="1" dirty="0">
                <a:latin typeface="Arial"/>
                <a:cs typeface="Arial"/>
              </a:rPr>
              <a:t>B</a:t>
            </a:r>
            <a:r>
              <a:rPr sz="2800" b="1" spc="690" dirty="0">
                <a:latin typeface="Arial"/>
                <a:cs typeface="Arial"/>
              </a:rPr>
              <a:t> </a:t>
            </a:r>
            <a:r>
              <a:rPr sz="2800" dirty="0">
                <a:latin typeface="Arial MT"/>
                <a:cs typeface="Arial MT"/>
              </a:rPr>
              <a:t>es</a:t>
            </a:r>
            <a:r>
              <a:rPr sz="2800" spc="-30" dirty="0">
                <a:latin typeface="Arial MT"/>
                <a:cs typeface="Arial MT"/>
              </a:rPr>
              <a:t> </a:t>
            </a:r>
            <a:r>
              <a:rPr sz="2800" b="1" spc="-10" dirty="0">
                <a:latin typeface="Arial"/>
                <a:cs typeface="Arial"/>
              </a:rPr>
              <a:t>{b</a:t>
            </a:r>
            <a:r>
              <a:rPr sz="2850" b="1" spc="-15" baseline="-20467" dirty="0">
                <a:latin typeface="Arial"/>
                <a:cs typeface="Arial"/>
              </a:rPr>
              <a:t>1</a:t>
            </a:r>
            <a:r>
              <a:rPr sz="2800" b="1" spc="-10" dirty="0">
                <a:latin typeface="Arial"/>
                <a:cs typeface="Arial"/>
              </a:rPr>
              <a:t>,b</a:t>
            </a:r>
            <a:r>
              <a:rPr sz="2850" b="1" spc="-15" baseline="-20467" dirty="0">
                <a:latin typeface="Arial"/>
                <a:cs typeface="Arial"/>
              </a:rPr>
              <a:t>2</a:t>
            </a:r>
            <a:r>
              <a:rPr sz="2800" b="1" spc="-10" dirty="0">
                <a:latin typeface="Arial"/>
                <a:cs typeface="Arial"/>
              </a:rPr>
              <a:t>,...,b</a:t>
            </a:r>
            <a:r>
              <a:rPr sz="2850" b="1" spc="-15" baseline="-20467" dirty="0">
                <a:latin typeface="Arial"/>
                <a:cs typeface="Arial"/>
              </a:rPr>
              <a:t>s</a:t>
            </a:r>
            <a:r>
              <a:rPr sz="2800" b="1" spc="-10" dirty="0">
                <a:latin typeface="Arial"/>
                <a:cs typeface="Arial"/>
              </a:rPr>
              <a:t>}</a:t>
            </a:r>
            <a:endParaRPr sz="2800">
              <a:latin typeface="Arial"/>
              <a:cs typeface="Arial"/>
            </a:endParaRPr>
          </a:p>
          <a:p>
            <a:pPr>
              <a:lnSpc>
                <a:spcPct val="100000"/>
              </a:lnSpc>
              <a:spcBef>
                <a:spcPts val="1210"/>
              </a:spcBef>
            </a:pPr>
            <a:endParaRPr sz="2800">
              <a:latin typeface="Arial"/>
              <a:cs typeface="Arial"/>
            </a:endParaRPr>
          </a:p>
          <a:p>
            <a:pPr marL="393700" marR="30480" indent="-342900">
              <a:lnSpc>
                <a:spcPts val="3020"/>
              </a:lnSpc>
            </a:pPr>
            <a:r>
              <a:rPr sz="2800" dirty="0">
                <a:latin typeface="Arial MT"/>
                <a:cs typeface="Arial MT"/>
              </a:rPr>
              <a:t>Entonces,</a:t>
            </a:r>
            <a:r>
              <a:rPr sz="2800" spc="-65" dirty="0">
                <a:latin typeface="Arial MT"/>
                <a:cs typeface="Arial MT"/>
              </a:rPr>
              <a:t> </a:t>
            </a:r>
            <a:r>
              <a:rPr sz="2800" dirty="0">
                <a:latin typeface="Arial MT"/>
                <a:cs typeface="Arial MT"/>
              </a:rPr>
              <a:t>se</a:t>
            </a:r>
            <a:r>
              <a:rPr sz="2800" spc="-55" dirty="0">
                <a:latin typeface="Arial MT"/>
                <a:cs typeface="Arial MT"/>
              </a:rPr>
              <a:t> </a:t>
            </a:r>
            <a:r>
              <a:rPr sz="2800" dirty="0">
                <a:latin typeface="Arial MT"/>
                <a:cs typeface="Arial MT"/>
              </a:rPr>
              <a:t>representa</a:t>
            </a:r>
            <a:r>
              <a:rPr sz="2800" spc="-55" dirty="0">
                <a:latin typeface="Arial MT"/>
                <a:cs typeface="Arial MT"/>
              </a:rPr>
              <a:t> </a:t>
            </a:r>
            <a:r>
              <a:rPr sz="2800" dirty="0">
                <a:latin typeface="Arial MT"/>
                <a:cs typeface="Arial MT"/>
              </a:rPr>
              <a:t>la</a:t>
            </a:r>
            <a:r>
              <a:rPr sz="2800" spc="-55" dirty="0">
                <a:latin typeface="Arial MT"/>
                <a:cs typeface="Arial MT"/>
              </a:rPr>
              <a:t> </a:t>
            </a:r>
            <a:r>
              <a:rPr sz="2800" dirty="0">
                <a:latin typeface="Arial MT"/>
                <a:cs typeface="Arial MT"/>
              </a:rPr>
              <a:t>entidad</a:t>
            </a:r>
            <a:r>
              <a:rPr sz="2800" spc="-60" dirty="0">
                <a:latin typeface="Arial MT"/>
                <a:cs typeface="Arial MT"/>
              </a:rPr>
              <a:t> </a:t>
            </a:r>
            <a:r>
              <a:rPr sz="2800" b="1" dirty="0">
                <a:latin typeface="Arial"/>
                <a:cs typeface="Arial"/>
              </a:rPr>
              <a:t>A</a:t>
            </a:r>
            <a:r>
              <a:rPr sz="2800" b="1" spc="-65" dirty="0">
                <a:latin typeface="Arial"/>
                <a:cs typeface="Arial"/>
              </a:rPr>
              <a:t> </a:t>
            </a:r>
            <a:r>
              <a:rPr sz="2800" dirty="0">
                <a:latin typeface="Arial MT"/>
                <a:cs typeface="Arial MT"/>
              </a:rPr>
              <a:t>por</a:t>
            </a:r>
            <a:r>
              <a:rPr sz="2800" spc="-55" dirty="0">
                <a:latin typeface="Arial MT"/>
                <a:cs typeface="Arial MT"/>
              </a:rPr>
              <a:t> </a:t>
            </a:r>
            <a:r>
              <a:rPr sz="2800" dirty="0">
                <a:latin typeface="Arial MT"/>
                <a:cs typeface="Arial MT"/>
              </a:rPr>
              <a:t>medio</a:t>
            </a:r>
            <a:r>
              <a:rPr sz="2800" spc="-60" dirty="0">
                <a:latin typeface="Arial MT"/>
                <a:cs typeface="Arial MT"/>
              </a:rPr>
              <a:t> </a:t>
            </a:r>
            <a:r>
              <a:rPr sz="2800" spc="-25" dirty="0">
                <a:latin typeface="Arial MT"/>
                <a:cs typeface="Arial MT"/>
              </a:rPr>
              <a:t>de una</a:t>
            </a:r>
            <a:endParaRPr sz="2800">
              <a:latin typeface="Arial MT"/>
              <a:cs typeface="Arial MT"/>
            </a:endParaRPr>
          </a:p>
          <a:p>
            <a:pPr marL="50800">
              <a:lnSpc>
                <a:spcPct val="100000"/>
              </a:lnSpc>
              <a:spcBef>
                <a:spcPts val="295"/>
              </a:spcBef>
            </a:pPr>
            <a:r>
              <a:rPr sz="2800" b="1" dirty="0">
                <a:latin typeface="Arial"/>
                <a:cs typeface="Arial"/>
              </a:rPr>
              <a:t>tabla</a:t>
            </a:r>
            <a:r>
              <a:rPr sz="2800" b="1" spc="-45" dirty="0">
                <a:latin typeface="Arial"/>
                <a:cs typeface="Arial"/>
              </a:rPr>
              <a:t> </a:t>
            </a:r>
            <a:r>
              <a:rPr sz="2800" b="1" dirty="0">
                <a:latin typeface="Arial"/>
                <a:cs typeface="Arial"/>
              </a:rPr>
              <a:t>llamada</a:t>
            </a:r>
            <a:r>
              <a:rPr sz="2800" b="1" spc="-30" dirty="0">
                <a:latin typeface="Arial"/>
                <a:cs typeface="Arial"/>
              </a:rPr>
              <a:t> </a:t>
            </a:r>
            <a:r>
              <a:rPr sz="2800" b="1" dirty="0">
                <a:latin typeface="Arial"/>
                <a:cs typeface="Arial"/>
              </a:rPr>
              <a:t>A</a:t>
            </a:r>
            <a:r>
              <a:rPr sz="2800" b="1" spc="680" dirty="0">
                <a:latin typeface="Arial"/>
                <a:cs typeface="Arial"/>
              </a:rPr>
              <a:t> </a:t>
            </a:r>
            <a:r>
              <a:rPr sz="2800" dirty="0">
                <a:latin typeface="Arial MT"/>
                <a:cs typeface="Arial MT"/>
              </a:rPr>
              <a:t>con</a:t>
            </a:r>
            <a:r>
              <a:rPr sz="2800" spc="-40" dirty="0">
                <a:latin typeface="Arial MT"/>
                <a:cs typeface="Arial MT"/>
              </a:rPr>
              <a:t> </a:t>
            </a:r>
            <a:r>
              <a:rPr sz="2800" spc="-10" dirty="0">
                <a:latin typeface="Arial MT"/>
                <a:cs typeface="Arial MT"/>
              </a:rPr>
              <a:t>columnas:</a:t>
            </a:r>
            <a:endParaRPr sz="2800">
              <a:latin typeface="Arial MT"/>
              <a:cs typeface="Arial MT"/>
            </a:endParaRPr>
          </a:p>
          <a:p>
            <a:pPr marL="16510" algn="ctr">
              <a:lnSpc>
                <a:spcPct val="100000"/>
              </a:lnSpc>
              <a:spcBef>
                <a:spcPts val="2475"/>
              </a:spcBef>
            </a:pPr>
            <a:r>
              <a:rPr sz="2800" b="1" dirty="0">
                <a:latin typeface="Arial"/>
                <a:cs typeface="Arial"/>
              </a:rPr>
              <a:t>{b</a:t>
            </a:r>
            <a:r>
              <a:rPr sz="2850" b="1" baseline="-20467" dirty="0">
                <a:latin typeface="Arial"/>
                <a:cs typeface="Arial"/>
              </a:rPr>
              <a:t>1</a:t>
            </a:r>
            <a:r>
              <a:rPr sz="2850" b="1" spc="-22" baseline="-20467" dirty="0">
                <a:latin typeface="Arial"/>
                <a:cs typeface="Arial"/>
              </a:rPr>
              <a:t> </a:t>
            </a:r>
            <a:r>
              <a:rPr sz="2800" b="1" dirty="0">
                <a:latin typeface="Arial"/>
                <a:cs typeface="Arial"/>
              </a:rPr>
              <a:t>,</a:t>
            </a:r>
            <a:r>
              <a:rPr sz="2800" b="1" spc="-15" dirty="0">
                <a:latin typeface="Arial"/>
                <a:cs typeface="Arial"/>
              </a:rPr>
              <a:t> </a:t>
            </a:r>
            <a:r>
              <a:rPr sz="2800" b="1" dirty="0">
                <a:latin typeface="Arial"/>
                <a:cs typeface="Arial"/>
              </a:rPr>
              <a:t>b</a:t>
            </a:r>
            <a:r>
              <a:rPr sz="2850" b="1" baseline="-20467" dirty="0">
                <a:latin typeface="Arial"/>
                <a:cs typeface="Arial"/>
              </a:rPr>
              <a:t>2</a:t>
            </a:r>
            <a:r>
              <a:rPr sz="2850" b="1" spc="-22" baseline="-20467" dirty="0">
                <a:latin typeface="Arial"/>
                <a:cs typeface="Arial"/>
              </a:rPr>
              <a:t> </a:t>
            </a:r>
            <a:r>
              <a:rPr sz="2800" b="1" dirty="0">
                <a:latin typeface="Arial"/>
                <a:cs typeface="Arial"/>
              </a:rPr>
              <a:t>,</a:t>
            </a:r>
            <a:r>
              <a:rPr sz="2800" b="1" spc="-15" dirty="0">
                <a:latin typeface="Arial"/>
                <a:cs typeface="Arial"/>
              </a:rPr>
              <a:t> </a:t>
            </a:r>
            <a:r>
              <a:rPr sz="2800" b="1" dirty="0">
                <a:latin typeface="Arial"/>
                <a:cs typeface="Arial"/>
              </a:rPr>
              <a:t>…</a:t>
            </a:r>
            <a:r>
              <a:rPr sz="2800" b="1" spc="-20" dirty="0">
                <a:latin typeface="Arial"/>
                <a:cs typeface="Arial"/>
              </a:rPr>
              <a:t> </a:t>
            </a:r>
            <a:r>
              <a:rPr sz="2800" b="1" dirty="0">
                <a:latin typeface="Arial"/>
                <a:cs typeface="Arial"/>
              </a:rPr>
              <a:t>,</a:t>
            </a:r>
            <a:r>
              <a:rPr sz="2800" b="1" spc="-20" dirty="0">
                <a:latin typeface="Arial"/>
                <a:cs typeface="Arial"/>
              </a:rPr>
              <a:t> </a:t>
            </a:r>
            <a:r>
              <a:rPr sz="2800" b="1" dirty="0">
                <a:latin typeface="Arial"/>
                <a:cs typeface="Arial"/>
              </a:rPr>
              <a:t>b</a:t>
            </a:r>
            <a:r>
              <a:rPr sz="2850" b="1" baseline="-20467" dirty="0">
                <a:latin typeface="Arial"/>
                <a:cs typeface="Arial"/>
              </a:rPr>
              <a:t>s</a:t>
            </a:r>
            <a:r>
              <a:rPr sz="2800" b="1" dirty="0">
                <a:latin typeface="Arial"/>
                <a:cs typeface="Arial"/>
              </a:rPr>
              <a:t>}</a:t>
            </a:r>
            <a:r>
              <a:rPr sz="2800" b="1" spc="-10" dirty="0">
                <a:latin typeface="Arial"/>
                <a:cs typeface="Arial"/>
              </a:rPr>
              <a:t> </a:t>
            </a:r>
            <a:r>
              <a:rPr sz="2800" b="1" dirty="0">
                <a:latin typeface="Arial"/>
                <a:cs typeface="Arial"/>
              </a:rPr>
              <a:t>U</a:t>
            </a:r>
            <a:r>
              <a:rPr sz="2800" b="1" spc="-25" dirty="0">
                <a:latin typeface="Arial"/>
                <a:cs typeface="Arial"/>
              </a:rPr>
              <a:t> </a:t>
            </a:r>
            <a:r>
              <a:rPr sz="2800" b="1" dirty="0">
                <a:latin typeface="Arial"/>
                <a:cs typeface="Arial"/>
              </a:rPr>
              <a:t>{a</a:t>
            </a:r>
            <a:r>
              <a:rPr sz="2850" b="1" baseline="-20467" dirty="0">
                <a:latin typeface="Arial"/>
                <a:cs typeface="Arial"/>
              </a:rPr>
              <a:t>1</a:t>
            </a:r>
            <a:r>
              <a:rPr sz="2850" b="1" spc="-15" baseline="-20467" dirty="0">
                <a:latin typeface="Arial"/>
                <a:cs typeface="Arial"/>
              </a:rPr>
              <a:t> </a:t>
            </a:r>
            <a:r>
              <a:rPr sz="2800" b="1" dirty="0">
                <a:latin typeface="Arial"/>
                <a:cs typeface="Arial"/>
              </a:rPr>
              <a:t>,</a:t>
            </a:r>
            <a:r>
              <a:rPr sz="2800" b="1" spc="-20" dirty="0">
                <a:latin typeface="Arial"/>
                <a:cs typeface="Arial"/>
              </a:rPr>
              <a:t> </a:t>
            </a:r>
            <a:r>
              <a:rPr sz="2800" b="1" dirty="0">
                <a:latin typeface="Arial"/>
                <a:cs typeface="Arial"/>
              </a:rPr>
              <a:t>a</a:t>
            </a:r>
            <a:r>
              <a:rPr sz="2850" b="1" baseline="-20467" dirty="0">
                <a:latin typeface="Arial"/>
                <a:cs typeface="Arial"/>
              </a:rPr>
              <a:t>2</a:t>
            </a:r>
            <a:r>
              <a:rPr sz="2850" b="1" spc="-15" baseline="-20467" dirty="0">
                <a:latin typeface="Arial"/>
                <a:cs typeface="Arial"/>
              </a:rPr>
              <a:t> </a:t>
            </a:r>
            <a:r>
              <a:rPr sz="2800" b="1" dirty="0">
                <a:latin typeface="Arial"/>
                <a:cs typeface="Arial"/>
              </a:rPr>
              <a:t>,</a:t>
            </a:r>
            <a:r>
              <a:rPr sz="2800" b="1" spc="-30" dirty="0">
                <a:latin typeface="Arial"/>
                <a:cs typeface="Arial"/>
              </a:rPr>
              <a:t> </a:t>
            </a:r>
            <a:r>
              <a:rPr sz="2800" b="1" dirty="0">
                <a:latin typeface="Arial"/>
                <a:cs typeface="Arial"/>
              </a:rPr>
              <a:t>…</a:t>
            </a:r>
            <a:r>
              <a:rPr sz="2800" b="1" spc="-15" dirty="0">
                <a:latin typeface="Arial"/>
                <a:cs typeface="Arial"/>
              </a:rPr>
              <a:t> </a:t>
            </a:r>
            <a:r>
              <a:rPr sz="2800" b="1" dirty="0">
                <a:latin typeface="Arial"/>
                <a:cs typeface="Arial"/>
              </a:rPr>
              <a:t>,</a:t>
            </a:r>
            <a:r>
              <a:rPr sz="2800" b="1" spc="-20" dirty="0">
                <a:latin typeface="Arial"/>
                <a:cs typeface="Arial"/>
              </a:rPr>
              <a:t> </a:t>
            </a:r>
            <a:r>
              <a:rPr sz="2800" b="1" spc="-25" dirty="0">
                <a:latin typeface="Arial"/>
                <a:cs typeface="Arial"/>
              </a:rPr>
              <a:t>a</a:t>
            </a:r>
            <a:r>
              <a:rPr sz="2850" b="1" spc="-37" baseline="-20467" dirty="0">
                <a:latin typeface="Arial"/>
                <a:cs typeface="Arial"/>
              </a:rPr>
              <a:t>r</a:t>
            </a:r>
            <a:r>
              <a:rPr sz="2800" b="1" spc="-25" dirty="0">
                <a:latin typeface="Arial"/>
                <a:cs typeface="Arial"/>
              </a:rPr>
              <a:t>}</a:t>
            </a:r>
            <a:endParaRPr sz="2800">
              <a:latin typeface="Arial"/>
              <a:cs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608453" y="2985516"/>
            <a:ext cx="1371600" cy="463550"/>
          </a:xfrm>
          <a:custGeom>
            <a:avLst/>
            <a:gdLst/>
            <a:ahLst/>
            <a:cxnLst/>
            <a:rect l="l" t="t" r="r" b="b"/>
            <a:pathLst>
              <a:path w="1371600" h="463550">
                <a:moveTo>
                  <a:pt x="0" y="0"/>
                </a:moveTo>
                <a:lnTo>
                  <a:pt x="0" y="463295"/>
                </a:lnTo>
                <a:lnTo>
                  <a:pt x="1371599" y="463295"/>
                </a:lnTo>
                <a:lnTo>
                  <a:pt x="1371599" y="0"/>
                </a:lnTo>
                <a:lnTo>
                  <a:pt x="0" y="0"/>
                </a:lnTo>
                <a:close/>
              </a:path>
            </a:pathLst>
          </a:custGeom>
          <a:ln w="9524">
            <a:solidFill>
              <a:srgbClr val="000000"/>
            </a:solidFill>
          </a:ln>
        </p:spPr>
        <p:txBody>
          <a:bodyPr wrap="square" lIns="0" tIns="0" rIns="0" bIns="0" rtlCol="0"/>
          <a:lstStyle/>
          <a:p>
            <a:endParaRPr/>
          </a:p>
        </p:txBody>
      </p:sp>
      <p:sp>
        <p:nvSpPr>
          <p:cNvPr id="3" name="object 3"/>
          <p:cNvSpPr txBox="1"/>
          <p:nvPr/>
        </p:nvSpPr>
        <p:spPr>
          <a:xfrm>
            <a:off x="4737994" y="3063239"/>
            <a:ext cx="1097280" cy="309880"/>
          </a:xfrm>
          <a:prstGeom prst="rect">
            <a:avLst/>
          </a:prstGeom>
          <a:ln w="9524">
            <a:solidFill>
              <a:srgbClr val="000000"/>
            </a:solidFill>
          </a:ln>
        </p:spPr>
        <p:txBody>
          <a:bodyPr vert="horz" wrap="square" lIns="0" tIns="47625" rIns="0" bIns="0" rtlCol="0">
            <a:spAutoFit/>
          </a:bodyPr>
          <a:lstStyle/>
          <a:p>
            <a:pPr marL="167640">
              <a:lnSpc>
                <a:spcPct val="100000"/>
              </a:lnSpc>
              <a:spcBef>
                <a:spcPts val="375"/>
              </a:spcBef>
            </a:pPr>
            <a:r>
              <a:rPr sz="1100" spc="-10" dirty="0">
                <a:latin typeface="Arial MT"/>
                <a:cs typeface="Arial MT"/>
              </a:rPr>
              <a:t>Transacción</a:t>
            </a:r>
            <a:endParaRPr sz="1100">
              <a:latin typeface="Arial MT"/>
              <a:cs typeface="Arial MT"/>
            </a:endParaRPr>
          </a:p>
        </p:txBody>
      </p:sp>
      <p:sp>
        <p:nvSpPr>
          <p:cNvPr id="4" name="object 4"/>
          <p:cNvSpPr txBox="1"/>
          <p:nvPr/>
        </p:nvSpPr>
        <p:spPr>
          <a:xfrm>
            <a:off x="1446157" y="3063239"/>
            <a:ext cx="1096010" cy="309880"/>
          </a:xfrm>
          <a:prstGeom prst="rect">
            <a:avLst/>
          </a:prstGeom>
          <a:ln w="9524">
            <a:solidFill>
              <a:srgbClr val="000000"/>
            </a:solidFill>
          </a:ln>
        </p:spPr>
        <p:txBody>
          <a:bodyPr vert="horz" wrap="square" lIns="0" tIns="47625" rIns="0" bIns="0" rtlCol="0">
            <a:spAutoFit/>
          </a:bodyPr>
          <a:lstStyle/>
          <a:p>
            <a:pPr marL="321310">
              <a:lnSpc>
                <a:spcPct val="100000"/>
              </a:lnSpc>
              <a:spcBef>
                <a:spcPts val="375"/>
              </a:spcBef>
            </a:pPr>
            <a:r>
              <a:rPr sz="1100" spc="-10" dirty="0">
                <a:latin typeface="Arial MT"/>
                <a:cs typeface="Arial MT"/>
              </a:rPr>
              <a:t>Cuenta</a:t>
            </a:r>
            <a:endParaRPr sz="1100">
              <a:latin typeface="Arial MT"/>
              <a:cs typeface="Arial MT"/>
            </a:endParaRPr>
          </a:p>
        </p:txBody>
      </p:sp>
      <p:sp>
        <p:nvSpPr>
          <p:cNvPr id="5" name="object 5"/>
          <p:cNvSpPr/>
          <p:nvPr/>
        </p:nvSpPr>
        <p:spPr>
          <a:xfrm>
            <a:off x="3066165" y="2930651"/>
            <a:ext cx="1097280" cy="541020"/>
          </a:xfrm>
          <a:custGeom>
            <a:avLst/>
            <a:gdLst/>
            <a:ahLst/>
            <a:cxnLst/>
            <a:rect l="l" t="t" r="r" b="b"/>
            <a:pathLst>
              <a:path w="1097279" h="541020">
                <a:moveTo>
                  <a:pt x="548639" y="0"/>
                </a:moveTo>
                <a:lnTo>
                  <a:pt x="0" y="269747"/>
                </a:lnTo>
                <a:lnTo>
                  <a:pt x="548639" y="541019"/>
                </a:lnTo>
                <a:lnTo>
                  <a:pt x="1097279" y="269747"/>
                </a:lnTo>
                <a:lnTo>
                  <a:pt x="548639" y="0"/>
                </a:lnTo>
                <a:close/>
              </a:path>
            </a:pathLst>
          </a:custGeom>
          <a:ln w="9524">
            <a:solidFill>
              <a:srgbClr val="000000"/>
            </a:solidFill>
          </a:ln>
        </p:spPr>
        <p:txBody>
          <a:bodyPr wrap="square" lIns="0" tIns="0" rIns="0" bIns="0" rtlCol="0"/>
          <a:lstStyle/>
          <a:p>
            <a:endParaRPr/>
          </a:p>
        </p:txBody>
      </p:sp>
      <p:sp>
        <p:nvSpPr>
          <p:cNvPr id="6" name="object 6"/>
          <p:cNvSpPr txBox="1"/>
          <p:nvPr/>
        </p:nvSpPr>
        <p:spPr>
          <a:xfrm>
            <a:off x="3346080" y="3073398"/>
            <a:ext cx="539750" cy="193675"/>
          </a:xfrm>
          <a:prstGeom prst="rect">
            <a:avLst/>
          </a:prstGeom>
        </p:spPr>
        <p:txBody>
          <a:bodyPr vert="horz" wrap="square" lIns="0" tIns="12700" rIns="0" bIns="0" rtlCol="0">
            <a:spAutoFit/>
          </a:bodyPr>
          <a:lstStyle/>
          <a:p>
            <a:pPr marL="12700">
              <a:lnSpc>
                <a:spcPct val="100000"/>
              </a:lnSpc>
              <a:spcBef>
                <a:spcPts val="100"/>
              </a:spcBef>
            </a:pPr>
            <a:r>
              <a:rPr sz="1100" spc="-10" dirty="0">
                <a:latin typeface="Arial MT"/>
                <a:cs typeface="Arial MT"/>
              </a:rPr>
              <a:t>Bitácora</a:t>
            </a:r>
            <a:endParaRPr sz="1100">
              <a:latin typeface="Arial MT"/>
              <a:cs typeface="Arial MT"/>
            </a:endParaRPr>
          </a:p>
        </p:txBody>
      </p:sp>
      <p:sp>
        <p:nvSpPr>
          <p:cNvPr id="7" name="object 7"/>
          <p:cNvSpPr/>
          <p:nvPr/>
        </p:nvSpPr>
        <p:spPr>
          <a:xfrm>
            <a:off x="988957" y="2157983"/>
            <a:ext cx="914400" cy="464820"/>
          </a:xfrm>
          <a:custGeom>
            <a:avLst/>
            <a:gdLst/>
            <a:ahLst/>
            <a:cxnLst/>
            <a:rect l="l" t="t" r="r" b="b"/>
            <a:pathLst>
              <a:path w="914400" h="464819">
                <a:moveTo>
                  <a:pt x="457199" y="0"/>
                </a:moveTo>
                <a:lnTo>
                  <a:pt x="395059" y="2143"/>
                </a:lnTo>
                <a:lnTo>
                  <a:pt x="335491" y="8381"/>
                </a:lnTo>
                <a:lnTo>
                  <a:pt x="279034" y="18430"/>
                </a:lnTo>
                <a:lnTo>
                  <a:pt x="226229" y="32003"/>
                </a:lnTo>
                <a:lnTo>
                  <a:pt x="177614" y="48815"/>
                </a:lnTo>
                <a:lnTo>
                  <a:pt x="133730" y="68579"/>
                </a:lnTo>
                <a:lnTo>
                  <a:pt x="95117" y="91011"/>
                </a:lnTo>
                <a:lnTo>
                  <a:pt x="62314" y="115823"/>
                </a:lnTo>
                <a:lnTo>
                  <a:pt x="16298" y="171449"/>
                </a:lnTo>
                <a:lnTo>
                  <a:pt x="0" y="233171"/>
                </a:lnTo>
                <a:lnTo>
                  <a:pt x="4164" y="264622"/>
                </a:lnTo>
                <a:lnTo>
                  <a:pt x="35861" y="323373"/>
                </a:lnTo>
                <a:lnTo>
                  <a:pt x="95117" y="374759"/>
                </a:lnTo>
                <a:lnTo>
                  <a:pt x="133730" y="397001"/>
                </a:lnTo>
                <a:lnTo>
                  <a:pt x="177614" y="416577"/>
                </a:lnTo>
                <a:lnTo>
                  <a:pt x="226229" y="433211"/>
                </a:lnTo>
                <a:lnTo>
                  <a:pt x="279034" y="446627"/>
                </a:lnTo>
                <a:lnTo>
                  <a:pt x="335491" y="456550"/>
                </a:lnTo>
                <a:lnTo>
                  <a:pt x="395059" y="462706"/>
                </a:lnTo>
                <a:lnTo>
                  <a:pt x="457199" y="464819"/>
                </a:lnTo>
                <a:lnTo>
                  <a:pt x="519019" y="462706"/>
                </a:lnTo>
                <a:lnTo>
                  <a:pt x="578377" y="456550"/>
                </a:lnTo>
                <a:lnTo>
                  <a:pt x="634720" y="446627"/>
                </a:lnTo>
                <a:lnTo>
                  <a:pt x="687491" y="433211"/>
                </a:lnTo>
                <a:lnTo>
                  <a:pt x="736134" y="416577"/>
                </a:lnTo>
                <a:lnTo>
                  <a:pt x="780094" y="397001"/>
                </a:lnTo>
                <a:lnTo>
                  <a:pt x="818816" y="374759"/>
                </a:lnTo>
                <a:lnTo>
                  <a:pt x="851743" y="350124"/>
                </a:lnTo>
                <a:lnTo>
                  <a:pt x="897992" y="294781"/>
                </a:lnTo>
                <a:lnTo>
                  <a:pt x="914396" y="233171"/>
                </a:lnTo>
                <a:lnTo>
                  <a:pt x="910203" y="201691"/>
                </a:lnTo>
                <a:lnTo>
                  <a:pt x="878321" y="142732"/>
                </a:lnTo>
                <a:lnTo>
                  <a:pt x="818816" y="91011"/>
                </a:lnTo>
                <a:lnTo>
                  <a:pt x="780094" y="68579"/>
                </a:lnTo>
                <a:lnTo>
                  <a:pt x="736134" y="48815"/>
                </a:lnTo>
                <a:lnTo>
                  <a:pt x="687491" y="32003"/>
                </a:lnTo>
                <a:lnTo>
                  <a:pt x="634720" y="18430"/>
                </a:lnTo>
                <a:lnTo>
                  <a:pt x="578377" y="8381"/>
                </a:lnTo>
                <a:lnTo>
                  <a:pt x="519019" y="2143"/>
                </a:lnTo>
                <a:lnTo>
                  <a:pt x="457199" y="0"/>
                </a:lnTo>
                <a:close/>
              </a:path>
            </a:pathLst>
          </a:custGeom>
          <a:ln w="9524">
            <a:solidFill>
              <a:srgbClr val="000000"/>
            </a:solidFill>
          </a:ln>
        </p:spPr>
        <p:txBody>
          <a:bodyPr wrap="square" lIns="0" tIns="0" rIns="0" bIns="0" rtlCol="0"/>
          <a:lstStyle/>
          <a:p>
            <a:endParaRPr/>
          </a:p>
        </p:txBody>
      </p:sp>
      <p:sp>
        <p:nvSpPr>
          <p:cNvPr id="8" name="object 8"/>
          <p:cNvSpPr txBox="1"/>
          <p:nvPr/>
        </p:nvSpPr>
        <p:spPr>
          <a:xfrm>
            <a:off x="1178948" y="2247391"/>
            <a:ext cx="504190" cy="330200"/>
          </a:xfrm>
          <a:prstGeom prst="rect">
            <a:avLst/>
          </a:prstGeom>
        </p:spPr>
        <p:txBody>
          <a:bodyPr vert="horz" wrap="square" lIns="0" tIns="12065" rIns="0" bIns="0" rtlCol="0">
            <a:spAutoFit/>
          </a:bodyPr>
          <a:lstStyle/>
          <a:p>
            <a:pPr marL="12700">
              <a:lnSpc>
                <a:spcPct val="100000"/>
              </a:lnSpc>
              <a:spcBef>
                <a:spcPts val="95"/>
              </a:spcBef>
            </a:pPr>
            <a:r>
              <a:rPr sz="1000" b="1" spc="-10" dirty="0">
                <a:latin typeface="Arial"/>
                <a:cs typeface="Arial"/>
              </a:rPr>
              <a:t>Número</a:t>
            </a:r>
            <a:endParaRPr sz="1000">
              <a:latin typeface="Arial"/>
              <a:cs typeface="Arial"/>
            </a:endParaRPr>
          </a:p>
          <a:p>
            <a:pPr marL="12700">
              <a:lnSpc>
                <a:spcPct val="100000"/>
              </a:lnSpc>
            </a:pPr>
            <a:r>
              <a:rPr sz="1000" b="1" spc="-10" dirty="0">
                <a:latin typeface="Arial"/>
                <a:cs typeface="Arial"/>
              </a:rPr>
              <a:t>-cuenta</a:t>
            </a:r>
            <a:endParaRPr sz="1000">
              <a:latin typeface="Arial"/>
              <a:cs typeface="Arial"/>
            </a:endParaRPr>
          </a:p>
        </p:txBody>
      </p:sp>
      <p:sp>
        <p:nvSpPr>
          <p:cNvPr id="9" name="object 9"/>
          <p:cNvSpPr/>
          <p:nvPr/>
        </p:nvSpPr>
        <p:spPr>
          <a:xfrm>
            <a:off x="2177674" y="2467355"/>
            <a:ext cx="731520" cy="387350"/>
          </a:xfrm>
          <a:custGeom>
            <a:avLst/>
            <a:gdLst/>
            <a:ahLst/>
            <a:cxnLst/>
            <a:rect l="l" t="t" r="r" b="b"/>
            <a:pathLst>
              <a:path w="731519" h="387350">
                <a:moveTo>
                  <a:pt x="365759" y="0"/>
                </a:moveTo>
                <a:lnTo>
                  <a:pt x="306264" y="2497"/>
                </a:lnTo>
                <a:lnTo>
                  <a:pt x="249887" y="9741"/>
                </a:lnTo>
                <a:lnTo>
                  <a:pt x="197368" y="21355"/>
                </a:lnTo>
                <a:lnTo>
                  <a:pt x="149449" y="36966"/>
                </a:lnTo>
                <a:lnTo>
                  <a:pt x="106870" y="56197"/>
                </a:lnTo>
                <a:lnTo>
                  <a:pt x="70372" y="78674"/>
                </a:lnTo>
                <a:lnTo>
                  <a:pt x="40695" y="104023"/>
                </a:lnTo>
                <a:lnTo>
                  <a:pt x="4768" y="161835"/>
                </a:lnTo>
                <a:lnTo>
                  <a:pt x="0" y="193547"/>
                </a:lnTo>
                <a:lnTo>
                  <a:pt x="4768" y="224890"/>
                </a:lnTo>
                <a:lnTo>
                  <a:pt x="40695" y="282400"/>
                </a:lnTo>
                <a:lnTo>
                  <a:pt x="70372" y="307762"/>
                </a:lnTo>
                <a:lnTo>
                  <a:pt x="106870" y="330326"/>
                </a:lnTo>
                <a:lnTo>
                  <a:pt x="149449" y="349690"/>
                </a:lnTo>
                <a:lnTo>
                  <a:pt x="197368" y="365452"/>
                </a:lnTo>
                <a:lnTo>
                  <a:pt x="249887" y="377208"/>
                </a:lnTo>
                <a:lnTo>
                  <a:pt x="306264" y="384557"/>
                </a:lnTo>
                <a:lnTo>
                  <a:pt x="365759" y="387095"/>
                </a:lnTo>
                <a:lnTo>
                  <a:pt x="425255" y="384557"/>
                </a:lnTo>
                <a:lnTo>
                  <a:pt x="481632" y="377208"/>
                </a:lnTo>
                <a:lnTo>
                  <a:pt x="534151" y="365452"/>
                </a:lnTo>
                <a:lnTo>
                  <a:pt x="582070" y="349690"/>
                </a:lnTo>
                <a:lnTo>
                  <a:pt x="624649" y="330326"/>
                </a:lnTo>
                <a:lnTo>
                  <a:pt x="661147" y="307762"/>
                </a:lnTo>
                <a:lnTo>
                  <a:pt x="690824" y="282400"/>
                </a:lnTo>
                <a:lnTo>
                  <a:pt x="726751" y="224890"/>
                </a:lnTo>
                <a:lnTo>
                  <a:pt x="731519" y="193547"/>
                </a:lnTo>
                <a:lnTo>
                  <a:pt x="726751" y="161835"/>
                </a:lnTo>
                <a:lnTo>
                  <a:pt x="690824" y="104023"/>
                </a:lnTo>
                <a:lnTo>
                  <a:pt x="661147" y="78674"/>
                </a:lnTo>
                <a:lnTo>
                  <a:pt x="624649" y="56197"/>
                </a:lnTo>
                <a:lnTo>
                  <a:pt x="582070" y="36966"/>
                </a:lnTo>
                <a:lnTo>
                  <a:pt x="534151" y="21355"/>
                </a:lnTo>
                <a:lnTo>
                  <a:pt x="481632" y="9741"/>
                </a:lnTo>
                <a:lnTo>
                  <a:pt x="425255" y="2497"/>
                </a:lnTo>
                <a:lnTo>
                  <a:pt x="365759" y="0"/>
                </a:lnTo>
                <a:close/>
              </a:path>
            </a:pathLst>
          </a:custGeom>
          <a:ln w="9524">
            <a:solidFill>
              <a:srgbClr val="000000"/>
            </a:solidFill>
          </a:ln>
        </p:spPr>
        <p:txBody>
          <a:bodyPr wrap="square" lIns="0" tIns="0" rIns="0" bIns="0" rtlCol="0"/>
          <a:lstStyle/>
          <a:p>
            <a:endParaRPr/>
          </a:p>
        </p:txBody>
      </p:sp>
      <p:sp>
        <p:nvSpPr>
          <p:cNvPr id="10" name="object 10"/>
          <p:cNvSpPr txBox="1"/>
          <p:nvPr/>
        </p:nvSpPr>
        <p:spPr>
          <a:xfrm>
            <a:off x="2340240" y="2544571"/>
            <a:ext cx="34734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MT"/>
                <a:cs typeface="Arial MT"/>
              </a:rPr>
              <a:t>Saldo</a:t>
            </a:r>
            <a:endParaRPr sz="1000">
              <a:latin typeface="Arial MT"/>
              <a:cs typeface="Arial MT"/>
            </a:endParaRPr>
          </a:p>
        </p:txBody>
      </p:sp>
      <p:sp>
        <p:nvSpPr>
          <p:cNvPr id="11" name="object 11"/>
          <p:cNvSpPr/>
          <p:nvPr/>
        </p:nvSpPr>
        <p:spPr>
          <a:xfrm>
            <a:off x="4006474" y="1848611"/>
            <a:ext cx="1097280" cy="464820"/>
          </a:xfrm>
          <a:custGeom>
            <a:avLst/>
            <a:gdLst/>
            <a:ahLst/>
            <a:cxnLst/>
            <a:rect l="l" t="t" r="r" b="b"/>
            <a:pathLst>
              <a:path w="1097279" h="464819">
                <a:moveTo>
                  <a:pt x="548639" y="0"/>
                </a:moveTo>
                <a:lnTo>
                  <a:pt x="484606" y="1557"/>
                </a:lnTo>
                <a:lnTo>
                  <a:pt x="422756" y="6113"/>
                </a:lnTo>
                <a:lnTo>
                  <a:pt x="363498" y="13496"/>
                </a:lnTo>
                <a:lnTo>
                  <a:pt x="307243" y="23530"/>
                </a:lnTo>
                <a:lnTo>
                  <a:pt x="254400" y="36045"/>
                </a:lnTo>
                <a:lnTo>
                  <a:pt x="205380" y="50865"/>
                </a:lnTo>
                <a:lnTo>
                  <a:pt x="160591" y="67817"/>
                </a:lnTo>
                <a:lnTo>
                  <a:pt x="120444" y="86730"/>
                </a:lnTo>
                <a:lnTo>
                  <a:pt x="85350" y="107428"/>
                </a:lnTo>
                <a:lnTo>
                  <a:pt x="31955" y="153490"/>
                </a:lnTo>
                <a:lnTo>
                  <a:pt x="3687" y="204618"/>
                </a:lnTo>
                <a:lnTo>
                  <a:pt x="0" y="231647"/>
                </a:lnTo>
                <a:lnTo>
                  <a:pt x="3687" y="258700"/>
                </a:lnTo>
                <a:lnTo>
                  <a:pt x="31955" y="309985"/>
                </a:lnTo>
                <a:lnTo>
                  <a:pt x="85350" y="356311"/>
                </a:lnTo>
                <a:lnTo>
                  <a:pt x="120444" y="377165"/>
                </a:lnTo>
                <a:lnTo>
                  <a:pt x="160591" y="396239"/>
                </a:lnTo>
                <a:lnTo>
                  <a:pt x="205380" y="413354"/>
                </a:lnTo>
                <a:lnTo>
                  <a:pt x="254400" y="428330"/>
                </a:lnTo>
                <a:lnTo>
                  <a:pt x="307243" y="440986"/>
                </a:lnTo>
                <a:lnTo>
                  <a:pt x="363498" y="451143"/>
                </a:lnTo>
                <a:lnTo>
                  <a:pt x="422756" y="458621"/>
                </a:lnTo>
                <a:lnTo>
                  <a:pt x="484606" y="463240"/>
                </a:lnTo>
                <a:lnTo>
                  <a:pt x="548639" y="464819"/>
                </a:lnTo>
                <a:lnTo>
                  <a:pt x="612391" y="463240"/>
                </a:lnTo>
                <a:lnTo>
                  <a:pt x="674043" y="458621"/>
                </a:lnTo>
                <a:lnTo>
                  <a:pt x="733176" y="451143"/>
                </a:lnTo>
                <a:lnTo>
                  <a:pt x="789369" y="440986"/>
                </a:lnTo>
                <a:lnTo>
                  <a:pt x="842204" y="428330"/>
                </a:lnTo>
                <a:lnTo>
                  <a:pt x="891260" y="413354"/>
                </a:lnTo>
                <a:lnTo>
                  <a:pt x="936116" y="396239"/>
                </a:lnTo>
                <a:lnTo>
                  <a:pt x="976355" y="377165"/>
                </a:lnTo>
                <a:lnTo>
                  <a:pt x="1011554" y="356311"/>
                </a:lnTo>
                <a:lnTo>
                  <a:pt x="1065159" y="309985"/>
                </a:lnTo>
                <a:lnTo>
                  <a:pt x="1093571" y="258700"/>
                </a:lnTo>
                <a:lnTo>
                  <a:pt x="1097279" y="231647"/>
                </a:lnTo>
                <a:lnTo>
                  <a:pt x="1093571" y="204618"/>
                </a:lnTo>
                <a:lnTo>
                  <a:pt x="1065159" y="153490"/>
                </a:lnTo>
                <a:lnTo>
                  <a:pt x="1011554" y="107428"/>
                </a:lnTo>
                <a:lnTo>
                  <a:pt x="976355" y="86730"/>
                </a:lnTo>
                <a:lnTo>
                  <a:pt x="936116" y="67817"/>
                </a:lnTo>
                <a:lnTo>
                  <a:pt x="891260" y="50865"/>
                </a:lnTo>
                <a:lnTo>
                  <a:pt x="842204" y="36045"/>
                </a:lnTo>
                <a:lnTo>
                  <a:pt x="789369" y="23530"/>
                </a:lnTo>
                <a:lnTo>
                  <a:pt x="733176" y="13496"/>
                </a:lnTo>
                <a:lnTo>
                  <a:pt x="674043" y="6113"/>
                </a:lnTo>
                <a:lnTo>
                  <a:pt x="612391" y="1557"/>
                </a:lnTo>
                <a:lnTo>
                  <a:pt x="548639" y="0"/>
                </a:lnTo>
                <a:close/>
              </a:path>
            </a:pathLst>
          </a:custGeom>
          <a:ln w="9524">
            <a:solidFill>
              <a:srgbClr val="000000"/>
            </a:solidFill>
          </a:ln>
        </p:spPr>
        <p:txBody>
          <a:bodyPr wrap="square" lIns="0" tIns="0" rIns="0" bIns="0" rtlCol="0"/>
          <a:lstStyle/>
          <a:p>
            <a:endParaRPr/>
          </a:p>
        </p:txBody>
      </p:sp>
      <p:sp>
        <p:nvSpPr>
          <p:cNvPr id="12" name="object 12"/>
          <p:cNvSpPr txBox="1"/>
          <p:nvPr/>
        </p:nvSpPr>
        <p:spPr>
          <a:xfrm>
            <a:off x="4223904" y="1938019"/>
            <a:ext cx="610870" cy="298450"/>
          </a:xfrm>
          <a:prstGeom prst="rect">
            <a:avLst/>
          </a:prstGeom>
        </p:spPr>
        <p:txBody>
          <a:bodyPr vert="horz" wrap="square" lIns="0" tIns="17780" rIns="0" bIns="0" rtlCol="0">
            <a:spAutoFit/>
          </a:bodyPr>
          <a:lstStyle/>
          <a:p>
            <a:pPr marL="12700" marR="5080">
              <a:lnSpc>
                <a:spcPts val="1070"/>
              </a:lnSpc>
              <a:spcBef>
                <a:spcPts val="140"/>
              </a:spcBef>
            </a:pPr>
            <a:r>
              <a:rPr sz="900" dirty="0">
                <a:latin typeface="Arial MT"/>
                <a:cs typeface="Arial MT"/>
              </a:rPr>
              <a:t>Número-</a:t>
            </a:r>
            <a:r>
              <a:rPr sz="900" spc="-10" dirty="0">
                <a:latin typeface="Arial MT"/>
                <a:cs typeface="Arial MT"/>
              </a:rPr>
              <a:t>transacción</a:t>
            </a:r>
            <a:endParaRPr sz="900">
              <a:latin typeface="Arial MT"/>
              <a:cs typeface="Arial MT"/>
            </a:endParaRPr>
          </a:p>
        </p:txBody>
      </p:sp>
      <p:sp>
        <p:nvSpPr>
          <p:cNvPr id="13" name="object 13"/>
          <p:cNvSpPr/>
          <p:nvPr/>
        </p:nvSpPr>
        <p:spPr>
          <a:xfrm>
            <a:off x="4827909" y="2391155"/>
            <a:ext cx="824865" cy="307975"/>
          </a:xfrm>
          <a:custGeom>
            <a:avLst/>
            <a:gdLst/>
            <a:ahLst/>
            <a:cxnLst/>
            <a:rect l="l" t="t" r="r" b="b"/>
            <a:pathLst>
              <a:path w="824864" h="307975">
                <a:moveTo>
                  <a:pt x="413003" y="0"/>
                </a:moveTo>
                <a:lnTo>
                  <a:pt x="345890" y="2005"/>
                </a:lnTo>
                <a:lnTo>
                  <a:pt x="282269" y="7815"/>
                </a:lnTo>
                <a:lnTo>
                  <a:pt x="222982" y="17117"/>
                </a:lnTo>
                <a:lnTo>
                  <a:pt x="168871" y="29602"/>
                </a:lnTo>
                <a:lnTo>
                  <a:pt x="120776" y="44957"/>
                </a:lnTo>
                <a:lnTo>
                  <a:pt x="79540" y="62874"/>
                </a:lnTo>
                <a:lnTo>
                  <a:pt x="46003" y="83039"/>
                </a:lnTo>
                <a:lnTo>
                  <a:pt x="5391" y="128875"/>
                </a:lnTo>
                <a:lnTo>
                  <a:pt x="0" y="153923"/>
                </a:lnTo>
                <a:lnTo>
                  <a:pt x="5391" y="178602"/>
                </a:lnTo>
                <a:lnTo>
                  <a:pt x="46003" y="224136"/>
                </a:lnTo>
                <a:lnTo>
                  <a:pt x="79540" y="244315"/>
                </a:lnTo>
                <a:lnTo>
                  <a:pt x="120776" y="262318"/>
                </a:lnTo>
                <a:lnTo>
                  <a:pt x="168871" y="277806"/>
                </a:lnTo>
                <a:lnTo>
                  <a:pt x="222982" y="290442"/>
                </a:lnTo>
                <a:lnTo>
                  <a:pt x="282269" y="299886"/>
                </a:lnTo>
                <a:lnTo>
                  <a:pt x="345890" y="305801"/>
                </a:lnTo>
                <a:lnTo>
                  <a:pt x="413003" y="307847"/>
                </a:lnTo>
                <a:lnTo>
                  <a:pt x="479704" y="305801"/>
                </a:lnTo>
                <a:lnTo>
                  <a:pt x="542995" y="299886"/>
                </a:lnTo>
                <a:lnTo>
                  <a:pt x="602024" y="290442"/>
                </a:lnTo>
                <a:lnTo>
                  <a:pt x="655941" y="277806"/>
                </a:lnTo>
                <a:lnTo>
                  <a:pt x="703897" y="262318"/>
                </a:lnTo>
                <a:lnTo>
                  <a:pt x="745040" y="244315"/>
                </a:lnTo>
                <a:lnTo>
                  <a:pt x="778521" y="224136"/>
                </a:lnTo>
                <a:lnTo>
                  <a:pt x="819093" y="178602"/>
                </a:lnTo>
                <a:lnTo>
                  <a:pt x="824483" y="153923"/>
                </a:lnTo>
                <a:lnTo>
                  <a:pt x="819093" y="128875"/>
                </a:lnTo>
                <a:lnTo>
                  <a:pt x="778521" y="83039"/>
                </a:lnTo>
                <a:lnTo>
                  <a:pt x="745040" y="62874"/>
                </a:lnTo>
                <a:lnTo>
                  <a:pt x="703897" y="44957"/>
                </a:lnTo>
                <a:lnTo>
                  <a:pt x="655941" y="29602"/>
                </a:lnTo>
                <a:lnTo>
                  <a:pt x="602024" y="17117"/>
                </a:lnTo>
                <a:lnTo>
                  <a:pt x="542995" y="7815"/>
                </a:lnTo>
                <a:lnTo>
                  <a:pt x="479704" y="2005"/>
                </a:lnTo>
                <a:lnTo>
                  <a:pt x="413003" y="0"/>
                </a:lnTo>
                <a:close/>
              </a:path>
            </a:pathLst>
          </a:custGeom>
          <a:ln w="9524">
            <a:solidFill>
              <a:srgbClr val="000000"/>
            </a:solidFill>
          </a:ln>
        </p:spPr>
        <p:txBody>
          <a:bodyPr wrap="square" lIns="0" tIns="0" rIns="0" bIns="0" rtlCol="0"/>
          <a:lstStyle/>
          <a:p>
            <a:endParaRPr/>
          </a:p>
        </p:txBody>
      </p:sp>
      <p:sp>
        <p:nvSpPr>
          <p:cNvPr id="14" name="object 14"/>
          <p:cNvSpPr txBox="1"/>
          <p:nvPr/>
        </p:nvSpPr>
        <p:spPr>
          <a:xfrm>
            <a:off x="5004191" y="2456179"/>
            <a:ext cx="37782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MT"/>
                <a:cs typeface="Arial MT"/>
              </a:rPr>
              <a:t>Fecha</a:t>
            </a:r>
            <a:endParaRPr sz="1000">
              <a:latin typeface="Arial MT"/>
              <a:cs typeface="Arial MT"/>
            </a:endParaRPr>
          </a:p>
        </p:txBody>
      </p:sp>
      <p:sp>
        <p:nvSpPr>
          <p:cNvPr id="15" name="object 15"/>
          <p:cNvSpPr/>
          <p:nvPr/>
        </p:nvSpPr>
        <p:spPr>
          <a:xfrm>
            <a:off x="5560953" y="1848611"/>
            <a:ext cx="914400" cy="386080"/>
          </a:xfrm>
          <a:custGeom>
            <a:avLst/>
            <a:gdLst/>
            <a:ahLst/>
            <a:cxnLst/>
            <a:rect l="l" t="t" r="r" b="b"/>
            <a:pathLst>
              <a:path w="914400" h="386080">
                <a:moveTo>
                  <a:pt x="457199" y="0"/>
                </a:moveTo>
                <a:lnTo>
                  <a:pt x="389530" y="2103"/>
                </a:lnTo>
                <a:lnTo>
                  <a:pt x="324979" y="8211"/>
                </a:lnTo>
                <a:lnTo>
                  <a:pt x="264248" y="18023"/>
                </a:lnTo>
                <a:lnTo>
                  <a:pt x="208038" y="31235"/>
                </a:lnTo>
                <a:lnTo>
                  <a:pt x="157048" y="47546"/>
                </a:lnTo>
                <a:lnTo>
                  <a:pt x="111981" y="66652"/>
                </a:lnTo>
                <a:lnTo>
                  <a:pt x="73536" y="88253"/>
                </a:lnTo>
                <a:lnTo>
                  <a:pt x="42415" y="112045"/>
                </a:lnTo>
                <a:lnTo>
                  <a:pt x="4946" y="164995"/>
                </a:lnTo>
                <a:lnTo>
                  <a:pt x="0" y="193547"/>
                </a:lnTo>
                <a:lnTo>
                  <a:pt x="4946" y="222065"/>
                </a:lnTo>
                <a:lnTo>
                  <a:pt x="42415" y="274772"/>
                </a:lnTo>
                <a:lnTo>
                  <a:pt x="73536" y="298384"/>
                </a:lnTo>
                <a:lnTo>
                  <a:pt x="111981" y="319784"/>
                </a:lnTo>
                <a:lnTo>
                  <a:pt x="157048" y="338684"/>
                </a:lnTo>
                <a:lnTo>
                  <a:pt x="208038" y="354794"/>
                </a:lnTo>
                <a:lnTo>
                  <a:pt x="264248" y="367826"/>
                </a:lnTo>
                <a:lnTo>
                  <a:pt x="324979" y="377492"/>
                </a:lnTo>
                <a:lnTo>
                  <a:pt x="389530" y="383504"/>
                </a:lnTo>
                <a:lnTo>
                  <a:pt x="457199" y="385571"/>
                </a:lnTo>
                <a:lnTo>
                  <a:pt x="524526" y="383504"/>
                </a:lnTo>
                <a:lnTo>
                  <a:pt x="588863" y="377492"/>
                </a:lnTo>
                <a:lnTo>
                  <a:pt x="649491" y="367826"/>
                </a:lnTo>
                <a:lnTo>
                  <a:pt x="705688" y="354794"/>
                </a:lnTo>
                <a:lnTo>
                  <a:pt x="756732" y="338684"/>
                </a:lnTo>
                <a:lnTo>
                  <a:pt x="801903" y="319784"/>
                </a:lnTo>
                <a:lnTo>
                  <a:pt x="840478" y="298384"/>
                </a:lnTo>
                <a:lnTo>
                  <a:pt x="871737" y="274772"/>
                </a:lnTo>
                <a:lnTo>
                  <a:pt x="909419" y="222065"/>
                </a:lnTo>
                <a:lnTo>
                  <a:pt x="914399" y="193547"/>
                </a:lnTo>
                <a:lnTo>
                  <a:pt x="909419" y="164995"/>
                </a:lnTo>
                <a:lnTo>
                  <a:pt x="871737" y="112045"/>
                </a:lnTo>
                <a:lnTo>
                  <a:pt x="840478" y="88253"/>
                </a:lnTo>
                <a:lnTo>
                  <a:pt x="801903" y="66652"/>
                </a:lnTo>
                <a:lnTo>
                  <a:pt x="756732" y="47546"/>
                </a:lnTo>
                <a:lnTo>
                  <a:pt x="705688" y="31235"/>
                </a:lnTo>
                <a:lnTo>
                  <a:pt x="649491" y="18023"/>
                </a:lnTo>
                <a:lnTo>
                  <a:pt x="588863" y="8211"/>
                </a:lnTo>
                <a:lnTo>
                  <a:pt x="524526" y="2103"/>
                </a:lnTo>
                <a:lnTo>
                  <a:pt x="457199" y="0"/>
                </a:lnTo>
                <a:close/>
              </a:path>
            </a:pathLst>
          </a:custGeom>
          <a:ln w="9524">
            <a:solidFill>
              <a:srgbClr val="000000"/>
            </a:solidFill>
          </a:ln>
        </p:spPr>
        <p:txBody>
          <a:bodyPr wrap="square" lIns="0" tIns="0" rIns="0" bIns="0" rtlCol="0"/>
          <a:lstStyle/>
          <a:p>
            <a:endParaRPr/>
          </a:p>
        </p:txBody>
      </p:sp>
      <p:sp>
        <p:nvSpPr>
          <p:cNvPr id="16" name="object 16"/>
          <p:cNvSpPr txBox="1"/>
          <p:nvPr/>
        </p:nvSpPr>
        <p:spPr>
          <a:xfrm>
            <a:off x="5750951" y="1925827"/>
            <a:ext cx="53022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MT"/>
                <a:cs typeface="Arial MT"/>
              </a:rPr>
              <a:t>Cantidad</a:t>
            </a:r>
            <a:endParaRPr sz="1000">
              <a:latin typeface="Arial MT"/>
              <a:cs typeface="Arial MT"/>
            </a:endParaRPr>
          </a:p>
        </p:txBody>
      </p:sp>
      <p:grpSp>
        <p:nvGrpSpPr>
          <p:cNvPr id="17" name="object 17"/>
          <p:cNvGrpSpPr/>
          <p:nvPr/>
        </p:nvGrpSpPr>
        <p:grpSpPr>
          <a:xfrm>
            <a:off x="2541909" y="1549336"/>
            <a:ext cx="4605020" cy="2314575"/>
            <a:chOff x="2541909" y="1549336"/>
            <a:chExt cx="4605020" cy="2314575"/>
          </a:xfrm>
        </p:grpSpPr>
        <p:sp>
          <p:nvSpPr>
            <p:cNvPr id="18" name="object 18"/>
            <p:cNvSpPr/>
            <p:nvPr/>
          </p:nvSpPr>
          <p:spPr>
            <a:xfrm>
              <a:off x="2541909" y="2231135"/>
              <a:ext cx="3542029" cy="970915"/>
            </a:xfrm>
            <a:custGeom>
              <a:avLst/>
              <a:gdLst/>
              <a:ahLst/>
              <a:cxnLst/>
              <a:rect l="l" t="t" r="r" b="b"/>
              <a:pathLst>
                <a:path w="3542029" h="970914">
                  <a:moveTo>
                    <a:pt x="2011679" y="64007"/>
                  </a:moveTo>
                  <a:lnTo>
                    <a:pt x="2285999" y="758951"/>
                  </a:lnTo>
                </a:path>
                <a:path w="3542029" h="970914">
                  <a:moveTo>
                    <a:pt x="3541775" y="0"/>
                  </a:moveTo>
                  <a:lnTo>
                    <a:pt x="2993135" y="772667"/>
                  </a:lnTo>
                </a:path>
                <a:path w="3542029" h="970914">
                  <a:moveTo>
                    <a:pt x="2692907" y="460247"/>
                  </a:moveTo>
                  <a:lnTo>
                    <a:pt x="2692907" y="771143"/>
                  </a:lnTo>
                </a:path>
                <a:path w="3542029" h="970914">
                  <a:moveTo>
                    <a:pt x="2104643" y="970787"/>
                  </a:moveTo>
                  <a:lnTo>
                    <a:pt x="1554479" y="970787"/>
                  </a:lnTo>
                </a:path>
                <a:path w="3542029" h="970914">
                  <a:moveTo>
                    <a:pt x="550163" y="970787"/>
                  </a:moveTo>
                  <a:lnTo>
                    <a:pt x="0" y="970787"/>
                  </a:lnTo>
                </a:path>
              </a:pathLst>
            </a:custGeom>
            <a:ln w="9524">
              <a:solidFill>
                <a:srgbClr val="000000"/>
              </a:solidFill>
            </a:ln>
          </p:spPr>
          <p:txBody>
            <a:bodyPr wrap="square" lIns="0" tIns="0" rIns="0" bIns="0" rtlCol="0"/>
            <a:lstStyle/>
            <a:p>
              <a:endParaRPr/>
            </a:p>
          </p:txBody>
        </p:sp>
        <p:sp>
          <p:nvSpPr>
            <p:cNvPr id="19" name="object 19"/>
            <p:cNvSpPr/>
            <p:nvPr/>
          </p:nvSpPr>
          <p:spPr>
            <a:xfrm>
              <a:off x="3631569" y="1563623"/>
              <a:ext cx="3500754" cy="2286000"/>
            </a:xfrm>
            <a:custGeom>
              <a:avLst/>
              <a:gdLst/>
              <a:ahLst/>
              <a:cxnLst/>
              <a:rect l="l" t="t" r="r" b="b"/>
              <a:pathLst>
                <a:path w="3500754" h="2286000">
                  <a:moveTo>
                    <a:pt x="1749551" y="0"/>
                  </a:moveTo>
                  <a:lnTo>
                    <a:pt x="1691803" y="611"/>
                  </a:lnTo>
                  <a:lnTo>
                    <a:pt x="1634522" y="2432"/>
                  </a:lnTo>
                  <a:lnTo>
                    <a:pt x="1577737" y="5445"/>
                  </a:lnTo>
                  <a:lnTo>
                    <a:pt x="1521478" y="9630"/>
                  </a:lnTo>
                  <a:lnTo>
                    <a:pt x="1465774" y="14968"/>
                  </a:lnTo>
                  <a:lnTo>
                    <a:pt x="1410652" y="21441"/>
                  </a:lnTo>
                  <a:lnTo>
                    <a:pt x="1356142" y="29030"/>
                  </a:lnTo>
                  <a:lnTo>
                    <a:pt x="1302272" y="37715"/>
                  </a:lnTo>
                  <a:lnTo>
                    <a:pt x="1249073" y="47479"/>
                  </a:lnTo>
                  <a:lnTo>
                    <a:pt x="1196571" y="58302"/>
                  </a:lnTo>
                  <a:lnTo>
                    <a:pt x="1144797" y="70164"/>
                  </a:lnTo>
                  <a:lnTo>
                    <a:pt x="1093778" y="83049"/>
                  </a:lnTo>
                  <a:lnTo>
                    <a:pt x="1043545" y="96935"/>
                  </a:lnTo>
                  <a:lnTo>
                    <a:pt x="994125" y="111806"/>
                  </a:lnTo>
                  <a:lnTo>
                    <a:pt x="945547" y="127641"/>
                  </a:lnTo>
                  <a:lnTo>
                    <a:pt x="897841" y="144421"/>
                  </a:lnTo>
                  <a:lnTo>
                    <a:pt x="851034" y="162129"/>
                  </a:lnTo>
                  <a:lnTo>
                    <a:pt x="805157" y="180745"/>
                  </a:lnTo>
                  <a:lnTo>
                    <a:pt x="760237" y="200250"/>
                  </a:lnTo>
                  <a:lnTo>
                    <a:pt x="716304" y="220626"/>
                  </a:lnTo>
                  <a:lnTo>
                    <a:pt x="673386" y="241853"/>
                  </a:lnTo>
                  <a:lnTo>
                    <a:pt x="631512" y="263913"/>
                  </a:lnTo>
                  <a:lnTo>
                    <a:pt x="590712" y="286786"/>
                  </a:lnTo>
                  <a:lnTo>
                    <a:pt x="551013" y="310454"/>
                  </a:lnTo>
                  <a:lnTo>
                    <a:pt x="512444" y="334898"/>
                  </a:lnTo>
                  <a:lnTo>
                    <a:pt x="475036" y="360100"/>
                  </a:lnTo>
                  <a:lnTo>
                    <a:pt x="438815" y="386039"/>
                  </a:lnTo>
                  <a:lnTo>
                    <a:pt x="403812" y="412698"/>
                  </a:lnTo>
                  <a:lnTo>
                    <a:pt x="370054" y="440058"/>
                  </a:lnTo>
                  <a:lnTo>
                    <a:pt x="337572" y="468099"/>
                  </a:lnTo>
                  <a:lnTo>
                    <a:pt x="306392" y="496803"/>
                  </a:lnTo>
                  <a:lnTo>
                    <a:pt x="276546" y="526151"/>
                  </a:lnTo>
                  <a:lnTo>
                    <a:pt x="248060" y="556124"/>
                  </a:lnTo>
                  <a:lnTo>
                    <a:pt x="220965" y="586703"/>
                  </a:lnTo>
                  <a:lnTo>
                    <a:pt x="195288" y="617869"/>
                  </a:lnTo>
                  <a:lnTo>
                    <a:pt x="171059" y="649603"/>
                  </a:lnTo>
                  <a:lnTo>
                    <a:pt x="148306" y="681887"/>
                  </a:lnTo>
                  <a:lnTo>
                    <a:pt x="127059" y="714702"/>
                  </a:lnTo>
                  <a:lnTo>
                    <a:pt x="107346" y="748029"/>
                  </a:lnTo>
                  <a:lnTo>
                    <a:pt x="89196" y="781848"/>
                  </a:lnTo>
                  <a:lnTo>
                    <a:pt x="57700" y="850890"/>
                  </a:lnTo>
                  <a:lnTo>
                    <a:pt x="32802" y="921677"/>
                  </a:lnTo>
                  <a:lnTo>
                    <a:pt x="14732" y="994058"/>
                  </a:lnTo>
                  <a:lnTo>
                    <a:pt x="3721" y="1067883"/>
                  </a:lnTo>
                  <a:lnTo>
                    <a:pt x="0" y="1142999"/>
                  </a:lnTo>
                  <a:lnTo>
                    <a:pt x="935" y="1180710"/>
                  </a:lnTo>
                  <a:lnTo>
                    <a:pt x="8330" y="1255199"/>
                  </a:lnTo>
                  <a:lnTo>
                    <a:pt x="22899" y="1328321"/>
                  </a:lnTo>
                  <a:lnTo>
                    <a:pt x="44412" y="1399924"/>
                  </a:lnTo>
                  <a:lnTo>
                    <a:pt x="72638" y="1469857"/>
                  </a:lnTo>
                  <a:lnTo>
                    <a:pt x="107346" y="1537970"/>
                  </a:lnTo>
                  <a:lnTo>
                    <a:pt x="127059" y="1571297"/>
                  </a:lnTo>
                  <a:lnTo>
                    <a:pt x="148306" y="1604112"/>
                  </a:lnTo>
                  <a:lnTo>
                    <a:pt x="171059" y="1636396"/>
                  </a:lnTo>
                  <a:lnTo>
                    <a:pt x="195288" y="1668130"/>
                  </a:lnTo>
                  <a:lnTo>
                    <a:pt x="220965" y="1699296"/>
                  </a:lnTo>
                  <a:lnTo>
                    <a:pt x="248060" y="1729875"/>
                  </a:lnTo>
                  <a:lnTo>
                    <a:pt x="276546" y="1759848"/>
                  </a:lnTo>
                  <a:lnTo>
                    <a:pt x="306392" y="1789196"/>
                  </a:lnTo>
                  <a:lnTo>
                    <a:pt x="337572" y="1817900"/>
                  </a:lnTo>
                  <a:lnTo>
                    <a:pt x="370054" y="1845941"/>
                  </a:lnTo>
                  <a:lnTo>
                    <a:pt x="403812" y="1873300"/>
                  </a:lnTo>
                  <a:lnTo>
                    <a:pt x="438815" y="1899959"/>
                  </a:lnTo>
                  <a:lnTo>
                    <a:pt x="475036" y="1925899"/>
                  </a:lnTo>
                  <a:lnTo>
                    <a:pt x="512444" y="1951100"/>
                  </a:lnTo>
                  <a:lnTo>
                    <a:pt x="551013" y="1975545"/>
                  </a:lnTo>
                  <a:lnTo>
                    <a:pt x="590712" y="1999213"/>
                  </a:lnTo>
                  <a:lnTo>
                    <a:pt x="631512" y="2022086"/>
                  </a:lnTo>
                  <a:lnTo>
                    <a:pt x="673386" y="2044146"/>
                  </a:lnTo>
                  <a:lnTo>
                    <a:pt x="716304" y="2065373"/>
                  </a:lnTo>
                  <a:lnTo>
                    <a:pt x="760237" y="2085749"/>
                  </a:lnTo>
                  <a:lnTo>
                    <a:pt x="805157" y="2105254"/>
                  </a:lnTo>
                  <a:lnTo>
                    <a:pt x="851034" y="2123870"/>
                  </a:lnTo>
                  <a:lnTo>
                    <a:pt x="897841" y="2141578"/>
                  </a:lnTo>
                  <a:lnTo>
                    <a:pt x="945547" y="2158358"/>
                  </a:lnTo>
                  <a:lnTo>
                    <a:pt x="994125" y="2174193"/>
                  </a:lnTo>
                  <a:lnTo>
                    <a:pt x="1043545" y="2189064"/>
                  </a:lnTo>
                  <a:lnTo>
                    <a:pt x="1093778" y="2202950"/>
                  </a:lnTo>
                  <a:lnTo>
                    <a:pt x="1144797" y="2215834"/>
                  </a:lnTo>
                  <a:lnTo>
                    <a:pt x="1196571" y="2227697"/>
                  </a:lnTo>
                  <a:lnTo>
                    <a:pt x="1249073" y="2238520"/>
                  </a:lnTo>
                  <a:lnTo>
                    <a:pt x="1302272" y="2248283"/>
                  </a:lnTo>
                  <a:lnTo>
                    <a:pt x="1356142" y="2256969"/>
                  </a:lnTo>
                  <a:lnTo>
                    <a:pt x="1410652" y="2264558"/>
                  </a:lnTo>
                  <a:lnTo>
                    <a:pt x="1465774" y="2271031"/>
                  </a:lnTo>
                  <a:lnTo>
                    <a:pt x="1521478" y="2276369"/>
                  </a:lnTo>
                  <a:lnTo>
                    <a:pt x="1577737" y="2280554"/>
                  </a:lnTo>
                  <a:lnTo>
                    <a:pt x="1634522" y="2283567"/>
                  </a:lnTo>
                  <a:lnTo>
                    <a:pt x="1691803" y="2285388"/>
                  </a:lnTo>
                  <a:lnTo>
                    <a:pt x="1749551" y="2285999"/>
                  </a:lnTo>
                  <a:lnTo>
                    <a:pt x="1807390" y="2285388"/>
                  </a:lnTo>
                  <a:lnTo>
                    <a:pt x="1864757" y="2283567"/>
                  </a:lnTo>
                  <a:lnTo>
                    <a:pt x="1921624" y="2280554"/>
                  </a:lnTo>
                  <a:lnTo>
                    <a:pt x="1977962" y="2276369"/>
                  </a:lnTo>
                  <a:lnTo>
                    <a:pt x="2033742" y="2271031"/>
                  </a:lnTo>
                  <a:lnTo>
                    <a:pt x="2088937" y="2264558"/>
                  </a:lnTo>
                  <a:lnTo>
                    <a:pt x="2143516" y="2256969"/>
                  </a:lnTo>
                  <a:lnTo>
                    <a:pt x="2197451" y="2248283"/>
                  </a:lnTo>
                  <a:lnTo>
                    <a:pt x="2250714" y="2238520"/>
                  </a:lnTo>
                  <a:lnTo>
                    <a:pt x="2303276" y="2227697"/>
                  </a:lnTo>
                  <a:lnTo>
                    <a:pt x="2355107" y="2215834"/>
                  </a:lnTo>
                  <a:lnTo>
                    <a:pt x="2406180" y="2202950"/>
                  </a:lnTo>
                  <a:lnTo>
                    <a:pt x="2456465" y="2189064"/>
                  </a:lnTo>
                  <a:lnTo>
                    <a:pt x="2505933" y="2174193"/>
                  </a:lnTo>
                  <a:lnTo>
                    <a:pt x="2554557" y="2158358"/>
                  </a:lnTo>
                  <a:lnTo>
                    <a:pt x="2602307" y="2141578"/>
                  </a:lnTo>
                  <a:lnTo>
                    <a:pt x="2649155" y="2123870"/>
                  </a:lnTo>
                  <a:lnTo>
                    <a:pt x="2695071" y="2105254"/>
                  </a:lnTo>
                  <a:lnTo>
                    <a:pt x="2740027" y="2085749"/>
                  </a:lnTo>
                  <a:lnTo>
                    <a:pt x="2783994" y="2065373"/>
                  </a:lnTo>
                  <a:lnTo>
                    <a:pt x="2826944" y="2044146"/>
                  </a:lnTo>
                  <a:lnTo>
                    <a:pt x="2868847" y="2022086"/>
                  </a:lnTo>
                  <a:lnTo>
                    <a:pt x="2909675" y="1999213"/>
                  </a:lnTo>
                  <a:lnTo>
                    <a:pt x="2949400" y="1975545"/>
                  </a:lnTo>
                  <a:lnTo>
                    <a:pt x="2987992" y="1951100"/>
                  </a:lnTo>
                  <a:lnTo>
                    <a:pt x="3025423" y="1925899"/>
                  </a:lnTo>
                  <a:lnTo>
                    <a:pt x="3061663" y="1899959"/>
                  </a:lnTo>
                  <a:lnTo>
                    <a:pt x="3096685" y="1873300"/>
                  </a:lnTo>
                  <a:lnTo>
                    <a:pt x="3130460" y="1845941"/>
                  </a:lnTo>
                  <a:lnTo>
                    <a:pt x="3162958" y="1817900"/>
                  </a:lnTo>
                  <a:lnTo>
                    <a:pt x="3194151" y="1789196"/>
                  </a:lnTo>
                  <a:lnTo>
                    <a:pt x="3224010" y="1759848"/>
                  </a:lnTo>
                  <a:lnTo>
                    <a:pt x="3252507" y="1729875"/>
                  </a:lnTo>
                  <a:lnTo>
                    <a:pt x="3279612" y="1699296"/>
                  </a:lnTo>
                  <a:lnTo>
                    <a:pt x="3305298" y="1668130"/>
                  </a:lnTo>
                  <a:lnTo>
                    <a:pt x="3329535" y="1636396"/>
                  </a:lnTo>
                  <a:lnTo>
                    <a:pt x="3352294" y="1604112"/>
                  </a:lnTo>
                  <a:lnTo>
                    <a:pt x="3373547" y="1571297"/>
                  </a:lnTo>
                  <a:lnTo>
                    <a:pt x="3393264" y="1537970"/>
                  </a:lnTo>
                  <a:lnTo>
                    <a:pt x="3411419" y="1504151"/>
                  </a:lnTo>
                  <a:lnTo>
                    <a:pt x="3442920" y="1435109"/>
                  </a:lnTo>
                  <a:lnTo>
                    <a:pt x="3467822" y="1364322"/>
                  </a:lnTo>
                  <a:lnTo>
                    <a:pt x="3485894" y="1291940"/>
                  </a:lnTo>
                  <a:lnTo>
                    <a:pt x="3496906" y="1218116"/>
                  </a:lnTo>
                  <a:lnTo>
                    <a:pt x="3500627" y="1142999"/>
                  </a:lnTo>
                  <a:lnTo>
                    <a:pt x="3499692" y="1105289"/>
                  </a:lnTo>
                  <a:lnTo>
                    <a:pt x="3492297" y="1030800"/>
                  </a:lnTo>
                  <a:lnTo>
                    <a:pt x="3477726" y="957678"/>
                  </a:lnTo>
                  <a:lnTo>
                    <a:pt x="3456211" y="886075"/>
                  </a:lnTo>
                  <a:lnTo>
                    <a:pt x="3427980" y="816141"/>
                  </a:lnTo>
                  <a:lnTo>
                    <a:pt x="3393264" y="748029"/>
                  </a:lnTo>
                  <a:lnTo>
                    <a:pt x="3373547" y="714702"/>
                  </a:lnTo>
                  <a:lnTo>
                    <a:pt x="3352294" y="681887"/>
                  </a:lnTo>
                  <a:lnTo>
                    <a:pt x="3329535" y="649603"/>
                  </a:lnTo>
                  <a:lnTo>
                    <a:pt x="3305298" y="617869"/>
                  </a:lnTo>
                  <a:lnTo>
                    <a:pt x="3279612" y="586703"/>
                  </a:lnTo>
                  <a:lnTo>
                    <a:pt x="3252507" y="556124"/>
                  </a:lnTo>
                  <a:lnTo>
                    <a:pt x="3224010" y="526151"/>
                  </a:lnTo>
                  <a:lnTo>
                    <a:pt x="3194151" y="496803"/>
                  </a:lnTo>
                  <a:lnTo>
                    <a:pt x="3162958" y="468099"/>
                  </a:lnTo>
                  <a:lnTo>
                    <a:pt x="3130460" y="440058"/>
                  </a:lnTo>
                  <a:lnTo>
                    <a:pt x="3096685" y="412698"/>
                  </a:lnTo>
                  <a:lnTo>
                    <a:pt x="3061663" y="386039"/>
                  </a:lnTo>
                  <a:lnTo>
                    <a:pt x="3025423" y="360100"/>
                  </a:lnTo>
                  <a:lnTo>
                    <a:pt x="2987992" y="334898"/>
                  </a:lnTo>
                  <a:lnTo>
                    <a:pt x="2949400" y="310454"/>
                  </a:lnTo>
                  <a:lnTo>
                    <a:pt x="2909675" y="286786"/>
                  </a:lnTo>
                  <a:lnTo>
                    <a:pt x="2868847" y="263913"/>
                  </a:lnTo>
                  <a:lnTo>
                    <a:pt x="2826944" y="241853"/>
                  </a:lnTo>
                  <a:lnTo>
                    <a:pt x="2783994" y="220626"/>
                  </a:lnTo>
                  <a:lnTo>
                    <a:pt x="2740027" y="200250"/>
                  </a:lnTo>
                  <a:lnTo>
                    <a:pt x="2695071" y="180745"/>
                  </a:lnTo>
                  <a:lnTo>
                    <a:pt x="2649155" y="162129"/>
                  </a:lnTo>
                  <a:lnTo>
                    <a:pt x="2602307" y="144421"/>
                  </a:lnTo>
                  <a:lnTo>
                    <a:pt x="2554557" y="127641"/>
                  </a:lnTo>
                  <a:lnTo>
                    <a:pt x="2505933" y="111806"/>
                  </a:lnTo>
                  <a:lnTo>
                    <a:pt x="2456465" y="96935"/>
                  </a:lnTo>
                  <a:lnTo>
                    <a:pt x="2406180" y="83049"/>
                  </a:lnTo>
                  <a:lnTo>
                    <a:pt x="2355107" y="70164"/>
                  </a:lnTo>
                  <a:lnTo>
                    <a:pt x="2303276" y="58302"/>
                  </a:lnTo>
                  <a:lnTo>
                    <a:pt x="2250714" y="47479"/>
                  </a:lnTo>
                  <a:lnTo>
                    <a:pt x="2197451" y="37715"/>
                  </a:lnTo>
                  <a:lnTo>
                    <a:pt x="2143516" y="29030"/>
                  </a:lnTo>
                  <a:lnTo>
                    <a:pt x="2088937" y="21441"/>
                  </a:lnTo>
                  <a:lnTo>
                    <a:pt x="2033742" y="14968"/>
                  </a:lnTo>
                  <a:lnTo>
                    <a:pt x="1977962" y="9630"/>
                  </a:lnTo>
                  <a:lnTo>
                    <a:pt x="1921624" y="5445"/>
                  </a:lnTo>
                  <a:lnTo>
                    <a:pt x="1864757" y="2432"/>
                  </a:lnTo>
                  <a:lnTo>
                    <a:pt x="1807390" y="611"/>
                  </a:lnTo>
                  <a:lnTo>
                    <a:pt x="1749551" y="0"/>
                  </a:lnTo>
                  <a:close/>
                </a:path>
              </a:pathLst>
            </a:custGeom>
            <a:ln w="28574">
              <a:solidFill>
                <a:srgbClr val="375D89"/>
              </a:solidFill>
            </a:ln>
          </p:spPr>
          <p:txBody>
            <a:bodyPr wrap="square" lIns="0" tIns="0" rIns="0" bIns="0" rtlCol="0"/>
            <a:lstStyle/>
            <a:p>
              <a:endParaRPr/>
            </a:p>
          </p:txBody>
        </p:sp>
      </p:grpSp>
      <p:sp>
        <p:nvSpPr>
          <p:cNvPr id="20" name="object 20" descr="$PPTXTitle"/>
          <p:cNvSpPr txBox="1">
            <a:spLocks noGrp="1"/>
          </p:cNvSpPr>
          <p:nvPr>
            <p:ph type="title"/>
          </p:nvPr>
        </p:nvSpPr>
        <p:spPr>
          <a:prstGeom prst="rect">
            <a:avLst/>
          </a:prstGeom>
        </p:spPr>
        <p:txBody>
          <a:bodyPr vert="horz" wrap="square" lIns="0" tIns="316865" rIns="0" bIns="0" rtlCol="0">
            <a:spAutoFit/>
          </a:bodyPr>
          <a:lstStyle/>
          <a:p>
            <a:pPr marL="1903730">
              <a:lnSpc>
                <a:spcPct val="100000"/>
              </a:lnSpc>
              <a:spcBef>
                <a:spcPts val="95"/>
              </a:spcBef>
            </a:pPr>
            <a:r>
              <a:rPr sz="4000" dirty="0"/>
              <a:t>Tabla</a:t>
            </a:r>
            <a:r>
              <a:rPr sz="4000" spc="-80" dirty="0"/>
              <a:t> </a:t>
            </a:r>
            <a:r>
              <a:rPr sz="4000" b="1" spc="-10" dirty="0">
                <a:latin typeface="Arial"/>
                <a:cs typeface="Arial"/>
              </a:rPr>
              <a:t>transacción</a:t>
            </a:r>
            <a:endParaRPr sz="4000">
              <a:latin typeface="Arial"/>
              <a:cs typeface="Arial"/>
            </a:endParaRPr>
          </a:p>
        </p:txBody>
      </p:sp>
      <p:sp>
        <p:nvSpPr>
          <p:cNvPr id="21" name="object 21"/>
          <p:cNvSpPr/>
          <p:nvPr/>
        </p:nvSpPr>
        <p:spPr>
          <a:xfrm>
            <a:off x="3384677" y="3634739"/>
            <a:ext cx="4212590" cy="365760"/>
          </a:xfrm>
          <a:custGeom>
            <a:avLst/>
            <a:gdLst/>
            <a:ahLst/>
            <a:cxnLst/>
            <a:rect l="l" t="t" r="r" b="b"/>
            <a:pathLst>
              <a:path w="4212590" h="365760">
                <a:moveTo>
                  <a:pt x="4212336" y="0"/>
                </a:moveTo>
                <a:lnTo>
                  <a:pt x="2409444" y="0"/>
                </a:lnTo>
                <a:lnTo>
                  <a:pt x="0" y="0"/>
                </a:lnTo>
                <a:lnTo>
                  <a:pt x="0" y="365760"/>
                </a:lnTo>
                <a:lnTo>
                  <a:pt x="2409444" y="365760"/>
                </a:lnTo>
                <a:lnTo>
                  <a:pt x="4212336" y="365760"/>
                </a:lnTo>
                <a:lnTo>
                  <a:pt x="4212336" y="0"/>
                </a:lnTo>
                <a:close/>
              </a:path>
            </a:pathLst>
          </a:custGeom>
          <a:solidFill>
            <a:srgbClr val="FFFFFF"/>
          </a:solidFill>
        </p:spPr>
        <p:txBody>
          <a:bodyPr wrap="square" lIns="0" tIns="0" rIns="0" bIns="0" rtlCol="0"/>
          <a:lstStyle/>
          <a:p>
            <a:endParaRPr/>
          </a:p>
        </p:txBody>
      </p:sp>
      <p:graphicFrame>
        <p:nvGraphicFramePr>
          <p:cNvPr id="22" name="object 22"/>
          <p:cNvGraphicFramePr>
            <a:graphicFrameLocks noGrp="1"/>
          </p:cNvGraphicFramePr>
          <p:nvPr/>
        </p:nvGraphicFramePr>
        <p:xfrm>
          <a:off x="1124339" y="3628389"/>
          <a:ext cx="8270239" cy="3288665"/>
        </p:xfrm>
        <a:graphic>
          <a:graphicData uri="http://schemas.openxmlformats.org/drawingml/2006/table">
            <a:tbl>
              <a:tblPr firstRow="1" bandRow="1">
                <a:tableStyleId>{2D5ABB26-0587-4C30-8999-92F81FD0307C}</a:tableStyleId>
              </a:tblPr>
              <a:tblGrid>
                <a:gridCol w="2252345">
                  <a:extLst>
                    <a:ext uri="{9D8B030D-6E8A-4147-A177-3AD203B41FA5}">
                      <a16:colId xmlns:a16="http://schemas.microsoft.com/office/drawing/2014/main" val="20000"/>
                    </a:ext>
                  </a:extLst>
                </a:gridCol>
                <a:gridCol w="2411095">
                  <a:extLst>
                    <a:ext uri="{9D8B030D-6E8A-4147-A177-3AD203B41FA5}">
                      <a16:colId xmlns:a16="http://schemas.microsoft.com/office/drawing/2014/main" val="20001"/>
                    </a:ext>
                  </a:extLst>
                </a:gridCol>
                <a:gridCol w="1802764">
                  <a:extLst>
                    <a:ext uri="{9D8B030D-6E8A-4147-A177-3AD203B41FA5}">
                      <a16:colId xmlns:a16="http://schemas.microsoft.com/office/drawing/2014/main" val="20002"/>
                    </a:ext>
                  </a:extLst>
                </a:gridCol>
                <a:gridCol w="1804035">
                  <a:extLst>
                    <a:ext uri="{9D8B030D-6E8A-4147-A177-3AD203B41FA5}">
                      <a16:colId xmlns:a16="http://schemas.microsoft.com/office/drawing/2014/main" val="20003"/>
                    </a:ext>
                  </a:extLst>
                </a:gridCol>
              </a:tblGrid>
              <a:tr h="365125">
                <a:tc>
                  <a:txBody>
                    <a:bodyPr/>
                    <a:lstStyle/>
                    <a:p>
                      <a:pPr marL="1270" algn="ctr">
                        <a:lnSpc>
                          <a:spcPct val="100000"/>
                        </a:lnSpc>
                        <a:spcBef>
                          <a:spcPts val="320"/>
                        </a:spcBef>
                      </a:pPr>
                      <a:r>
                        <a:rPr sz="1800" b="1" spc="-10" dirty="0">
                          <a:latin typeface="Times New Roman"/>
                          <a:cs typeface="Times New Roman"/>
                        </a:rPr>
                        <a:t>N</a:t>
                      </a:r>
                      <a:r>
                        <a:rPr sz="1800" b="1" spc="-10" dirty="0">
                          <a:latin typeface="Arial"/>
                          <a:cs typeface="Arial"/>
                        </a:rPr>
                        <a:t>ú</a:t>
                      </a:r>
                      <a:r>
                        <a:rPr sz="1800" b="1" spc="-10" dirty="0">
                          <a:latin typeface="Times New Roman"/>
                          <a:cs typeface="Times New Roman"/>
                        </a:rPr>
                        <a:t>mero-cuenta</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180975">
                        <a:lnSpc>
                          <a:spcPct val="100000"/>
                        </a:lnSpc>
                        <a:spcBef>
                          <a:spcPts val="320"/>
                        </a:spcBef>
                      </a:pPr>
                      <a:r>
                        <a:rPr sz="1800" b="1" spc="-10" dirty="0">
                          <a:latin typeface="Times New Roman"/>
                          <a:cs typeface="Times New Roman"/>
                        </a:rPr>
                        <a:t>N</a:t>
                      </a:r>
                      <a:r>
                        <a:rPr sz="1800" b="1" spc="-10" dirty="0">
                          <a:latin typeface="Arial"/>
                          <a:cs typeface="Arial"/>
                        </a:rPr>
                        <a:t>ú</a:t>
                      </a:r>
                      <a:r>
                        <a:rPr sz="1800" b="1" spc="-10" dirty="0">
                          <a:latin typeface="Times New Roman"/>
                          <a:cs typeface="Times New Roman"/>
                        </a:rPr>
                        <a:t>mero-transacci</a:t>
                      </a:r>
                      <a:r>
                        <a:rPr sz="1800" b="1" spc="-10" dirty="0">
                          <a:latin typeface="Arial"/>
                          <a:cs typeface="Arial"/>
                        </a:rPr>
                        <a:t>ó</a:t>
                      </a:r>
                      <a:r>
                        <a:rPr sz="1800" b="1" spc="-10" dirty="0">
                          <a:latin typeface="Times New Roman"/>
                          <a:cs typeface="Times New Roman"/>
                        </a:rPr>
                        <a:t>n</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solidFill>
                      <a:srgbClr val="FFFFFF"/>
                    </a:solidFill>
                  </a:tcPr>
                </a:tc>
                <a:tc>
                  <a:txBody>
                    <a:bodyPr/>
                    <a:lstStyle/>
                    <a:p>
                      <a:pPr algn="ctr">
                        <a:lnSpc>
                          <a:spcPct val="100000"/>
                        </a:lnSpc>
                        <a:spcBef>
                          <a:spcPts val="320"/>
                        </a:spcBef>
                      </a:pPr>
                      <a:r>
                        <a:rPr sz="1800" b="1" spc="-10" dirty="0">
                          <a:latin typeface="Times New Roman"/>
                          <a:cs typeface="Times New Roman"/>
                        </a:rPr>
                        <a:t>Fecha</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solidFill>
                      <a:srgbClr val="FFFFFF"/>
                    </a:solidFill>
                  </a:tcPr>
                </a:tc>
                <a:tc>
                  <a:txBody>
                    <a:bodyPr/>
                    <a:lstStyle/>
                    <a:p>
                      <a:pPr marL="446405">
                        <a:lnSpc>
                          <a:spcPct val="100000"/>
                        </a:lnSpc>
                        <a:spcBef>
                          <a:spcPts val="320"/>
                        </a:spcBef>
                      </a:pPr>
                      <a:r>
                        <a:rPr sz="1800" b="1" spc="-10" dirty="0">
                          <a:latin typeface="Times New Roman"/>
                          <a:cs typeface="Times New Roman"/>
                        </a:rPr>
                        <a:t>Cantidad</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365125">
                <a:tc>
                  <a:txBody>
                    <a:bodyPr/>
                    <a:lstStyle/>
                    <a:p>
                      <a:pPr marL="1270" algn="ctr">
                        <a:lnSpc>
                          <a:spcPct val="100000"/>
                        </a:lnSpc>
                        <a:spcBef>
                          <a:spcPts val="310"/>
                        </a:spcBef>
                      </a:pPr>
                      <a:r>
                        <a:rPr sz="1800" spc="-25" dirty="0">
                          <a:latin typeface="Times New Roman"/>
                          <a:cs typeface="Times New Roman"/>
                        </a:rPr>
                        <a:t>259</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marR="85090" algn="r">
                        <a:lnSpc>
                          <a:spcPct val="100000"/>
                        </a:lnSpc>
                        <a:spcBef>
                          <a:spcPts val="310"/>
                        </a:spcBef>
                      </a:pPr>
                      <a:r>
                        <a:rPr sz="1800" spc="-50" dirty="0">
                          <a:latin typeface="Times New Roman"/>
                          <a:cs typeface="Times New Roman"/>
                        </a:rPr>
                        <a:t>5</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marR="83820" algn="r">
                        <a:lnSpc>
                          <a:spcPct val="100000"/>
                        </a:lnSpc>
                        <a:spcBef>
                          <a:spcPts val="310"/>
                        </a:spcBef>
                      </a:pPr>
                      <a:r>
                        <a:rPr sz="1800" dirty="0">
                          <a:latin typeface="Times New Roman"/>
                          <a:cs typeface="Times New Roman"/>
                        </a:rPr>
                        <a:t>11</a:t>
                      </a:r>
                      <a:r>
                        <a:rPr sz="1800" spc="-5" dirty="0">
                          <a:latin typeface="Times New Roman"/>
                          <a:cs typeface="Times New Roman"/>
                        </a:rPr>
                        <a:t> </a:t>
                      </a:r>
                      <a:r>
                        <a:rPr sz="1800" dirty="0">
                          <a:latin typeface="Times New Roman"/>
                          <a:cs typeface="Times New Roman"/>
                        </a:rPr>
                        <a:t>mayo</a:t>
                      </a:r>
                      <a:r>
                        <a:rPr sz="1800" spc="-15" dirty="0">
                          <a:latin typeface="Times New Roman"/>
                          <a:cs typeface="Times New Roman"/>
                        </a:rPr>
                        <a:t> </a:t>
                      </a:r>
                      <a:r>
                        <a:rPr sz="1800" spc="-20" dirty="0">
                          <a:latin typeface="Times New Roman"/>
                          <a:cs typeface="Times New Roman"/>
                        </a:rPr>
                        <a:t>1990</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tc>
                  <a:txBody>
                    <a:bodyPr/>
                    <a:lstStyle/>
                    <a:p>
                      <a:pPr marR="81915" algn="r">
                        <a:lnSpc>
                          <a:spcPct val="100000"/>
                        </a:lnSpc>
                        <a:spcBef>
                          <a:spcPts val="310"/>
                        </a:spcBef>
                      </a:pPr>
                      <a:r>
                        <a:rPr sz="1800" dirty="0">
                          <a:latin typeface="Times New Roman"/>
                          <a:cs typeface="Times New Roman"/>
                        </a:rPr>
                        <a:t>+</a:t>
                      </a:r>
                      <a:r>
                        <a:rPr sz="1800" spc="10" dirty="0">
                          <a:latin typeface="Times New Roman"/>
                          <a:cs typeface="Times New Roman"/>
                        </a:rPr>
                        <a:t> </a:t>
                      </a:r>
                      <a:r>
                        <a:rPr sz="1800" spc="-25" dirty="0">
                          <a:latin typeface="Times New Roman"/>
                          <a:cs typeface="Times New Roman"/>
                        </a:rPr>
                        <a:t>50</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28575">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r h="365125">
                <a:tc>
                  <a:txBody>
                    <a:bodyPr/>
                    <a:lstStyle/>
                    <a:p>
                      <a:pPr marL="1270" algn="ctr">
                        <a:lnSpc>
                          <a:spcPct val="100000"/>
                        </a:lnSpc>
                        <a:spcBef>
                          <a:spcPts val="320"/>
                        </a:spcBef>
                      </a:pPr>
                      <a:r>
                        <a:rPr sz="1800" spc="-25" dirty="0">
                          <a:latin typeface="Times New Roman"/>
                          <a:cs typeface="Times New Roman"/>
                        </a:rPr>
                        <a:t>630</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5090" algn="r">
                        <a:lnSpc>
                          <a:spcPct val="100000"/>
                        </a:lnSpc>
                        <a:spcBef>
                          <a:spcPts val="320"/>
                        </a:spcBef>
                      </a:pPr>
                      <a:r>
                        <a:rPr sz="1800" spc="-25" dirty="0">
                          <a:latin typeface="Times New Roman"/>
                          <a:cs typeface="Times New Roman"/>
                        </a:rPr>
                        <a:t>11</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3820" algn="r">
                        <a:lnSpc>
                          <a:spcPct val="100000"/>
                        </a:lnSpc>
                        <a:spcBef>
                          <a:spcPts val="320"/>
                        </a:spcBef>
                      </a:pPr>
                      <a:r>
                        <a:rPr sz="1800" dirty="0">
                          <a:latin typeface="Times New Roman"/>
                          <a:cs typeface="Times New Roman"/>
                        </a:rPr>
                        <a:t>17</a:t>
                      </a:r>
                      <a:r>
                        <a:rPr sz="1800" spc="-5" dirty="0">
                          <a:latin typeface="Times New Roman"/>
                          <a:cs typeface="Times New Roman"/>
                        </a:rPr>
                        <a:t> </a:t>
                      </a:r>
                      <a:r>
                        <a:rPr sz="1800" dirty="0">
                          <a:latin typeface="Times New Roman"/>
                          <a:cs typeface="Times New Roman"/>
                        </a:rPr>
                        <a:t>mayo</a:t>
                      </a:r>
                      <a:r>
                        <a:rPr sz="1800" spc="-15" dirty="0">
                          <a:latin typeface="Times New Roman"/>
                          <a:cs typeface="Times New Roman"/>
                        </a:rPr>
                        <a:t> </a:t>
                      </a:r>
                      <a:r>
                        <a:rPr sz="1800" spc="-20" dirty="0">
                          <a:latin typeface="Times New Roman"/>
                          <a:cs typeface="Times New Roman"/>
                        </a:rPr>
                        <a:t>1990</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1915" algn="r">
                        <a:lnSpc>
                          <a:spcPct val="100000"/>
                        </a:lnSpc>
                        <a:spcBef>
                          <a:spcPts val="320"/>
                        </a:spcBef>
                      </a:pPr>
                      <a:r>
                        <a:rPr sz="1800" dirty="0">
                          <a:latin typeface="Times New Roman"/>
                          <a:cs typeface="Times New Roman"/>
                        </a:rPr>
                        <a:t>+</a:t>
                      </a:r>
                      <a:r>
                        <a:rPr sz="1800" spc="10" dirty="0">
                          <a:latin typeface="Times New Roman"/>
                          <a:cs typeface="Times New Roman"/>
                        </a:rPr>
                        <a:t> </a:t>
                      </a:r>
                      <a:r>
                        <a:rPr sz="1800" spc="-25" dirty="0">
                          <a:latin typeface="Times New Roman"/>
                          <a:cs typeface="Times New Roman"/>
                        </a:rPr>
                        <a:t>70</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2"/>
                  </a:ext>
                </a:extLst>
              </a:tr>
              <a:tr h="367030">
                <a:tc>
                  <a:txBody>
                    <a:bodyPr/>
                    <a:lstStyle/>
                    <a:p>
                      <a:pPr marL="1270" algn="ctr">
                        <a:lnSpc>
                          <a:spcPct val="100000"/>
                        </a:lnSpc>
                        <a:spcBef>
                          <a:spcPts val="310"/>
                        </a:spcBef>
                      </a:pPr>
                      <a:r>
                        <a:rPr sz="1800" spc="-25" dirty="0">
                          <a:latin typeface="Times New Roman"/>
                          <a:cs typeface="Times New Roman"/>
                        </a:rPr>
                        <a:t>401</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5090" algn="r">
                        <a:lnSpc>
                          <a:spcPct val="100000"/>
                        </a:lnSpc>
                        <a:spcBef>
                          <a:spcPts val="310"/>
                        </a:spcBef>
                      </a:pPr>
                      <a:r>
                        <a:rPr sz="1800" spc="-25" dirty="0">
                          <a:latin typeface="Times New Roman"/>
                          <a:cs typeface="Times New Roman"/>
                        </a:rPr>
                        <a:t>22</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3820" algn="r">
                        <a:lnSpc>
                          <a:spcPct val="100000"/>
                        </a:lnSpc>
                        <a:spcBef>
                          <a:spcPts val="310"/>
                        </a:spcBef>
                      </a:pPr>
                      <a:r>
                        <a:rPr sz="1800" dirty="0">
                          <a:latin typeface="Times New Roman"/>
                          <a:cs typeface="Times New Roman"/>
                        </a:rPr>
                        <a:t>23</a:t>
                      </a:r>
                      <a:r>
                        <a:rPr sz="1800" spc="-5" dirty="0">
                          <a:latin typeface="Times New Roman"/>
                          <a:cs typeface="Times New Roman"/>
                        </a:rPr>
                        <a:t> </a:t>
                      </a:r>
                      <a:r>
                        <a:rPr sz="1800" dirty="0">
                          <a:latin typeface="Times New Roman"/>
                          <a:cs typeface="Times New Roman"/>
                        </a:rPr>
                        <a:t>mayo</a:t>
                      </a:r>
                      <a:r>
                        <a:rPr sz="1800" spc="-15" dirty="0">
                          <a:latin typeface="Times New Roman"/>
                          <a:cs typeface="Times New Roman"/>
                        </a:rPr>
                        <a:t> </a:t>
                      </a:r>
                      <a:r>
                        <a:rPr sz="1800" spc="-20" dirty="0">
                          <a:latin typeface="Times New Roman"/>
                          <a:cs typeface="Times New Roman"/>
                        </a:rPr>
                        <a:t>1990</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1915" algn="r">
                        <a:lnSpc>
                          <a:spcPct val="100000"/>
                        </a:lnSpc>
                        <a:spcBef>
                          <a:spcPts val="310"/>
                        </a:spcBef>
                      </a:pPr>
                      <a:r>
                        <a:rPr sz="1800" dirty="0">
                          <a:latin typeface="Times New Roman"/>
                          <a:cs typeface="Times New Roman"/>
                        </a:rPr>
                        <a:t>-</a:t>
                      </a:r>
                      <a:r>
                        <a:rPr sz="1800" spc="-5" dirty="0">
                          <a:latin typeface="Times New Roman"/>
                          <a:cs typeface="Times New Roman"/>
                        </a:rPr>
                        <a:t> </a:t>
                      </a:r>
                      <a:r>
                        <a:rPr sz="1800" spc="-25" dirty="0">
                          <a:latin typeface="Times New Roman"/>
                          <a:cs typeface="Times New Roman"/>
                        </a:rPr>
                        <a:t>300</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3"/>
                  </a:ext>
                </a:extLst>
              </a:tr>
              <a:tr h="363855">
                <a:tc>
                  <a:txBody>
                    <a:bodyPr/>
                    <a:lstStyle/>
                    <a:p>
                      <a:pPr marL="1270" algn="ctr">
                        <a:lnSpc>
                          <a:spcPct val="100000"/>
                        </a:lnSpc>
                        <a:spcBef>
                          <a:spcPts val="310"/>
                        </a:spcBef>
                      </a:pPr>
                      <a:r>
                        <a:rPr sz="1800" spc="-25" dirty="0">
                          <a:latin typeface="Times New Roman"/>
                          <a:cs typeface="Times New Roman"/>
                        </a:rPr>
                        <a:t>700</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5090" algn="r">
                        <a:lnSpc>
                          <a:spcPct val="100000"/>
                        </a:lnSpc>
                        <a:spcBef>
                          <a:spcPts val="310"/>
                        </a:spcBef>
                      </a:pPr>
                      <a:r>
                        <a:rPr sz="1800" spc="-25" dirty="0">
                          <a:latin typeface="Times New Roman"/>
                          <a:cs typeface="Times New Roman"/>
                        </a:rPr>
                        <a:t>69</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3820" algn="r">
                        <a:lnSpc>
                          <a:spcPct val="100000"/>
                        </a:lnSpc>
                        <a:spcBef>
                          <a:spcPts val="310"/>
                        </a:spcBef>
                      </a:pPr>
                      <a:r>
                        <a:rPr sz="1800" dirty="0">
                          <a:latin typeface="Times New Roman"/>
                          <a:cs typeface="Times New Roman"/>
                        </a:rPr>
                        <a:t>28</a:t>
                      </a:r>
                      <a:r>
                        <a:rPr sz="1800" spc="-5" dirty="0">
                          <a:latin typeface="Times New Roman"/>
                          <a:cs typeface="Times New Roman"/>
                        </a:rPr>
                        <a:t> </a:t>
                      </a:r>
                      <a:r>
                        <a:rPr sz="1800" dirty="0">
                          <a:latin typeface="Times New Roman"/>
                          <a:cs typeface="Times New Roman"/>
                        </a:rPr>
                        <a:t>mayo</a:t>
                      </a:r>
                      <a:r>
                        <a:rPr sz="1800" spc="-15" dirty="0">
                          <a:latin typeface="Times New Roman"/>
                          <a:cs typeface="Times New Roman"/>
                        </a:rPr>
                        <a:t> </a:t>
                      </a:r>
                      <a:r>
                        <a:rPr sz="1800" spc="-20" dirty="0">
                          <a:latin typeface="Times New Roman"/>
                          <a:cs typeface="Times New Roman"/>
                        </a:rPr>
                        <a:t>1990</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1915" algn="r">
                        <a:lnSpc>
                          <a:spcPct val="100000"/>
                        </a:lnSpc>
                        <a:spcBef>
                          <a:spcPts val="310"/>
                        </a:spcBef>
                      </a:pPr>
                      <a:r>
                        <a:rPr sz="1800" dirty="0">
                          <a:latin typeface="Times New Roman"/>
                          <a:cs typeface="Times New Roman"/>
                        </a:rPr>
                        <a:t>-</a:t>
                      </a:r>
                      <a:r>
                        <a:rPr sz="1800" spc="-5" dirty="0">
                          <a:latin typeface="Times New Roman"/>
                          <a:cs typeface="Times New Roman"/>
                        </a:rPr>
                        <a:t> </a:t>
                      </a:r>
                      <a:r>
                        <a:rPr sz="1800" spc="-25" dirty="0">
                          <a:latin typeface="Times New Roman"/>
                          <a:cs typeface="Times New Roman"/>
                        </a:rPr>
                        <a:t>500</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4"/>
                  </a:ext>
                </a:extLst>
              </a:tr>
              <a:tr h="365125">
                <a:tc>
                  <a:txBody>
                    <a:bodyPr/>
                    <a:lstStyle/>
                    <a:p>
                      <a:pPr marL="1270" algn="ctr">
                        <a:lnSpc>
                          <a:spcPct val="100000"/>
                        </a:lnSpc>
                        <a:spcBef>
                          <a:spcPts val="320"/>
                        </a:spcBef>
                      </a:pPr>
                      <a:r>
                        <a:rPr sz="1800" spc="-25" dirty="0">
                          <a:latin typeface="Times New Roman"/>
                          <a:cs typeface="Times New Roman"/>
                        </a:rPr>
                        <a:t>199</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5090" algn="r">
                        <a:lnSpc>
                          <a:spcPct val="100000"/>
                        </a:lnSpc>
                        <a:spcBef>
                          <a:spcPts val="320"/>
                        </a:spcBef>
                      </a:pPr>
                      <a:r>
                        <a:rPr sz="1800" spc="-25" dirty="0">
                          <a:latin typeface="Times New Roman"/>
                          <a:cs typeface="Times New Roman"/>
                        </a:rPr>
                        <a:t>103</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3820" algn="r">
                        <a:lnSpc>
                          <a:spcPct val="100000"/>
                        </a:lnSpc>
                        <a:spcBef>
                          <a:spcPts val="320"/>
                        </a:spcBef>
                      </a:pPr>
                      <a:r>
                        <a:rPr sz="1800" dirty="0">
                          <a:latin typeface="Times New Roman"/>
                          <a:cs typeface="Times New Roman"/>
                        </a:rPr>
                        <a:t>3</a:t>
                      </a:r>
                      <a:r>
                        <a:rPr sz="1800" spc="-5" dirty="0">
                          <a:latin typeface="Times New Roman"/>
                          <a:cs typeface="Times New Roman"/>
                        </a:rPr>
                        <a:t> </a:t>
                      </a:r>
                      <a:r>
                        <a:rPr sz="1800" dirty="0">
                          <a:latin typeface="Times New Roman"/>
                          <a:cs typeface="Times New Roman"/>
                        </a:rPr>
                        <a:t>junio</a:t>
                      </a:r>
                      <a:r>
                        <a:rPr sz="1800" spc="-10" dirty="0">
                          <a:latin typeface="Times New Roman"/>
                          <a:cs typeface="Times New Roman"/>
                        </a:rPr>
                        <a:t> </a:t>
                      </a:r>
                      <a:r>
                        <a:rPr sz="1800" spc="-20" dirty="0">
                          <a:latin typeface="Times New Roman"/>
                          <a:cs typeface="Times New Roman"/>
                        </a:rPr>
                        <a:t>1990</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1915" algn="r">
                        <a:lnSpc>
                          <a:spcPct val="100000"/>
                        </a:lnSpc>
                        <a:spcBef>
                          <a:spcPts val="320"/>
                        </a:spcBef>
                      </a:pPr>
                      <a:r>
                        <a:rPr sz="1800" dirty="0">
                          <a:latin typeface="Times New Roman"/>
                          <a:cs typeface="Times New Roman"/>
                        </a:rPr>
                        <a:t>+</a:t>
                      </a:r>
                      <a:r>
                        <a:rPr sz="1800" spc="10" dirty="0">
                          <a:latin typeface="Times New Roman"/>
                          <a:cs typeface="Times New Roman"/>
                        </a:rPr>
                        <a:t> </a:t>
                      </a:r>
                      <a:r>
                        <a:rPr sz="1800" spc="-25" dirty="0">
                          <a:latin typeface="Times New Roman"/>
                          <a:cs typeface="Times New Roman"/>
                        </a:rPr>
                        <a:t>900</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5"/>
                  </a:ext>
                </a:extLst>
              </a:tr>
              <a:tr h="365125">
                <a:tc>
                  <a:txBody>
                    <a:bodyPr/>
                    <a:lstStyle/>
                    <a:p>
                      <a:pPr marL="1270" algn="ctr">
                        <a:lnSpc>
                          <a:spcPct val="100000"/>
                        </a:lnSpc>
                        <a:spcBef>
                          <a:spcPts val="310"/>
                        </a:spcBef>
                      </a:pPr>
                      <a:r>
                        <a:rPr sz="1800" spc="-25" dirty="0">
                          <a:latin typeface="Times New Roman"/>
                          <a:cs typeface="Times New Roman"/>
                        </a:rPr>
                        <a:t>259</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5090" algn="r">
                        <a:lnSpc>
                          <a:spcPct val="100000"/>
                        </a:lnSpc>
                        <a:spcBef>
                          <a:spcPts val="310"/>
                        </a:spcBef>
                      </a:pPr>
                      <a:r>
                        <a:rPr sz="1800" spc="-50" dirty="0">
                          <a:latin typeface="Times New Roman"/>
                          <a:cs typeface="Times New Roman"/>
                        </a:rPr>
                        <a:t>6</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3820" algn="r">
                        <a:lnSpc>
                          <a:spcPct val="100000"/>
                        </a:lnSpc>
                        <a:spcBef>
                          <a:spcPts val="310"/>
                        </a:spcBef>
                      </a:pPr>
                      <a:r>
                        <a:rPr sz="1800" dirty="0">
                          <a:latin typeface="Times New Roman"/>
                          <a:cs typeface="Times New Roman"/>
                        </a:rPr>
                        <a:t>7</a:t>
                      </a:r>
                      <a:r>
                        <a:rPr sz="1800" spc="-5" dirty="0">
                          <a:latin typeface="Times New Roman"/>
                          <a:cs typeface="Times New Roman"/>
                        </a:rPr>
                        <a:t> </a:t>
                      </a:r>
                      <a:r>
                        <a:rPr sz="1800" dirty="0">
                          <a:latin typeface="Times New Roman"/>
                          <a:cs typeface="Times New Roman"/>
                        </a:rPr>
                        <a:t>junio</a:t>
                      </a:r>
                      <a:r>
                        <a:rPr sz="1800" spc="-10" dirty="0">
                          <a:latin typeface="Times New Roman"/>
                          <a:cs typeface="Times New Roman"/>
                        </a:rPr>
                        <a:t> </a:t>
                      </a:r>
                      <a:r>
                        <a:rPr sz="1800" spc="-20" dirty="0">
                          <a:latin typeface="Times New Roman"/>
                          <a:cs typeface="Times New Roman"/>
                        </a:rPr>
                        <a:t>1990</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1915" algn="r">
                        <a:lnSpc>
                          <a:spcPct val="100000"/>
                        </a:lnSpc>
                        <a:spcBef>
                          <a:spcPts val="310"/>
                        </a:spcBef>
                      </a:pPr>
                      <a:r>
                        <a:rPr sz="1800" dirty="0">
                          <a:latin typeface="Times New Roman"/>
                          <a:cs typeface="Times New Roman"/>
                        </a:rPr>
                        <a:t>-</a:t>
                      </a:r>
                      <a:r>
                        <a:rPr sz="1800" spc="-5" dirty="0">
                          <a:latin typeface="Times New Roman"/>
                          <a:cs typeface="Times New Roman"/>
                        </a:rPr>
                        <a:t> </a:t>
                      </a:r>
                      <a:r>
                        <a:rPr sz="1800" spc="-25" dirty="0">
                          <a:latin typeface="Times New Roman"/>
                          <a:cs typeface="Times New Roman"/>
                        </a:rPr>
                        <a:t>44</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6"/>
                  </a:ext>
                </a:extLst>
              </a:tr>
              <a:tr h="365125">
                <a:tc>
                  <a:txBody>
                    <a:bodyPr/>
                    <a:lstStyle/>
                    <a:p>
                      <a:pPr marL="1270" algn="ctr">
                        <a:lnSpc>
                          <a:spcPct val="100000"/>
                        </a:lnSpc>
                        <a:spcBef>
                          <a:spcPts val="320"/>
                        </a:spcBef>
                      </a:pPr>
                      <a:r>
                        <a:rPr sz="1800" spc="-25" dirty="0">
                          <a:latin typeface="Times New Roman"/>
                          <a:cs typeface="Times New Roman"/>
                        </a:rPr>
                        <a:t>115</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5090" algn="r">
                        <a:lnSpc>
                          <a:spcPct val="100000"/>
                        </a:lnSpc>
                        <a:spcBef>
                          <a:spcPts val="320"/>
                        </a:spcBef>
                      </a:pPr>
                      <a:r>
                        <a:rPr sz="1800" spc="-25" dirty="0">
                          <a:latin typeface="Times New Roman"/>
                          <a:cs typeface="Times New Roman"/>
                        </a:rPr>
                        <a:t>53</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3820" algn="r">
                        <a:lnSpc>
                          <a:spcPct val="100000"/>
                        </a:lnSpc>
                        <a:spcBef>
                          <a:spcPts val="320"/>
                        </a:spcBef>
                      </a:pPr>
                      <a:r>
                        <a:rPr sz="1800" dirty="0">
                          <a:latin typeface="Times New Roman"/>
                          <a:cs typeface="Times New Roman"/>
                        </a:rPr>
                        <a:t>7</a:t>
                      </a:r>
                      <a:r>
                        <a:rPr sz="1800" spc="-5" dirty="0">
                          <a:latin typeface="Times New Roman"/>
                          <a:cs typeface="Times New Roman"/>
                        </a:rPr>
                        <a:t> </a:t>
                      </a:r>
                      <a:r>
                        <a:rPr sz="1800" dirty="0">
                          <a:latin typeface="Times New Roman"/>
                          <a:cs typeface="Times New Roman"/>
                        </a:rPr>
                        <a:t>junio</a:t>
                      </a:r>
                      <a:r>
                        <a:rPr sz="1800" spc="-10" dirty="0">
                          <a:latin typeface="Times New Roman"/>
                          <a:cs typeface="Times New Roman"/>
                        </a:rPr>
                        <a:t> </a:t>
                      </a:r>
                      <a:r>
                        <a:rPr sz="1800" spc="-20" dirty="0">
                          <a:latin typeface="Times New Roman"/>
                          <a:cs typeface="Times New Roman"/>
                        </a:rPr>
                        <a:t>1990</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tc>
                  <a:txBody>
                    <a:bodyPr/>
                    <a:lstStyle/>
                    <a:p>
                      <a:pPr marR="81915" algn="r">
                        <a:lnSpc>
                          <a:spcPct val="100000"/>
                        </a:lnSpc>
                        <a:spcBef>
                          <a:spcPts val="320"/>
                        </a:spcBef>
                      </a:pPr>
                      <a:r>
                        <a:rPr sz="1800" dirty="0">
                          <a:latin typeface="Times New Roman"/>
                          <a:cs typeface="Times New Roman"/>
                        </a:rPr>
                        <a:t>+</a:t>
                      </a:r>
                      <a:r>
                        <a:rPr sz="1800" spc="10" dirty="0">
                          <a:latin typeface="Times New Roman"/>
                          <a:cs typeface="Times New Roman"/>
                        </a:rPr>
                        <a:t> </a:t>
                      </a:r>
                      <a:r>
                        <a:rPr sz="1800" spc="-25" dirty="0">
                          <a:latin typeface="Times New Roman"/>
                          <a:cs typeface="Times New Roman"/>
                        </a:rPr>
                        <a:t>120</a:t>
                      </a:r>
                      <a:endParaRPr sz="1800">
                        <a:latin typeface="Times New Roman"/>
                        <a:cs typeface="Times New Roman"/>
                      </a:endParaRPr>
                    </a:p>
                  </a:txBody>
                  <a:tcPr marL="0" marR="0" marT="40640" marB="0">
                    <a:lnL w="12700">
                      <a:solidFill>
                        <a:srgbClr val="000000"/>
                      </a:solidFill>
                      <a:prstDash val="solid"/>
                    </a:lnL>
                    <a:lnR w="12700">
                      <a:solidFill>
                        <a:srgbClr val="000000"/>
                      </a:solidFill>
                      <a:prstDash val="solid"/>
                    </a:lnR>
                    <a:lnT w="9525">
                      <a:solidFill>
                        <a:srgbClr val="000000"/>
                      </a:solidFill>
                      <a:prstDash val="solid"/>
                    </a:lnT>
                    <a:lnB w="9525">
                      <a:solidFill>
                        <a:srgbClr val="000000"/>
                      </a:solidFill>
                      <a:prstDash val="solid"/>
                    </a:lnB>
                  </a:tcPr>
                </a:tc>
                <a:extLst>
                  <a:ext uri="{0D108BD9-81ED-4DB2-BD59-A6C34878D82A}">
                    <a16:rowId xmlns:a16="http://schemas.microsoft.com/office/drawing/2014/main" val="10007"/>
                  </a:ext>
                </a:extLst>
              </a:tr>
              <a:tr h="367030">
                <a:tc>
                  <a:txBody>
                    <a:bodyPr/>
                    <a:lstStyle/>
                    <a:p>
                      <a:pPr marL="1270" algn="ctr">
                        <a:lnSpc>
                          <a:spcPct val="100000"/>
                        </a:lnSpc>
                        <a:spcBef>
                          <a:spcPts val="310"/>
                        </a:spcBef>
                      </a:pPr>
                      <a:r>
                        <a:rPr sz="1800" spc="-25" dirty="0">
                          <a:latin typeface="Times New Roman"/>
                          <a:cs typeface="Times New Roman"/>
                        </a:rPr>
                        <a:t>259</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12700">
                      <a:solidFill>
                        <a:srgbClr val="000000"/>
                      </a:solidFill>
                      <a:prstDash val="solid"/>
                    </a:lnB>
                  </a:tcPr>
                </a:tc>
                <a:tc>
                  <a:txBody>
                    <a:bodyPr/>
                    <a:lstStyle/>
                    <a:p>
                      <a:pPr marR="85090" algn="r">
                        <a:lnSpc>
                          <a:spcPct val="100000"/>
                        </a:lnSpc>
                        <a:spcBef>
                          <a:spcPts val="310"/>
                        </a:spcBef>
                      </a:pPr>
                      <a:r>
                        <a:rPr sz="1800" spc="-50" dirty="0">
                          <a:latin typeface="Times New Roman"/>
                          <a:cs typeface="Times New Roman"/>
                        </a:rPr>
                        <a:t>7</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12700">
                      <a:solidFill>
                        <a:srgbClr val="000000"/>
                      </a:solidFill>
                      <a:prstDash val="solid"/>
                    </a:lnB>
                  </a:tcPr>
                </a:tc>
                <a:tc>
                  <a:txBody>
                    <a:bodyPr/>
                    <a:lstStyle/>
                    <a:p>
                      <a:pPr marR="83820" algn="r">
                        <a:lnSpc>
                          <a:spcPct val="100000"/>
                        </a:lnSpc>
                        <a:spcBef>
                          <a:spcPts val="310"/>
                        </a:spcBef>
                      </a:pPr>
                      <a:r>
                        <a:rPr sz="1800" dirty="0">
                          <a:latin typeface="Times New Roman"/>
                          <a:cs typeface="Times New Roman"/>
                        </a:rPr>
                        <a:t>17</a:t>
                      </a:r>
                      <a:r>
                        <a:rPr sz="1800" spc="-5" dirty="0">
                          <a:latin typeface="Times New Roman"/>
                          <a:cs typeface="Times New Roman"/>
                        </a:rPr>
                        <a:t> </a:t>
                      </a:r>
                      <a:r>
                        <a:rPr sz="1800" dirty="0">
                          <a:latin typeface="Times New Roman"/>
                          <a:cs typeface="Times New Roman"/>
                        </a:rPr>
                        <a:t>junio</a:t>
                      </a:r>
                      <a:r>
                        <a:rPr sz="1800" spc="-15" dirty="0">
                          <a:latin typeface="Times New Roman"/>
                          <a:cs typeface="Times New Roman"/>
                        </a:rPr>
                        <a:t> </a:t>
                      </a:r>
                      <a:r>
                        <a:rPr sz="1800" spc="-20" dirty="0">
                          <a:latin typeface="Times New Roman"/>
                          <a:cs typeface="Times New Roman"/>
                        </a:rPr>
                        <a:t>1990</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12700">
                      <a:solidFill>
                        <a:srgbClr val="000000"/>
                      </a:solidFill>
                      <a:prstDash val="solid"/>
                    </a:lnB>
                  </a:tcPr>
                </a:tc>
                <a:tc>
                  <a:txBody>
                    <a:bodyPr/>
                    <a:lstStyle/>
                    <a:p>
                      <a:pPr marR="81915" algn="r">
                        <a:lnSpc>
                          <a:spcPct val="100000"/>
                        </a:lnSpc>
                        <a:spcBef>
                          <a:spcPts val="310"/>
                        </a:spcBef>
                      </a:pPr>
                      <a:r>
                        <a:rPr sz="1800" dirty="0">
                          <a:latin typeface="Times New Roman"/>
                          <a:cs typeface="Times New Roman"/>
                        </a:rPr>
                        <a:t>-</a:t>
                      </a:r>
                      <a:r>
                        <a:rPr sz="1800" spc="-5" dirty="0">
                          <a:latin typeface="Times New Roman"/>
                          <a:cs typeface="Times New Roman"/>
                        </a:rPr>
                        <a:t> </a:t>
                      </a:r>
                      <a:r>
                        <a:rPr sz="1800" spc="-25" dirty="0">
                          <a:latin typeface="Times New Roman"/>
                          <a:cs typeface="Times New Roman"/>
                        </a:rPr>
                        <a:t>79</a:t>
                      </a:r>
                      <a:endParaRPr sz="1800">
                        <a:latin typeface="Times New Roman"/>
                        <a:cs typeface="Times New Roman"/>
                      </a:endParaRPr>
                    </a:p>
                  </a:txBody>
                  <a:tcPr marL="0" marR="0" marT="39370" marB="0">
                    <a:lnL w="12700">
                      <a:solidFill>
                        <a:srgbClr val="000000"/>
                      </a:solidFill>
                      <a:prstDash val="solid"/>
                    </a:lnL>
                    <a:lnR w="12700">
                      <a:solidFill>
                        <a:srgbClr val="000000"/>
                      </a:solidFill>
                      <a:prstDash val="solid"/>
                    </a:lnR>
                    <a:lnT w="9525">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bl>
          </a:graphicData>
        </a:graphic>
      </p:graphicFrame>
      <p:grpSp>
        <p:nvGrpSpPr>
          <p:cNvPr id="23" name="object 23"/>
          <p:cNvGrpSpPr/>
          <p:nvPr/>
        </p:nvGrpSpPr>
        <p:grpSpPr>
          <a:xfrm>
            <a:off x="903041" y="1762696"/>
            <a:ext cx="1553845" cy="1310005"/>
            <a:chOff x="903041" y="1762696"/>
            <a:chExt cx="1553845" cy="1310005"/>
          </a:xfrm>
        </p:grpSpPr>
        <p:sp>
          <p:nvSpPr>
            <p:cNvPr id="24" name="object 24"/>
            <p:cNvSpPr/>
            <p:nvPr/>
          </p:nvSpPr>
          <p:spPr>
            <a:xfrm>
              <a:off x="1446157" y="2604515"/>
              <a:ext cx="1005840" cy="463550"/>
            </a:xfrm>
            <a:custGeom>
              <a:avLst/>
              <a:gdLst/>
              <a:ahLst/>
              <a:cxnLst/>
              <a:rect l="l" t="t" r="r" b="b"/>
              <a:pathLst>
                <a:path w="1005839" h="463550">
                  <a:moveTo>
                    <a:pt x="0" y="0"/>
                  </a:moveTo>
                  <a:lnTo>
                    <a:pt x="364232" y="463295"/>
                  </a:lnTo>
                </a:path>
                <a:path w="1005839" h="463550">
                  <a:moveTo>
                    <a:pt x="1005836" y="231647"/>
                  </a:moveTo>
                  <a:lnTo>
                    <a:pt x="821432" y="463295"/>
                  </a:lnTo>
                </a:path>
              </a:pathLst>
            </a:custGeom>
            <a:ln w="9524">
              <a:solidFill>
                <a:srgbClr val="000000"/>
              </a:solidFill>
            </a:ln>
          </p:spPr>
          <p:txBody>
            <a:bodyPr wrap="square" lIns="0" tIns="0" rIns="0" bIns="0" rtlCol="0"/>
            <a:lstStyle/>
            <a:p>
              <a:endParaRPr/>
            </a:p>
          </p:txBody>
        </p:sp>
        <p:sp>
          <p:nvSpPr>
            <p:cNvPr id="25" name="object 25"/>
            <p:cNvSpPr/>
            <p:nvPr/>
          </p:nvSpPr>
          <p:spPr>
            <a:xfrm>
              <a:off x="917329" y="1776983"/>
              <a:ext cx="1214755" cy="1214755"/>
            </a:xfrm>
            <a:custGeom>
              <a:avLst/>
              <a:gdLst/>
              <a:ahLst/>
              <a:cxnLst/>
              <a:rect l="l" t="t" r="r" b="b"/>
              <a:pathLst>
                <a:path w="1214755" h="1214755">
                  <a:moveTo>
                    <a:pt x="606551" y="0"/>
                  </a:moveTo>
                  <a:lnTo>
                    <a:pt x="559112" y="1833"/>
                  </a:lnTo>
                  <a:lnTo>
                    <a:pt x="512678" y="7241"/>
                  </a:lnTo>
                  <a:lnTo>
                    <a:pt x="467383" y="16088"/>
                  </a:lnTo>
                  <a:lnTo>
                    <a:pt x="423362" y="28238"/>
                  </a:lnTo>
                  <a:lnTo>
                    <a:pt x="380749" y="43555"/>
                  </a:lnTo>
                  <a:lnTo>
                    <a:pt x="339678" y="61901"/>
                  </a:lnTo>
                  <a:lnTo>
                    <a:pt x="300284" y="83142"/>
                  </a:lnTo>
                  <a:lnTo>
                    <a:pt x="262700" y="107141"/>
                  </a:lnTo>
                  <a:lnTo>
                    <a:pt x="227062" y="133760"/>
                  </a:lnTo>
                  <a:lnTo>
                    <a:pt x="193503" y="162866"/>
                  </a:lnTo>
                  <a:lnTo>
                    <a:pt x="162158" y="194320"/>
                  </a:lnTo>
                  <a:lnTo>
                    <a:pt x="133161" y="227986"/>
                  </a:lnTo>
                  <a:lnTo>
                    <a:pt x="106646" y="263729"/>
                  </a:lnTo>
                  <a:lnTo>
                    <a:pt x="82747" y="301413"/>
                  </a:lnTo>
                  <a:lnTo>
                    <a:pt x="61599" y="340900"/>
                  </a:lnTo>
                  <a:lnTo>
                    <a:pt x="43337" y="382055"/>
                  </a:lnTo>
                  <a:lnTo>
                    <a:pt x="28093" y="424741"/>
                  </a:lnTo>
                  <a:lnTo>
                    <a:pt x="16004" y="468823"/>
                  </a:lnTo>
                  <a:lnTo>
                    <a:pt x="7202" y="514163"/>
                  </a:lnTo>
                  <a:lnTo>
                    <a:pt x="1823" y="560626"/>
                  </a:lnTo>
                  <a:lnTo>
                    <a:pt x="0" y="608075"/>
                  </a:lnTo>
                  <a:lnTo>
                    <a:pt x="1823" y="655515"/>
                  </a:lnTo>
                  <a:lnTo>
                    <a:pt x="7202" y="701949"/>
                  </a:lnTo>
                  <a:lnTo>
                    <a:pt x="16004" y="747244"/>
                  </a:lnTo>
                  <a:lnTo>
                    <a:pt x="28093" y="791265"/>
                  </a:lnTo>
                  <a:lnTo>
                    <a:pt x="43337" y="833878"/>
                  </a:lnTo>
                  <a:lnTo>
                    <a:pt x="61599" y="874949"/>
                  </a:lnTo>
                  <a:lnTo>
                    <a:pt x="82747" y="914343"/>
                  </a:lnTo>
                  <a:lnTo>
                    <a:pt x="106646" y="951926"/>
                  </a:lnTo>
                  <a:lnTo>
                    <a:pt x="133161" y="987565"/>
                  </a:lnTo>
                  <a:lnTo>
                    <a:pt x="162158" y="1021124"/>
                  </a:lnTo>
                  <a:lnTo>
                    <a:pt x="193503" y="1052469"/>
                  </a:lnTo>
                  <a:lnTo>
                    <a:pt x="227062" y="1081466"/>
                  </a:lnTo>
                  <a:lnTo>
                    <a:pt x="262700" y="1107981"/>
                  </a:lnTo>
                  <a:lnTo>
                    <a:pt x="300284" y="1131880"/>
                  </a:lnTo>
                  <a:lnTo>
                    <a:pt x="339678" y="1153028"/>
                  </a:lnTo>
                  <a:lnTo>
                    <a:pt x="380749" y="1171290"/>
                  </a:lnTo>
                  <a:lnTo>
                    <a:pt x="423362" y="1186534"/>
                  </a:lnTo>
                  <a:lnTo>
                    <a:pt x="467383" y="1198623"/>
                  </a:lnTo>
                  <a:lnTo>
                    <a:pt x="512678" y="1207425"/>
                  </a:lnTo>
                  <a:lnTo>
                    <a:pt x="559112" y="1212804"/>
                  </a:lnTo>
                  <a:lnTo>
                    <a:pt x="606551" y="1214627"/>
                  </a:lnTo>
                  <a:lnTo>
                    <a:pt x="654000" y="1212804"/>
                  </a:lnTo>
                  <a:lnTo>
                    <a:pt x="700463" y="1207425"/>
                  </a:lnTo>
                  <a:lnTo>
                    <a:pt x="745803" y="1198623"/>
                  </a:lnTo>
                  <a:lnTo>
                    <a:pt x="789884" y="1186534"/>
                  </a:lnTo>
                  <a:lnTo>
                    <a:pt x="832570" y="1171290"/>
                  </a:lnTo>
                  <a:lnTo>
                    <a:pt x="873725" y="1153028"/>
                  </a:lnTo>
                  <a:lnTo>
                    <a:pt x="913212" y="1131880"/>
                  </a:lnTo>
                  <a:lnTo>
                    <a:pt x="950895" y="1107981"/>
                  </a:lnTo>
                  <a:lnTo>
                    <a:pt x="986638" y="1081466"/>
                  </a:lnTo>
                  <a:lnTo>
                    <a:pt x="1020305" y="1052469"/>
                  </a:lnTo>
                  <a:lnTo>
                    <a:pt x="1051759" y="1021124"/>
                  </a:lnTo>
                  <a:lnTo>
                    <a:pt x="1080864" y="987565"/>
                  </a:lnTo>
                  <a:lnTo>
                    <a:pt x="1107483" y="951926"/>
                  </a:lnTo>
                  <a:lnTo>
                    <a:pt x="1131482" y="914343"/>
                  </a:lnTo>
                  <a:lnTo>
                    <a:pt x="1152723" y="874949"/>
                  </a:lnTo>
                  <a:lnTo>
                    <a:pt x="1171069" y="833878"/>
                  </a:lnTo>
                  <a:lnTo>
                    <a:pt x="1186386" y="791265"/>
                  </a:lnTo>
                  <a:lnTo>
                    <a:pt x="1198536" y="747244"/>
                  </a:lnTo>
                  <a:lnTo>
                    <a:pt x="1207383" y="701949"/>
                  </a:lnTo>
                  <a:lnTo>
                    <a:pt x="1212791" y="655515"/>
                  </a:lnTo>
                  <a:lnTo>
                    <a:pt x="1214624" y="608075"/>
                  </a:lnTo>
                  <a:lnTo>
                    <a:pt x="1212791" y="560626"/>
                  </a:lnTo>
                  <a:lnTo>
                    <a:pt x="1207383" y="514163"/>
                  </a:lnTo>
                  <a:lnTo>
                    <a:pt x="1198536" y="468823"/>
                  </a:lnTo>
                  <a:lnTo>
                    <a:pt x="1186386" y="424741"/>
                  </a:lnTo>
                  <a:lnTo>
                    <a:pt x="1171069" y="382055"/>
                  </a:lnTo>
                  <a:lnTo>
                    <a:pt x="1152723" y="340900"/>
                  </a:lnTo>
                  <a:lnTo>
                    <a:pt x="1131482" y="301413"/>
                  </a:lnTo>
                  <a:lnTo>
                    <a:pt x="1107483" y="263729"/>
                  </a:lnTo>
                  <a:lnTo>
                    <a:pt x="1080864" y="227986"/>
                  </a:lnTo>
                  <a:lnTo>
                    <a:pt x="1051759" y="194320"/>
                  </a:lnTo>
                  <a:lnTo>
                    <a:pt x="1020305" y="162866"/>
                  </a:lnTo>
                  <a:lnTo>
                    <a:pt x="986638" y="133760"/>
                  </a:lnTo>
                  <a:lnTo>
                    <a:pt x="950895" y="107141"/>
                  </a:lnTo>
                  <a:lnTo>
                    <a:pt x="913212" y="83142"/>
                  </a:lnTo>
                  <a:lnTo>
                    <a:pt x="873725" y="61901"/>
                  </a:lnTo>
                  <a:lnTo>
                    <a:pt x="832570" y="43555"/>
                  </a:lnTo>
                  <a:lnTo>
                    <a:pt x="789884" y="28238"/>
                  </a:lnTo>
                  <a:lnTo>
                    <a:pt x="745803" y="16088"/>
                  </a:lnTo>
                  <a:lnTo>
                    <a:pt x="700463" y="7241"/>
                  </a:lnTo>
                  <a:lnTo>
                    <a:pt x="654000" y="1833"/>
                  </a:lnTo>
                  <a:lnTo>
                    <a:pt x="606551" y="0"/>
                  </a:lnTo>
                  <a:close/>
                </a:path>
              </a:pathLst>
            </a:custGeom>
            <a:ln w="28574">
              <a:solidFill>
                <a:srgbClr val="375D89"/>
              </a:solidFill>
            </a:ln>
          </p:spPr>
          <p:txBody>
            <a:bodyPr wrap="square" lIns="0" tIns="0" rIns="0" bIns="0" rtlCol="0"/>
            <a:lstStyle/>
            <a:p>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079500" y="687677"/>
            <a:ext cx="8901007" cy="935513"/>
          </a:xfrm>
          <a:prstGeom prst="rect">
            <a:avLst/>
          </a:prstGeom>
        </p:spPr>
        <p:txBody>
          <a:bodyPr vert="horz" wrap="square" lIns="0" tIns="316865" rIns="0" bIns="0" rtlCol="0">
            <a:spAutoFit/>
          </a:bodyPr>
          <a:lstStyle/>
          <a:p>
            <a:pPr marL="673735">
              <a:lnSpc>
                <a:spcPct val="100000"/>
              </a:lnSpc>
              <a:spcBef>
                <a:spcPts val="95"/>
              </a:spcBef>
            </a:pPr>
            <a:r>
              <a:rPr sz="4000" spc="-10" dirty="0"/>
              <a:t>Representación</a:t>
            </a:r>
            <a:r>
              <a:rPr sz="4000" spc="-105" dirty="0"/>
              <a:t> </a:t>
            </a:r>
            <a:r>
              <a:rPr sz="4000" dirty="0"/>
              <a:t>de</a:t>
            </a:r>
            <a:r>
              <a:rPr sz="4000" spc="-95" dirty="0"/>
              <a:t> </a:t>
            </a:r>
            <a:r>
              <a:rPr sz="4000" spc="-10" dirty="0"/>
              <a:t>relaciones</a:t>
            </a:r>
            <a:endParaRPr sz="4000" dirty="0"/>
          </a:p>
        </p:txBody>
      </p:sp>
      <p:sp>
        <p:nvSpPr>
          <p:cNvPr id="3" name="object 3"/>
          <p:cNvSpPr txBox="1"/>
          <p:nvPr/>
        </p:nvSpPr>
        <p:spPr>
          <a:xfrm>
            <a:off x="1398917" y="1874011"/>
            <a:ext cx="7113270" cy="4918710"/>
          </a:xfrm>
          <a:prstGeom prst="rect">
            <a:avLst/>
          </a:prstGeom>
        </p:spPr>
        <p:txBody>
          <a:bodyPr vert="horz" wrap="square" lIns="0" tIns="12065" rIns="0" bIns="0" rtlCol="0">
            <a:spAutoFit/>
          </a:bodyPr>
          <a:lstStyle/>
          <a:p>
            <a:pPr marL="38100">
              <a:lnSpc>
                <a:spcPts val="3025"/>
              </a:lnSpc>
              <a:spcBef>
                <a:spcPts val="95"/>
              </a:spcBef>
            </a:pPr>
            <a:r>
              <a:rPr sz="2800" dirty="0">
                <a:latin typeface="Arial MT"/>
                <a:cs typeface="Arial MT"/>
              </a:rPr>
              <a:t>Sea</a:t>
            </a:r>
            <a:r>
              <a:rPr sz="2800" spc="-50" dirty="0">
                <a:latin typeface="Arial MT"/>
                <a:cs typeface="Arial MT"/>
              </a:rPr>
              <a:t> </a:t>
            </a:r>
            <a:r>
              <a:rPr sz="2800" dirty="0">
                <a:latin typeface="Arial MT"/>
                <a:cs typeface="Arial MT"/>
              </a:rPr>
              <a:t>R</a:t>
            </a:r>
            <a:r>
              <a:rPr sz="2800" spc="-50" dirty="0">
                <a:latin typeface="Arial MT"/>
                <a:cs typeface="Arial MT"/>
              </a:rPr>
              <a:t> </a:t>
            </a:r>
            <a:r>
              <a:rPr sz="2800" dirty="0">
                <a:latin typeface="Arial MT"/>
                <a:cs typeface="Arial MT"/>
              </a:rPr>
              <a:t>una</a:t>
            </a:r>
            <a:r>
              <a:rPr sz="2800" spc="-45" dirty="0">
                <a:latin typeface="Arial MT"/>
                <a:cs typeface="Arial MT"/>
              </a:rPr>
              <a:t> </a:t>
            </a:r>
            <a:r>
              <a:rPr sz="2800" b="1" dirty="0">
                <a:latin typeface="Arial"/>
                <a:cs typeface="Arial"/>
              </a:rPr>
              <a:t>relación</a:t>
            </a:r>
            <a:r>
              <a:rPr sz="2800" b="1" spc="-55" dirty="0">
                <a:latin typeface="Arial"/>
                <a:cs typeface="Arial"/>
              </a:rPr>
              <a:t> </a:t>
            </a:r>
            <a:r>
              <a:rPr sz="2800" dirty="0">
                <a:latin typeface="Arial MT"/>
                <a:cs typeface="Arial MT"/>
              </a:rPr>
              <a:t>que</a:t>
            </a:r>
            <a:r>
              <a:rPr sz="2800" spc="-45" dirty="0">
                <a:latin typeface="Arial MT"/>
                <a:cs typeface="Arial MT"/>
              </a:rPr>
              <a:t> </a:t>
            </a:r>
            <a:r>
              <a:rPr sz="2800" dirty="0">
                <a:latin typeface="Arial MT"/>
                <a:cs typeface="Arial MT"/>
              </a:rPr>
              <a:t>involucra</a:t>
            </a:r>
            <a:r>
              <a:rPr sz="2800" spc="-45" dirty="0">
                <a:latin typeface="Arial MT"/>
                <a:cs typeface="Arial MT"/>
              </a:rPr>
              <a:t> </a:t>
            </a:r>
            <a:r>
              <a:rPr sz="2800" dirty="0">
                <a:latin typeface="Arial MT"/>
                <a:cs typeface="Arial MT"/>
              </a:rPr>
              <a:t>a</a:t>
            </a:r>
            <a:r>
              <a:rPr sz="2800" spc="-45" dirty="0">
                <a:latin typeface="Arial MT"/>
                <a:cs typeface="Arial MT"/>
              </a:rPr>
              <a:t> </a:t>
            </a:r>
            <a:r>
              <a:rPr sz="2800" spc="-25" dirty="0">
                <a:latin typeface="Arial MT"/>
                <a:cs typeface="Arial MT"/>
              </a:rPr>
              <a:t>las</a:t>
            </a:r>
            <a:endParaRPr sz="2800" dirty="0">
              <a:latin typeface="Arial MT"/>
              <a:cs typeface="Arial MT"/>
            </a:endParaRPr>
          </a:p>
          <a:p>
            <a:pPr marL="380365">
              <a:lnSpc>
                <a:spcPts val="3025"/>
              </a:lnSpc>
            </a:pPr>
            <a:r>
              <a:rPr sz="2800" b="1" spc="-10" dirty="0">
                <a:latin typeface="Arial"/>
                <a:cs typeface="Arial"/>
              </a:rPr>
              <a:t>entidades</a:t>
            </a:r>
            <a:endParaRPr sz="2800" dirty="0">
              <a:latin typeface="Arial"/>
              <a:cs typeface="Arial"/>
            </a:endParaRPr>
          </a:p>
          <a:p>
            <a:pPr marL="2968625">
              <a:lnSpc>
                <a:spcPct val="100000"/>
              </a:lnSpc>
              <a:spcBef>
                <a:spcPts val="10"/>
              </a:spcBef>
            </a:pPr>
            <a:r>
              <a:rPr sz="2800" b="1" dirty="0">
                <a:latin typeface="Arial"/>
                <a:cs typeface="Arial"/>
              </a:rPr>
              <a:t>E</a:t>
            </a:r>
            <a:r>
              <a:rPr sz="2850" b="1" baseline="-20467" dirty="0">
                <a:latin typeface="Arial"/>
                <a:cs typeface="Arial"/>
              </a:rPr>
              <a:t>1</a:t>
            </a:r>
            <a:r>
              <a:rPr sz="2800" b="1" dirty="0">
                <a:latin typeface="Arial"/>
                <a:cs typeface="Arial"/>
              </a:rPr>
              <a:t>,</a:t>
            </a:r>
            <a:r>
              <a:rPr sz="2800" b="1" spc="-15" dirty="0">
                <a:latin typeface="Arial"/>
                <a:cs typeface="Arial"/>
              </a:rPr>
              <a:t> </a:t>
            </a:r>
            <a:r>
              <a:rPr sz="2800" b="1" dirty="0">
                <a:latin typeface="Arial"/>
                <a:cs typeface="Arial"/>
              </a:rPr>
              <a:t>E</a:t>
            </a:r>
            <a:r>
              <a:rPr sz="2850" b="1" baseline="-20467" dirty="0">
                <a:latin typeface="Arial"/>
                <a:cs typeface="Arial"/>
              </a:rPr>
              <a:t>2</a:t>
            </a:r>
            <a:r>
              <a:rPr sz="2800" b="1" dirty="0">
                <a:latin typeface="Arial"/>
                <a:cs typeface="Arial"/>
              </a:rPr>
              <a:t>,</a:t>
            </a:r>
            <a:r>
              <a:rPr sz="2800" b="1" spc="-10" dirty="0">
                <a:latin typeface="Arial"/>
                <a:cs typeface="Arial"/>
              </a:rPr>
              <a:t> </a:t>
            </a:r>
            <a:r>
              <a:rPr sz="2800" b="1" dirty="0">
                <a:latin typeface="Arial"/>
                <a:cs typeface="Arial"/>
              </a:rPr>
              <a:t>..</a:t>
            </a:r>
            <a:r>
              <a:rPr sz="2800" b="1" spc="-25" dirty="0">
                <a:latin typeface="Arial"/>
                <a:cs typeface="Arial"/>
              </a:rPr>
              <a:t> E</a:t>
            </a:r>
            <a:r>
              <a:rPr sz="2850" b="1" spc="-37" baseline="-20467" dirty="0">
                <a:latin typeface="Arial"/>
                <a:cs typeface="Arial"/>
              </a:rPr>
              <a:t>m</a:t>
            </a:r>
            <a:endParaRPr sz="2850" baseline="-20467" dirty="0">
              <a:latin typeface="Arial"/>
              <a:cs typeface="Arial"/>
            </a:endParaRPr>
          </a:p>
          <a:p>
            <a:pPr marL="380365" marR="298450" indent="-342900">
              <a:lnSpc>
                <a:spcPct val="80000"/>
              </a:lnSpc>
              <a:spcBef>
                <a:spcPts val="2595"/>
              </a:spcBef>
            </a:pPr>
            <a:r>
              <a:rPr sz="2800" dirty="0">
                <a:latin typeface="Arial MT"/>
                <a:cs typeface="Arial MT"/>
              </a:rPr>
              <a:t>Supongamos</a:t>
            </a:r>
            <a:r>
              <a:rPr sz="2800" spc="-70" dirty="0">
                <a:latin typeface="Arial MT"/>
                <a:cs typeface="Arial MT"/>
              </a:rPr>
              <a:t> </a:t>
            </a:r>
            <a:r>
              <a:rPr sz="2800" dirty="0">
                <a:latin typeface="Arial MT"/>
                <a:cs typeface="Arial MT"/>
              </a:rPr>
              <a:t>que</a:t>
            </a:r>
            <a:r>
              <a:rPr sz="2800" spc="-70" dirty="0">
                <a:latin typeface="Arial MT"/>
                <a:cs typeface="Arial MT"/>
              </a:rPr>
              <a:t> </a:t>
            </a:r>
            <a:r>
              <a:rPr sz="2800" b="1" dirty="0">
                <a:latin typeface="Arial"/>
                <a:cs typeface="Arial"/>
              </a:rPr>
              <a:t>atributo(R)</a:t>
            </a:r>
            <a:r>
              <a:rPr sz="2800" b="1" spc="635" dirty="0">
                <a:latin typeface="Arial"/>
                <a:cs typeface="Arial"/>
              </a:rPr>
              <a:t> </a:t>
            </a:r>
            <a:r>
              <a:rPr sz="2800" dirty="0">
                <a:latin typeface="Arial MT"/>
                <a:cs typeface="Arial MT"/>
              </a:rPr>
              <a:t>consta</a:t>
            </a:r>
            <a:r>
              <a:rPr sz="2800" spc="-65" dirty="0">
                <a:latin typeface="Arial MT"/>
                <a:cs typeface="Arial MT"/>
              </a:rPr>
              <a:t> </a:t>
            </a:r>
            <a:r>
              <a:rPr sz="2800" dirty="0">
                <a:latin typeface="Arial MT"/>
                <a:cs typeface="Arial MT"/>
              </a:rPr>
              <a:t>de</a:t>
            </a:r>
            <a:r>
              <a:rPr sz="2800" spc="-65" dirty="0">
                <a:latin typeface="Arial MT"/>
                <a:cs typeface="Arial MT"/>
              </a:rPr>
              <a:t> </a:t>
            </a:r>
            <a:r>
              <a:rPr sz="2800" b="1" spc="-50" dirty="0">
                <a:latin typeface="Arial"/>
                <a:cs typeface="Arial"/>
              </a:rPr>
              <a:t>n </a:t>
            </a:r>
            <a:r>
              <a:rPr sz="2800" b="1" spc="-10" dirty="0">
                <a:latin typeface="Arial"/>
                <a:cs typeface="Arial"/>
              </a:rPr>
              <a:t>atributos</a:t>
            </a:r>
            <a:r>
              <a:rPr sz="2800" spc="-10" dirty="0">
                <a:latin typeface="Arial MT"/>
                <a:cs typeface="Arial MT"/>
              </a:rPr>
              <a:t>.</a:t>
            </a:r>
            <a:endParaRPr sz="2800" dirty="0">
              <a:latin typeface="Arial MT"/>
              <a:cs typeface="Arial MT"/>
            </a:endParaRPr>
          </a:p>
          <a:p>
            <a:pPr>
              <a:lnSpc>
                <a:spcPct val="100000"/>
              </a:lnSpc>
              <a:spcBef>
                <a:spcPts val="1110"/>
              </a:spcBef>
            </a:pPr>
            <a:endParaRPr sz="2800" dirty="0">
              <a:latin typeface="Arial MT"/>
              <a:cs typeface="Arial MT"/>
            </a:endParaRPr>
          </a:p>
          <a:p>
            <a:pPr marL="1513205" marR="17780" indent="-780415">
              <a:lnSpc>
                <a:spcPct val="100000"/>
              </a:lnSpc>
            </a:pPr>
            <a:r>
              <a:rPr sz="2800" dirty="0">
                <a:latin typeface="Arial MT"/>
                <a:cs typeface="Arial MT"/>
              </a:rPr>
              <a:t>Entonces,</a:t>
            </a:r>
            <a:r>
              <a:rPr sz="2800" spc="-114" dirty="0">
                <a:latin typeface="Arial MT"/>
                <a:cs typeface="Arial MT"/>
              </a:rPr>
              <a:t> </a:t>
            </a:r>
            <a:r>
              <a:rPr sz="2800" b="1" dirty="0">
                <a:latin typeface="Arial"/>
                <a:cs typeface="Arial"/>
              </a:rPr>
              <a:t>representamos</a:t>
            </a:r>
            <a:r>
              <a:rPr sz="2800" b="1" spc="-95" dirty="0">
                <a:latin typeface="Arial"/>
                <a:cs typeface="Arial"/>
              </a:rPr>
              <a:t> </a:t>
            </a:r>
            <a:r>
              <a:rPr sz="2800" dirty="0">
                <a:latin typeface="Arial MT"/>
                <a:cs typeface="Arial MT"/>
              </a:rPr>
              <a:t>esta</a:t>
            </a:r>
            <a:r>
              <a:rPr sz="2800" spc="-110" dirty="0">
                <a:latin typeface="Arial MT"/>
                <a:cs typeface="Arial MT"/>
              </a:rPr>
              <a:t> </a:t>
            </a:r>
            <a:r>
              <a:rPr sz="2800" spc="-10" dirty="0">
                <a:latin typeface="Arial MT"/>
                <a:cs typeface="Arial MT"/>
              </a:rPr>
              <a:t>relación </a:t>
            </a:r>
            <a:r>
              <a:rPr sz="2800" dirty="0">
                <a:latin typeface="Arial MT"/>
                <a:cs typeface="Arial MT"/>
              </a:rPr>
              <a:t>mediante</a:t>
            </a:r>
            <a:r>
              <a:rPr sz="2800" spc="-75" dirty="0">
                <a:latin typeface="Arial MT"/>
                <a:cs typeface="Arial MT"/>
              </a:rPr>
              <a:t> </a:t>
            </a:r>
            <a:r>
              <a:rPr sz="2800" dirty="0">
                <a:latin typeface="Arial MT"/>
                <a:cs typeface="Arial MT"/>
              </a:rPr>
              <a:t>una</a:t>
            </a:r>
            <a:r>
              <a:rPr sz="2800" spc="-70" dirty="0">
                <a:latin typeface="Arial MT"/>
                <a:cs typeface="Arial MT"/>
              </a:rPr>
              <a:t> </a:t>
            </a:r>
            <a:r>
              <a:rPr sz="2800" b="1" dirty="0">
                <a:latin typeface="Arial"/>
                <a:cs typeface="Arial"/>
              </a:rPr>
              <a:t>tabla</a:t>
            </a:r>
            <a:r>
              <a:rPr sz="2800" b="1" spc="-70" dirty="0">
                <a:latin typeface="Arial"/>
                <a:cs typeface="Arial"/>
              </a:rPr>
              <a:t> </a:t>
            </a:r>
            <a:r>
              <a:rPr sz="2800" dirty="0">
                <a:latin typeface="Arial MT"/>
                <a:cs typeface="Arial MT"/>
              </a:rPr>
              <a:t>llamada</a:t>
            </a:r>
            <a:r>
              <a:rPr sz="2800" spc="-65" dirty="0">
                <a:latin typeface="Arial MT"/>
                <a:cs typeface="Arial MT"/>
              </a:rPr>
              <a:t> </a:t>
            </a:r>
            <a:r>
              <a:rPr sz="2800" b="1" spc="-50" dirty="0">
                <a:latin typeface="Arial"/>
                <a:cs typeface="Arial"/>
              </a:rPr>
              <a:t>R</a:t>
            </a:r>
            <a:endParaRPr sz="2800" dirty="0">
              <a:latin typeface="Arial"/>
              <a:cs typeface="Arial"/>
            </a:endParaRPr>
          </a:p>
          <a:p>
            <a:pPr marL="1216025" marR="499745" indent="616585">
              <a:lnSpc>
                <a:spcPct val="100000"/>
              </a:lnSpc>
            </a:pPr>
            <a:r>
              <a:rPr sz="2800" dirty="0">
                <a:latin typeface="Arial MT"/>
                <a:cs typeface="Arial MT"/>
              </a:rPr>
              <a:t>con</a:t>
            </a:r>
            <a:r>
              <a:rPr sz="2800" spc="-65" dirty="0">
                <a:latin typeface="Arial MT"/>
                <a:cs typeface="Arial MT"/>
              </a:rPr>
              <a:t> </a:t>
            </a:r>
            <a:r>
              <a:rPr sz="2800" b="1" dirty="0">
                <a:latin typeface="Arial"/>
                <a:cs typeface="Arial"/>
              </a:rPr>
              <a:t>n</a:t>
            </a:r>
            <a:r>
              <a:rPr sz="2800" b="1" spc="-75" dirty="0">
                <a:latin typeface="Arial"/>
                <a:cs typeface="Arial"/>
              </a:rPr>
              <a:t> </a:t>
            </a:r>
            <a:r>
              <a:rPr sz="2800" b="1" dirty="0">
                <a:latin typeface="Arial"/>
                <a:cs typeface="Arial"/>
              </a:rPr>
              <a:t>columnas</a:t>
            </a:r>
            <a:r>
              <a:rPr sz="2800" b="1" spc="-65" dirty="0">
                <a:latin typeface="Arial"/>
                <a:cs typeface="Arial"/>
              </a:rPr>
              <a:t> </a:t>
            </a:r>
            <a:r>
              <a:rPr sz="2800" spc="-10" dirty="0">
                <a:latin typeface="Arial MT"/>
                <a:cs typeface="Arial MT"/>
              </a:rPr>
              <a:t>distintas, </a:t>
            </a:r>
            <a:r>
              <a:rPr sz="2800" dirty="0">
                <a:latin typeface="Arial MT"/>
                <a:cs typeface="Arial MT"/>
              </a:rPr>
              <a:t>donde</a:t>
            </a:r>
            <a:r>
              <a:rPr sz="2800" spc="-75" dirty="0">
                <a:latin typeface="Arial MT"/>
                <a:cs typeface="Arial MT"/>
              </a:rPr>
              <a:t> </a:t>
            </a:r>
            <a:r>
              <a:rPr sz="2800" dirty="0">
                <a:latin typeface="Arial MT"/>
                <a:cs typeface="Arial MT"/>
              </a:rPr>
              <a:t>cada</a:t>
            </a:r>
            <a:r>
              <a:rPr sz="2800" spc="-70" dirty="0">
                <a:latin typeface="Arial MT"/>
                <a:cs typeface="Arial MT"/>
              </a:rPr>
              <a:t> </a:t>
            </a:r>
            <a:r>
              <a:rPr sz="2800" dirty="0">
                <a:latin typeface="Arial MT"/>
                <a:cs typeface="Arial MT"/>
              </a:rPr>
              <a:t>columna</a:t>
            </a:r>
            <a:r>
              <a:rPr sz="2800" spc="-75" dirty="0">
                <a:latin typeface="Arial MT"/>
                <a:cs typeface="Arial MT"/>
              </a:rPr>
              <a:t> </a:t>
            </a:r>
            <a:r>
              <a:rPr sz="2800" spc="-10" dirty="0">
                <a:latin typeface="Arial MT"/>
                <a:cs typeface="Arial MT"/>
              </a:rPr>
              <a:t>corresponde</a:t>
            </a:r>
            <a:endParaRPr sz="2800" dirty="0">
              <a:latin typeface="Arial MT"/>
              <a:cs typeface="Arial MT"/>
            </a:endParaRPr>
          </a:p>
          <a:p>
            <a:pPr marL="1732280">
              <a:lnSpc>
                <a:spcPct val="100000"/>
              </a:lnSpc>
              <a:spcBef>
                <a:spcPts val="15"/>
              </a:spcBef>
            </a:pPr>
            <a:r>
              <a:rPr sz="2800" dirty="0">
                <a:latin typeface="Arial MT"/>
                <a:cs typeface="Arial MT"/>
              </a:rPr>
              <a:t>a</a:t>
            </a:r>
            <a:r>
              <a:rPr sz="2800" spc="-35" dirty="0">
                <a:latin typeface="Arial MT"/>
                <a:cs typeface="Arial MT"/>
              </a:rPr>
              <a:t> </a:t>
            </a:r>
            <a:r>
              <a:rPr sz="2800" dirty="0">
                <a:latin typeface="Arial MT"/>
                <a:cs typeface="Arial MT"/>
              </a:rPr>
              <a:t>un</a:t>
            </a:r>
            <a:r>
              <a:rPr sz="2800" spc="-35" dirty="0">
                <a:latin typeface="Arial MT"/>
                <a:cs typeface="Arial MT"/>
              </a:rPr>
              <a:t> </a:t>
            </a:r>
            <a:r>
              <a:rPr sz="2800" dirty="0">
                <a:latin typeface="Arial MT"/>
                <a:cs typeface="Arial MT"/>
              </a:rPr>
              <a:t>atributo</a:t>
            </a:r>
            <a:r>
              <a:rPr sz="2800" spc="-35" dirty="0">
                <a:latin typeface="Arial MT"/>
                <a:cs typeface="Arial MT"/>
              </a:rPr>
              <a:t> </a:t>
            </a:r>
            <a:r>
              <a:rPr sz="2800" dirty="0">
                <a:latin typeface="Arial MT"/>
                <a:cs typeface="Arial MT"/>
              </a:rPr>
              <a:t>de</a:t>
            </a:r>
            <a:r>
              <a:rPr sz="2800" spc="-35" dirty="0">
                <a:latin typeface="Arial MT"/>
                <a:cs typeface="Arial MT"/>
              </a:rPr>
              <a:t> </a:t>
            </a:r>
            <a:r>
              <a:rPr sz="2800" spc="-10" dirty="0">
                <a:latin typeface="Arial MT"/>
                <a:cs typeface="Arial MT"/>
              </a:rPr>
              <a:t>atributo(R).</a:t>
            </a:r>
            <a:endParaRPr sz="2800" dirty="0">
              <a:latin typeface="Arial MT"/>
              <a:cs typeface="Arial M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076249" y="737282"/>
            <a:ext cx="5953102" cy="935513"/>
          </a:xfrm>
          <a:prstGeom prst="rect">
            <a:avLst/>
          </a:prstGeom>
        </p:spPr>
        <p:txBody>
          <a:bodyPr vert="horz" wrap="square" lIns="0" tIns="316865" rIns="0" bIns="0" rtlCol="0">
            <a:spAutoFit/>
          </a:bodyPr>
          <a:lstStyle/>
          <a:p>
            <a:pPr marL="2593975">
              <a:lnSpc>
                <a:spcPct val="100000"/>
              </a:lnSpc>
              <a:spcBef>
                <a:spcPts val="95"/>
              </a:spcBef>
            </a:pPr>
            <a:r>
              <a:rPr sz="4000" dirty="0"/>
              <a:t>Tabla</a:t>
            </a:r>
            <a:r>
              <a:rPr sz="4000" spc="-80" dirty="0"/>
              <a:t> </a:t>
            </a:r>
            <a:r>
              <a:rPr sz="4000" b="1" spc="-10" dirty="0">
                <a:latin typeface="Arial"/>
                <a:cs typeface="Arial"/>
              </a:rPr>
              <a:t>CtaCli</a:t>
            </a:r>
            <a:endParaRPr sz="4000" dirty="0">
              <a:latin typeface="Arial"/>
              <a:cs typeface="Arial"/>
            </a:endParaRPr>
          </a:p>
        </p:txBody>
      </p:sp>
      <p:sp>
        <p:nvSpPr>
          <p:cNvPr id="3" name="object 3"/>
          <p:cNvSpPr txBox="1"/>
          <p:nvPr/>
        </p:nvSpPr>
        <p:spPr>
          <a:xfrm>
            <a:off x="1067696" y="1902967"/>
            <a:ext cx="7576820" cy="878840"/>
          </a:xfrm>
          <a:prstGeom prst="rect">
            <a:avLst/>
          </a:prstGeom>
        </p:spPr>
        <p:txBody>
          <a:bodyPr vert="horz" wrap="square" lIns="0" tIns="12065" rIns="0" bIns="0" rtlCol="0">
            <a:spAutoFit/>
          </a:bodyPr>
          <a:lstStyle/>
          <a:p>
            <a:pPr marL="12700">
              <a:lnSpc>
                <a:spcPct val="100000"/>
              </a:lnSpc>
              <a:spcBef>
                <a:spcPts val="95"/>
              </a:spcBef>
            </a:pPr>
            <a:r>
              <a:rPr sz="2800" dirty="0">
                <a:latin typeface="Arial MT"/>
                <a:cs typeface="Arial MT"/>
              </a:rPr>
              <a:t>Tiene</a:t>
            </a:r>
            <a:r>
              <a:rPr sz="2800" spc="-55" dirty="0">
                <a:latin typeface="Arial MT"/>
                <a:cs typeface="Arial MT"/>
              </a:rPr>
              <a:t> </a:t>
            </a:r>
            <a:r>
              <a:rPr sz="2800" dirty="0">
                <a:latin typeface="Arial MT"/>
                <a:cs typeface="Arial MT"/>
              </a:rPr>
              <a:t>las</a:t>
            </a:r>
            <a:r>
              <a:rPr sz="2800" spc="-45" dirty="0">
                <a:latin typeface="Arial MT"/>
                <a:cs typeface="Arial MT"/>
              </a:rPr>
              <a:t> </a:t>
            </a:r>
            <a:r>
              <a:rPr sz="2800" spc="-10" dirty="0">
                <a:latin typeface="Arial MT"/>
                <a:cs typeface="Arial MT"/>
              </a:rPr>
              <a:t>columnas:</a:t>
            </a:r>
            <a:endParaRPr sz="2800">
              <a:latin typeface="Arial MT"/>
              <a:cs typeface="Arial MT"/>
            </a:endParaRPr>
          </a:p>
          <a:p>
            <a:pPr marL="659765">
              <a:lnSpc>
                <a:spcPct val="100000"/>
              </a:lnSpc>
            </a:pPr>
            <a:r>
              <a:rPr sz="2800" b="1" spc="-20" dirty="0">
                <a:latin typeface="Arial"/>
                <a:cs typeface="Arial"/>
              </a:rPr>
              <a:t>seguridad-</a:t>
            </a:r>
            <a:r>
              <a:rPr sz="2800" b="1" dirty="0">
                <a:latin typeface="Arial"/>
                <a:cs typeface="Arial"/>
              </a:rPr>
              <a:t>social</a:t>
            </a:r>
            <a:r>
              <a:rPr sz="2800" dirty="0">
                <a:latin typeface="Arial MT"/>
                <a:cs typeface="Arial MT"/>
              </a:rPr>
              <a:t>,</a:t>
            </a:r>
            <a:r>
              <a:rPr sz="2800" spc="-20" dirty="0">
                <a:latin typeface="Arial MT"/>
                <a:cs typeface="Arial MT"/>
              </a:rPr>
              <a:t> </a:t>
            </a:r>
            <a:r>
              <a:rPr sz="2800" b="1" spc="-25" dirty="0">
                <a:latin typeface="Arial"/>
                <a:cs typeface="Arial"/>
              </a:rPr>
              <a:t>número-</a:t>
            </a:r>
            <a:r>
              <a:rPr sz="2800" b="1" dirty="0">
                <a:latin typeface="Arial"/>
                <a:cs typeface="Arial"/>
              </a:rPr>
              <a:t>cuenta</a:t>
            </a:r>
            <a:r>
              <a:rPr sz="2800" b="1" spc="-5" dirty="0">
                <a:latin typeface="Arial"/>
                <a:cs typeface="Arial"/>
              </a:rPr>
              <a:t> </a:t>
            </a:r>
            <a:r>
              <a:rPr sz="2800" dirty="0">
                <a:latin typeface="Arial MT"/>
                <a:cs typeface="Arial MT"/>
              </a:rPr>
              <a:t>y</a:t>
            </a:r>
            <a:r>
              <a:rPr sz="2800" spc="-5" dirty="0">
                <a:latin typeface="Arial MT"/>
                <a:cs typeface="Arial MT"/>
              </a:rPr>
              <a:t> </a:t>
            </a:r>
            <a:r>
              <a:rPr sz="2800" b="1" spc="-10" dirty="0">
                <a:latin typeface="Arial"/>
                <a:cs typeface="Arial"/>
              </a:rPr>
              <a:t>fecha</a:t>
            </a:r>
            <a:endParaRPr sz="2800">
              <a:latin typeface="Arial"/>
              <a:cs typeface="Arial"/>
            </a:endParaRPr>
          </a:p>
        </p:txBody>
      </p:sp>
      <p:grpSp>
        <p:nvGrpSpPr>
          <p:cNvPr id="4" name="object 4"/>
          <p:cNvGrpSpPr/>
          <p:nvPr/>
        </p:nvGrpSpPr>
        <p:grpSpPr>
          <a:xfrm>
            <a:off x="1306113" y="2995469"/>
            <a:ext cx="7141845" cy="3796029"/>
            <a:chOff x="1306113" y="2995469"/>
            <a:chExt cx="7141845" cy="3796029"/>
          </a:xfrm>
        </p:grpSpPr>
        <p:pic>
          <p:nvPicPr>
            <p:cNvPr id="5" name="object 5"/>
            <p:cNvPicPr/>
            <p:nvPr/>
          </p:nvPicPr>
          <p:blipFill>
            <a:blip r:embed="rId2" cstate="print"/>
            <a:stretch>
              <a:fillRect/>
            </a:stretch>
          </p:blipFill>
          <p:spPr>
            <a:xfrm>
              <a:off x="1306113" y="2995469"/>
              <a:ext cx="7141481" cy="3349657"/>
            </a:xfrm>
            <a:prstGeom prst="rect">
              <a:avLst/>
            </a:prstGeom>
          </p:spPr>
        </p:pic>
        <p:sp>
          <p:nvSpPr>
            <p:cNvPr id="6" name="object 6"/>
            <p:cNvSpPr/>
            <p:nvPr/>
          </p:nvSpPr>
          <p:spPr>
            <a:xfrm>
              <a:off x="4059814" y="3349751"/>
              <a:ext cx="2429510" cy="3429000"/>
            </a:xfrm>
            <a:custGeom>
              <a:avLst/>
              <a:gdLst/>
              <a:ahLst/>
              <a:cxnLst/>
              <a:rect l="l" t="t" r="r" b="b"/>
              <a:pathLst>
                <a:path w="2429510" h="3429000">
                  <a:moveTo>
                    <a:pt x="1214627" y="0"/>
                  </a:moveTo>
                  <a:lnTo>
                    <a:pt x="1174549" y="915"/>
                  </a:lnTo>
                  <a:lnTo>
                    <a:pt x="1134794" y="3642"/>
                  </a:lnTo>
                  <a:lnTo>
                    <a:pt x="1095383" y="8152"/>
                  </a:lnTo>
                  <a:lnTo>
                    <a:pt x="1056336" y="14418"/>
                  </a:lnTo>
                  <a:lnTo>
                    <a:pt x="1017672" y="22411"/>
                  </a:lnTo>
                  <a:lnTo>
                    <a:pt x="979412" y="32104"/>
                  </a:lnTo>
                  <a:lnTo>
                    <a:pt x="941576" y="43468"/>
                  </a:lnTo>
                  <a:lnTo>
                    <a:pt x="904184" y="56475"/>
                  </a:lnTo>
                  <a:lnTo>
                    <a:pt x="867255" y="71097"/>
                  </a:lnTo>
                  <a:lnTo>
                    <a:pt x="830811" y="87306"/>
                  </a:lnTo>
                  <a:lnTo>
                    <a:pt x="794871" y="105074"/>
                  </a:lnTo>
                  <a:lnTo>
                    <a:pt x="759455" y="124373"/>
                  </a:lnTo>
                  <a:lnTo>
                    <a:pt x="724583" y="145175"/>
                  </a:lnTo>
                  <a:lnTo>
                    <a:pt x="690275" y="167451"/>
                  </a:lnTo>
                  <a:lnTo>
                    <a:pt x="656551" y="191173"/>
                  </a:lnTo>
                  <a:lnTo>
                    <a:pt x="623431" y="216314"/>
                  </a:lnTo>
                  <a:lnTo>
                    <a:pt x="590936" y="242845"/>
                  </a:lnTo>
                  <a:lnTo>
                    <a:pt x="559085" y="270739"/>
                  </a:lnTo>
                  <a:lnTo>
                    <a:pt x="527899" y="299967"/>
                  </a:lnTo>
                  <a:lnTo>
                    <a:pt x="497397" y="330500"/>
                  </a:lnTo>
                  <a:lnTo>
                    <a:pt x="467599" y="362312"/>
                  </a:lnTo>
                  <a:lnTo>
                    <a:pt x="438526" y="395373"/>
                  </a:lnTo>
                  <a:lnTo>
                    <a:pt x="410197" y="429657"/>
                  </a:lnTo>
                  <a:lnTo>
                    <a:pt x="382633" y="465134"/>
                  </a:lnTo>
                  <a:lnTo>
                    <a:pt x="355853" y="501776"/>
                  </a:lnTo>
                  <a:lnTo>
                    <a:pt x="329879" y="539557"/>
                  </a:lnTo>
                  <a:lnTo>
                    <a:pt x="304729" y="578446"/>
                  </a:lnTo>
                  <a:lnTo>
                    <a:pt x="280423" y="618417"/>
                  </a:lnTo>
                  <a:lnTo>
                    <a:pt x="256983" y="659441"/>
                  </a:lnTo>
                  <a:lnTo>
                    <a:pt x="234427" y="701491"/>
                  </a:lnTo>
                  <a:lnTo>
                    <a:pt x="212777" y="744537"/>
                  </a:lnTo>
                  <a:lnTo>
                    <a:pt x="192051" y="788552"/>
                  </a:lnTo>
                  <a:lnTo>
                    <a:pt x="172270" y="833509"/>
                  </a:lnTo>
                  <a:lnTo>
                    <a:pt x="153454" y="879378"/>
                  </a:lnTo>
                  <a:lnTo>
                    <a:pt x="135623" y="926131"/>
                  </a:lnTo>
                  <a:lnTo>
                    <a:pt x="118798" y="973742"/>
                  </a:lnTo>
                  <a:lnTo>
                    <a:pt x="102997" y="1022180"/>
                  </a:lnTo>
                  <a:lnTo>
                    <a:pt x="88242" y="1071420"/>
                  </a:lnTo>
                  <a:lnTo>
                    <a:pt x="74552" y="1121431"/>
                  </a:lnTo>
                  <a:lnTo>
                    <a:pt x="61947" y="1172187"/>
                  </a:lnTo>
                  <a:lnTo>
                    <a:pt x="50448" y="1223659"/>
                  </a:lnTo>
                  <a:lnTo>
                    <a:pt x="40074" y="1275819"/>
                  </a:lnTo>
                  <a:lnTo>
                    <a:pt x="30845" y="1328639"/>
                  </a:lnTo>
                  <a:lnTo>
                    <a:pt x="22782" y="1382091"/>
                  </a:lnTo>
                  <a:lnTo>
                    <a:pt x="15904" y="1436147"/>
                  </a:lnTo>
                  <a:lnTo>
                    <a:pt x="10232" y="1490778"/>
                  </a:lnTo>
                  <a:lnTo>
                    <a:pt x="5785" y="1545957"/>
                  </a:lnTo>
                  <a:lnTo>
                    <a:pt x="2584" y="1601656"/>
                  </a:lnTo>
                  <a:lnTo>
                    <a:pt x="649" y="1657846"/>
                  </a:lnTo>
                  <a:lnTo>
                    <a:pt x="0" y="1714499"/>
                  </a:lnTo>
                  <a:lnTo>
                    <a:pt x="649" y="1771065"/>
                  </a:lnTo>
                  <a:lnTo>
                    <a:pt x="2584" y="1827174"/>
                  </a:lnTo>
                  <a:lnTo>
                    <a:pt x="5785" y="1882799"/>
                  </a:lnTo>
                  <a:lnTo>
                    <a:pt x="10232" y="1937911"/>
                  </a:lnTo>
                  <a:lnTo>
                    <a:pt x="15904" y="1992482"/>
                  </a:lnTo>
                  <a:lnTo>
                    <a:pt x="22782" y="2046483"/>
                  </a:lnTo>
                  <a:lnTo>
                    <a:pt x="30845" y="2099886"/>
                  </a:lnTo>
                  <a:lnTo>
                    <a:pt x="40074" y="2152664"/>
                  </a:lnTo>
                  <a:lnTo>
                    <a:pt x="50448" y="2204786"/>
                  </a:lnTo>
                  <a:lnTo>
                    <a:pt x="61947" y="2256227"/>
                  </a:lnTo>
                  <a:lnTo>
                    <a:pt x="74552" y="2306956"/>
                  </a:lnTo>
                  <a:lnTo>
                    <a:pt x="88242" y="2356945"/>
                  </a:lnTo>
                  <a:lnTo>
                    <a:pt x="102997" y="2406168"/>
                  </a:lnTo>
                  <a:lnTo>
                    <a:pt x="118798" y="2454594"/>
                  </a:lnTo>
                  <a:lnTo>
                    <a:pt x="135623" y="2502196"/>
                  </a:lnTo>
                  <a:lnTo>
                    <a:pt x="153454" y="2548945"/>
                  </a:lnTo>
                  <a:lnTo>
                    <a:pt x="172270" y="2594813"/>
                  </a:lnTo>
                  <a:lnTo>
                    <a:pt x="192051" y="2639772"/>
                  </a:lnTo>
                  <a:lnTo>
                    <a:pt x="212777" y="2683794"/>
                  </a:lnTo>
                  <a:lnTo>
                    <a:pt x="234427" y="2726850"/>
                  </a:lnTo>
                  <a:lnTo>
                    <a:pt x="256983" y="2768912"/>
                  </a:lnTo>
                  <a:lnTo>
                    <a:pt x="280423" y="2809951"/>
                  </a:lnTo>
                  <a:lnTo>
                    <a:pt x="304729" y="2849939"/>
                  </a:lnTo>
                  <a:lnTo>
                    <a:pt x="329879" y="2888849"/>
                  </a:lnTo>
                  <a:lnTo>
                    <a:pt x="355853" y="2926651"/>
                  </a:lnTo>
                  <a:lnTo>
                    <a:pt x="382633" y="2963317"/>
                  </a:lnTo>
                  <a:lnTo>
                    <a:pt x="410197" y="2998820"/>
                  </a:lnTo>
                  <a:lnTo>
                    <a:pt x="438526" y="3033130"/>
                  </a:lnTo>
                  <a:lnTo>
                    <a:pt x="467599" y="3066219"/>
                  </a:lnTo>
                  <a:lnTo>
                    <a:pt x="497397" y="3098060"/>
                  </a:lnTo>
                  <a:lnTo>
                    <a:pt x="527899" y="3128623"/>
                  </a:lnTo>
                  <a:lnTo>
                    <a:pt x="559085" y="3157881"/>
                  </a:lnTo>
                  <a:lnTo>
                    <a:pt x="590936" y="3185805"/>
                  </a:lnTo>
                  <a:lnTo>
                    <a:pt x="623431" y="3212367"/>
                  </a:lnTo>
                  <a:lnTo>
                    <a:pt x="656551" y="3237538"/>
                  </a:lnTo>
                  <a:lnTo>
                    <a:pt x="690275" y="3261290"/>
                  </a:lnTo>
                  <a:lnTo>
                    <a:pt x="724583" y="3283596"/>
                  </a:lnTo>
                  <a:lnTo>
                    <a:pt x="759455" y="3304426"/>
                  </a:lnTo>
                  <a:lnTo>
                    <a:pt x="794871" y="3323752"/>
                  </a:lnTo>
                  <a:lnTo>
                    <a:pt x="830811" y="3341546"/>
                  </a:lnTo>
                  <a:lnTo>
                    <a:pt x="867255" y="3357780"/>
                  </a:lnTo>
                  <a:lnTo>
                    <a:pt x="904184" y="3372425"/>
                  </a:lnTo>
                  <a:lnTo>
                    <a:pt x="941576" y="3385454"/>
                  </a:lnTo>
                  <a:lnTo>
                    <a:pt x="979412" y="3396837"/>
                  </a:lnTo>
                  <a:lnTo>
                    <a:pt x="1017672" y="3406546"/>
                  </a:lnTo>
                  <a:lnTo>
                    <a:pt x="1056336" y="3414554"/>
                  </a:lnTo>
                  <a:lnTo>
                    <a:pt x="1095383" y="3420831"/>
                  </a:lnTo>
                  <a:lnTo>
                    <a:pt x="1134794" y="3425350"/>
                  </a:lnTo>
                  <a:lnTo>
                    <a:pt x="1174549" y="3428082"/>
                  </a:lnTo>
                  <a:lnTo>
                    <a:pt x="1214627" y="3428999"/>
                  </a:lnTo>
                  <a:lnTo>
                    <a:pt x="1254706" y="3428082"/>
                  </a:lnTo>
                  <a:lnTo>
                    <a:pt x="1294461" y="3425350"/>
                  </a:lnTo>
                  <a:lnTo>
                    <a:pt x="1333872" y="3420831"/>
                  </a:lnTo>
                  <a:lnTo>
                    <a:pt x="1372919" y="3414554"/>
                  </a:lnTo>
                  <a:lnTo>
                    <a:pt x="1411583" y="3406546"/>
                  </a:lnTo>
                  <a:lnTo>
                    <a:pt x="1449843" y="3396837"/>
                  </a:lnTo>
                  <a:lnTo>
                    <a:pt x="1487679" y="3385454"/>
                  </a:lnTo>
                  <a:lnTo>
                    <a:pt x="1525071" y="3372425"/>
                  </a:lnTo>
                  <a:lnTo>
                    <a:pt x="1562000" y="3357780"/>
                  </a:lnTo>
                  <a:lnTo>
                    <a:pt x="1598444" y="3341546"/>
                  </a:lnTo>
                  <a:lnTo>
                    <a:pt x="1634384" y="3323752"/>
                  </a:lnTo>
                  <a:lnTo>
                    <a:pt x="1669800" y="3304426"/>
                  </a:lnTo>
                  <a:lnTo>
                    <a:pt x="1704672" y="3283596"/>
                  </a:lnTo>
                  <a:lnTo>
                    <a:pt x="1738980" y="3261290"/>
                  </a:lnTo>
                  <a:lnTo>
                    <a:pt x="1772704" y="3237538"/>
                  </a:lnTo>
                  <a:lnTo>
                    <a:pt x="1805824" y="3212367"/>
                  </a:lnTo>
                  <a:lnTo>
                    <a:pt x="1838319" y="3185805"/>
                  </a:lnTo>
                  <a:lnTo>
                    <a:pt x="1870170" y="3157881"/>
                  </a:lnTo>
                  <a:lnTo>
                    <a:pt x="1901356" y="3128623"/>
                  </a:lnTo>
                  <a:lnTo>
                    <a:pt x="1931858" y="3098060"/>
                  </a:lnTo>
                  <a:lnTo>
                    <a:pt x="1961656" y="3066219"/>
                  </a:lnTo>
                  <a:lnTo>
                    <a:pt x="1990729" y="3033130"/>
                  </a:lnTo>
                  <a:lnTo>
                    <a:pt x="2019058" y="2998820"/>
                  </a:lnTo>
                  <a:lnTo>
                    <a:pt x="2046622" y="2963317"/>
                  </a:lnTo>
                  <a:lnTo>
                    <a:pt x="2073401" y="2926651"/>
                  </a:lnTo>
                  <a:lnTo>
                    <a:pt x="2099376" y="2888849"/>
                  </a:lnTo>
                  <a:lnTo>
                    <a:pt x="2124526" y="2849939"/>
                  </a:lnTo>
                  <a:lnTo>
                    <a:pt x="2148832" y="2809951"/>
                  </a:lnTo>
                  <a:lnTo>
                    <a:pt x="2172272" y="2768912"/>
                  </a:lnTo>
                  <a:lnTo>
                    <a:pt x="2194828" y="2726850"/>
                  </a:lnTo>
                  <a:lnTo>
                    <a:pt x="2216478" y="2683794"/>
                  </a:lnTo>
                  <a:lnTo>
                    <a:pt x="2237204" y="2639772"/>
                  </a:lnTo>
                  <a:lnTo>
                    <a:pt x="2256985" y="2594813"/>
                  </a:lnTo>
                  <a:lnTo>
                    <a:pt x="2275801" y="2548945"/>
                  </a:lnTo>
                  <a:lnTo>
                    <a:pt x="2293632" y="2502196"/>
                  </a:lnTo>
                  <a:lnTo>
                    <a:pt x="2310457" y="2454594"/>
                  </a:lnTo>
                  <a:lnTo>
                    <a:pt x="2326258" y="2406168"/>
                  </a:lnTo>
                  <a:lnTo>
                    <a:pt x="2341013" y="2356945"/>
                  </a:lnTo>
                  <a:lnTo>
                    <a:pt x="2354703" y="2306956"/>
                  </a:lnTo>
                  <a:lnTo>
                    <a:pt x="2367308" y="2256227"/>
                  </a:lnTo>
                  <a:lnTo>
                    <a:pt x="2378807" y="2204786"/>
                  </a:lnTo>
                  <a:lnTo>
                    <a:pt x="2389181" y="2152664"/>
                  </a:lnTo>
                  <a:lnTo>
                    <a:pt x="2398410" y="2099886"/>
                  </a:lnTo>
                  <a:lnTo>
                    <a:pt x="2406473" y="2046483"/>
                  </a:lnTo>
                  <a:lnTo>
                    <a:pt x="2413351" y="1992482"/>
                  </a:lnTo>
                  <a:lnTo>
                    <a:pt x="2419023" y="1937911"/>
                  </a:lnTo>
                  <a:lnTo>
                    <a:pt x="2423470" y="1882799"/>
                  </a:lnTo>
                  <a:lnTo>
                    <a:pt x="2426671" y="1827174"/>
                  </a:lnTo>
                  <a:lnTo>
                    <a:pt x="2428606" y="1771065"/>
                  </a:lnTo>
                  <a:lnTo>
                    <a:pt x="2429255" y="1714499"/>
                  </a:lnTo>
                  <a:lnTo>
                    <a:pt x="2428606" y="1657846"/>
                  </a:lnTo>
                  <a:lnTo>
                    <a:pt x="2426671" y="1601656"/>
                  </a:lnTo>
                  <a:lnTo>
                    <a:pt x="2423470" y="1545957"/>
                  </a:lnTo>
                  <a:lnTo>
                    <a:pt x="2419023" y="1490778"/>
                  </a:lnTo>
                  <a:lnTo>
                    <a:pt x="2413351" y="1436147"/>
                  </a:lnTo>
                  <a:lnTo>
                    <a:pt x="2406473" y="1382091"/>
                  </a:lnTo>
                  <a:lnTo>
                    <a:pt x="2398410" y="1328639"/>
                  </a:lnTo>
                  <a:lnTo>
                    <a:pt x="2389181" y="1275819"/>
                  </a:lnTo>
                  <a:lnTo>
                    <a:pt x="2378807" y="1223659"/>
                  </a:lnTo>
                  <a:lnTo>
                    <a:pt x="2367308" y="1172187"/>
                  </a:lnTo>
                  <a:lnTo>
                    <a:pt x="2354703" y="1121431"/>
                  </a:lnTo>
                  <a:lnTo>
                    <a:pt x="2341013" y="1071420"/>
                  </a:lnTo>
                  <a:lnTo>
                    <a:pt x="2326258" y="1022180"/>
                  </a:lnTo>
                  <a:lnTo>
                    <a:pt x="2310457" y="973742"/>
                  </a:lnTo>
                  <a:lnTo>
                    <a:pt x="2293632" y="926131"/>
                  </a:lnTo>
                  <a:lnTo>
                    <a:pt x="2275801" y="879378"/>
                  </a:lnTo>
                  <a:lnTo>
                    <a:pt x="2256985" y="833509"/>
                  </a:lnTo>
                  <a:lnTo>
                    <a:pt x="2237204" y="788552"/>
                  </a:lnTo>
                  <a:lnTo>
                    <a:pt x="2216478" y="744537"/>
                  </a:lnTo>
                  <a:lnTo>
                    <a:pt x="2194828" y="701491"/>
                  </a:lnTo>
                  <a:lnTo>
                    <a:pt x="2172272" y="659441"/>
                  </a:lnTo>
                  <a:lnTo>
                    <a:pt x="2148832" y="618417"/>
                  </a:lnTo>
                  <a:lnTo>
                    <a:pt x="2124526" y="578446"/>
                  </a:lnTo>
                  <a:lnTo>
                    <a:pt x="2099376" y="539557"/>
                  </a:lnTo>
                  <a:lnTo>
                    <a:pt x="2073401" y="501776"/>
                  </a:lnTo>
                  <a:lnTo>
                    <a:pt x="2046622" y="465134"/>
                  </a:lnTo>
                  <a:lnTo>
                    <a:pt x="2019058" y="429657"/>
                  </a:lnTo>
                  <a:lnTo>
                    <a:pt x="1990729" y="395373"/>
                  </a:lnTo>
                  <a:lnTo>
                    <a:pt x="1961656" y="362312"/>
                  </a:lnTo>
                  <a:lnTo>
                    <a:pt x="1931858" y="330500"/>
                  </a:lnTo>
                  <a:lnTo>
                    <a:pt x="1901356" y="299967"/>
                  </a:lnTo>
                  <a:lnTo>
                    <a:pt x="1870170" y="270739"/>
                  </a:lnTo>
                  <a:lnTo>
                    <a:pt x="1838319" y="242845"/>
                  </a:lnTo>
                  <a:lnTo>
                    <a:pt x="1805824" y="216314"/>
                  </a:lnTo>
                  <a:lnTo>
                    <a:pt x="1772704" y="191173"/>
                  </a:lnTo>
                  <a:lnTo>
                    <a:pt x="1738980" y="167451"/>
                  </a:lnTo>
                  <a:lnTo>
                    <a:pt x="1704672" y="145175"/>
                  </a:lnTo>
                  <a:lnTo>
                    <a:pt x="1669800" y="124373"/>
                  </a:lnTo>
                  <a:lnTo>
                    <a:pt x="1634384" y="105074"/>
                  </a:lnTo>
                  <a:lnTo>
                    <a:pt x="1598444" y="87306"/>
                  </a:lnTo>
                  <a:lnTo>
                    <a:pt x="1562000" y="71097"/>
                  </a:lnTo>
                  <a:lnTo>
                    <a:pt x="1525071" y="56475"/>
                  </a:lnTo>
                  <a:lnTo>
                    <a:pt x="1487679" y="43468"/>
                  </a:lnTo>
                  <a:lnTo>
                    <a:pt x="1449843" y="32104"/>
                  </a:lnTo>
                  <a:lnTo>
                    <a:pt x="1411583" y="22411"/>
                  </a:lnTo>
                  <a:lnTo>
                    <a:pt x="1372919" y="14418"/>
                  </a:lnTo>
                  <a:lnTo>
                    <a:pt x="1333872" y="8152"/>
                  </a:lnTo>
                  <a:lnTo>
                    <a:pt x="1294461" y="3642"/>
                  </a:lnTo>
                  <a:lnTo>
                    <a:pt x="1254706" y="915"/>
                  </a:lnTo>
                  <a:lnTo>
                    <a:pt x="1214627" y="0"/>
                  </a:lnTo>
                  <a:close/>
                </a:path>
              </a:pathLst>
            </a:custGeom>
            <a:ln w="25400">
              <a:solidFill>
                <a:srgbClr val="375D89"/>
              </a:solidFill>
            </a:ln>
          </p:spPr>
          <p:txBody>
            <a:bodyPr wrap="square" lIns="0" tIns="0" rIns="0" bIns="0" rtlCol="0"/>
            <a:lstStyle/>
            <a:p>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10017" y="1885593"/>
            <a:ext cx="7957184" cy="5346272"/>
          </a:xfrm>
          <a:prstGeom prst="rect">
            <a:avLst/>
          </a:prstGeom>
        </p:spPr>
        <p:txBody>
          <a:bodyPr vert="horz" wrap="square" lIns="0" tIns="12700" rIns="0" bIns="0" rtlCol="0">
            <a:spAutoFit/>
          </a:bodyPr>
          <a:lstStyle/>
          <a:p>
            <a:pPr marL="125095" marR="5080" algn="ctr">
              <a:lnSpc>
                <a:spcPct val="120400"/>
              </a:lnSpc>
              <a:spcBef>
                <a:spcPts val="100"/>
              </a:spcBef>
            </a:pPr>
            <a:endParaRPr lang="es-ES" sz="2800" dirty="0" smtClean="0">
              <a:latin typeface="Arial MT"/>
              <a:cs typeface="Arial MT"/>
            </a:endParaRPr>
          </a:p>
          <a:p>
            <a:pPr marL="125095" marR="5080" algn="ctr">
              <a:lnSpc>
                <a:spcPct val="120400"/>
              </a:lnSpc>
              <a:spcBef>
                <a:spcPts val="100"/>
              </a:spcBef>
            </a:pPr>
            <a:r>
              <a:rPr sz="2800" dirty="0" smtClean="0">
                <a:latin typeface="Arial MT"/>
                <a:cs typeface="Arial MT"/>
              </a:rPr>
              <a:t>Las</a:t>
            </a:r>
            <a:r>
              <a:rPr sz="2800" spc="-75" dirty="0" smtClean="0">
                <a:latin typeface="Arial MT"/>
                <a:cs typeface="Arial MT"/>
              </a:rPr>
              <a:t> </a:t>
            </a:r>
            <a:r>
              <a:rPr sz="2800" b="1" dirty="0">
                <a:latin typeface="Arial"/>
                <a:cs typeface="Arial"/>
              </a:rPr>
              <a:t>relaciones</a:t>
            </a:r>
            <a:r>
              <a:rPr sz="2800" b="1" spc="-70" dirty="0">
                <a:latin typeface="Arial"/>
                <a:cs typeface="Arial"/>
              </a:rPr>
              <a:t> </a:t>
            </a:r>
            <a:r>
              <a:rPr sz="2800" dirty="0">
                <a:latin typeface="Arial MT"/>
                <a:cs typeface="Arial MT"/>
              </a:rPr>
              <a:t>que</a:t>
            </a:r>
            <a:r>
              <a:rPr sz="2800" spc="-75" dirty="0">
                <a:latin typeface="Arial MT"/>
                <a:cs typeface="Arial MT"/>
              </a:rPr>
              <a:t> </a:t>
            </a:r>
            <a:r>
              <a:rPr sz="2800" dirty="0">
                <a:latin typeface="Arial MT"/>
                <a:cs typeface="Arial MT"/>
              </a:rPr>
              <a:t>conectan</a:t>
            </a:r>
            <a:r>
              <a:rPr sz="2800" spc="-70" dirty="0">
                <a:latin typeface="Arial MT"/>
                <a:cs typeface="Arial MT"/>
              </a:rPr>
              <a:t> </a:t>
            </a:r>
            <a:r>
              <a:rPr sz="2800" dirty="0">
                <a:latin typeface="Arial MT"/>
                <a:cs typeface="Arial MT"/>
              </a:rPr>
              <a:t>una</a:t>
            </a:r>
            <a:r>
              <a:rPr sz="2800" spc="-75" dirty="0">
                <a:latin typeface="Arial MT"/>
                <a:cs typeface="Arial MT"/>
              </a:rPr>
              <a:t> </a:t>
            </a:r>
            <a:r>
              <a:rPr sz="2800" b="1" dirty="0">
                <a:latin typeface="Arial"/>
                <a:cs typeface="Arial"/>
              </a:rPr>
              <a:t>entidad</a:t>
            </a:r>
            <a:r>
              <a:rPr sz="2800" b="1" spc="-80" dirty="0">
                <a:latin typeface="Arial"/>
                <a:cs typeface="Arial"/>
              </a:rPr>
              <a:t> </a:t>
            </a:r>
            <a:r>
              <a:rPr sz="2800" b="1" spc="-10" dirty="0">
                <a:latin typeface="Arial"/>
                <a:cs typeface="Arial"/>
              </a:rPr>
              <a:t>fuerte </a:t>
            </a:r>
            <a:r>
              <a:rPr sz="2800" b="1" dirty="0">
                <a:latin typeface="Arial"/>
                <a:cs typeface="Arial"/>
              </a:rPr>
              <a:t>con</a:t>
            </a:r>
            <a:r>
              <a:rPr sz="2800" b="1" spc="-50" dirty="0">
                <a:latin typeface="Arial"/>
                <a:cs typeface="Arial"/>
              </a:rPr>
              <a:t> </a:t>
            </a:r>
            <a:r>
              <a:rPr sz="2800" b="1" dirty="0">
                <a:latin typeface="Arial"/>
                <a:cs typeface="Arial"/>
              </a:rPr>
              <a:t>una</a:t>
            </a:r>
            <a:r>
              <a:rPr sz="2800" b="1" spc="-45" dirty="0">
                <a:latin typeface="Arial"/>
                <a:cs typeface="Arial"/>
              </a:rPr>
              <a:t> </a:t>
            </a:r>
            <a:r>
              <a:rPr sz="2800" b="1" dirty="0">
                <a:latin typeface="Arial"/>
                <a:cs typeface="Arial"/>
              </a:rPr>
              <a:t>débil</a:t>
            </a:r>
            <a:r>
              <a:rPr sz="2800" b="1" spc="-40" dirty="0">
                <a:latin typeface="Arial"/>
                <a:cs typeface="Arial"/>
              </a:rPr>
              <a:t> </a:t>
            </a:r>
            <a:r>
              <a:rPr sz="2800" dirty="0">
                <a:latin typeface="Arial MT"/>
                <a:cs typeface="Arial MT"/>
              </a:rPr>
              <a:t>son</a:t>
            </a:r>
            <a:r>
              <a:rPr sz="2800" spc="-55" dirty="0">
                <a:latin typeface="Arial MT"/>
                <a:cs typeface="Arial MT"/>
              </a:rPr>
              <a:t> </a:t>
            </a:r>
            <a:r>
              <a:rPr sz="2800" dirty="0">
                <a:latin typeface="Arial MT"/>
                <a:cs typeface="Arial MT"/>
              </a:rPr>
              <a:t>un</a:t>
            </a:r>
            <a:r>
              <a:rPr sz="2800" spc="-40" dirty="0">
                <a:latin typeface="Arial MT"/>
                <a:cs typeface="Arial MT"/>
              </a:rPr>
              <a:t> </a:t>
            </a:r>
            <a:r>
              <a:rPr sz="2800" dirty="0">
                <a:latin typeface="Arial MT"/>
                <a:cs typeface="Arial MT"/>
              </a:rPr>
              <a:t>caso</a:t>
            </a:r>
            <a:r>
              <a:rPr sz="2800" spc="-55" dirty="0">
                <a:latin typeface="Arial MT"/>
                <a:cs typeface="Arial MT"/>
              </a:rPr>
              <a:t> </a:t>
            </a:r>
            <a:r>
              <a:rPr sz="2800" spc="-10" dirty="0">
                <a:latin typeface="Arial MT"/>
                <a:cs typeface="Arial MT"/>
              </a:rPr>
              <a:t>especial.</a:t>
            </a:r>
            <a:endParaRPr sz="2800" dirty="0">
              <a:latin typeface="Arial MT"/>
              <a:cs typeface="Arial MT"/>
            </a:endParaRPr>
          </a:p>
          <a:p>
            <a:pPr>
              <a:lnSpc>
                <a:spcPct val="100000"/>
              </a:lnSpc>
              <a:spcBef>
                <a:spcPts val="1390"/>
              </a:spcBef>
            </a:pPr>
            <a:endParaRPr sz="2800" dirty="0">
              <a:latin typeface="Arial MT"/>
              <a:cs typeface="Arial MT"/>
            </a:endParaRPr>
          </a:p>
          <a:p>
            <a:pPr marL="354965" indent="-342265">
              <a:lnSpc>
                <a:spcPct val="100000"/>
              </a:lnSpc>
              <a:buChar char="•"/>
              <a:tabLst>
                <a:tab pos="354965" algn="l"/>
              </a:tabLst>
            </a:pPr>
            <a:r>
              <a:rPr sz="2400" dirty="0">
                <a:latin typeface="Arial MT"/>
                <a:cs typeface="Arial MT"/>
              </a:rPr>
              <a:t>Son</a:t>
            </a:r>
            <a:r>
              <a:rPr sz="2400" spc="-65" dirty="0">
                <a:latin typeface="Arial MT"/>
                <a:cs typeface="Arial MT"/>
              </a:rPr>
              <a:t> </a:t>
            </a:r>
            <a:r>
              <a:rPr sz="2400" b="1" dirty="0">
                <a:latin typeface="Arial"/>
                <a:cs typeface="Arial"/>
              </a:rPr>
              <a:t>relaciones</a:t>
            </a:r>
            <a:r>
              <a:rPr sz="2400" b="1" spc="-60" dirty="0">
                <a:latin typeface="Arial"/>
                <a:cs typeface="Arial"/>
              </a:rPr>
              <a:t> </a:t>
            </a:r>
            <a:r>
              <a:rPr sz="2400" b="1" dirty="0">
                <a:latin typeface="Arial"/>
                <a:cs typeface="Arial"/>
              </a:rPr>
              <a:t>muchas</a:t>
            </a:r>
            <a:r>
              <a:rPr sz="2400" b="1" spc="-60" dirty="0">
                <a:latin typeface="Arial"/>
                <a:cs typeface="Arial"/>
              </a:rPr>
              <a:t> </a:t>
            </a:r>
            <a:r>
              <a:rPr sz="2400" b="1" dirty="0">
                <a:latin typeface="Arial"/>
                <a:cs typeface="Arial"/>
              </a:rPr>
              <a:t>a</a:t>
            </a:r>
            <a:r>
              <a:rPr sz="2400" b="1" spc="-60" dirty="0">
                <a:latin typeface="Arial"/>
                <a:cs typeface="Arial"/>
              </a:rPr>
              <a:t> </a:t>
            </a:r>
            <a:r>
              <a:rPr sz="2400" b="1" spc="-20" dirty="0">
                <a:latin typeface="Arial"/>
                <a:cs typeface="Arial"/>
              </a:rPr>
              <a:t>una.</a:t>
            </a:r>
            <a:endParaRPr sz="2400" dirty="0">
              <a:latin typeface="Arial"/>
              <a:cs typeface="Arial"/>
            </a:endParaRPr>
          </a:p>
          <a:p>
            <a:pPr marL="354965" indent="-342265">
              <a:lnSpc>
                <a:spcPct val="100000"/>
              </a:lnSpc>
              <a:spcBef>
                <a:spcPts val="565"/>
              </a:spcBef>
              <a:buFont typeface="Arial MT"/>
              <a:buChar char="•"/>
              <a:tabLst>
                <a:tab pos="354965" algn="l"/>
              </a:tabLst>
            </a:pPr>
            <a:r>
              <a:rPr sz="2400" b="1" dirty="0">
                <a:latin typeface="Arial"/>
                <a:cs typeface="Arial"/>
              </a:rPr>
              <a:t>No</a:t>
            </a:r>
            <a:r>
              <a:rPr sz="2400" b="1" spc="-55" dirty="0">
                <a:latin typeface="Arial"/>
                <a:cs typeface="Arial"/>
              </a:rPr>
              <a:t> </a:t>
            </a:r>
            <a:r>
              <a:rPr sz="2400" b="1" dirty="0">
                <a:latin typeface="Arial"/>
                <a:cs typeface="Arial"/>
              </a:rPr>
              <a:t>tienen</a:t>
            </a:r>
            <a:r>
              <a:rPr sz="2400" b="1" spc="-65" dirty="0">
                <a:latin typeface="Arial"/>
                <a:cs typeface="Arial"/>
              </a:rPr>
              <a:t> </a:t>
            </a:r>
            <a:r>
              <a:rPr sz="2400" b="1" dirty="0">
                <a:latin typeface="Arial"/>
                <a:cs typeface="Arial"/>
              </a:rPr>
              <a:t>atributos</a:t>
            </a:r>
            <a:r>
              <a:rPr sz="2400" b="1" spc="-70" dirty="0">
                <a:latin typeface="Arial"/>
                <a:cs typeface="Arial"/>
              </a:rPr>
              <a:t> </a:t>
            </a:r>
            <a:r>
              <a:rPr sz="2400" b="1" spc="-10" dirty="0">
                <a:latin typeface="Arial"/>
                <a:cs typeface="Arial"/>
              </a:rPr>
              <a:t>descriptivos.</a:t>
            </a:r>
            <a:endParaRPr sz="2400" dirty="0">
              <a:latin typeface="Arial"/>
              <a:cs typeface="Arial"/>
            </a:endParaRPr>
          </a:p>
          <a:p>
            <a:pPr marL="355600" marR="95250" indent="-342900">
              <a:lnSpc>
                <a:spcPts val="2870"/>
              </a:lnSpc>
              <a:spcBef>
                <a:spcPts val="680"/>
              </a:spcBef>
              <a:buChar char="•"/>
              <a:tabLst>
                <a:tab pos="355600" algn="l"/>
              </a:tabLst>
            </a:pPr>
            <a:r>
              <a:rPr sz="2400" dirty="0">
                <a:latin typeface="Arial MT"/>
                <a:cs typeface="Arial MT"/>
              </a:rPr>
              <a:t>La</a:t>
            </a:r>
            <a:r>
              <a:rPr sz="2400" spc="-50" dirty="0">
                <a:latin typeface="Arial MT"/>
                <a:cs typeface="Arial MT"/>
              </a:rPr>
              <a:t> </a:t>
            </a:r>
            <a:r>
              <a:rPr sz="2400" b="1" dirty="0">
                <a:latin typeface="Arial"/>
                <a:cs typeface="Arial"/>
              </a:rPr>
              <a:t>clave</a:t>
            </a:r>
            <a:r>
              <a:rPr sz="2400" b="1" spc="-50" dirty="0">
                <a:latin typeface="Arial"/>
                <a:cs typeface="Arial"/>
              </a:rPr>
              <a:t> </a:t>
            </a:r>
            <a:r>
              <a:rPr sz="2400" b="1" dirty="0">
                <a:latin typeface="Arial"/>
                <a:cs typeface="Arial"/>
              </a:rPr>
              <a:t>primaria</a:t>
            </a:r>
            <a:r>
              <a:rPr sz="2400" b="1" spc="-50" dirty="0">
                <a:latin typeface="Arial"/>
                <a:cs typeface="Arial"/>
              </a:rPr>
              <a:t> </a:t>
            </a:r>
            <a:r>
              <a:rPr sz="2400" dirty="0">
                <a:latin typeface="Arial MT"/>
                <a:cs typeface="Arial MT"/>
              </a:rPr>
              <a:t>de</a:t>
            </a:r>
            <a:r>
              <a:rPr sz="2400" spc="-60" dirty="0">
                <a:latin typeface="Arial MT"/>
                <a:cs typeface="Arial MT"/>
              </a:rPr>
              <a:t> </a:t>
            </a:r>
            <a:r>
              <a:rPr sz="2400" dirty="0">
                <a:latin typeface="Arial MT"/>
                <a:cs typeface="Arial MT"/>
              </a:rPr>
              <a:t>la</a:t>
            </a:r>
            <a:r>
              <a:rPr sz="2400" spc="-50" dirty="0">
                <a:latin typeface="Arial MT"/>
                <a:cs typeface="Arial MT"/>
              </a:rPr>
              <a:t> </a:t>
            </a:r>
            <a:r>
              <a:rPr sz="2400" b="1" dirty="0">
                <a:latin typeface="Arial"/>
                <a:cs typeface="Arial"/>
              </a:rPr>
              <a:t>entidad</a:t>
            </a:r>
            <a:r>
              <a:rPr sz="2400" b="1" spc="-60" dirty="0">
                <a:latin typeface="Arial"/>
                <a:cs typeface="Arial"/>
              </a:rPr>
              <a:t> </a:t>
            </a:r>
            <a:r>
              <a:rPr sz="2400" b="1" dirty="0">
                <a:latin typeface="Arial"/>
                <a:cs typeface="Arial"/>
              </a:rPr>
              <a:t>débil</a:t>
            </a:r>
            <a:r>
              <a:rPr sz="2400" b="1" spc="-65" dirty="0">
                <a:latin typeface="Arial"/>
                <a:cs typeface="Arial"/>
              </a:rPr>
              <a:t> </a:t>
            </a:r>
            <a:r>
              <a:rPr sz="2400" b="1" dirty="0">
                <a:latin typeface="Arial"/>
                <a:cs typeface="Arial"/>
              </a:rPr>
              <a:t>incluye</a:t>
            </a:r>
            <a:r>
              <a:rPr sz="2400" b="1" spc="-50" dirty="0">
                <a:latin typeface="Arial"/>
                <a:cs typeface="Arial"/>
              </a:rPr>
              <a:t> </a:t>
            </a:r>
            <a:r>
              <a:rPr sz="2400" b="1" dirty="0">
                <a:latin typeface="Arial"/>
                <a:cs typeface="Arial"/>
              </a:rPr>
              <a:t>la</a:t>
            </a:r>
            <a:r>
              <a:rPr sz="2400" b="1" spc="-45" dirty="0">
                <a:latin typeface="Arial"/>
                <a:cs typeface="Arial"/>
              </a:rPr>
              <a:t> </a:t>
            </a:r>
            <a:r>
              <a:rPr sz="2400" b="1" spc="-10" dirty="0">
                <a:latin typeface="Arial"/>
                <a:cs typeface="Arial"/>
              </a:rPr>
              <a:t>clave </a:t>
            </a:r>
            <a:r>
              <a:rPr sz="2400" b="1" dirty="0">
                <a:latin typeface="Arial"/>
                <a:cs typeface="Arial"/>
              </a:rPr>
              <a:t>primaria</a:t>
            </a:r>
            <a:r>
              <a:rPr sz="2400" b="1" spc="-50" dirty="0">
                <a:latin typeface="Arial"/>
                <a:cs typeface="Arial"/>
              </a:rPr>
              <a:t> </a:t>
            </a:r>
            <a:r>
              <a:rPr sz="2400" dirty="0">
                <a:latin typeface="Arial MT"/>
                <a:cs typeface="Arial MT"/>
              </a:rPr>
              <a:t>de</a:t>
            </a:r>
            <a:r>
              <a:rPr sz="2400" spc="-45" dirty="0">
                <a:latin typeface="Arial MT"/>
                <a:cs typeface="Arial MT"/>
              </a:rPr>
              <a:t> </a:t>
            </a:r>
            <a:r>
              <a:rPr sz="2400" dirty="0">
                <a:latin typeface="Arial MT"/>
                <a:cs typeface="Arial MT"/>
              </a:rPr>
              <a:t>la</a:t>
            </a:r>
            <a:r>
              <a:rPr sz="2400" spc="-50" dirty="0">
                <a:latin typeface="Arial MT"/>
                <a:cs typeface="Arial MT"/>
              </a:rPr>
              <a:t> </a:t>
            </a:r>
            <a:r>
              <a:rPr sz="2400" b="1" dirty="0">
                <a:latin typeface="Arial"/>
                <a:cs typeface="Arial"/>
              </a:rPr>
              <a:t>entidad</a:t>
            </a:r>
            <a:r>
              <a:rPr sz="2400" b="1" spc="-45" dirty="0">
                <a:latin typeface="Arial"/>
                <a:cs typeface="Arial"/>
              </a:rPr>
              <a:t> </a:t>
            </a:r>
            <a:r>
              <a:rPr sz="2400" b="1" dirty="0">
                <a:latin typeface="Arial"/>
                <a:cs typeface="Arial"/>
              </a:rPr>
              <a:t>fuerte</a:t>
            </a:r>
            <a:r>
              <a:rPr sz="2400" b="1" spc="-50" dirty="0">
                <a:latin typeface="Arial"/>
                <a:cs typeface="Arial"/>
              </a:rPr>
              <a:t> </a:t>
            </a:r>
            <a:r>
              <a:rPr sz="2400" dirty="0">
                <a:latin typeface="Arial MT"/>
                <a:cs typeface="Arial MT"/>
              </a:rPr>
              <a:t>de</a:t>
            </a:r>
            <a:r>
              <a:rPr sz="2400" spc="-60" dirty="0">
                <a:latin typeface="Arial MT"/>
                <a:cs typeface="Arial MT"/>
              </a:rPr>
              <a:t> </a:t>
            </a:r>
            <a:r>
              <a:rPr sz="2400" dirty="0">
                <a:latin typeface="Arial MT"/>
                <a:cs typeface="Arial MT"/>
              </a:rPr>
              <a:t>la</a:t>
            </a:r>
            <a:r>
              <a:rPr sz="2400" spc="-45" dirty="0">
                <a:latin typeface="Arial MT"/>
                <a:cs typeface="Arial MT"/>
              </a:rPr>
              <a:t> </a:t>
            </a:r>
            <a:r>
              <a:rPr sz="2400" dirty="0">
                <a:latin typeface="Arial MT"/>
                <a:cs typeface="Arial MT"/>
              </a:rPr>
              <a:t>cual</a:t>
            </a:r>
            <a:r>
              <a:rPr sz="2400" spc="-55" dirty="0">
                <a:latin typeface="Arial MT"/>
                <a:cs typeface="Arial MT"/>
              </a:rPr>
              <a:t> </a:t>
            </a:r>
            <a:r>
              <a:rPr sz="2400" spc="-10" dirty="0">
                <a:latin typeface="Arial MT"/>
                <a:cs typeface="Arial MT"/>
              </a:rPr>
              <a:t>depende.</a:t>
            </a:r>
            <a:endParaRPr sz="2400" dirty="0">
              <a:latin typeface="Arial MT"/>
              <a:cs typeface="Arial MT"/>
            </a:endParaRPr>
          </a:p>
          <a:p>
            <a:pPr>
              <a:lnSpc>
                <a:spcPct val="100000"/>
              </a:lnSpc>
              <a:spcBef>
                <a:spcPts val="1170"/>
              </a:spcBef>
            </a:pPr>
            <a:endParaRPr sz="2400" dirty="0">
              <a:latin typeface="Arial MT"/>
              <a:cs typeface="Arial MT"/>
            </a:endParaRPr>
          </a:p>
          <a:p>
            <a:pPr marL="125095" marR="5080" algn="ctr">
              <a:lnSpc>
                <a:spcPct val="120400"/>
              </a:lnSpc>
            </a:pPr>
            <a:r>
              <a:rPr sz="2800" dirty="0">
                <a:latin typeface="Arial MT"/>
                <a:cs typeface="Arial MT"/>
              </a:rPr>
              <a:t>Por</a:t>
            </a:r>
            <a:r>
              <a:rPr sz="2800" spc="-40" dirty="0">
                <a:latin typeface="Arial MT"/>
                <a:cs typeface="Arial MT"/>
              </a:rPr>
              <a:t> </a:t>
            </a:r>
            <a:r>
              <a:rPr sz="2800" dirty="0">
                <a:latin typeface="Arial MT"/>
                <a:cs typeface="Arial MT"/>
              </a:rPr>
              <a:t>esto,</a:t>
            </a:r>
            <a:r>
              <a:rPr sz="2800" spc="675" dirty="0">
                <a:latin typeface="Arial MT"/>
                <a:cs typeface="Arial MT"/>
              </a:rPr>
              <a:t> </a:t>
            </a:r>
            <a:r>
              <a:rPr sz="2800" dirty="0">
                <a:latin typeface="Arial MT"/>
                <a:cs typeface="Arial MT"/>
              </a:rPr>
              <a:t>la</a:t>
            </a:r>
            <a:r>
              <a:rPr sz="2800" spc="-35" dirty="0">
                <a:latin typeface="Arial MT"/>
                <a:cs typeface="Arial MT"/>
              </a:rPr>
              <a:t> </a:t>
            </a:r>
            <a:r>
              <a:rPr sz="2800" dirty="0">
                <a:latin typeface="Arial MT"/>
                <a:cs typeface="Arial MT"/>
              </a:rPr>
              <a:t>tabla</a:t>
            </a:r>
            <a:r>
              <a:rPr sz="2800" spc="-40" dirty="0">
                <a:latin typeface="Arial MT"/>
                <a:cs typeface="Arial MT"/>
              </a:rPr>
              <a:t> </a:t>
            </a:r>
            <a:r>
              <a:rPr sz="2800" dirty="0">
                <a:latin typeface="Arial MT"/>
                <a:cs typeface="Arial MT"/>
              </a:rPr>
              <a:t>de</a:t>
            </a:r>
            <a:r>
              <a:rPr sz="2800" spc="-40" dirty="0">
                <a:latin typeface="Arial MT"/>
                <a:cs typeface="Arial MT"/>
              </a:rPr>
              <a:t> </a:t>
            </a:r>
            <a:r>
              <a:rPr sz="2800" dirty="0">
                <a:latin typeface="Arial MT"/>
                <a:cs typeface="Arial MT"/>
              </a:rPr>
              <a:t>la</a:t>
            </a:r>
            <a:r>
              <a:rPr sz="2800" spc="-40" dirty="0">
                <a:latin typeface="Arial MT"/>
                <a:cs typeface="Arial MT"/>
              </a:rPr>
              <a:t> </a:t>
            </a:r>
            <a:r>
              <a:rPr sz="2800" dirty="0">
                <a:latin typeface="Arial MT"/>
                <a:cs typeface="Arial MT"/>
              </a:rPr>
              <a:t>relación</a:t>
            </a:r>
            <a:r>
              <a:rPr sz="2800" spc="-40" dirty="0">
                <a:latin typeface="Arial MT"/>
                <a:cs typeface="Arial MT"/>
              </a:rPr>
              <a:t> </a:t>
            </a:r>
            <a:r>
              <a:rPr sz="2800" dirty="0">
                <a:latin typeface="Arial MT"/>
                <a:cs typeface="Arial MT"/>
              </a:rPr>
              <a:t>resulta</a:t>
            </a:r>
            <a:r>
              <a:rPr sz="2800" spc="-40" dirty="0">
                <a:latin typeface="Arial MT"/>
                <a:cs typeface="Arial MT"/>
              </a:rPr>
              <a:t> </a:t>
            </a:r>
            <a:r>
              <a:rPr sz="2800" b="1" dirty="0">
                <a:latin typeface="Arial"/>
                <a:cs typeface="Arial"/>
              </a:rPr>
              <a:t>una</a:t>
            </a:r>
            <a:r>
              <a:rPr sz="2800" b="1" spc="-40" dirty="0">
                <a:latin typeface="Arial"/>
                <a:cs typeface="Arial"/>
              </a:rPr>
              <a:t> </a:t>
            </a:r>
            <a:r>
              <a:rPr sz="2800" b="1" spc="-10" dirty="0">
                <a:latin typeface="Arial"/>
                <a:cs typeface="Arial"/>
              </a:rPr>
              <a:t>tabla </a:t>
            </a:r>
            <a:r>
              <a:rPr sz="2800" b="1" dirty="0">
                <a:latin typeface="Arial"/>
                <a:cs typeface="Arial"/>
              </a:rPr>
              <a:t>redundante</a:t>
            </a:r>
            <a:r>
              <a:rPr sz="2800" b="1" spc="-70" dirty="0">
                <a:latin typeface="Arial"/>
                <a:cs typeface="Arial"/>
              </a:rPr>
              <a:t> </a:t>
            </a:r>
            <a:r>
              <a:rPr sz="2800" dirty="0">
                <a:latin typeface="Arial MT"/>
                <a:cs typeface="Arial MT"/>
              </a:rPr>
              <a:t>y</a:t>
            </a:r>
            <a:r>
              <a:rPr sz="2800" spc="-65" dirty="0">
                <a:latin typeface="Arial MT"/>
                <a:cs typeface="Arial MT"/>
              </a:rPr>
              <a:t> </a:t>
            </a:r>
            <a:r>
              <a:rPr sz="2800" dirty="0">
                <a:latin typeface="Arial MT"/>
                <a:cs typeface="Arial MT"/>
              </a:rPr>
              <a:t>no</a:t>
            </a:r>
            <a:r>
              <a:rPr sz="2800" spc="-65" dirty="0">
                <a:latin typeface="Arial MT"/>
                <a:cs typeface="Arial MT"/>
              </a:rPr>
              <a:t> </a:t>
            </a:r>
            <a:r>
              <a:rPr sz="2800" dirty="0">
                <a:latin typeface="Arial MT"/>
                <a:cs typeface="Arial MT"/>
              </a:rPr>
              <a:t>necesita</a:t>
            </a:r>
            <a:r>
              <a:rPr sz="2800" spc="-75" dirty="0">
                <a:latin typeface="Arial MT"/>
                <a:cs typeface="Arial MT"/>
              </a:rPr>
              <a:t> </a:t>
            </a:r>
            <a:r>
              <a:rPr sz="2800" spc="-10" dirty="0">
                <a:latin typeface="Arial MT"/>
                <a:cs typeface="Arial MT"/>
              </a:rPr>
              <a:t>presentarse.</a:t>
            </a:r>
            <a:endParaRPr sz="2800" dirty="0">
              <a:latin typeface="Arial MT"/>
              <a:cs typeface="Arial MT"/>
            </a:endParaRPr>
          </a:p>
        </p:txBody>
      </p:sp>
      <p:sp>
        <p:nvSpPr>
          <p:cNvPr id="3" name="object 3" descr="$PPTXTitle"/>
          <p:cNvSpPr txBox="1">
            <a:spLocks noGrp="1"/>
          </p:cNvSpPr>
          <p:nvPr>
            <p:ph type="title"/>
          </p:nvPr>
        </p:nvSpPr>
        <p:spPr>
          <a:xfrm>
            <a:off x="1079500" y="687677"/>
            <a:ext cx="8901007" cy="1180450"/>
          </a:xfrm>
          <a:prstGeom prst="rect">
            <a:avLst/>
          </a:prstGeom>
        </p:spPr>
        <p:txBody>
          <a:bodyPr vert="horz" wrap="square" lIns="0" tIns="71754" rIns="0" bIns="0" rtlCol="0">
            <a:spAutoFit/>
          </a:bodyPr>
          <a:lstStyle/>
          <a:p>
            <a:pPr marL="1315085" marR="5080" indent="-889000">
              <a:lnSpc>
                <a:spcPct val="100299"/>
              </a:lnSpc>
              <a:spcBef>
                <a:spcPts val="85"/>
              </a:spcBef>
            </a:pPr>
            <a:r>
              <a:rPr sz="3600" dirty="0"/>
              <a:t>Representación</a:t>
            </a:r>
            <a:r>
              <a:rPr sz="3600" spc="-45" dirty="0"/>
              <a:t> </a:t>
            </a:r>
            <a:r>
              <a:rPr sz="3600" dirty="0"/>
              <a:t>de</a:t>
            </a:r>
            <a:r>
              <a:rPr sz="3600" spc="-45" dirty="0"/>
              <a:t> </a:t>
            </a:r>
            <a:r>
              <a:rPr sz="3600" dirty="0"/>
              <a:t>relaciones</a:t>
            </a:r>
            <a:r>
              <a:rPr sz="3600" spc="-45" dirty="0"/>
              <a:t> </a:t>
            </a:r>
            <a:r>
              <a:rPr sz="3600" spc="-10" dirty="0"/>
              <a:t>entre </a:t>
            </a:r>
            <a:r>
              <a:rPr sz="3600" dirty="0"/>
              <a:t>entidades</a:t>
            </a:r>
            <a:r>
              <a:rPr sz="3600" spc="-35" dirty="0"/>
              <a:t> </a:t>
            </a:r>
            <a:r>
              <a:rPr sz="3600" dirty="0"/>
              <a:t>fuertes</a:t>
            </a:r>
            <a:r>
              <a:rPr sz="3600" spc="-35" dirty="0"/>
              <a:t> </a:t>
            </a:r>
            <a:r>
              <a:rPr sz="3600" dirty="0"/>
              <a:t>y</a:t>
            </a:r>
            <a:r>
              <a:rPr sz="3600" spc="-35" dirty="0"/>
              <a:t> </a:t>
            </a:r>
            <a:r>
              <a:rPr sz="3600" spc="-10" dirty="0"/>
              <a:t>débiles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536700" y="863599"/>
            <a:ext cx="6019800" cy="627736"/>
          </a:xfrm>
          <a:prstGeom prst="rect">
            <a:avLst/>
          </a:prstGeom>
        </p:spPr>
        <p:txBody>
          <a:bodyPr vert="horz" wrap="square" lIns="0" tIns="12065" rIns="0" bIns="0" rtlCol="0">
            <a:spAutoFit/>
          </a:bodyPr>
          <a:lstStyle/>
          <a:p>
            <a:pPr marL="12700">
              <a:lnSpc>
                <a:spcPct val="100000"/>
              </a:lnSpc>
              <a:spcBef>
                <a:spcPts val="95"/>
              </a:spcBef>
            </a:pPr>
            <a:r>
              <a:rPr sz="4000" dirty="0" err="1"/>
              <a:t>Tabla</a:t>
            </a:r>
            <a:r>
              <a:rPr sz="4000" spc="-80" dirty="0"/>
              <a:t> </a:t>
            </a:r>
            <a:r>
              <a:rPr lang="es-ES" sz="4000" spc="-80" dirty="0" smtClean="0"/>
              <a:t>Registro (</a:t>
            </a:r>
            <a:r>
              <a:rPr sz="4000" spc="-10" dirty="0" err="1" smtClean="0">
                <a:latin typeface="Arial"/>
                <a:cs typeface="Arial"/>
              </a:rPr>
              <a:t>bitácora</a:t>
            </a:r>
            <a:r>
              <a:rPr lang="es-ES" sz="4000" spc="-10" dirty="0" smtClean="0">
                <a:latin typeface="Arial"/>
                <a:cs typeface="Arial"/>
              </a:rPr>
              <a:t>)</a:t>
            </a:r>
            <a:endParaRPr sz="4000" dirty="0">
              <a:latin typeface="Arial"/>
              <a:cs typeface="Arial"/>
            </a:endParaRPr>
          </a:p>
        </p:txBody>
      </p:sp>
      <p:sp>
        <p:nvSpPr>
          <p:cNvPr id="3" name="object 3"/>
          <p:cNvSpPr txBox="1"/>
          <p:nvPr/>
        </p:nvSpPr>
        <p:spPr>
          <a:xfrm>
            <a:off x="1067696" y="1742947"/>
            <a:ext cx="8522970" cy="5647055"/>
          </a:xfrm>
          <a:prstGeom prst="rect">
            <a:avLst/>
          </a:prstGeom>
        </p:spPr>
        <p:txBody>
          <a:bodyPr vert="horz" wrap="square" lIns="0" tIns="12700" rIns="0" bIns="0" rtlCol="0">
            <a:spAutoFit/>
          </a:bodyPr>
          <a:lstStyle/>
          <a:p>
            <a:pPr marL="354965" indent="-342265">
              <a:lnSpc>
                <a:spcPct val="100000"/>
              </a:lnSpc>
              <a:spcBef>
                <a:spcPts val="100"/>
              </a:spcBef>
              <a:buFont typeface="Arial MT"/>
              <a:buChar char="•"/>
              <a:tabLst>
                <a:tab pos="354965" algn="l"/>
              </a:tabLst>
            </a:pPr>
            <a:r>
              <a:rPr sz="2400" b="1" dirty="0">
                <a:latin typeface="Arial"/>
                <a:cs typeface="Arial"/>
              </a:rPr>
              <a:t>Cuenta</a:t>
            </a:r>
            <a:r>
              <a:rPr sz="2400" b="1" spc="-55" dirty="0">
                <a:latin typeface="Arial"/>
                <a:cs typeface="Arial"/>
              </a:rPr>
              <a:t> </a:t>
            </a:r>
            <a:r>
              <a:rPr sz="2400" dirty="0">
                <a:latin typeface="Arial MT"/>
                <a:cs typeface="Arial MT"/>
              </a:rPr>
              <a:t>es</a:t>
            </a:r>
            <a:r>
              <a:rPr sz="2400" spc="-50" dirty="0">
                <a:latin typeface="Arial MT"/>
                <a:cs typeface="Arial MT"/>
              </a:rPr>
              <a:t> </a:t>
            </a:r>
            <a:r>
              <a:rPr sz="2400" dirty="0">
                <a:latin typeface="Arial MT"/>
                <a:cs typeface="Arial MT"/>
              </a:rPr>
              <a:t>entidad</a:t>
            </a:r>
            <a:r>
              <a:rPr sz="2400" spc="-55" dirty="0">
                <a:latin typeface="Arial MT"/>
                <a:cs typeface="Arial MT"/>
              </a:rPr>
              <a:t> </a:t>
            </a:r>
            <a:r>
              <a:rPr sz="2400" b="1" dirty="0">
                <a:latin typeface="Arial"/>
                <a:cs typeface="Arial"/>
              </a:rPr>
              <a:t>fuerte</a:t>
            </a:r>
            <a:r>
              <a:rPr sz="2400" b="1" spc="-50" dirty="0">
                <a:latin typeface="Arial"/>
                <a:cs typeface="Arial"/>
              </a:rPr>
              <a:t> </a:t>
            </a:r>
            <a:r>
              <a:rPr sz="2400" dirty="0">
                <a:latin typeface="Arial MT"/>
                <a:cs typeface="Arial MT"/>
              </a:rPr>
              <a:t>con</a:t>
            </a:r>
            <a:r>
              <a:rPr sz="2400" spc="-55" dirty="0">
                <a:latin typeface="Arial MT"/>
                <a:cs typeface="Arial MT"/>
              </a:rPr>
              <a:t> </a:t>
            </a:r>
            <a:r>
              <a:rPr sz="2400" dirty="0">
                <a:latin typeface="Arial MT"/>
                <a:cs typeface="Arial MT"/>
              </a:rPr>
              <a:t>clave</a:t>
            </a:r>
            <a:r>
              <a:rPr sz="2400" spc="-50" dirty="0">
                <a:latin typeface="Arial MT"/>
                <a:cs typeface="Arial MT"/>
              </a:rPr>
              <a:t> </a:t>
            </a:r>
            <a:r>
              <a:rPr sz="2400" dirty="0">
                <a:latin typeface="Arial MT"/>
                <a:cs typeface="Arial MT"/>
              </a:rPr>
              <a:t>primaria</a:t>
            </a:r>
            <a:r>
              <a:rPr sz="2400" spc="-45" dirty="0">
                <a:latin typeface="Arial MT"/>
                <a:cs typeface="Arial MT"/>
              </a:rPr>
              <a:t> </a:t>
            </a:r>
            <a:r>
              <a:rPr sz="2400" u="sng" spc="-20" dirty="0">
                <a:uFill>
                  <a:solidFill>
                    <a:srgbClr val="000000"/>
                  </a:solidFill>
                </a:uFill>
                <a:latin typeface="Arial MT"/>
                <a:cs typeface="Arial MT"/>
              </a:rPr>
              <a:t>número-</a:t>
            </a:r>
            <a:r>
              <a:rPr sz="2400" u="sng" spc="-10" dirty="0">
                <a:uFill>
                  <a:solidFill>
                    <a:srgbClr val="000000"/>
                  </a:solidFill>
                </a:uFill>
                <a:latin typeface="Arial MT"/>
                <a:cs typeface="Arial MT"/>
              </a:rPr>
              <a:t>cuenta</a:t>
            </a:r>
            <a:endParaRPr sz="2400">
              <a:latin typeface="Arial MT"/>
              <a:cs typeface="Arial MT"/>
            </a:endParaRPr>
          </a:p>
          <a:p>
            <a:pPr marL="354965" indent="-342265">
              <a:lnSpc>
                <a:spcPct val="100000"/>
              </a:lnSpc>
              <a:buFont typeface="Arial MT"/>
              <a:buChar char="•"/>
              <a:tabLst>
                <a:tab pos="354965" algn="l"/>
              </a:tabLst>
            </a:pPr>
            <a:r>
              <a:rPr sz="2400" b="1" dirty="0">
                <a:latin typeface="Arial"/>
                <a:cs typeface="Arial"/>
              </a:rPr>
              <a:t>Transacción</a:t>
            </a:r>
            <a:r>
              <a:rPr sz="2400" b="1" spc="-65" dirty="0">
                <a:latin typeface="Arial"/>
                <a:cs typeface="Arial"/>
              </a:rPr>
              <a:t> </a:t>
            </a:r>
            <a:r>
              <a:rPr sz="2400" dirty="0">
                <a:latin typeface="Arial MT"/>
                <a:cs typeface="Arial MT"/>
              </a:rPr>
              <a:t>es</a:t>
            </a:r>
            <a:r>
              <a:rPr sz="2400" spc="-60" dirty="0">
                <a:latin typeface="Arial MT"/>
                <a:cs typeface="Arial MT"/>
              </a:rPr>
              <a:t> </a:t>
            </a:r>
            <a:r>
              <a:rPr sz="2400" dirty="0">
                <a:latin typeface="Arial MT"/>
                <a:cs typeface="Arial MT"/>
              </a:rPr>
              <a:t>entidad</a:t>
            </a:r>
            <a:r>
              <a:rPr sz="2400" spc="-60" dirty="0">
                <a:latin typeface="Arial MT"/>
                <a:cs typeface="Arial MT"/>
              </a:rPr>
              <a:t> </a:t>
            </a:r>
            <a:r>
              <a:rPr sz="2400" b="1" dirty="0">
                <a:latin typeface="Arial"/>
                <a:cs typeface="Arial"/>
              </a:rPr>
              <a:t>débil</a:t>
            </a:r>
            <a:r>
              <a:rPr sz="2400" b="1" spc="-65" dirty="0">
                <a:latin typeface="Arial"/>
                <a:cs typeface="Arial"/>
              </a:rPr>
              <a:t> </a:t>
            </a:r>
            <a:r>
              <a:rPr sz="2400" dirty="0">
                <a:latin typeface="Arial MT"/>
                <a:cs typeface="Arial MT"/>
              </a:rPr>
              <a:t>con</a:t>
            </a:r>
            <a:r>
              <a:rPr sz="2400" spc="-60" dirty="0">
                <a:latin typeface="Arial MT"/>
                <a:cs typeface="Arial MT"/>
              </a:rPr>
              <a:t> </a:t>
            </a:r>
            <a:r>
              <a:rPr sz="2400" dirty="0">
                <a:latin typeface="Arial MT"/>
                <a:cs typeface="Arial MT"/>
              </a:rPr>
              <a:t>clave</a:t>
            </a:r>
            <a:r>
              <a:rPr sz="2400" spc="-60" dirty="0">
                <a:latin typeface="Arial MT"/>
                <a:cs typeface="Arial MT"/>
              </a:rPr>
              <a:t> </a:t>
            </a:r>
            <a:r>
              <a:rPr sz="2400" spc="-10" dirty="0">
                <a:latin typeface="Arial MT"/>
                <a:cs typeface="Arial MT"/>
              </a:rPr>
              <a:t>primaria</a:t>
            </a:r>
            <a:endParaRPr sz="2400">
              <a:latin typeface="Arial MT"/>
              <a:cs typeface="Arial MT"/>
            </a:endParaRPr>
          </a:p>
          <a:p>
            <a:pPr marL="1754505">
              <a:lnSpc>
                <a:spcPct val="100000"/>
              </a:lnSpc>
            </a:pPr>
            <a:r>
              <a:rPr sz="2400" u="sng" spc="-20" dirty="0">
                <a:uFill>
                  <a:solidFill>
                    <a:srgbClr val="000000"/>
                  </a:solidFill>
                </a:uFill>
                <a:latin typeface="Arial MT"/>
                <a:cs typeface="Arial MT"/>
              </a:rPr>
              <a:t>{número-</a:t>
            </a:r>
            <a:r>
              <a:rPr sz="2400" u="sng" dirty="0">
                <a:uFill>
                  <a:solidFill>
                    <a:srgbClr val="000000"/>
                  </a:solidFill>
                </a:uFill>
                <a:latin typeface="Arial MT"/>
                <a:cs typeface="Arial MT"/>
              </a:rPr>
              <a:t>cuenta,</a:t>
            </a:r>
            <a:r>
              <a:rPr sz="2400" u="sng" spc="45" dirty="0">
                <a:uFill>
                  <a:solidFill>
                    <a:srgbClr val="000000"/>
                  </a:solidFill>
                </a:uFill>
                <a:latin typeface="Arial MT"/>
                <a:cs typeface="Arial MT"/>
              </a:rPr>
              <a:t> </a:t>
            </a:r>
            <a:r>
              <a:rPr sz="2400" u="sng" spc="-20" dirty="0">
                <a:uFill>
                  <a:solidFill>
                    <a:srgbClr val="000000"/>
                  </a:solidFill>
                </a:uFill>
                <a:latin typeface="Arial MT"/>
                <a:cs typeface="Arial MT"/>
              </a:rPr>
              <a:t>número-</a:t>
            </a:r>
            <a:r>
              <a:rPr sz="2400" u="sng" spc="-10" dirty="0">
                <a:uFill>
                  <a:solidFill>
                    <a:srgbClr val="000000"/>
                  </a:solidFill>
                </a:uFill>
                <a:latin typeface="Arial MT"/>
                <a:cs typeface="Arial MT"/>
              </a:rPr>
              <a:t>transacción}</a:t>
            </a:r>
            <a:endParaRPr sz="2400">
              <a:latin typeface="Arial MT"/>
              <a:cs typeface="Arial MT"/>
            </a:endParaRPr>
          </a:p>
          <a:p>
            <a:pPr>
              <a:lnSpc>
                <a:spcPct val="100000"/>
              </a:lnSpc>
              <a:spcBef>
                <a:spcPts val="595"/>
              </a:spcBef>
            </a:pPr>
            <a:endParaRPr sz="2400">
              <a:latin typeface="Arial MT"/>
              <a:cs typeface="Arial MT"/>
            </a:endParaRPr>
          </a:p>
          <a:p>
            <a:pPr marL="104139" algn="ctr">
              <a:lnSpc>
                <a:spcPct val="100000"/>
              </a:lnSpc>
            </a:pPr>
            <a:r>
              <a:rPr sz="2800" dirty="0">
                <a:latin typeface="Arial MT"/>
                <a:cs typeface="Arial MT"/>
              </a:rPr>
              <a:t>Como</a:t>
            </a:r>
            <a:r>
              <a:rPr sz="2800" spc="-60" dirty="0">
                <a:latin typeface="Arial MT"/>
                <a:cs typeface="Arial MT"/>
              </a:rPr>
              <a:t> </a:t>
            </a:r>
            <a:r>
              <a:rPr sz="2800" dirty="0">
                <a:latin typeface="Arial MT"/>
                <a:cs typeface="Arial MT"/>
              </a:rPr>
              <a:t>la</a:t>
            </a:r>
            <a:r>
              <a:rPr sz="2800" spc="-55" dirty="0">
                <a:latin typeface="Arial MT"/>
                <a:cs typeface="Arial MT"/>
              </a:rPr>
              <a:t> </a:t>
            </a:r>
            <a:r>
              <a:rPr sz="2800" dirty="0">
                <a:latin typeface="Arial MT"/>
                <a:cs typeface="Arial MT"/>
              </a:rPr>
              <a:t>relación</a:t>
            </a:r>
            <a:r>
              <a:rPr sz="2800" spc="-60" dirty="0">
                <a:latin typeface="Arial MT"/>
                <a:cs typeface="Arial MT"/>
              </a:rPr>
              <a:t> </a:t>
            </a:r>
            <a:r>
              <a:rPr sz="2800" b="1" dirty="0">
                <a:latin typeface="Arial"/>
                <a:cs typeface="Arial"/>
              </a:rPr>
              <a:t>no</a:t>
            </a:r>
            <a:r>
              <a:rPr sz="2800" b="1" spc="-70" dirty="0">
                <a:latin typeface="Arial"/>
                <a:cs typeface="Arial"/>
              </a:rPr>
              <a:t> </a:t>
            </a:r>
            <a:r>
              <a:rPr sz="2800" b="1" dirty="0">
                <a:latin typeface="Arial"/>
                <a:cs typeface="Arial"/>
              </a:rPr>
              <a:t>tiene</a:t>
            </a:r>
            <a:r>
              <a:rPr sz="2800" b="1" spc="-55" dirty="0">
                <a:latin typeface="Arial"/>
                <a:cs typeface="Arial"/>
              </a:rPr>
              <a:t> </a:t>
            </a:r>
            <a:r>
              <a:rPr sz="2800" b="1" dirty="0">
                <a:latin typeface="Arial"/>
                <a:cs typeface="Arial"/>
              </a:rPr>
              <a:t>atributos</a:t>
            </a:r>
            <a:r>
              <a:rPr sz="2800" b="1" spc="-55" dirty="0">
                <a:latin typeface="Arial"/>
                <a:cs typeface="Arial"/>
              </a:rPr>
              <a:t> </a:t>
            </a:r>
            <a:r>
              <a:rPr sz="2800" b="1" spc="-10" dirty="0">
                <a:latin typeface="Arial"/>
                <a:cs typeface="Arial"/>
              </a:rPr>
              <a:t>descriptivos</a:t>
            </a:r>
            <a:endParaRPr sz="2800">
              <a:latin typeface="Arial"/>
              <a:cs typeface="Arial"/>
            </a:endParaRPr>
          </a:p>
          <a:p>
            <a:pPr marL="103505" algn="ctr">
              <a:lnSpc>
                <a:spcPct val="100000"/>
              </a:lnSpc>
            </a:pPr>
            <a:r>
              <a:rPr sz="2800" dirty="0">
                <a:latin typeface="Arial MT"/>
                <a:cs typeface="Arial MT"/>
              </a:rPr>
              <a:t>la</a:t>
            </a:r>
            <a:r>
              <a:rPr sz="2800" spc="-50" dirty="0">
                <a:latin typeface="Arial MT"/>
                <a:cs typeface="Arial MT"/>
              </a:rPr>
              <a:t> </a:t>
            </a:r>
            <a:r>
              <a:rPr sz="2800" b="1" dirty="0">
                <a:latin typeface="Arial"/>
                <a:cs typeface="Arial"/>
              </a:rPr>
              <a:t>tabla</a:t>
            </a:r>
            <a:r>
              <a:rPr sz="2800" b="1" spc="-50" dirty="0">
                <a:latin typeface="Arial"/>
                <a:cs typeface="Arial"/>
              </a:rPr>
              <a:t> </a:t>
            </a:r>
            <a:r>
              <a:rPr sz="2800" b="1" dirty="0">
                <a:latin typeface="Arial"/>
                <a:cs typeface="Arial"/>
              </a:rPr>
              <a:t>bitácora</a:t>
            </a:r>
            <a:r>
              <a:rPr sz="2800" b="1" spc="-50" dirty="0">
                <a:latin typeface="Arial"/>
                <a:cs typeface="Arial"/>
              </a:rPr>
              <a:t> </a:t>
            </a:r>
            <a:r>
              <a:rPr sz="2800" dirty="0">
                <a:latin typeface="Arial MT"/>
                <a:cs typeface="Arial MT"/>
              </a:rPr>
              <a:t>tendrá</a:t>
            </a:r>
            <a:r>
              <a:rPr sz="2800" spc="-50" dirty="0">
                <a:latin typeface="Arial MT"/>
                <a:cs typeface="Arial MT"/>
              </a:rPr>
              <a:t> </a:t>
            </a:r>
            <a:r>
              <a:rPr sz="2800" dirty="0">
                <a:latin typeface="Arial MT"/>
                <a:cs typeface="Arial MT"/>
              </a:rPr>
              <a:t>2</a:t>
            </a:r>
            <a:r>
              <a:rPr sz="2800" spc="-50" dirty="0">
                <a:latin typeface="Arial MT"/>
                <a:cs typeface="Arial MT"/>
              </a:rPr>
              <a:t> </a:t>
            </a:r>
            <a:r>
              <a:rPr sz="2800" spc="-10" dirty="0">
                <a:latin typeface="Arial MT"/>
                <a:cs typeface="Arial MT"/>
              </a:rPr>
              <a:t>columnas:</a:t>
            </a:r>
            <a:endParaRPr sz="2800">
              <a:latin typeface="Arial MT"/>
              <a:cs typeface="Arial MT"/>
            </a:endParaRPr>
          </a:p>
          <a:p>
            <a:pPr marL="104775" algn="ctr">
              <a:lnSpc>
                <a:spcPct val="100000"/>
              </a:lnSpc>
            </a:pPr>
            <a:r>
              <a:rPr sz="2800" b="1" spc="-25" dirty="0">
                <a:solidFill>
                  <a:srgbClr val="006FC0"/>
                </a:solidFill>
                <a:latin typeface="Arial"/>
                <a:cs typeface="Arial"/>
              </a:rPr>
              <a:t>número-</a:t>
            </a:r>
            <a:r>
              <a:rPr sz="2800" b="1" dirty="0">
                <a:solidFill>
                  <a:srgbClr val="006FC0"/>
                </a:solidFill>
                <a:latin typeface="Arial"/>
                <a:cs typeface="Arial"/>
              </a:rPr>
              <a:t>cuenta,</a:t>
            </a:r>
            <a:r>
              <a:rPr sz="2800" b="1" spc="30" dirty="0">
                <a:solidFill>
                  <a:srgbClr val="006FC0"/>
                </a:solidFill>
                <a:latin typeface="Arial"/>
                <a:cs typeface="Arial"/>
              </a:rPr>
              <a:t> </a:t>
            </a:r>
            <a:r>
              <a:rPr sz="2800" b="1" spc="-25" dirty="0">
                <a:solidFill>
                  <a:srgbClr val="006FC0"/>
                </a:solidFill>
                <a:latin typeface="Arial"/>
                <a:cs typeface="Arial"/>
              </a:rPr>
              <a:t>número-</a:t>
            </a:r>
            <a:r>
              <a:rPr sz="2800" b="1" spc="-10" dirty="0">
                <a:solidFill>
                  <a:srgbClr val="006FC0"/>
                </a:solidFill>
                <a:latin typeface="Arial"/>
                <a:cs typeface="Arial"/>
              </a:rPr>
              <a:t>transacción</a:t>
            </a:r>
            <a:r>
              <a:rPr sz="2800" spc="-10" dirty="0">
                <a:latin typeface="Arial MT"/>
                <a:cs typeface="Arial MT"/>
              </a:rPr>
              <a:t>.</a:t>
            </a:r>
            <a:endParaRPr sz="2800">
              <a:latin typeface="Arial MT"/>
              <a:cs typeface="Arial MT"/>
            </a:endParaRPr>
          </a:p>
          <a:p>
            <a:pPr>
              <a:lnSpc>
                <a:spcPct val="100000"/>
              </a:lnSpc>
              <a:spcBef>
                <a:spcPts val="150"/>
              </a:spcBef>
            </a:pPr>
            <a:endParaRPr sz="2800">
              <a:latin typeface="Arial MT"/>
              <a:cs typeface="Arial MT"/>
            </a:endParaRPr>
          </a:p>
          <a:p>
            <a:pPr marL="12700">
              <a:lnSpc>
                <a:spcPts val="3025"/>
              </a:lnSpc>
            </a:pPr>
            <a:r>
              <a:rPr sz="2800" dirty="0">
                <a:latin typeface="Arial MT"/>
                <a:cs typeface="Arial MT"/>
              </a:rPr>
              <a:t>Pero</a:t>
            </a:r>
            <a:r>
              <a:rPr sz="2800" spc="-55" dirty="0">
                <a:latin typeface="Arial MT"/>
                <a:cs typeface="Arial MT"/>
              </a:rPr>
              <a:t> </a:t>
            </a:r>
            <a:r>
              <a:rPr sz="2800" dirty="0">
                <a:latin typeface="Arial MT"/>
                <a:cs typeface="Arial MT"/>
              </a:rPr>
              <a:t>la</a:t>
            </a:r>
            <a:r>
              <a:rPr sz="2800" spc="-55" dirty="0">
                <a:latin typeface="Arial MT"/>
                <a:cs typeface="Arial MT"/>
              </a:rPr>
              <a:t> </a:t>
            </a:r>
            <a:r>
              <a:rPr sz="2800" b="1" dirty="0">
                <a:latin typeface="Arial"/>
                <a:cs typeface="Arial"/>
              </a:rPr>
              <a:t>tabla</a:t>
            </a:r>
            <a:r>
              <a:rPr sz="2800" b="1" spc="-55" dirty="0">
                <a:latin typeface="Arial"/>
                <a:cs typeface="Arial"/>
              </a:rPr>
              <a:t> </a:t>
            </a:r>
            <a:r>
              <a:rPr sz="2800" dirty="0">
                <a:latin typeface="Arial MT"/>
                <a:cs typeface="Arial MT"/>
              </a:rPr>
              <a:t>para</a:t>
            </a:r>
            <a:r>
              <a:rPr sz="2800" spc="-55" dirty="0">
                <a:latin typeface="Arial MT"/>
                <a:cs typeface="Arial MT"/>
              </a:rPr>
              <a:t> </a:t>
            </a:r>
            <a:r>
              <a:rPr sz="2800" dirty="0">
                <a:latin typeface="Arial MT"/>
                <a:cs typeface="Arial MT"/>
              </a:rPr>
              <a:t>la</a:t>
            </a:r>
            <a:r>
              <a:rPr sz="2800" spc="-50" dirty="0">
                <a:latin typeface="Arial MT"/>
                <a:cs typeface="Arial MT"/>
              </a:rPr>
              <a:t> </a:t>
            </a:r>
            <a:r>
              <a:rPr sz="2800" dirty="0">
                <a:latin typeface="Arial MT"/>
                <a:cs typeface="Arial MT"/>
              </a:rPr>
              <a:t>entidad</a:t>
            </a:r>
            <a:r>
              <a:rPr sz="2800" spc="-60" dirty="0">
                <a:latin typeface="Arial MT"/>
                <a:cs typeface="Arial MT"/>
              </a:rPr>
              <a:t> </a:t>
            </a:r>
            <a:r>
              <a:rPr sz="2800" b="1" dirty="0">
                <a:latin typeface="Arial"/>
                <a:cs typeface="Arial"/>
              </a:rPr>
              <a:t>transacción</a:t>
            </a:r>
            <a:r>
              <a:rPr sz="2800" b="1" spc="-65" dirty="0">
                <a:latin typeface="Arial"/>
                <a:cs typeface="Arial"/>
              </a:rPr>
              <a:t> </a:t>
            </a:r>
            <a:r>
              <a:rPr sz="2800" dirty="0">
                <a:latin typeface="Arial MT"/>
                <a:cs typeface="Arial MT"/>
              </a:rPr>
              <a:t>tiene</a:t>
            </a:r>
            <a:r>
              <a:rPr sz="2800" spc="-50" dirty="0">
                <a:latin typeface="Arial MT"/>
                <a:cs typeface="Arial MT"/>
              </a:rPr>
              <a:t> 4</a:t>
            </a:r>
            <a:endParaRPr sz="2800">
              <a:latin typeface="Arial MT"/>
              <a:cs typeface="Arial MT"/>
            </a:endParaRPr>
          </a:p>
          <a:p>
            <a:pPr marL="355600">
              <a:lnSpc>
                <a:spcPts val="3025"/>
              </a:lnSpc>
            </a:pPr>
            <a:r>
              <a:rPr sz="2800" b="1" spc="-10" dirty="0">
                <a:latin typeface="Arial"/>
                <a:cs typeface="Arial"/>
              </a:rPr>
              <a:t>columnas</a:t>
            </a:r>
            <a:r>
              <a:rPr sz="2800" spc="-10" dirty="0">
                <a:latin typeface="Arial MT"/>
                <a:cs typeface="Arial MT"/>
              </a:rPr>
              <a:t>:</a:t>
            </a:r>
            <a:endParaRPr sz="2800">
              <a:latin typeface="Arial MT"/>
              <a:cs typeface="Arial MT"/>
            </a:endParaRPr>
          </a:p>
          <a:p>
            <a:pPr marL="504825">
              <a:lnSpc>
                <a:spcPts val="3025"/>
              </a:lnSpc>
            </a:pPr>
            <a:r>
              <a:rPr sz="2800" b="1" spc="-25" dirty="0">
                <a:solidFill>
                  <a:srgbClr val="006FC0"/>
                </a:solidFill>
                <a:latin typeface="Arial"/>
                <a:cs typeface="Arial"/>
              </a:rPr>
              <a:t>número-</a:t>
            </a:r>
            <a:r>
              <a:rPr sz="2800" b="1" dirty="0">
                <a:solidFill>
                  <a:srgbClr val="006FC0"/>
                </a:solidFill>
                <a:latin typeface="Arial"/>
                <a:cs typeface="Arial"/>
              </a:rPr>
              <a:t>cuenta,</a:t>
            </a:r>
            <a:r>
              <a:rPr sz="2800" b="1" spc="-55" dirty="0">
                <a:solidFill>
                  <a:srgbClr val="006FC0"/>
                </a:solidFill>
                <a:latin typeface="Arial"/>
                <a:cs typeface="Arial"/>
              </a:rPr>
              <a:t> </a:t>
            </a:r>
            <a:r>
              <a:rPr sz="2800" b="1" spc="-25" dirty="0">
                <a:solidFill>
                  <a:srgbClr val="006FC0"/>
                </a:solidFill>
                <a:latin typeface="Arial"/>
                <a:cs typeface="Arial"/>
              </a:rPr>
              <a:t>número-</a:t>
            </a:r>
            <a:r>
              <a:rPr sz="2800" b="1" dirty="0">
                <a:solidFill>
                  <a:srgbClr val="006FC0"/>
                </a:solidFill>
                <a:latin typeface="Arial"/>
                <a:cs typeface="Arial"/>
              </a:rPr>
              <a:t>transacción</a:t>
            </a:r>
            <a:r>
              <a:rPr sz="2800" b="1" dirty="0">
                <a:latin typeface="Arial"/>
                <a:cs typeface="Arial"/>
              </a:rPr>
              <a:t>,</a:t>
            </a:r>
            <a:r>
              <a:rPr sz="2800" b="1" spc="-55" dirty="0">
                <a:latin typeface="Arial"/>
                <a:cs typeface="Arial"/>
              </a:rPr>
              <a:t> </a:t>
            </a:r>
            <a:r>
              <a:rPr sz="2800" b="1" dirty="0">
                <a:latin typeface="Arial"/>
                <a:cs typeface="Arial"/>
              </a:rPr>
              <a:t>fecha</a:t>
            </a:r>
            <a:r>
              <a:rPr sz="2800" b="1" spc="-45" dirty="0">
                <a:latin typeface="Arial"/>
                <a:cs typeface="Arial"/>
              </a:rPr>
              <a:t> </a:t>
            </a:r>
            <a:r>
              <a:rPr sz="2800" b="1" spc="-50" dirty="0">
                <a:latin typeface="Arial"/>
                <a:cs typeface="Arial"/>
              </a:rPr>
              <a:t>y</a:t>
            </a:r>
            <a:endParaRPr sz="2800">
              <a:latin typeface="Arial"/>
              <a:cs typeface="Arial"/>
            </a:endParaRPr>
          </a:p>
          <a:p>
            <a:pPr marL="3703320">
              <a:lnSpc>
                <a:spcPts val="3025"/>
              </a:lnSpc>
            </a:pPr>
            <a:r>
              <a:rPr sz="2800" b="1" spc="-10" dirty="0">
                <a:latin typeface="Arial"/>
                <a:cs typeface="Arial"/>
              </a:rPr>
              <a:t>cantidad</a:t>
            </a:r>
            <a:r>
              <a:rPr sz="2800" spc="-10" dirty="0">
                <a:latin typeface="Arial MT"/>
                <a:cs typeface="Arial MT"/>
              </a:rPr>
              <a:t>.</a:t>
            </a:r>
            <a:endParaRPr sz="2800">
              <a:latin typeface="Arial MT"/>
              <a:cs typeface="Arial MT"/>
            </a:endParaRPr>
          </a:p>
          <a:p>
            <a:pPr>
              <a:lnSpc>
                <a:spcPct val="100000"/>
              </a:lnSpc>
              <a:spcBef>
                <a:spcPts val="140"/>
              </a:spcBef>
            </a:pPr>
            <a:endParaRPr sz="2800">
              <a:latin typeface="Arial MT"/>
              <a:cs typeface="Arial MT"/>
            </a:endParaRPr>
          </a:p>
          <a:p>
            <a:pPr marL="353695" indent="-340995">
              <a:lnSpc>
                <a:spcPct val="100000"/>
              </a:lnSpc>
              <a:buChar char="•"/>
              <a:tabLst>
                <a:tab pos="353695" algn="l"/>
              </a:tabLst>
            </a:pPr>
            <a:r>
              <a:rPr sz="2800" dirty="0">
                <a:latin typeface="Arial MT"/>
                <a:cs typeface="Arial MT"/>
              </a:rPr>
              <a:t>Por</a:t>
            </a:r>
            <a:r>
              <a:rPr sz="2800" spc="-45" dirty="0">
                <a:latin typeface="Arial MT"/>
                <a:cs typeface="Arial MT"/>
              </a:rPr>
              <a:t> </a:t>
            </a:r>
            <a:r>
              <a:rPr sz="2800" dirty="0">
                <a:latin typeface="Arial MT"/>
                <a:cs typeface="Arial MT"/>
              </a:rPr>
              <a:t>lo</a:t>
            </a:r>
            <a:r>
              <a:rPr sz="2800" spc="-45" dirty="0">
                <a:latin typeface="Arial MT"/>
                <a:cs typeface="Arial MT"/>
              </a:rPr>
              <a:t> </a:t>
            </a:r>
            <a:r>
              <a:rPr sz="2800" dirty="0">
                <a:latin typeface="Arial MT"/>
                <a:cs typeface="Arial MT"/>
              </a:rPr>
              <a:t>que</a:t>
            </a:r>
            <a:r>
              <a:rPr sz="2800" spc="-40" dirty="0">
                <a:latin typeface="Arial MT"/>
                <a:cs typeface="Arial MT"/>
              </a:rPr>
              <a:t> </a:t>
            </a:r>
            <a:r>
              <a:rPr sz="2800" dirty="0">
                <a:latin typeface="Arial MT"/>
                <a:cs typeface="Arial MT"/>
              </a:rPr>
              <a:t>la</a:t>
            </a:r>
            <a:r>
              <a:rPr sz="2800" spc="-45" dirty="0">
                <a:latin typeface="Arial MT"/>
                <a:cs typeface="Arial MT"/>
              </a:rPr>
              <a:t> </a:t>
            </a:r>
            <a:r>
              <a:rPr sz="2800" b="1" dirty="0">
                <a:latin typeface="Arial"/>
                <a:cs typeface="Arial"/>
              </a:rPr>
              <a:t>tabla</a:t>
            </a:r>
            <a:r>
              <a:rPr sz="2800" b="1" spc="-45" dirty="0">
                <a:latin typeface="Arial"/>
                <a:cs typeface="Arial"/>
              </a:rPr>
              <a:t> </a:t>
            </a:r>
            <a:r>
              <a:rPr sz="2800" b="1" dirty="0">
                <a:latin typeface="Arial"/>
                <a:cs typeface="Arial"/>
              </a:rPr>
              <a:t>Bitácora</a:t>
            </a:r>
            <a:r>
              <a:rPr sz="2800" b="1" spc="-35" dirty="0">
                <a:latin typeface="Arial"/>
                <a:cs typeface="Arial"/>
              </a:rPr>
              <a:t> </a:t>
            </a:r>
            <a:r>
              <a:rPr sz="2800" b="1" dirty="0">
                <a:latin typeface="Arial"/>
                <a:cs typeface="Arial"/>
              </a:rPr>
              <a:t>es</a:t>
            </a:r>
            <a:r>
              <a:rPr sz="2800" b="1" spc="-40" dirty="0">
                <a:latin typeface="Arial"/>
                <a:cs typeface="Arial"/>
              </a:rPr>
              <a:t> </a:t>
            </a:r>
            <a:r>
              <a:rPr sz="2800" b="1" spc="-10" dirty="0">
                <a:latin typeface="Arial"/>
                <a:cs typeface="Arial"/>
              </a:rPr>
              <a:t>redundante</a:t>
            </a:r>
            <a:r>
              <a:rPr sz="2800" spc="-10" dirty="0">
                <a:latin typeface="Arial MT"/>
                <a:cs typeface="Arial MT"/>
              </a:rPr>
              <a:t>.</a:t>
            </a:r>
            <a:endParaRPr sz="2800">
              <a:latin typeface="Arial MT"/>
              <a:cs typeface="Arial MT"/>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003300" y="687677"/>
            <a:ext cx="8977207" cy="1238224"/>
          </a:xfrm>
          <a:prstGeom prst="rect">
            <a:avLst/>
          </a:prstGeom>
        </p:spPr>
        <p:txBody>
          <a:bodyPr vert="horz" wrap="square" lIns="0" tIns="12065" rIns="0" bIns="0" rtlCol="0">
            <a:spAutoFit/>
          </a:bodyPr>
          <a:lstStyle/>
          <a:p>
            <a:pPr marL="744855">
              <a:lnSpc>
                <a:spcPct val="100000"/>
              </a:lnSpc>
              <a:spcBef>
                <a:spcPts val="95"/>
              </a:spcBef>
            </a:pPr>
            <a:r>
              <a:rPr sz="4000" dirty="0"/>
              <a:t>Algunas</a:t>
            </a:r>
            <a:r>
              <a:rPr sz="4000" spc="-125" dirty="0"/>
              <a:t> </a:t>
            </a:r>
            <a:r>
              <a:rPr sz="4000" dirty="0"/>
              <a:t>extensiones</a:t>
            </a:r>
            <a:r>
              <a:rPr sz="4000" spc="-120" dirty="0"/>
              <a:t> </a:t>
            </a:r>
            <a:r>
              <a:rPr sz="4000" dirty="0"/>
              <a:t>al</a:t>
            </a:r>
            <a:r>
              <a:rPr sz="4000" spc="-125" dirty="0"/>
              <a:t> </a:t>
            </a:r>
            <a:r>
              <a:rPr sz="4000" spc="-20" dirty="0"/>
              <a:t>DER:</a:t>
            </a:r>
            <a:endParaRPr sz="4000" dirty="0"/>
          </a:p>
          <a:p>
            <a:pPr marL="693420">
              <a:lnSpc>
                <a:spcPct val="100000"/>
              </a:lnSpc>
              <a:spcBef>
                <a:spcPts val="5"/>
              </a:spcBef>
            </a:pPr>
            <a:r>
              <a:rPr dirty="0"/>
              <a:t>Generalización</a:t>
            </a:r>
            <a:r>
              <a:rPr spc="-50" dirty="0"/>
              <a:t> </a:t>
            </a:r>
            <a:r>
              <a:rPr dirty="0"/>
              <a:t>y</a:t>
            </a:r>
            <a:r>
              <a:rPr spc="-40" dirty="0"/>
              <a:t> </a:t>
            </a:r>
            <a:r>
              <a:rPr spc="-10" dirty="0"/>
              <a:t>Especialización</a:t>
            </a:r>
          </a:p>
        </p:txBody>
      </p:sp>
      <p:sp>
        <p:nvSpPr>
          <p:cNvPr id="3" name="object 3"/>
          <p:cNvSpPr txBox="1"/>
          <p:nvPr/>
        </p:nvSpPr>
        <p:spPr>
          <a:xfrm>
            <a:off x="1782454" y="2233675"/>
            <a:ext cx="6672580" cy="4298950"/>
          </a:xfrm>
          <a:prstGeom prst="rect">
            <a:avLst/>
          </a:prstGeom>
        </p:spPr>
        <p:txBody>
          <a:bodyPr vert="horz" wrap="square" lIns="0" tIns="48895" rIns="0" bIns="0" rtlCol="0">
            <a:spAutoFit/>
          </a:bodyPr>
          <a:lstStyle/>
          <a:p>
            <a:pPr marL="12700">
              <a:lnSpc>
                <a:spcPct val="100000"/>
              </a:lnSpc>
              <a:spcBef>
                <a:spcPts val="385"/>
              </a:spcBef>
            </a:pPr>
            <a:r>
              <a:rPr sz="2400" dirty="0">
                <a:latin typeface="Arial MT"/>
                <a:cs typeface="Arial MT"/>
              </a:rPr>
              <a:t>Si</a:t>
            </a:r>
            <a:r>
              <a:rPr sz="2400" spc="-75" dirty="0">
                <a:latin typeface="Arial MT"/>
                <a:cs typeface="Arial MT"/>
              </a:rPr>
              <a:t> </a:t>
            </a:r>
            <a:r>
              <a:rPr sz="2400" b="1" dirty="0">
                <a:latin typeface="Arial"/>
                <a:cs typeface="Arial"/>
              </a:rPr>
              <a:t>clasificamos</a:t>
            </a:r>
            <a:r>
              <a:rPr sz="2400" b="1" spc="-70" dirty="0">
                <a:latin typeface="Arial"/>
                <a:cs typeface="Arial"/>
              </a:rPr>
              <a:t> </a:t>
            </a:r>
            <a:r>
              <a:rPr sz="2400" dirty="0">
                <a:latin typeface="Arial MT"/>
                <a:cs typeface="Arial MT"/>
              </a:rPr>
              <a:t>cada</a:t>
            </a:r>
            <a:r>
              <a:rPr sz="2400" spc="-70" dirty="0">
                <a:latin typeface="Arial MT"/>
                <a:cs typeface="Arial MT"/>
              </a:rPr>
              <a:t> </a:t>
            </a:r>
            <a:r>
              <a:rPr sz="2400" b="1" dirty="0">
                <a:latin typeface="Arial"/>
                <a:cs typeface="Arial"/>
              </a:rPr>
              <a:t>cuenta</a:t>
            </a:r>
            <a:r>
              <a:rPr sz="2400" b="1" spc="-70" dirty="0">
                <a:latin typeface="Arial"/>
                <a:cs typeface="Arial"/>
              </a:rPr>
              <a:t> </a:t>
            </a:r>
            <a:r>
              <a:rPr sz="2400" spc="-25" dirty="0">
                <a:latin typeface="Arial MT"/>
                <a:cs typeface="Arial MT"/>
              </a:rPr>
              <a:t>en</a:t>
            </a:r>
            <a:endParaRPr sz="2400" dirty="0">
              <a:latin typeface="Arial MT"/>
              <a:cs typeface="Arial MT"/>
            </a:endParaRPr>
          </a:p>
          <a:p>
            <a:pPr marL="426084" algn="ctr">
              <a:lnSpc>
                <a:spcPct val="100000"/>
              </a:lnSpc>
              <a:spcBef>
                <a:spcPts val="290"/>
              </a:spcBef>
            </a:pPr>
            <a:r>
              <a:rPr sz="2400" b="1" spc="-20" dirty="0">
                <a:latin typeface="Arial"/>
                <a:cs typeface="Arial"/>
              </a:rPr>
              <a:t>cuenta-</a:t>
            </a:r>
            <a:r>
              <a:rPr sz="2400" b="1" dirty="0">
                <a:latin typeface="Arial"/>
                <a:cs typeface="Arial"/>
              </a:rPr>
              <a:t>ahorros</a:t>
            </a:r>
            <a:r>
              <a:rPr sz="2400" b="1" spc="20" dirty="0">
                <a:latin typeface="Arial"/>
                <a:cs typeface="Arial"/>
              </a:rPr>
              <a:t> </a:t>
            </a:r>
            <a:r>
              <a:rPr sz="2400" dirty="0">
                <a:latin typeface="Arial MT"/>
                <a:cs typeface="Arial MT"/>
              </a:rPr>
              <a:t>y</a:t>
            </a:r>
            <a:r>
              <a:rPr sz="2400" spc="25" dirty="0">
                <a:latin typeface="Arial MT"/>
                <a:cs typeface="Arial MT"/>
              </a:rPr>
              <a:t> </a:t>
            </a:r>
            <a:r>
              <a:rPr sz="2400" b="1" spc="-20" dirty="0">
                <a:latin typeface="Arial"/>
                <a:cs typeface="Arial"/>
              </a:rPr>
              <a:t>cuenta-</a:t>
            </a:r>
            <a:r>
              <a:rPr sz="2400" b="1" spc="-10" dirty="0">
                <a:latin typeface="Arial"/>
                <a:cs typeface="Arial"/>
              </a:rPr>
              <a:t>cheques</a:t>
            </a:r>
            <a:endParaRPr sz="2400" dirty="0">
              <a:latin typeface="Arial"/>
              <a:cs typeface="Arial"/>
            </a:endParaRPr>
          </a:p>
          <a:p>
            <a:pPr>
              <a:lnSpc>
                <a:spcPct val="100000"/>
              </a:lnSpc>
              <a:spcBef>
                <a:spcPts val="1010"/>
              </a:spcBef>
            </a:pPr>
            <a:endParaRPr sz="2400" dirty="0">
              <a:latin typeface="Arial"/>
              <a:cs typeface="Arial"/>
            </a:endParaRPr>
          </a:p>
          <a:p>
            <a:pPr marL="355600" marR="5080" indent="-342900">
              <a:lnSpc>
                <a:spcPts val="2590"/>
              </a:lnSpc>
            </a:pPr>
            <a:r>
              <a:rPr sz="2400" dirty="0">
                <a:latin typeface="Arial MT"/>
                <a:cs typeface="Arial MT"/>
              </a:rPr>
              <a:t>y</a:t>
            </a:r>
            <a:r>
              <a:rPr sz="2400" spc="-55" dirty="0">
                <a:latin typeface="Arial MT"/>
                <a:cs typeface="Arial MT"/>
              </a:rPr>
              <a:t> </a:t>
            </a:r>
            <a:r>
              <a:rPr sz="2400" dirty="0">
                <a:latin typeface="Arial MT"/>
                <a:cs typeface="Arial MT"/>
              </a:rPr>
              <a:t>considerando</a:t>
            </a:r>
            <a:r>
              <a:rPr sz="2400" spc="-50" dirty="0">
                <a:latin typeface="Arial MT"/>
                <a:cs typeface="Arial MT"/>
              </a:rPr>
              <a:t> </a:t>
            </a:r>
            <a:r>
              <a:rPr sz="2400" dirty="0">
                <a:latin typeface="Arial MT"/>
                <a:cs typeface="Arial MT"/>
              </a:rPr>
              <a:t>que</a:t>
            </a:r>
            <a:r>
              <a:rPr sz="2400" spc="-50" dirty="0">
                <a:latin typeface="Arial MT"/>
                <a:cs typeface="Arial MT"/>
              </a:rPr>
              <a:t> </a:t>
            </a:r>
            <a:r>
              <a:rPr sz="2400" dirty="0">
                <a:latin typeface="Arial MT"/>
                <a:cs typeface="Arial MT"/>
              </a:rPr>
              <a:t>cada</a:t>
            </a:r>
            <a:r>
              <a:rPr sz="2400" spc="-50" dirty="0">
                <a:latin typeface="Arial MT"/>
                <a:cs typeface="Arial MT"/>
              </a:rPr>
              <a:t> </a:t>
            </a:r>
            <a:r>
              <a:rPr sz="2400" dirty="0">
                <a:latin typeface="Arial MT"/>
                <a:cs typeface="Arial MT"/>
              </a:rPr>
              <a:t>una</a:t>
            </a:r>
            <a:r>
              <a:rPr sz="2400" spc="-55" dirty="0">
                <a:latin typeface="Arial MT"/>
                <a:cs typeface="Arial MT"/>
              </a:rPr>
              <a:t> </a:t>
            </a:r>
            <a:r>
              <a:rPr sz="2400" dirty="0">
                <a:latin typeface="Arial MT"/>
                <a:cs typeface="Arial MT"/>
              </a:rPr>
              <a:t>de</a:t>
            </a:r>
            <a:r>
              <a:rPr sz="2400" spc="-40" dirty="0">
                <a:latin typeface="Arial MT"/>
                <a:cs typeface="Arial MT"/>
              </a:rPr>
              <a:t> </a:t>
            </a:r>
            <a:r>
              <a:rPr sz="2400" dirty="0">
                <a:latin typeface="Arial MT"/>
                <a:cs typeface="Arial MT"/>
              </a:rPr>
              <a:t>estas</a:t>
            </a:r>
            <a:r>
              <a:rPr sz="2400" spc="-50" dirty="0">
                <a:latin typeface="Arial MT"/>
                <a:cs typeface="Arial MT"/>
              </a:rPr>
              <a:t> </a:t>
            </a:r>
            <a:r>
              <a:rPr sz="2400" spc="-10" dirty="0">
                <a:latin typeface="Arial MT"/>
                <a:cs typeface="Arial MT"/>
              </a:rPr>
              <a:t>entidades tiene</a:t>
            </a:r>
            <a:endParaRPr sz="2400" dirty="0">
              <a:latin typeface="Arial MT"/>
              <a:cs typeface="Arial MT"/>
            </a:endParaRPr>
          </a:p>
          <a:p>
            <a:pPr>
              <a:lnSpc>
                <a:spcPct val="100000"/>
              </a:lnSpc>
              <a:spcBef>
                <a:spcPts val="650"/>
              </a:spcBef>
            </a:pPr>
            <a:endParaRPr sz="2400" dirty="0">
              <a:latin typeface="Arial MT"/>
              <a:cs typeface="Arial MT"/>
            </a:endParaRPr>
          </a:p>
          <a:p>
            <a:pPr marL="354965" indent="-342265">
              <a:lnSpc>
                <a:spcPct val="100000"/>
              </a:lnSpc>
              <a:buFont typeface="Arial MT"/>
              <a:buChar char="-"/>
              <a:tabLst>
                <a:tab pos="354965" algn="l"/>
              </a:tabLst>
            </a:pPr>
            <a:r>
              <a:rPr sz="2400" b="1" dirty="0">
                <a:latin typeface="Arial"/>
                <a:cs typeface="Arial"/>
              </a:rPr>
              <a:t>algunos</a:t>
            </a:r>
            <a:r>
              <a:rPr sz="2400" b="1" spc="-70" dirty="0">
                <a:latin typeface="Arial"/>
                <a:cs typeface="Arial"/>
              </a:rPr>
              <a:t> </a:t>
            </a:r>
            <a:r>
              <a:rPr sz="2400" b="1" dirty="0">
                <a:latin typeface="Arial"/>
                <a:cs typeface="Arial"/>
              </a:rPr>
              <a:t>atributos</a:t>
            </a:r>
            <a:r>
              <a:rPr sz="2400" b="1" spc="-80" dirty="0">
                <a:latin typeface="Arial"/>
                <a:cs typeface="Arial"/>
              </a:rPr>
              <a:t> </a:t>
            </a:r>
            <a:r>
              <a:rPr sz="2400" b="1" spc="-10" dirty="0">
                <a:latin typeface="Arial"/>
                <a:cs typeface="Arial"/>
              </a:rPr>
              <a:t>diferentes</a:t>
            </a:r>
            <a:endParaRPr sz="2400" dirty="0">
              <a:latin typeface="Arial"/>
              <a:cs typeface="Arial"/>
            </a:endParaRPr>
          </a:p>
          <a:p>
            <a:pPr marL="354965" indent="-342265">
              <a:lnSpc>
                <a:spcPts val="2735"/>
              </a:lnSpc>
              <a:spcBef>
                <a:spcPts val="275"/>
              </a:spcBef>
              <a:buChar char="-"/>
              <a:tabLst>
                <a:tab pos="354965" algn="l"/>
              </a:tabLst>
            </a:pPr>
            <a:r>
              <a:rPr sz="2400" dirty="0">
                <a:latin typeface="Arial MT"/>
                <a:cs typeface="Arial MT"/>
              </a:rPr>
              <a:t>y</a:t>
            </a:r>
            <a:r>
              <a:rPr sz="2400" spc="-40" dirty="0">
                <a:latin typeface="Arial MT"/>
                <a:cs typeface="Arial MT"/>
              </a:rPr>
              <a:t> </a:t>
            </a:r>
            <a:r>
              <a:rPr sz="2400" dirty="0">
                <a:latin typeface="Arial MT"/>
                <a:cs typeface="Arial MT"/>
              </a:rPr>
              <a:t>otros</a:t>
            </a:r>
            <a:r>
              <a:rPr sz="2400" spc="-45" dirty="0">
                <a:latin typeface="Arial MT"/>
                <a:cs typeface="Arial MT"/>
              </a:rPr>
              <a:t> </a:t>
            </a:r>
            <a:r>
              <a:rPr sz="2400" b="1" dirty="0">
                <a:latin typeface="Arial"/>
                <a:cs typeface="Arial"/>
              </a:rPr>
              <a:t>atributos</a:t>
            </a:r>
            <a:r>
              <a:rPr sz="2400" b="1" spc="-40" dirty="0">
                <a:latin typeface="Arial"/>
                <a:cs typeface="Arial"/>
              </a:rPr>
              <a:t> </a:t>
            </a:r>
            <a:r>
              <a:rPr sz="2400" b="1" dirty="0">
                <a:latin typeface="Arial"/>
                <a:cs typeface="Arial"/>
              </a:rPr>
              <a:t>en</a:t>
            </a:r>
            <a:r>
              <a:rPr sz="2400" b="1" spc="-50" dirty="0">
                <a:latin typeface="Arial"/>
                <a:cs typeface="Arial"/>
              </a:rPr>
              <a:t> </a:t>
            </a:r>
            <a:r>
              <a:rPr sz="2400" b="1" dirty="0">
                <a:latin typeface="Arial"/>
                <a:cs typeface="Arial"/>
              </a:rPr>
              <a:t>común</a:t>
            </a:r>
            <a:r>
              <a:rPr sz="2400" b="1" spc="-40" dirty="0">
                <a:latin typeface="Arial"/>
                <a:cs typeface="Arial"/>
              </a:rPr>
              <a:t> </a:t>
            </a:r>
            <a:r>
              <a:rPr sz="2400" dirty="0">
                <a:latin typeface="Arial MT"/>
                <a:cs typeface="Arial MT"/>
              </a:rPr>
              <a:t>con</a:t>
            </a:r>
            <a:r>
              <a:rPr sz="2400" spc="-35" dirty="0">
                <a:latin typeface="Arial MT"/>
                <a:cs typeface="Arial MT"/>
              </a:rPr>
              <a:t> </a:t>
            </a:r>
            <a:r>
              <a:rPr sz="2400" dirty="0">
                <a:latin typeface="Arial MT"/>
                <a:cs typeface="Arial MT"/>
              </a:rPr>
              <a:t>la</a:t>
            </a:r>
            <a:r>
              <a:rPr sz="2400" spc="-40" dirty="0">
                <a:latin typeface="Arial MT"/>
                <a:cs typeface="Arial MT"/>
              </a:rPr>
              <a:t> </a:t>
            </a:r>
            <a:r>
              <a:rPr sz="2400" spc="-10" dirty="0">
                <a:latin typeface="Arial MT"/>
                <a:cs typeface="Arial MT"/>
              </a:rPr>
              <a:t>entidad</a:t>
            </a:r>
            <a:endParaRPr sz="2400" dirty="0">
              <a:latin typeface="Arial MT"/>
              <a:cs typeface="Arial MT"/>
            </a:endParaRPr>
          </a:p>
          <a:p>
            <a:pPr marL="355600">
              <a:lnSpc>
                <a:spcPts val="2735"/>
              </a:lnSpc>
            </a:pPr>
            <a:r>
              <a:rPr sz="2400" b="1" spc="-10" dirty="0">
                <a:latin typeface="Arial"/>
                <a:cs typeface="Arial"/>
              </a:rPr>
              <a:t>cuenta</a:t>
            </a:r>
            <a:endParaRPr sz="2400" dirty="0">
              <a:latin typeface="Arial"/>
              <a:cs typeface="Arial"/>
            </a:endParaRPr>
          </a:p>
          <a:p>
            <a:pPr>
              <a:lnSpc>
                <a:spcPct val="100000"/>
              </a:lnSpc>
              <a:spcBef>
                <a:spcPts val="685"/>
              </a:spcBef>
            </a:pPr>
            <a:endParaRPr sz="2400" dirty="0">
              <a:latin typeface="Arial"/>
              <a:cs typeface="Arial"/>
            </a:endParaRPr>
          </a:p>
          <a:p>
            <a:pPr marL="427355" algn="ctr">
              <a:lnSpc>
                <a:spcPct val="100000"/>
              </a:lnSpc>
            </a:pPr>
            <a:r>
              <a:rPr sz="2400" dirty="0">
                <a:latin typeface="Arial MT"/>
                <a:cs typeface="Arial MT"/>
              </a:rPr>
              <a:t>esto</a:t>
            </a:r>
            <a:r>
              <a:rPr sz="2400" spc="-55" dirty="0">
                <a:latin typeface="Arial MT"/>
                <a:cs typeface="Arial MT"/>
              </a:rPr>
              <a:t> </a:t>
            </a:r>
            <a:r>
              <a:rPr sz="2400" dirty="0">
                <a:latin typeface="Arial MT"/>
                <a:cs typeface="Arial MT"/>
              </a:rPr>
              <a:t>se</a:t>
            </a:r>
            <a:r>
              <a:rPr sz="2400" spc="-50" dirty="0">
                <a:latin typeface="Arial MT"/>
                <a:cs typeface="Arial MT"/>
              </a:rPr>
              <a:t> </a:t>
            </a:r>
            <a:r>
              <a:rPr sz="2400" dirty="0">
                <a:latin typeface="Arial MT"/>
                <a:cs typeface="Arial MT"/>
              </a:rPr>
              <a:t>puede</a:t>
            </a:r>
            <a:r>
              <a:rPr sz="2400" spc="-50" dirty="0">
                <a:latin typeface="Arial MT"/>
                <a:cs typeface="Arial MT"/>
              </a:rPr>
              <a:t> </a:t>
            </a:r>
            <a:r>
              <a:rPr sz="2400" dirty="0">
                <a:latin typeface="Arial MT"/>
                <a:cs typeface="Arial MT"/>
              </a:rPr>
              <a:t>expresar</a:t>
            </a:r>
            <a:r>
              <a:rPr sz="2400" spc="-45" dirty="0">
                <a:latin typeface="Arial MT"/>
                <a:cs typeface="Arial MT"/>
              </a:rPr>
              <a:t> </a:t>
            </a:r>
            <a:r>
              <a:rPr sz="2400" dirty="0">
                <a:latin typeface="Arial MT"/>
                <a:cs typeface="Arial MT"/>
              </a:rPr>
              <a:t>por</a:t>
            </a:r>
            <a:r>
              <a:rPr sz="2400" spc="-50" dirty="0">
                <a:latin typeface="Arial MT"/>
                <a:cs typeface="Arial MT"/>
              </a:rPr>
              <a:t> </a:t>
            </a:r>
            <a:r>
              <a:rPr sz="2400" b="1" spc="-10" dirty="0">
                <a:latin typeface="Arial"/>
                <a:cs typeface="Arial"/>
              </a:rPr>
              <a:t>generalización</a:t>
            </a:r>
            <a:endParaRPr sz="2400" dirty="0">
              <a:latin typeface="Arial"/>
              <a:cs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37215" y="1691131"/>
            <a:ext cx="1986914" cy="3013710"/>
          </a:xfrm>
          <a:prstGeom prst="rect">
            <a:avLst/>
          </a:prstGeom>
        </p:spPr>
        <p:txBody>
          <a:bodyPr vert="horz" wrap="square" lIns="0" tIns="11430" rIns="0" bIns="0" rtlCol="0">
            <a:spAutoFit/>
          </a:bodyPr>
          <a:lstStyle/>
          <a:p>
            <a:pPr marL="12700" marR="5080" indent="635" algn="ctr">
              <a:lnSpc>
                <a:spcPct val="100099"/>
              </a:lnSpc>
              <a:spcBef>
                <a:spcPts val="90"/>
              </a:spcBef>
            </a:pPr>
            <a:r>
              <a:rPr sz="2800" dirty="0">
                <a:latin typeface="Arial MT"/>
                <a:cs typeface="Arial MT"/>
              </a:rPr>
              <a:t>En</a:t>
            </a:r>
            <a:r>
              <a:rPr sz="2800" spc="-20" dirty="0">
                <a:latin typeface="Arial MT"/>
                <a:cs typeface="Arial MT"/>
              </a:rPr>
              <a:t> </a:t>
            </a:r>
            <a:r>
              <a:rPr sz="2800" dirty="0">
                <a:latin typeface="Arial MT"/>
                <a:cs typeface="Arial MT"/>
              </a:rPr>
              <a:t>el</a:t>
            </a:r>
            <a:r>
              <a:rPr sz="2800" spc="-25" dirty="0">
                <a:latin typeface="Arial MT"/>
                <a:cs typeface="Arial MT"/>
              </a:rPr>
              <a:t> DER se </a:t>
            </a:r>
            <a:r>
              <a:rPr sz="2800" spc="-10" dirty="0">
                <a:latin typeface="Arial MT"/>
                <a:cs typeface="Arial MT"/>
              </a:rPr>
              <a:t>representa </a:t>
            </a:r>
            <a:r>
              <a:rPr sz="2800" dirty="0">
                <a:latin typeface="Arial MT"/>
                <a:cs typeface="Arial MT"/>
              </a:rPr>
              <a:t>mediante</a:t>
            </a:r>
            <a:r>
              <a:rPr sz="2800" spc="-95" dirty="0">
                <a:latin typeface="Arial MT"/>
                <a:cs typeface="Arial MT"/>
              </a:rPr>
              <a:t> </a:t>
            </a:r>
            <a:r>
              <a:rPr sz="2800" spc="-25" dirty="0">
                <a:latin typeface="Arial MT"/>
                <a:cs typeface="Arial MT"/>
              </a:rPr>
              <a:t>un </a:t>
            </a:r>
            <a:r>
              <a:rPr sz="2800" b="1" spc="-10" dirty="0">
                <a:latin typeface="Arial"/>
                <a:cs typeface="Arial"/>
              </a:rPr>
              <a:t>triángulo </a:t>
            </a:r>
            <a:r>
              <a:rPr sz="2800" spc="-10" dirty="0">
                <a:latin typeface="Arial MT"/>
                <a:cs typeface="Arial MT"/>
              </a:rPr>
              <a:t>etiquetado </a:t>
            </a:r>
            <a:r>
              <a:rPr sz="2800" b="1" spc="-10" dirty="0">
                <a:latin typeface="Arial"/>
                <a:cs typeface="Arial"/>
              </a:rPr>
              <a:t>IS_A.</a:t>
            </a:r>
            <a:endParaRPr sz="2800">
              <a:latin typeface="Arial"/>
              <a:cs typeface="Arial"/>
            </a:endParaRPr>
          </a:p>
        </p:txBody>
      </p:sp>
      <p:sp>
        <p:nvSpPr>
          <p:cNvPr id="3" name="object 3"/>
          <p:cNvSpPr txBox="1"/>
          <p:nvPr/>
        </p:nvSpPr>
        <p:spPr>
          <a:xfrm>
            <a:off x="3189609" y="4204715"/>
            <a:ext cx="2429510" cy="382905"/>
          </a:xfrm>
          <a:prstGeom prst="rect">
            <a:avLst/>
          </a:prstGeom>
          <a:ln w="9524">
            <a:solidFill>
              <a:srgbClr val="000000"/>
            </a:solidFill>
          </a:ln>
        </p:spPr>
        <p:txBody>
          <a:bodyPr vert="horz" wrap="square" lIns="0" tIns="45719" rIns="0" bIns="0" rtlCol="0">
            <a:spAutoFit/>
          </a:bodyPr>
          <a:lstStyle/>
          <a:p>
            <a:pPr marL="97155">
              <a:lnSpc>
                <a:spcPct val="100000"/>
              </a:lnSpc>
              <a:spcBef>
                <a:spcPts val="359"/>
              </a:spcBef>
            </a:pPr>
            <a:r>
              <a:rPr sz="1800" b="1" spc="-10" dirty="0">
                <a:latin typeface="Arial"/>
                <a:cs typeface="Arial"/>
              </a:rPr>
              <a:t>Cuenta-ahorros</a:t>
            </a:r>
            <a:endParaRPr sz="1800">
              <a:latin typeface="Arial"/>
              <a:cs typeface="Arial"/>
            </a:endParaRPr>
          </a:p>
        </p:txBody>
      </p:sp>
      <p:sp>
        <p:nvSpPr>
          <p:cNvPr id="4" name="object 4"/>
          <p:cNvSpPr txBox="1"/>
          <p:nvPr/>
        </p:nvSpPr>
        <p:spPr>
          <a:xfrm>
            <a:off x="6632326" y="4204715"/>
            <a:ext cx="2428240" cy="382905"/>
          </a:xfrm>
          <a:prstGeom prst="rect">
            <a:avLst/>
          </a:prstGeom>
          <a:ln w="9524">
            <a:solidFill>
              <a:srgbClr val="000000"/>
            </a:solidFill>
          </a:ln>
        </p:spPr>
        <p:txBody>
          <a:bodyPr vert="horz" wrap="square" lIns="0" tIns="45719" rIns="0" bIns="0" rtlCol="0">
            <a:spAutoFit/>
          </a:bodyPr>
          <a:lstStyle/>
          <a:p>
            <a:pPr marL="95885">
              <a:lnSpc>
                <a:spcPct val="100000"/>
              </a:lnSpc>
              <a:spcBef>
                <a:spcPts val="359"/>
              </a:spcBef>
            </a:pPr>
            <a:r>
              <a:rPr sz="1800" b="1" spc="-10" dirty="0">
                <a:latin typeface="Arial"/>
                <a:cs typeface="Arial"/>
              </a:rPr>
              <a:t>Cuenta-cheques</a:t>
            </a:r>
            <a:endParaRPr sz="1800">
              <a:latin typeface="Arial"/>
              <a:cs typeface="Arial"/>
            </a:endParaRPr>
          </a:p>
        </p:txBody>
      </p:sp>
      <p:sp>
        <p:nvSpPr>
          <p:cNvPr id="5" name="object 5"/>
          <p:cNvSpPr/>
          <p:nvPr/>
        </p:nvSpPr>
        <p:spPr>
          <a:xfrm>
            <a:off x="2988442" y="5096255"/>
            <a:ext cx="2630805" cy="509270"/>
          </a:xfrm>
          <a:custGeom>
            <a:avLst/>
            <a:gdLst/>
            <a:ahLst/>
            <a:cxnLst/>
            <a:rect l="l" t="t" r="r" b="b"/>
            <a:pathLst>
              <a:path w="2630804" h="509270">
                <a:moveTo>
                  <a:pt x="1315211" y="0"/>
                </a:moveTo>
                <a:lnTo>
                  <a:pt x="1240523" y="398"/>
                </a:lnTo>
                <a:lnTo>
                  <a:pt x="1166935" y="1581"/>
                </a:lnTo>
                <a:lnTo>
                  <a:pt x="1094557" y="3527"/>
                </a:lnTo>
                <a:lnTo>
                  <a:pt x="1023501" y="6216"/>
                </a:lnTo>
                <a:lnTo>
                  <a:pt x="953876" y="9627"/>
                </a:lnTo>
                <a:lnTo>
                  <a:pt x="885794" y="13740"/>
                </a:lnTo>
                <a:lnTo>
                  <a:pt x="819364" y="18533"/>
                </a:lnTo>
                <a:lnTo>
                  <a:pt x="754699" y="23987"/>
                </a:lnTo>
                <a:lnTo>
                  <a:pt x="691908" y="30080"/>
                </a:lnTo>
                <a:lnTo>
                  <a:pt x="631101" y="36792"/>
                </a:lnTo>
                <a:lnTo>
                  <a:pt x="572390" y="44103"/>
                </a:lnTo>
                <a:lnTo>
                  <a:pt x="515885" y="51991"/>
                </a:lnTo>
                <a:lnTo>
                  <a:pt x="461697" y="60436"/>
                </a:lnTo>
                <a:lnTo>
                  <a:pt x="409936" y="69418"/>
                </a:lnTo>
                <a:lnTo>
                  <a:pt x="360713" y="78916"/>
                </a:lnTo>
                <a:lnTo>
                  <a:pt x="314138" y="88909"/>
                </a:lnTo>
                <a:lnTo>
                  <a:pt x="270322" y="99377"/>
                </a:lnTo>
                <a:lnTo>
                  <a:pt x="229376" y="110299"/>
                </a:lnTo>
                <a:lnTo>
                  <a:pt x="191410" y="121654"/>
                </a:lnTo>
                <a:lnTo>
                  <a:pt x="124862" y="145582"/>
                </a:lnTo>
                <a:lnTo>
                  <a:pt x="71562" y="170997"/>
                </a:lnTo>
                <a:lnTo>
                  <a:pt x="32395" y="197732"/>
                </a:lnTo>
                <a:lnTo>
                  <a:pt x="2080" y="239952"/>
                </a:lnTo>
                <a:lnTo>
                  <a:pt x="0" y="254507"/>
                </a:lnTo>
                <a:lnTo>
                  <a:pt x="2080" y="268916"/>
                </a:lnTo>
                <a:lnTo>
                  <a:pt x="32395" y="310814"/>
                </a:lnTo>
                <a:lnTo>
                  <a:pt x="71562" y="337423"/>
                </a:lnTo>
                <a:lnTo>
                  <a:pt x="124862" y="362771"/>
                </a:lnTo>
                <a:lnTo>
                  <a:pt x="191410" y="386684"/>
                </a:lnTo>
                <a:lnTo>
                  <a:pt x="229376" y="398048"/>
                </a:lnTo>
                <a:lnTo>
                  <a:pt x="270322" y="408988"/>
                </a:lnTo>
                <a:lnTo>
                  <a:pt x="314138" y="419482"/>
                </a:lnTo>
                <a:lnTo>
                  <a:pt x="360713" y="429508"/>
                </a:lnTo>
                <a:lnTo>
                  <a:pt x="409936" y="439046"/>
                </a:lnTo>
                <a:lnTo>
                  <a:pt x="461697" y="448072"/>
                </a:lnTo>
                <a:lnTo>
                  <a:pt x="515885" y="456565"/>
                </a:lnTo>
                <a:lnTo>
                  <a:pt x="572390" y="464504"/>
                </a:lnTo>
                <a:lnTo>
                  <a:pt x="631101" y="471867"/>
                </a:lnTo>
                <a:lnTo>
                  <a:pt x="691908" y="478632"/>
                </a:lnTo>
                <a:lnTo>
                  <a:pt x="754699" y="484776"/>
                </a:lnTo>
                <a:lnTo>
                  <a:pt x="819364" y="490280"/>
                </a:lnTo>
                <a:lnTo>
                  <a:pt x="885794" y="495120"/>
                </a:lnTo>
                <a:lnTo>
                  <a:pt x="953876" y="499275"/>
                </a:lnTo>
                <a:lnTo>
                  <a:pt x="1023501" y="502724"/>
                </a:lnTo>
                <a:lnTo>
                  <a:pt x="1094557" y="505444"/>
                </a:lnTo>
                <a:lnTo>
                  <a:pt x="1166935" y="507414"/>
                </a:lnTo>
                <a:lnTo>
                  <a:pt x="1240523" y="508611"/>
                </a:lnTo>
                <a:lnTo>
                  <a:pt x="1315211" y="509015"/>
                </a:lnTo>
                <a:lnTo>
                  <a:pt x="1389900" y="508611"/>
                </a:lnTo>
                <a:lnTo>
                  <a:pt x="1463488" y="507414"/>
                </a:lnTo>
                <a:lnTo>
                  <a:pt x="1535866" y="505444"/>
                </a:lnTo>
                <a:lnTo>
                  <a:pt x="1606922" y="502724"/>
                </a:lnTo>
                <a:lnTo>
                  <a:pt x="1676547" y="499275"/>
                </a:lnTo>
                <a:lnTo>
                  <a:pt x="1744629" y="495120"/>
                </a:lnTo>
                <a:lnTo>
                  <a:pt x="1811058" y="490280"/>
                </a:lnTo>
                <a:lnTo>
                  <a:pt x="1875724" y="484776"/>
                </a:lnTo>
                <a:lnTo>
                  <a:pt x="1938515" y="478632"/>
                </a:lnTo>
                <a:lnTo>
                  <a:pt x="1999322" y="471867"/>
                </a:lnTo>
                <a:lnTo>
                  <a:pt x="2058033" y="464504"/>
                </a:lnTo>
                <a:lnTo>
                  <a:pt x="2114538" y="456565"/>
                </a:lnTo>
                <a:lnTo>
                  <a:pt x="2168726" y="448072"/>
                </a:lnTo>
                <a:lnTo>
                  <a:pt x="2220487" y="439046"/>
                </a:lnTo>
                <a:lnTo>
                  <a:pt x="2269710" y="429508"/>
                </a:lnTo>
                <a:lnTo>
                  <a:pt x="2316285" y="419482"/>
                </a:lnTo>
                <a:lnTo>
                  <a:pt x="2360101" y="408988"/>
                </a:lnTo>
                <a:lnTo>
                  <a:pt x="2401047" y="398048"/>
                </a:lnTo>
                <a:lnTo>
                  <a:pt x="2439013" y="386684"/>
                </a:lnTo>
                <a:lnTo>
                  <a:pt x="2505561" y="362771"/>
                </a:lnTo>
                <a:lnTo>
                  <a:pt x="2558861" y="337423"/>
                </a:lnTo>
                <a:lnTo>
                  <a:pt x="2598028" y="310814"/>
                </a:lnTo>
                <a:lnTo>
                  <a:pt x="2628343" y="268916"/>
                </a:lnTo>
                <a:lnTo>
                  <a:pt x="2630423" y="254507"/>
                </a:lnTo>
                <a:lnTo>
                  <a:pt x="2628343" y="239952"/>
                </a:lnTo>
                <a:lnTo>
                  <a:pt x="2598028" y="197732"/>
                </a:lnTo>
                <a:lnTo>
                  <a:pt x="2558861" y="170997"/>
                </a:lnTo>
                <a:lnTo>
                  <a:pt x="2505561" y="145582"/>
                </a:lnTo>
                <a:lnTo>
                  <a:pt x="2439013" y="121654"/>
                </a:lnTo>
                <a:lnTo>
                  <a:pt x="2401047" y="110299"/>
                </a:lnTo>
                <a:lnTo>
                  <a:pt x="2360101" y="99377"/>
                </a:lnTo>
                <a:lnTo>
                  <a:pt x="2316285" y="88909"/>
                </a:lnTo>
                <a:lnTo>
                  <a:pt x="2269710" y="78916"/>
                </a:lnTo>
                <a:lnTo>
                  <a:pt x="2220487" y="69418"/>
                </a:lnTo>
                <a:lnTo>
                  <a:pt x="2168726" y="60436"/>
                </a:lnTo>
                <a:lnTo>
                  <a:pt x="2114538" y="51991"/>
                </a:lnTo>
                <a:lnTo>
                  <a:pt x="2058033" y="44103"/>
                </a:lnTo>
                <a:lnTo>
                  <a:pt x="1999322" y="36792"/>
                </a:lnTo>
                <a:lnTo>
                  <a:pt x="1938515" y="30080"/>
                </a:lnTo>
                <a:lnTo>
                  <a:pt x="1875724" y="23987"/>
                </a:lnTo>
                <a:lnTo>
                  <a:pt x="1811058" y="18533"/>
                </a:lnTo>
                <a:lnTo>
                  <a:pt x="1744629" y="13740"/>
                </a:lnTo>
                <a:lnTo>
                  <a:pt x="1676547" y="9627"/>
                </a:lnTo>
                <a:lnTo>
                  <a:pt x="1606922" y="6216"/>
                </a:lnTo>
                <a:lnTo>
                  <a:pt x="1535866" y="3527"/>
                </a:lnTo>
                <a:lnTo>
                  <a:pt x="1463488" y="1581"/>
                </a:lnTo>
                <a:lnTo>
                  <a:pt x="1389900" y="398"/>
                </a:lnTo>
                <a:lnTo>
                  <a:pt x="1315211" y="0"/>
                </a:lnTo>
                <a:close/>
              </a:path>
            </a:pathLst>
          </a:custGeom>
          <a:ln w="9524">
            <a:solidFill>
              <a:srgbClr val="000000"/>
            </a:solidFill>
          </a:ln>
        </p:spPr>
        <p:txBody>
          <a:bodyPr wrap="square" lIns="0" tIns="0" rIns="0" bIns="0" rtlCol="0"/>
          <a:lstStyle/>
          <a:p>
            <a:endParaRPr/>
          </a:p>
        </p:txBody>
      </p:sp>
      <p:sp>
        <p:nvSpPr>
          <p:cNvPr id="6" name="object 6"/>
          <p:cNvSpPr txBox="1"/>
          <p:nvPr/>
        </p:nvSpPr>
        <p:spPr>
          <a:xfrm>
            <a:off x="3429900" y="5188710"/>
            <a:ext cx="137096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Arial"/>
                <a:cs typeface="Arial"/>
              </a:rPr>
              <a:t>Tasa-interés</a:t>
            </a:r>
            <a:endParaRPr sz="1800">
              <a:latin typeface="Arial"/>
              <a:cs typeface="Arial"/>
            </a:endParaRPr>
          </a:p>
        </p:txBody>
      </p:sp>
      <p:sp>
        <p:nvSpPr>
          <p:cNvPr id="7" name="object 7"/>
          <p:cNvSpPr/>
          <p:nvPr/>
        </p:nvSpPr>
        <p:spPr>
          <a:xfrm>
            <a:off x="6490593" y="5096255"/>
            <a:ext cx="2833370" cy="509270"/>
          </a:xfrm>
          <a:custGeom>
            <a:avLst/>
            <a:gdLst/>
            <a:ahLst/>
            <a:cxnLst/>
            <a:rect l="l" t="t" r="r" b="b"/>
            <a:pathLst>
              <a:path w="2833370" h="509270">
                <a:moveTo>
                  <a:pt x="1417319" y="0"/>
                </a:moveTo>
                <a:lnTo>
                  <a:pt x="1341995" y="349"/>
                </a:lnTo>
                <a:lnTo>
                  <a:pt x="1267701" y="1385"/>
                </a:lnTo>
                <a:lnTo>
                  <a:pt x="1194535" y="3092"/>
                </a:lnTo>
                <a:lnTo>
                  <a:pt x="1122594" y="5452"/>
                </a:lnTo>
                <a:lnTo>
                  <a:pt x="1051975" y="8449"/>
                </a:lnTo>
                <a:lnTo>
                  <a:pt x="982778" y="12066"/>
                </a:lnTo>
                <a:lnTo>
                  <a:pt x="915098" y="16285"/>
                </a:lnTo>
                <a:lnTo>
                  <a:pt x="849034" y="21091"/>
                </a:lnTo>
                <a:lnTo>
                  <a:pt x="784684" y="26465"/>
                </a:lnTo>
                <a:lnTo>
                  <a:pt x="722144" y="32392"/>
                </a:lnTo>
                <a:lnTo>
                  <a:pt x="661513" y="38854"/>
                </a:lnTo>
                <a:lnTo>
                  <a:pt x="602888" y="45834"/>
                </a:lnTo>
                <a:lnTo>
                  <a:pt x="546367" y="53316"/>
                </a:lnTo>
                <a:lnTo>
                  <a:pt x="492047" y="61282"/>
                </a:lnTo>
                <a:lnTo>
                  <a:pt x="440026" y="69717"/>
                </a:lnTo>
                <a:lnTo>
                  <a:pt x="390402" y="78602"/>
                </a:lnTo>
                <a:lnTo>
                  <a:pt x="343272" y="87921"/>
                </a:lnTo>
                <a:lnTo>
                  <a:pt x="298734" y="97657"/>
                </a:lnTo>
                <a:lnTo>
                  <a:pt x="256885" y="107794"/>
                </a:lnTo>
                <a:lnTo>
                  <a:pt x="217823" y="118314"/>
                </a:lnTo>
                <a:lnTo>
                  <a:pt x="148451" y="140436"/>
                </a:lnTo>
                <a:lnTo>
                  <a:pt x="91397" y="163890"/>
                </a:lnTo>
                <a:lnTo>
                  <a:pt x="47444" y="188539"/>
                </a:lnTo>
                <a:lnTo>
                  <a:pt x="17373" y="214249"/>
                </a:lnTo>
                <a:lnTo>
                  <a:pt x="0" y="254507"/>
                </a:lnTo>
                <a:lnTo>
                  <a:pt x="1962" y="267992"/>
                </a:lnTo>
                <a:lnTo>
                  <a:pt x="30625" y="307298"/>
                </a:lnTo>
                <a:lnTo>
                  <a:pt x="67735" y="332366"/>
                </a:lnTo>
                <a:lnTo>
                  <a:pt x="118335" y="356360"/>
                </a:lnTo>
                <a:lnTo>
                  <a:pt x="181646" y="379138"/>
                </a:lnTo>
                <a:lnTo>
                  <a:pt x="256885" y="400556"/>
                </a:lnTo>
                <a:lnTo>
                  <a:pt x="298734" y="410711"/>
                </a:lnTo>
                <a:lnTo>
                  <a:pt x="343272" y="420473"/>
                </a:lnTo>
                <a:lnTo>
                  <a:pt x="390402" y="429824"/>
                </a:lnTo>
                <a:lnTo>
                  <a:pt x="440026" y="438746"/>
                </a:lnTo>
                <a:lnTo>
                  <a:pt x="492047" y="447221"/>
                </a:lnTo>
                <a:lnTo>
                  <a:pt x="546367" y="455232"/>
                </a:lnTo>
                <a:lnTo>
                  <a:pt x="602888" y="462761"/>
                </a:lnTo>
                <a:lnTo>
                  <a:pt x="661513" y="469790"/>
                </a:lnTo>
                <a:lnTo>
                  <a:pt x="722144" y="476301"/>
                </a:lnTo>
                <a:lnTo>
                  <a:pt x="784684" y="482276"/>
                </a:lnTo>
                <a:lnTo>
                  <a:pt x="849034" y="487698"/>
                </a:lnTo>
                <a:lnTo>
                  <a:pt x="915098" y="492549"/>
                </a:lnTo>
                <a:lnTo>
                  <a:pt x="982778" y="496811"/>
                </a:lnTo>
                <a:lnTo>
                  <a:pt x="1051975" y="500466"/>
                </a:lnTo>
                <a:lnTo>
                  <a:pt x="1122594" y="503496"/>
                </a:lnTo>
                <a:lnTo>
                  <a:pt x="1194535" y="505884"/>
                </a:lnTo>
                <a:lnTo>
                  <a:pt x="1267701" y="507612"/>
                </a:lnTo>
                <a:lnTo>
                  <a:pt x="1341995" y="508662"/>
                </a:lnTo>
                <a:lnTo>
                  <a:pt x="1417319" y="509015"/>
                </a:lnTo>
                <a:lnTo>
                  <a:pt x="1492501" y="508662"/>
                </a:lnTo>
                <a:lnTo>
                  <a:pt x="1566661" y="507612"/>
                </a:lnTo>
                <a:lnTo>
                  <a:pt x="1639703" y="505884"/>
                </a:lnTo>
                <a:lnTo>
                  <a:pt x="1711528" y="503496"/>
                </a:lnTo>
                <a:lnTo>
                  <a:pt x="1782039" y="500466"/>
                </a:lnTo>
                <a:lnTo>
                  <a:pt x="1851137" y="496811"/>
                </a:lnTo>
                <a:lnTo>
                  <a:pt x="1918724" y="492549"/>
                </a:lnTo>
                <a:lnTo>
                  <a:pt x="1984703" y="487698"/>
                </a:lnTo>
                <a:lnTo>
                  <a:pt x="2048976" y="482276"/>
                </a:lnTo>
                <a:lnTo>
                  <a:pt x="2111445" y="476301"/>
                </a:lnTo>
                <a:lnTo>
                  <a:pt x="2172011" y="469790"/>
                </a:lnTo>
                <a:lnTo>
                  <a:pt x="2230578" y="462761"/>
                </a:lnTo>
                <a:lnTo>
                  <a:pt x="2287046" y="455232"/>
                </a:lnTo>
                <a:lnTo>
                  <a:pt x="2341319" y="447221"/>
                </a:lnTo>
                <a:lnTo>
                  <a:pt x="2393298" y="438746"/>
                </a:lnTo>
                <a:lnTo>
                  <a:pt x="2442886" y="429824"/>
                </a:lnTo>
                <a:lnTo>
                  <a:pt x="2489983" y="420473"/>
                </a:lnTo>
                <a:lnTo>
                  <a:pt x="2534494" y="410711"/>
                </a:lnTo>
                <a:lnTo>
                  <a:pt x="2576319" y="400556"/>
                </a:lnTo>
                <a:lnTo>
                  <a:pt x="2615360" y="390026"/>
                </a:lnTo>
                <a:lnTo>
                  <a:pt x="2684702" y="367910"/>
                </a:lnTo>
                <a:lnTo>
                  <a:pt x="2741735" y="344506"/>
                </a:lnTo>
                <a:lnTo>
                  <a:pt x="2785677" y="319957"/>
                </a:lnTo>
                <a:lnTo>
                  <a:pt x="2815744" y="294405"/>
                </a:lnTo>
                <a:lnTo>
                  <a:pt x="2833115" y="254507"/>
                </a:lnTo>
                <a:lnTo>
                  <a:pt x="2831153" y="240885"/>
                </a:lnTo>
                <a:lnTo>
                  <a:pt x="2802494" y="201270"/>
                </a:lnTo>
                <a:lnTo>
                  <a:pt x="2765391" y="176073"/>
                </a:lnTo>
                <a:lnTo>
                  <a:pt x="2714806" y="152005"/>
                </a:lnTo>
                <a:lnTo>
                  <a:pt x="2651520" y="129200"/>
                </a:lnTo>
                <a:lnTo>
                  <a:pt x="2576319" y="107794"/>
                </a:lnTo>
                <a:lnTo>
                  <a:pt x="2534494" y="97657"/>
                </a:lnTo>
                <a:lnTo>
                  <a:pt x="2489983" y="87921"/>
                </a:lnTo>
                <a:lnTo>
                  <a:pt x="2442886" y="78602"/>
                </a:lnTo>
                <a:lnTo>
                  <a:pt x="2393298" y="69717"/>
                </a:lnTo>
                <a:lnTo>
                  <a:pt x="2341319" y="61282"/>
                </a:lnTo>
                <a:lnTo>
                  <a:pt x="2287046" y="53316"/>
                </a:lnTo>
                <a:lnTo>
                  <a:pt x="2230578" y="45834"/>
                </a:lnTo>
                <a:lnTo>
                  <a:pt x="2172011" y="38854"/>
                </a:lnTo>
                <a:lnTo>
                  <a:pt x="2111445" y="32392"/>
                </a:lnTo>
                <a:lnTo>
                  <a:pt x="2048976" y="26465"/>
                </a:lnTo>
                <a:lnTo>
                  <a:pt x="1984703" y="21091"/>
                </a:lnTo>
                <a:lnTo>
                  <a:pt x="1918724" y="16285"/>
                </a:lnTo>
                <a:lnTo>
                  <a:pt x="1851137" y="12066"/>
                </a:lnTo>
                <a:lnTo>
                  <a:pt x="1782039" y="8449"/>
                </a:lnTo>
                <a:lnTo>
                  <a:pt x="1711528" y="5452"/>
                </a:lnTo>
                <a:lnTo>
                  <a:pt x="1639703" y="3092"/>
                </a:lnTo>
                <a:lnTo>
                  <a:pt x="1566661" y="1385"/>
                </a:lnTo>
                <a:lnTo>
                  <a:pt x="1492501" y="349"/>
                </a:lnTo>
                <a:lnTo>
                  <a:pt x="1417319" y="0"/>
                </a:lnTo>
                <a:close/>
              </a:path>
            </a:pathLst>
          </a:custGeom>
          <a:ln w="9524">
            <a:solidFill>
              <a:srgbClr val="000000"/>
            </a:solidFill>
          </a:ln>
        </p:spPr>
        <p:txBody>
          <a:bodyPr wrap="square" lIns="0" tIns="0" rIns="0" bIns="0" rtlCol="0"/>
          <a:lstStyle/>
          <a:p>
            <a:endParaRPr/>
          </a:p>
        </p:txBody>
      </p:sp>
      <p:sp>
        <p:nvSpPr>
          <p:cNvPr id="8" name="object 8"/>
          <p:cNvSpPr txBox="1"/>
          <p:nvPr/>
        </p:nvSpPr>
        <p:spPr>
          <a:xfrm>
            <a:off x="6962530" y="5188710"/>
            <a:ext cx="149987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Arial"/>
                <a:cs typeface="Arial"/>
              </a:rPr>
              <a:t>Saldo-deudor</a:t>
            </a:r>
            <a:endParaRPr sz="1800">
              <a:latin typeface="Arial"/>
              <a:cs typeface="Arial"/>
            </a:endParaRPr>
          </a:p>
        </p:txBody>
      </p:sp>
      <p:sp>
        <p:nvSpPr>
          <p:cNvPr id="9" name="object 9"/>
          <p:cNvSpPr txBox="1"/>
          <p:nvPr/>
        </p:nvSpPr>
        <p:spPr>
          <a:xfrm>
            <a:off x="5359786" y="2423160"/>
            <a:ext cx="1620520" cy="381000"/>
          </a:xfrm>
          <a:prstGeom prst="rect">
            <a:avLst/>
          </a:prstGeom>
          <a:ln w="9524">
            <a:solidFill>
              <a:srgbClr val="000000"/>
            </a:solidFill>
          </a:ln>
        </p:spPr>
        <p:txBody>
          <a:bodyPr vert="horz" wrap="square" lIns="0" tIns="45719" rIns="0" bIns="0" rtlCol="0">
            <a:spAutoFit/>
          </a:bodyPr>
          <a:lstStyle/>
          <a:p>
            <a:pPr marL="421640">
              <a:lnSpc>
                <a:spcPct val="100000"/>
              </a:lnSpc>
              <a:spcBef>
                <a:spcPts val="359"/>
              </a:spcBef>
            </a:pPr>
            <a:r>
              <a:rPr sz="1800" b="1" spc="-10" dirty="0">
                <a:latin typeface="Arial"/>
                <a:cs typeface="Arial"/>
              </a:rPr>
              <a:t>Cuenta</a:t>
            </a:r>
            <a:endParaRPr sz="1800">
              <a:latin typeface="Arial"/>
              <a:cs typeface="Arial"/>
            </a:endParaRPr>
          </a:p>
        </p:txBody>
      </p:sp>
      <p:sp>
        <p:nvSpPr>
          <p:cNvPr id="10" name="object 10"/>
          <p:cNvSpPr/>
          <p:nvPr/>
        </p:nvSpPr>
        <p:spPr>
          <a:xfrm>
            <a:off x="3797686" y="1277111"/>
            <a:ext cx="2024380" cy="763905"/>
          </a:xfrm>
          <a:custGeom>
            <a:avLst/>
            <a:gdLst/>
            <a:ahLst/>
            <a:cxnLst/>
            <a:rect l="l" t="t" r="r" b="b"/>
            <a:pathLst>
              <a:path w="2024379" h="763905">
                <a:moveTo>
                  <a:pt x="1011935" y="0"/>
                </a:moveTo>
                <a:lnTo>
                  <a:pt x="945521" y="811"/>
                </a:lnTo>
                <a:lnTo>
                  <a:pt x="880237" y="3210"/>
                </a:lnTo>
                <a:lnTo>
                  <a:pt x="816216" y="7149"/>
                </a:lnTo>
                <a:lnTo>
                  <a:pt x="753594" y="12578"/>
                </a:lnTo>
                <a:lnTo>
                  <a:pt x="692505" y="19446"/>
                </a:lnTo>
                <a:lnTo>
                  <a:pt x="633084" y="27704"/>
                </a:lnTo>
                <a:lnTo>
                  <a:pt x="575466" y="37302"/>
                </a:lnTo>
                <a:lnTo>
                  <a:pt x="519784" y="48190"/>
                </a:lnTo>
                <a:lnTo>
                  <a:pt x="466175" y="60319"/>
                </a:lnTo>
                <a:lnTo>
                  <a:pt x="414771" y="73639"/>
                </a:lnTo>
                <a:lnTo>
                  <a:pt x="365709" y="88100"/>
                </a:lnTo>
                <a:lnTo>
                  <a:pt x="319122" y="103653"/>
                </a:lnTo>
                <a:lnTo>
                  <a:pt x="275145" y="120247"/>
                </a:lnTo>
                <a:lnTo>
                  <a:pt x="233912" y="137833"/>
                </a:lnTo>
                <a:lnTo>
                  <a:pt x="195559" y="156362"/>
                </a:lnTo>
                <a:lnTo>
                  <a:pt x="160220" y="175783"/>
                </a:lnTo>
                <a:lnTo>
                  <a:pt x="99121" y="217103"/>
                </a:lnTo>
                <a:lnTo>
                  <a:pt x="51694" y="261396"/>
                </a:lnTo>
                <a:lnTo>
                  <a:pt x="19013" y="308264"/>
                </a:lnTo>
                <a:lnTo>
                  <a:pt x="2157" y="357309"/>
                </a:lnTo>
                <a:lnTo>
                  <a:pt x="0" y="382523"/>
                </a:lnTo>
                <a:lnTo>
                  <a:pt x="2157" y="407562"/>
                </a:lnTo>
                <a:lnTo>
                  <a:pt x="19013" y="456298"/>
                </a:lnTo>
                <a:lnTo>
                  <a:pt x="51694" y="502907"/>
                </a:lnTo>
                <a:lnTo>
                  <a:pt x="99121" y="546989"/>
                </a:lnTo>
                <a:lnTo>
                  <a:pt x="160220" y="588140"/>
                </a:lnTo>
                <a:lnTo>
                  <a:pt x="195559" y="607490"/>
                </a:lnTo>
                <a:lnTo>
                  <a:pt x="233912" y="625957"/>
                </a:lnTo>
                <a:lnTo>
                  <a:pt x="275145" y="643490"/>
                </a:lnTo>
                <a:lnTo>
                  <a:pt x="319122" y="660039"/>
                </a:lnTo>
                <a:lnTo>
                  <a:pt x="365709" y="675552"/>
                </a:lnTo>
                <a:lnTo>
                  <a:pt x="414771" y="689981"/>
                </a:lnTo>
                <a:lnTo>
                  <a:pt x="466175" y="703275"/>
                </a:lnTo>
                <a:lnTo>
                  <a:pt x="519784" y="715383"/>
                </a:lnTo>
                <a:lnTo>
                  <a:pt x="575466" y="726255"/>
                </a:lnTo>
                <a:lnTo>
                  <a:pt x="633084" y="735840"/>
                </a:lnTo>
                <a:lnTo>
                  <a:pt x="692505" y="744089"/>
                </a:lnTo>
                <a:lnTo>
                  <a:pt x="753594" y="750951"/>
                </a:lnTo>
                <a:lnTo>
                  <a:pt x="816216" y="756376"/>
                </a:lnTo>
                <a:lnTo>
                  <a:pt x="880237" y="760313"/>
                </a:lnTo>
                <a:lnTo>
                  <a:pt x="945521" y="762713"/>
                </a:lnTo>
                <a:lnTo>
                  <a:pt x="1011935" y="763523"/>
                </a:lnTo>
                <a:lnTo>
                  <a:pt x="1078518" y="762713"/>
                </a:lnTo>
                <a:lnTo>
                  <a:pt x="1143944" y="760313"/>
                </a:lnTo>
                <a:lnTo>
                  <a:pt x="1208080" y="756376"/>
                </a:lnTo>
                <a:lnTo>
                  <a:pt x="1270793" y="750951"/>
                </a:lnTo>
                <a:lnTo>
                  <a:pt x="1331951" y="744089"/>
                </a:lnTo>
                <a:lnTo>
                  <a:pt x="1391421" y="735840"/>
                </a:lnTo>
                <a:lnTo>
                  <a:pt x="1449069" y="726255"/>
                </a:lnTo>
                <a:lnTo>
                  <a:pt x="1504763" y="715383"/>
                </a:lnTo>
                <a:lnTo>
                  <a:pt x="1558370" y="703275"/>
                </a:lnTo>
                <a:lnTo>
                  <a:pt x="1609758" y="689981"/>
                </a:lnTo>
                <a:lnTo>
                  <a:pt x="1658793" y="675552"/>
                </a:lnTo>
                <a:lnTo>
                  <a:pt x="1705343" y="660039"/>
                </a:lnTo>
                <a:lnTo>
                  <a:pt x="1749274" y="643490"/>
                </a:lnTo>
                <a:lnTo>
                  <a:pt x="1790454" y="625957"/>
                </a:lnTo>
                <a:lnTo>
                  <a:pt x="1828751" y="607490"/>
                </a:lnTo>
                <a:lnTo>
                  <a:pt x="1864030" y="588140"/>
                </a:lnTo>
                <a:lnTo>
                  <a:pt x="1925008" y="546989"/>
                </a:lnTo>
                <a:lnTo>
                  <a:pt x="1972324" y="502907"/>
                </a:lnTo>
                <a:lnTo>
                  <a:pt x="2004916" y="456298"/>
                </a:lnTo>
                <a:lnTo>
                  <a:pt x="2021721" y="407562"/>
                </a:lnTo>
                <a:lnTo>
                  <a:pt x="2023871" y="382523"/>
                </a:lnTo>
                <a:lnTo>
                  <a:pt x="2021721" y="357309"/>
                </a:lnTo>
                <a:lnTo>
                  <a:pt x="2004916" y="308264"/>
                </a:lnTo>
                <a:lnTo>
                  <a:pt x="1972324" y="261396"/>
                </a:lnTo>
                <a:lnTo>
                  <a:pt x="1925008" y="217103"/>
                </a:lnTo>
                <a:lnTo>
                  <a:pt x="1864030" y="175783"/>
                </a:lnTo>
                <a:lnTo>
                  <a:pt x="1828751" y="156362"/>
                </a:lnTo>
                <a:lnTo>
                  <a:pt x="1790454" y="137833"/>
                </a:lnTo>
                <a:lnTo>
                  <a:pt x="1749274" y="120247"/>
                </a:lnTo>
                <a:lnTo>
                  <a:pt x="1705343" y="103653"/>
                </a:lnTo>
                <a:lnTo>
                  <a:pt x="1658793" y="88100"/>
                </a:lnTo>
                <a:lnTo>
                  <a:pt x="1609758" y="73639"/>
                </a:lnTo>
                <a:lnTo>
                  <a:pt x="1558370" y="60319"/>
                </a:lnTo>
                <a:lnTo>
                  <a:pt x="1504763" y="48190"/>
                </a:lnTo>
                <a:lnTo>
                  <a:pt x="1449069" y="37302"/>
                </a:lnTo>
                <a:lnTo>
                  <a:pt x="1391421" y="27704"/>
                </a:lnTo>
                <a:lnTo>
                  <a:pt x="1331951" y="19446"/>
                </a:lnTo>
                <a:lnTo>
                  <a:pt x="1270793" y="12578"/>
                </a:lnTo>
                <a:lnTo>
                  <a:pt x="1208080" y="7149"/>
                </a:lnTo>
                <a:lnTo>
                  <a:pt x="1143944" y="3210"/>
                </a:lnTo>
                <a:lnTo>
                  <a:pt x="1078518" y="811"/>
                </a:lnTo>
                <a:lnTo>
                  <a:pt x="1011935" y="0"/>
                </a:lnTo>
                <a:close/>
              </a:path>
            </a:pathLst>
          </a:custGeom>
          <a:ln w="9524">
            <a:solidFill>
              <a:srgbClr val="000000"/>
            </a:solidFill>
          </a:ln>
        </p:spPr>
        <p:txBody>
          <a:bodyPr wrap="square" lIns="0" tIns="0" rIns="0" bIns="0" rtlCol="0"/>
          <a:lstStyle/>
          <a:p>
            <a:endParaRPr/>
          </a:p>
        </p:txBody>
      </p:sp>
      <p:sp>
        <p:nvSpPr>
          <p:cNvPr id="11" name="object 11"/>
          <p:cNvSpPr txBox="1"/>
          <p:nvPr/>
        </p:nvSpPr>
        <p:spPr>
          <a:xfrm>
            <a:off x="4150752" y="1406143"/>
            <a:ext cx="964565" cy="575945"/>
          </a:xfrm>
          <a:prstGeom prst="rect">
            <a:avLst/>
          </a:prstGeom>
        </p:spPr>
        <p:txBody>
          <a:bodyPr vert="horz" wrap="square" lIns="0" tIns="10795" rIns="0" bIns="0" rtlCol="0">
            <a:spAutoFit/>
          </a:bodyPr>
          <a:lstStyle/>
          <a:p>
            <a:pPr marL="12700" marR="5080">
              <a:lnSpc>
                <a:spcPct val="100600"/>
              </a:lnSpc>
              <a:spcBef>
                <a:spcPts val="85"/>
              </a:spcBef>
            </a:pPr>
            <a:r>
              <a:rPr sz="1800" b="1" dirty="0">
                <a:latin typeface="Arial"/>
                <a:cs typeface="Arial"/>
              </a:rPr>
              <a:t>Número-</a:t>
            </a:r>
            <a:r>
              <a:rPr sz="1800" b="1" spc="-10" dirty="0">
                <a:latin typeface="Arial"/>
                <a:cs typeface="Arial"/>
              </a:rPr>
              <a:t>cuenta</a:t>
            </a:r>
            <a:endParaRPr sz="1800">
              <a:latin typeface="Arial"/>
              <a:cs typeface="Arial"/>
            </a:endParaRPr>
          </a:p>
        </p:txBody>
      </p:sp>
      <p:sp>
        <p:nvSpPr>
          <p:cNvPr id="12" name="object 12"/>
          <p:cNvSpPr/>
          <p:nvPr/>
        </p:nvSpPr>
        <p:spPr>
          <a:xfrm>
            <a:off x="6632326" y="1531619"/>
            <a:ext cx="1618615" cy="509270"/>
          </a:xfrm>
          <a:custGeom>
            <a:avLst/>
            <a:gdLst/>
            <a:ahLst/>
            <a:cxnLst/>
            <a:rect l="l" t="t" r="r" b="b"/>
            <a:pathLst>
              <a:path w="1618615" h="509269">
                <a:moveTo>
                  <a:pt x="809243" y="0"/>
                </a:moveTo>
                <a:lnTo>
                  <a:pt x="739476" y="936"/>
                </a:lnTo>
                <a:lnTo>
                  <a:pt x="671345" y="3696"/>
                </a:lnTo>
                <a:lnTo>
                  <a:pt x="605095" y="8200"/>
                </a:lnTo>
                <a:lnTo>
                  <a:pt x="540971" y="14373"/>
                </a:lnTo>
                <a:lnTo>
                  <a:pt x="479215" y="22135"/>
                </a:lnTo>
                <a:lnTo>
                  <a:pt x="420072" y="31411"/>
                </a:lnTo>
                <a:lnTo>
                  <a:pt x="363786" y="42122"/>
                </a:lnTo>
                <a:lnTo>
                  <a:pt x="310602" y="54192"/>
                </a:lnTo>
                <a:lnTo>
                  <a:pt x="260761" y="67544"/>
                </a:lnTo>
                <a:lnTo>
                  <a:pt x="214510" y="82099"/>
                </a:lnTo>
                <a:lnTo>
                  <a:pt x="172092" y="97780"/>
                </a:lnTo>
                <a:lnTo>
                  <a:pt x="133750" y="114511"/>
                </a:lnTo>
                <a:lnTo>
                  <a:pt x="99729" y="132213"/>
                </a:lnTo>
                <a:lnTo>
                  <a:pt x="45625" y="170225"/>
                </a:lnTo>
                <a:lnTo>
                  <a:pt x="11731" y="211196"/>
                </a:lnTo>
                <a:lnTo>
                  <a:pt x="0" y="254507"/>
                </a:lnTo>
                <a:lnTo>
                  <a:pt x="2973" y="276633"/>
                </a:lnTo>
                <a:lnTo>
                  <a:pt x="26030" y="319148"/>
                </a:lnTo>
                <a:lnTo>
                  <a:pt x="70273" y="358858"/>
                </a:lnTo>
                <a:lnTo>
                  <a:pt x="133750" y="395176"/>
                </a:lnTo>
                <a:lnTo>
                  <a:pt x="172092" y="411880"/>
                </a:lnTo>
                <a:lnTo>
                  <a:pt x="214510" y="427516"/>
                </a:lnTo>
                <a:lnTo>
                  <a:pt x="260761" y="442011"/>
                </a:lnTo>
                <a:lnTo>
                  <a:pt x="310602" y="455292"/>
                </a:lnTo>
                <a:lnTo>
                  <a:pt x="363786" y="467284"/>
                </a:lnTo>
                <a:lnTo>
                  <a:pt x="420072" y="477916"/>
                </a:lnTo>
                <a:lnTo>
                  <a:pt x="479215" y="487113"/>
                </a:lnTo>
                <a:lnTo>
                  <a:pt x="540971" y="494802"/>
                </a:lnTo>
                <a:lnTo>
                  <a:pt x="605095" y="500911"/>
                </a:lnTo>
                <a:lnTo>
                  <a:pt x="671345" y="505364"/>
                </a:lnTo>
                <a:lnTo>
                  <a:pt x="739476" y="508091"/>
                </a:lnTo>
                <a:lnTo>
                  <a:pt x="809243" y="509015"/>
                </a:lnTo>
                <a:lnTo>
                  <a:pt x="879011" y="508091"/>
                </a:lnTo>
                <a:lnTo>
                  <a:pt x="947142" y="505364"/>
                </a:lnTo>
                <a:lnTo>
                  <a:pt x="1013392" y="500911"/>
                </a:lnTo>
                <a:lnTo>
                  <a:pt x="1077516" y="494802"/>
                </a:lnTo>
                <a:lnTo>
                  <a:pt x="1139272" y="487113"/>
                </a:lnTo>
                <a:lnTo>
                  <a:pt x="1198415" y="477916"/>
                </a:lnTo>
                <a:lnTo>
                  <a:pt x="1254701" y="467284"/>
                </a:lnTo>
                <a:lnTo>
                  <a:pt x="1307885" y="455292"/>
                </a:lnTo>
                <a:lnTo>
                  <a:pt x="1357725" y="442011"/>
                </a:lnTo>
                <a:lnTo>
                  <a:pt x="1403977" y="427516"/>
                </a:lnTo>
                <a:lnTo>
                  <a:pt x="1446395" y="411880"/>
                </a:lnTo>
                <a:lnTo>
                  <a:pt x="1484737" y="395176"/>
                </a:lnTo>
                <a:lnTo>
                  <a:pt x="1518758" y="377478"/>
                </a:lnTo>
                <a:lnTo>
                  <a:pt x="1572862" y="339390"/>
                </a:lnTo>
                <a:lnTo>
                  <a:pt x="1606756" y="298205"/>
                </a:lnTo>
                <a:lnTo>
                  <a:pt x="1618487" y="254507"/>
                </a:lnTo>
                <a:lnTo>
                  <a:pt x="1615514" y="232598"/>
                </a:lnTo>
                <a:lnTo>
                  <a:pt x="1592457" y="190379"/>
                </a:lnTo>
                <a:lnTo>
                  <a:pt x="1548214" y="150810"/>
                </a:lnTo>
                <a:lnTo>
                  <a:pt x="1484737" y="114511"/>
                </a:lnTo>
                <a:lnTo>
                  <a:pt x="1446395" y="97780"/>
                </a:lnTo>
                <a:lnTo>
                  <a:pt x="1403977" y="82099"/>
                </a:lnTo>
                <a:lnTo>
                  <a:pt x="1357725" y="67544"/>
                </a:lnTo>
                <a:lnTo>
                  <a:pt x="1307885" y="54192"/>
                </a:lnTo>
                <a:lnTo>
                  <a:pt x="1254701" y="42122"/>
                </a:lnTo>
                <a:lnTo>
                  <a:pt x="1198415" y="31411"/>
                </a:lnTo>
                <a:lnTo>
                  <a:pt x="1139272" y="22135"/>
                </a:lnTo>
                <a:lnTo>
                  <a:pt x="1077516" y="14373"/>
                </a:lnTo>
                <a:lnTo>
                  <a:pt x="1013392" y="8200"/>
                </a:lnTo>
                <a:lnTo>
                  <a:pt x="947142" y="3696"/>
                </a:lnTo>
                <a:lnTo>
                  <a:pt x="879011" y="936"/>
                </a:lnTo>
                <a:lnTo>
                  <a:pt x="809243" y="0"/>
                </a:lnTo>
                <a:close/>
              </a:path>
            </a:pathLst>
          </a:custGeom>
          <a:ln w="9524">
            <a:solidFill>
              <a:srgbClr val="000000"/>
            </a:solidFill>
          </a:ln>
        </p:spPr>
        <p:txBody>
          <a:bodyPr wrap="square" lIns="0" tIns="0" rIns="0" bIns="0" rtlCol="0"/>
          <a:lstStyle/>
          <a:p>
            <a:endParaRPr/>
          </a:p>
        </p:txBody>
      </p:sp>
      <p:sp>
        <p:nvSpPr>
          <p:cNvPr id="13" name="object 13"/>
          <p:cNvSpPr txBox="1"/>
          <p:nvPr/>
        </p:nvSpPr>
        <p:spPr>
          <a:xfrm>
            <a:off x="6925954" y="1624075"/>
            <a:ext cx="64833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Arial"/>
                <a:cs typeface="Arial"/>
              </a:rPr>
              <a:t>Saldo</a:t>
            </a:r>
            <a:endParaRPr sz="1800">
              <a:latin typeface="Arial"/>
              <a:cs typeface="Arial"/>
            </a:endParaRPr>
          </a:p>
        </p:txBody>
      </p:sp>
      <p:sp>
        <p:nvSpPr>
          <p:cNvPr id="14" name="object 14"/>
          <p:cNvSpPr/>
          <p:nvPr/>
        </p:nvSpPr>
        <p:spPr>
          <a:xfrm>
            <a:off x="4809621" y="2040635"/>
            <a:ext cx="809625" cy="382905"/>
          </a:xfrm>
          <a:custGeom>
            <a:avLst/>
            <a:gdLst/>
            <a:ahLst/>
            <a:cxnLst/>
            <a:rect l="l" t="t" r="r" b="b"/>
            <a:pathLst>
              <a:path w="809625" h="382905">
                <a:moveTo>
                  <a:pt x="0" y="0"/>
                </a:moveTo>
                <a:lnTo>
                  <a:pt x="809243" y="382523"/>
                </a:lnTo>
              </a:path>
            </a:pathLst>
          </a:custGeom>
          <a:ln w="9524">
            <a:solidFill>
              <a:srgbClr val="000000"/>
            </a:solidFill>
          </a:ln>
        </p:spPr>
        <p:txBody>
          <a:bodyPr wrap="square" lIns="0" tIns="0" rIns="0" bIns="0" rtlCol="0"/>
          <a:lstStyle/>
          <a:p>
            <a:endParaRPr/>
          </a:p>
        </p:txBody>
      </p:sp>
      <p:sp>
        <p:nvSpPr>
          <p:cNvPr id="15" name="object 15"/>
          <p:cNvSpPr/>
          <p:nvPr/>
        </p:nvSpPr>
        <p:spPr>
          <a:xfrm>
            <a:off x="6428109" y="2040635"/>
            <a:ext cx="1013460" cy="382905"/>
          </a:xfrm>
          <a:custGeom>
            <a:avLst/>
            <a:gdLst/>
            <a:ahLst/>
            <a:cxnLst/>
            <a:rect l="l" t="t" r="r" b="b"/>
            <a:pathLst>
              <a:path w="1013459" h="382905">
                <a:moveTo>
                  <a:pt x="1013459" y="0"/>
                </a:moveTo>
                <a:lnTo>
                  <a:pt x="0" y="382523"/>
                </a:lnTo>
              </a:path>
            </a:pathLst>
          </a:custGeom>
          <a:ln w="9524">
            <a:solidFill>
              <a:srgbClr val="000000"/>
            </a:solidFill>
          </a:ln>
        </p:spPr>
        <p:txBody>
          <a:bodyPr wrap="square" lIns="0" tIns="0" rIns="0" bIns="0" rtlCol="0"/>
          <a:lstStyle/>
          <a:p>
            <a:endParaRPr/>
          </a:p>
        </p:txBody>
      </p:sp>
      <p:sp>
        <p:nvSpPr>
          <p:cNvPr id="16" name="object 16"/>
          <p:cNvSpPr/>
          <p:nvPr/>
        </p:nvSpPr>
        <p:spPr>
          <a:xfrm>
            <a:off x="4404238" y="2804159"/>
            <a:ext cx="3526790" cy="1400810"/>
          </a:xfrm>
          <a:custGeom>
            <a:avLst/>
            <a:gdLst/>
            <a:ahLst/>
            <a:cxnLst/>
            <a:rect l="l" t="t" r="r" b="b"/>
            <a:pathLst>
              <a:path w="3526790" h="1400810">
                <a:moveTo>
                  <a:pt x="1781555" y="1019555"/>
                </a:moveTo>
                <a:lnTo>
                  <a:pt x="2894075" y="254507"/>
                </a:lnTo>
                <a:lnTo>
                  <a:pt x="669035" y="254507"/>
                </a:lnTo>
                <a:lnTo>
                  <a:pt x="1781555" y="1019555"/>
                </a:lnTo>
                <a:close/>
              </a:path>
              <a:path w="3526790" h="1400810">
                <a:moveTo>
                  <a:pt x="1760219" y="0"/>
                </a:moveTo>
                <a:lnTo>
                  <a:pt x="1760219" y="254507"/>
                </a:lnTo>
              </a:path>
              <a:path w="3526790" h="1400810">
                <a:moveTo>
                  <a:pt x="1214627" y="637031"/>
                </a:moveTo>
                <a:lnTo>
                  <a:pt x="0" y="1400555"/>
                </a:lnTo>
              </a:path>
              <a:path w="3526790" h="1400810">
                <a:moveTo>
                  <a:pt x="2311907" y="637031"/>
                </a:moveTo>
                <a:lnTo>
                  <a:pt x="3526535" y="1400555"/>
                </a:lnTo>
              </a:path>
            </a:pathLst>
          </a:custGeom>
          <a:ln w="9524">
            <a:solidFill>
              <a:srgbClr val="000000"/>
            </a:solidFill>
          </a:ln>
        </p:spPr>
        <p:txBody>
          <a:bodyPr wrap="square" lIns="0" tIns="0" rIns="0" bIns="0" rtlCol="0"/>
          <a:lstStyle/>
          <a:p>
            <a:endParaRPr/>
          </a:p>
        </p:txBody>
      </p:sp>
      <p:sp>
        <p:nvSpPr>
          <p:cNvPr id="17" name="object 17"/>
          <p:cNvSpPr/>
          <p:nvPr/>
        </p:nvSpPr>
        <p:spPr>
          <a:xfrm>
            <a:off x="4203069" y="4587239"/>
            <a:ext cx="0" cy="509270"/>
          </a:xfrm>
          <a:custGeom>
            <a:avLst/>
            <a:gdLst/>
            <a:ahLst/>
            <a:cxnLst/>
            <a:rect l="l" t="t" r="r" b="b"/>
            <a:pathLst>
              <a:path h="509270">
                <a:moveTo>
                  <a:pt x="0" y="0"/>
                </a:moveTo>
                <a:lnTo>
                  <a:pt x="0" y="509015"/>
                </a:lnTo>
              </a:path>
            </a:pathLst>
          </a:custGeom>
          <a:ln w="9524">
            <a:solidFill>
              <a:srgbClr val="000000"/>
            </a:solidFill>
          </a:ln>
        </p:spPr>
        <p:txBody>
          <a:bodyPr wrap="square" lIns="0" tIns="0" rIns="0" bIns="0" rtlCol="0"/>
          <a:lstStyle/>
          <a:p>
            <a:endParaRPr/>
          </a:p>
        </p:txBody>
      </p:sp>
      <p:sp>
        <p:nvSpPr>
          <p:cNvPr id="18" name="object 18"/>
          <p:cNvSpPr/>
          <p:nvPr/>
        </p:nvSpPr>
        <p:spPr>
          <a:xfrm>
            <a:off x="7846953" y="4587239"/>
            <a:ext cx="0" cy="509270"/>
          </a:xfrm>
          <a:custGeom>
            <a:avLst/>
            <a:gdLst/>
            <a:ahLst/>
            <a:cxnLst/>
            <a:rect l="l" t="t" r="r" b="b"/>
            <a:pathLst>
              <a:path h="509270">
                <a:moveTo>
                  <a:pt x="0" y="0"/>
                </a:moveTo>
                <a:lnTo>
                  <a:pt x="0" y="509015"/>
                </a:lnTo>
              </a:path>
            </a:pathLst>
          </a:custGeom>
          <a:ln w="9524">
            <a:solidFill>
              <a:srgbClr val="000000"/>
            </a:solidFill>
          </a:ln>
        </p:spPr>
        <p:txBody>
          <a:bodyPr wrap="square" lIns="0" tIns="0" rIns="0" bIns="0" rtlCol="0"/>
          <a:lstStyle/>
          <a:p>
            <a:endParaRPr/>
          </a:p>
        </p:txBody>
      </p:sp>
      <p:sp>
        <p:nvSpPr>
          <p:cNvPr id="19" name="object 19"/>
          <p:cNvSpPr txBox="1"/>
          <p:nvPr/>
        </p:nvSpPr>
        <p:spPr>
          <a:xfrm>
            <a:off x="5996315" y="3163314"/>
            <a:ext cx="536575" cy="299720"/>
          </a:xfrm>
          <a:prstGeom prst="rect">
            <a:avLst/>
          </a:prstGeom>
        </p:spPr>
        <p:txBody>
          <a:bodyPr vert="horz" wrap="square" lIns="0" tIns="12700" rIns="0" bIns="0" rtlCol="0">
            <a:spAutoFit/>
          </a:bodyPr>
          <a:lstStyle/>
          <a:p>
            <a:pPr marL="12700">
              <a:lnSpc>
                <a:spcPct val="100000"/>
              </a:lnSpc>
              <a:spcBef>
                <a:spcPts val="100"/>
              </a:spcBef>
            </a:pPr>
            <a:r>
              <a:rPr sz="1800" b="1" spc="-20" dirty="0">
                <a:latin typeface="Arial"/>
                <a:cs typeface="Arial"/>
              </a:rPr>
              <a:t>IS_A</a:t>
            </a:r>
            <a:endParaRPr sz="1800">
              <a:latin typeface="Arial"/>
              <a:cs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47980" rIns="0" bIns="0" rtlCol="0">
            <a:spAutoFit/>
          </a:bodyPr>
          <a:lstStyle/>
          <a:p>
            <a:pPr marL="693420">
              <a:lnSpc>
                <a:spcPct val="100000"/>
              </a:lnSpc>
              <a:spcBef>
                <a:spcPts val="100"/>
              </a:spcBef>
            </a:pPr>
            <a:r>
              <a:rPr dirty="0"/>
              <a:t>Generalización</a:t>
            </a:r>
            <a:r>
              <a:rPr spc="-50" dirty="0"/>
              <a:t> </a:t>
            </a:r>
            <a:r>
              <a:rPr dirty="0"/>
              <a:t>y</a:t>
            </a:r>
            <a:r>
              <a:rPr spc="-40" dirty="0"/>
              <a:t> </a:t>
            </a:r>
            <a:r>
              <a:rPr spc="-10" dirty="0"/>
              <a:t>Especialización</a:t>
            </a:r>
          </a:p>
        </p:txBody>
      </p:sp>
      <p:sp>
        <p:nvSpPr>
          <p:cNvPr id="3" name="object 3"/>
          <p:cNvSpPr txBox="1">
            <a:spLocks noGrp="1"/>
          </p:cNvSpPr>
          <p:nvPr>
            <p:ph idx="1"/>
          </p:nvPr>
        </p:nvSpPr>
        <p:spPr>
          <a:xfrm>
            <a:off x="2271547" y="2350911"/>
            <a:ext cx="7708960" cy="1566160"/>
          </a:xfrm>
          <a:prstGeom prst="rect">
            <a:avLst/>
          </a:prstGeom>
        </p:spPr>
        <p:txBody>
          <a:bodyPr vert="horz" wrap="square" lIns="0" tIns="606323" rIns="0" bIns="0" rtlCol="0">
            <a:spAutoFit/>
          </a:bodyPr>
          <a:lstStyle/>
          <a:p>
            <a:pPr marL="0" indent="0" algn="ctr">
              <a:lnSpc>
                <a:spcPct val="100000"/>
              </a:lnSpc>
              <a:spcBef>
                <a:spcPts val="434"/>
              </a:spcBef>
              <a:buNone/>
            </a:pPr>
            <a:r>
              <a:rPr spc="-10" dirty="0" err="1" smtClean="0"/>
              <a:t>Generalización</a:t>
            </a:r>
            <a:r>
              <a:rPr lang="es-ES" spc="-10" dirty="0" smtClean="0"/>
              <a:t>: </a:t>
            </a:r>
            <a:r>
              <a:rPr b="0" dirty="0" err="1" smtClean="0">
                <a:latin typeface="Arial MT"/>
                <a:cs typeface="Arial MT"/>
              </a:rPr>
              <a:t>es</a:t>
            </a:r>
            <a:r>
              <a:rPr b="0" spc="-55" dirty="0" smtClean="0">
                <a:latin typeface="Arial MT"/>
                <a:cs typeface="Arial MT"/>
              </a:rPr>
              <a:t> </a:t>
            </a:r>
            <a:r>
              <a:rPr b="0" dirty="0">
                <a:latin typeface="Arial MT"/>
                <a:cs typeface="Arial MT"/>
              </a:rPr>
              <a:t>una</a:t>
            </a:r>
            <a:r>
              <a:rPr b="0" spc="-50" dirty="0">
                <a:latin typeface="Arial MT"/>
                <a:cs typeface="Arial MT"/>
              </a:rPr>
              <a:t> </a:t>
            </a:r>
            <a:r>
              <a:rPr dirty="0"/>
              <a:t>relación</a:t>
            </a:r>
            <a:r>
              <a:rPr spc="-55" dirty="0"/>
              <a:t> </a:t>
            </a:r>
            <a:r>
              <a:rPr dirty="0"/>
              <a:t>de</a:t>
            </a:r>
            <a:r>
              <a:rPr spc="-45" dirty="0"/>
              <a:t> </a:t>
            </a:r>
            <a:r>
              <a:rPr spc="-10" dirty="0" err="1" smtClean="0"/>
              <a:t>inclusión</a:t>
            </a:r>
            <a:r>
              <a:rPr lang="es-ES" spc="-10" dirty="0" smtClean="0"/>
              <a:t> </a:t>
            </a:r>
            <a:r>
              <a:rPr b="0" dirty="0" smtClean="0">
                <a:latin typeface="Arial MT"/>
                <a:cs typeface="Arial MT"/>
              </a:rPr>
              <a:t>que</a:t>
            </a:r>
            <a:r>
              <a:rPr b="0" spc="-50" dirty="0" smtClean="0">
                <a:latin typeface="Arial MT"/>
                <a:cs typeface="Arial MT"/>
              </a:rPr>
              <a:t> </a:t>
            </a:r>
            <a:r>
              <a:rPr b="0" dirty="0">
                <a:latin typeface="Arial MT"/>
                <a:cs typeface="Arial MT"/>
              </a:rPr>
              <a:t>existe</a:t>
            </a:r>
            <a:r>
              <a:rPr b="0" spc="-50" dirty="0">
                <a:latin typeface="Arial MT"/>
                <a:cs typeface="Arial MT"/>
              </a:rPr>
              <a:t> </a:t>
            </a:r>
            <a:r>
              <a:rPr b="0" dirty="0">
                <a:latin typeface="Arial MT"/>
                <a:cs typeface="Arial MT"/>
              </a:rPr>
              <a:t>entre</a:t>
            </a:r>
            <a:r>
              <a:rPr b="0" spc="-50" dirty="0">
                <a:latin typeface="Arial MT"/>
                <a:cs typeface="Arial MT"/>
              </a:rPr>
              <a:t> </a:t>
            </a:r>
            <a:r>
              <a:rPr b="0" dirty="0">
                <a:latin typeface="Arial MT"/>
                <a:cs typeface="Arial MT"/>
              </a:rPr>
              <a:t>una</a:t>
            </a:r>
            <a:r>
              <a:rPr b="0" spc="-55" dirty="0">
                <a:latin typeface="Arial MT"/>
                <a:cs typeface="Arial MT"/>
              </a:rPr>
              <a:t> </a:t>
            </a:r>
            <a:r>
              <a:rPr dirty="0"/>
              <a:t>entidad</a:t>
            </a:r>
            <a:r>
              <a:rPr spc="-60" dirty="0"/>
              <a:t> </a:t>
            </a:r>
            <a:r>
              <a:rPr dirty="0"/>
              <a:t>de</a:t>
            </a:r>
            <a:r>
              <a:rPr spc="-50" dirty="0"/>
              <a:t> </a:t>
            </a:r>
            <a:r>
              <a:rPr dirty="0" err="1"/>
              <a:t>nivel</a:t>
            </a:r>
            <a:r>
              <a:rPr spc="-55" dirty="0"/>
              <a:t> </a:t>
            </a:r>
            <a:r>
              <a:rPr spc="-25" dirty="0" err="1" smtClean="0"/>
              <a:t>más</a:t>
            </a:r>
            <a:r>
              <a:rPr lang="es-ES" spc="-25" dirty="0" smtClean="0"/>
              <a:t> </a:t>
            </a:r>
            <a:r>
              <a:rPr spc="-20" dirty="0" smtClean="0"/>
              <a:t>alto</a:t>
            </a:r>
            <a:r>
              <a:rPr lang="es-ES" spc="-20" dirty="0" smtClean="0"/>
              <a:t> </a:t>
            </a:r>
            <a:r>
              <a:rPr b="0" dirty="0" smtClean="0">
                <a:latin typeface="Arial MT"/>
                <a:cs typeface="Arial MT"/>
              </a:rPr>
              <a:t>y</a:t>
            </a:r>
            <a:r>
              <a:rPr b="0" spc="-45" dirty="0" smtClean="0">
                <a:latin typeface="Arial MT"/>
                <a:cs typeface="Arial MT"/>
              </a:rPr>
              <a:t> </a:t>
            </a:r>
            <a:r>
              <a:rPr b="0" dirty="0">
                <a:latin typeface="Arial MT"/>
                <a:cs typeface="Arial MT"/>
              </a:rPr>
              <a:t>una</a:t>
            </a:r>
            <a:r>
              <a:rPr b="0" spc="-45" dirty="0">
                <a:latin typeface="Arial MT"/>
                <a:cs typeface="Arial MT"/>
              </a:rPr>
              <a:t> </a:t>
            </a:r>
            <a:r>
              <a:rPr b="0" dirty="0">
                <a:latin typeface="Arial MT"/>
                <a:cs typeface="Arial MT"/>
              </a:rPr>
              <a:t>o</a:t>
            </a:r>
            <a:r>
              <a:rPr b="0" spc="-55" dirty="0">
                <a:latin typeface="Arial MT"/>
                <a:cs typeface="Arial MT"/>
              </a:rPr>
              <a:t> </a:t>
            </a:r>
            <a:r>
              <a:rPr b="0" dirty="0">
                <a:latin typeface="Arial MT"/>
                <a:cs typeface="Arial MT"/>
              </a:rPr>
              <a:t>más</a:t>
            </a:r>
            <a:r>
              <a:rPr b="0" spc="-45" dirty="0">
                <a:latin typeface="Arial MT"/>
                <a:cs typeface="Arial MT"/>
              </a:rPr>
              <a:t> </a:t>
            </a:r>
            <a:r>
              <a:rPr dirty="0"/>
              <a:t>entidades</a:t>
            </a:r>
            <a:r>
              <a:rPr spc="-45" dirty="0"/>
              <a:t> </a:t>
            </a:r>
            <a:r>
              <a:rPr dirty="0"/>
              <a:t>de</a:t>
            </a:r>
            <a:r>
              <a:rPr spc="-30" dirty="0"/>
              <a:t> </a:t>
            </a:r>
            <a:r>
              <a:rPr dirty="0"/>
              <a:t>nivel</a:t>
            </a:r>
            <a:r>
              <a:rPr spc="-50" dirty="0"/>
              <a:t> </a:t>
            </a:r>
            <a:r>
              <a:rPr dirty="0"/>
              <a:t>más</a:t>
            </a:r>
            <a:r>
              <a:rPr spc="-45" dirty="0"/>
              <a:t> </a:t>
            </a:r>
            <a:r>
              <a:rPr spc="-10" dirty="0"/>
              <a:t>bajo.</a:t>
            </a:r>
          </a:p>
        </p:txBody>
      </p:sp>
      <p:sp>
        <p:nvSpPr>
          <p:cNvPr id="4" name="object 4"/>
          <p:cNvSpPr txBox="1"/>
          <p:nvPr/>
        </p:nvSpPr>
        <p:spPr>
          <a:xfrm>
            <a:off x="1596529" y="5691629"/>
            <a:ext cx="5511165" cy="391160"/>
          </a:xfrm>
          <a:prstGeom prst="rect">
            <a:avLst/>
          </a:prstGeom>
        </p:spPr>
        <p:txBody>
          <a:bodyPr vert="horz" wrap="square" lIns="0" tIns="12700" rIns="0" bIns="0" rtlCol="0">
            <a:spAutoFit/>
          </a:bodyPr>
          <a:lstStyle/>
          <a:p>
            <a:pPr marL="354965" indent="-342265">
              <a:lnSpc>
                <a:spcPct val="100000"/>
              </a:lnSpc>
              <a:spcBef>
                <a:spcPts val="100"/>
              </a:spcBef>
              <a:buChar char="•"/>
              <a:tabLst>
                <a:tab pos="354965" algn="l"/>
              </a:tabLst>
            </a:pPr>
            <a:r>
              <a:rPr sz="2400" dirty="0">
                <a:latin typeface="Arial MT"/>
                <a:cs typeface="Arial MT"/>
              </a:rPr>
              <a:t>Especialización</a:t>
            </a:r>
            <a:r>
              <a:rPr sz="2400" spc="-65" dirty="0">
                <a:latin typeface="Arial MT"/>
                <a:cs typeface="Arial MT"/>
              </a:rPr>
              <a:t> </a:t>
            </a:r>
            <a:r>
              <a:rPr sz="2400" dirty="0">
                <a:latin typeface="Arial MT"/>
                <a:cs typeface="Arial MT"/>
              </a:rPr>
              <a:t>es</a:t>
            </a:r>
            <a:r>
              <a:rPr sz="2400" spc="-65" dirty="0">
                <a:latin typeface="Arial MT"/>
                <a:cs typeface="Arial MT"/>
              </a:rPr>
              <a:t> </a:t>
            </a:r>
            <a:r>
              <a:rPr sz="2400" dirty="0">
                <a:latin typeface="Arial MT"/>
                <a:cs typeface="Arial MT"/>
              </a:rPr>
              <a:t>la</a:t>
            </a:r>
            <a:r>
              <a:rPr sz="2400" spc="-60" dirty="0">
                <a:latin typeface="Arial MT"/>
                <a:cs typeface="Arial MT"/>
              </a:rPr>
              <a:t> </a:t>
            </a:r>
            <a:r>
              <a:rPr sz="2400" dirty="0">
                <a:latin typeface="Arial MT"/>
                <a:cs typeface="Arial MT"/>
              </a:rPr>
              <a:t>relación</a:t>
            </a:r>
            <a:r>
              <a:rPr sz="2400" spc="-65" dirty="0">
                <a:latin typeface="Arial MT"/>
                <a:cs typeface="Arial MT"/>
              </a:rPr>
              <a:t> </a:t>
            </a:r>
            <a:r>
              <a:rPr sz="2400" spc="-10" dirty="0">
                <a:latin typeface="Arial MT"/>
                <a:cs typeface="Arial MT"/>
              </a:rPr>
              <a:t>inversa.</a:t>
            </a:r>
            <a:endParaRPr sz="2400" dirty="0">
              <a:latin typeface="Arial MT"/>
              <a:cs typeface="Arial M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82585" y="1742947"/>
            <a:ext cx="7933055" cy="4940300"/>
          </a:xfrm>
          <a:prstGeom prst="rect">
            <a:avLst/>
          </a:prstGeom>
        </p:spPr>
        <p:txBody>
          <a:bodyPr vert="horz" wrap="square" lIns="0" tIns="12700" rIns="0" bIns="0" rtlCol="0">
            <a:spAutoFit/>
          </a:bodyPr>
          <a:lstStyle/>
          <a:p>
            <a:pPr marL="354965" indent="-342265">
              <a:lnSpc>
                <a:spcPct val="100000"/>
              </a:lnSpc>
              <a:spcBef>
                <a:spcPts val="100"/>
              </a:spcBef>
              <a:buChar char="•"/>
              <a:tabLst>
                <a:tab pos="354965" algn="l"/>
              </a:tabLst>
            </a:pPr>
            <a:r>
              <a:rPr sz="2400" dirty="0">
                <a:latin typeface="Arial MT"/>
                <a:cs typeface="Arial MT"/>
              </a:rPr>
              <a:t>Existen</a:t>
            </a:r>
            <a:r>
              <a:rPr sz="2400" spc="-50" dirty="0">
                <a:latin typeface="Arial MT"/>
                <a:cs typeface="Arial MT"/>
              </a:rPr>
              <a:t> </a:t>
            </a:r>
            <a:r>
              <a:rPr sz="2400" dirty="0">
                <a:latin typeface="Arial MT"/>
                <a:cs typeface="Arial MT"/>
              </a:rPr>
              <a:t>dos</a:t>
            </a:r>
            <a:r>
              <a:rPr sz="2400" spc="-45" dirty="0">
                <a:latin typeface="Arial MT"/>
                <a:cs typeface="Arial MT"/>
              </a:rPr>
              <a:t> </a:t>
            </a:r>
            <a:r>
              <a:rPr sz="2400" b="1" spc="-10" dirty="0">
                <a:latin typeface="Arial"/>
                <a:cs typeface="Arial"/>
              </a:rPr>
              <a:t>métodos.</a:t>
            </a:r>
            <a:endParaRPr sz="2400" dirty="0">
              <a:latin typeface="Arial"/>
              <a:cs typeface="Arial"/>
            </a:endParaRPr>
          </a:p>
          <a:p>
            <a:pPr marL="12700">
              <a:lnSpc>
                <a:spcPct val="100000"/>
              </a:lnSpc>
              <a:spcBef>
                <a:spcPts val="2405"/>
              </a:spcBef>
            </a:pPr>
            <a:r>
              <a:rPr sz="2800" b="1" dirty="0">
                <a:latin typeface="Arial"/>
                <a:cs typeface="Arial"/>
              </a:rPr>
              <a:t>Método</a:t>
            </a:r>
            <a:r>
              <a:rPr sz="2800" b="1" spc="-90" dirty="0">
                <a:latin typeface="Arial"/>
                <a:cs typeface="Arial"/>
              </a:rPr>
              <a:t> </a:t>
            </a:r>
            <a:r>
              <a:rPr sz="2800" b="1" spc="-25" dirty="0">
                <a:latin typeface="Arial"/>
                <a:cs typeface="Arial"/>
              </a:rPr>
              <a:t>1:</a:t>
            </a:r>
            <a:endParaRPr sz="2800" dirty="0">
              <a:latin typeface="Arial"/>
              <a:cs typeface="Arial"/>
            </a:endParaRPr>
          </a:p>
          <a:p>
            <a:pPr>
              <a:lnSpc>
                <a:spcPct val="100000"/>
              </a:lnSpc>
              <a:spcBef>
                <a:spcPts val="114"/>
              </a:spcBef>
            </a:pPr>
            <a:endParaRPr sz="2800" dirty="0">
              <a:latin typeface="Arial"/>
              <a:cs typeface="Arial"/>
            </a:endParaRPr>
          </a:p>
          <a:p>
            <a:pPr marL="354330" marR="205740" indent="-341630">
              <a:lnSpc>
                <a:spcPts val="2690"/>
              </a:lnSpc>
              <a:spcBef>
                <a:spcPts val="5"/>
              </a:spcBef>
              <a:buChar char="•"/>
              <a:tabLst>
                <a:tab pos="355600" algn="l"/>
              </a:tabLst>
            </a:pPr>
            <a:r>
              <a:rPr sz="2800" dirty="0">
                <a:latin typeface="Arial MT"/>
                <a:cs typeface="Arial MT"/>
              </a:rPr>
              <a:t>Crear</a:t>
            </a:r>
            <a:r>
              <a:rPr sz="2800" spc="-55" dirty="0">
                <a:latin typeface="Arial MT"/>
                <a:cs typeface="Arial MT"/>
              </a:rPr>
              <a:t> </a:t>
            </a:r>
            <a:r>
              <a:rPr sz="2800" dirty="0">
                <a:latin typeface="Arial MT"/>
                <a:cs typeface="Arial MT"/>
              </a:rPr>
              <a:t>una</a:t>
            </a:r>
            <a:r>
              <a:rPr sz="2800" spc="-55" dirty="0">
                <a:latin typeface="Arial MT"/>
                <a:cs typeface="Arial MT"/>
              </a:rPr>
              <a:t> </a:t>
            </a:r>
            <a:r>
              <a:rPr sz="2800" b="1" dirty="0">
                <a:latin typeface="Arial"/>
                <a:cs typeface="Arial"/>
              </a:rPr>
              <a:t>tabla</a:t>
            </a:r>
            <a:r>
              <a:rPr sz="2800" b="1" spc="-50" dirty="0">
                <a:latin typeface="Arial"/>
                <a:cs typeface="Arial"/>
              </a:rPr>
              <a:t> </a:t>
            </a:r>
            <a:r>
              <a:rPr sz="2800" dirty="0">
                <a:latin typeface="Arial MT"/>
                <a:cs typeface="Arial MT"/>
              </a:rPr>
              <a:t>para</a:t>
            </a:r>
            <a:r>
              <a:rPr sz="2800" spc="-50" dirty="0">
                <a:latin typeface="Arial MT"/>
                <a:cs typeface="Arial MT"/>
              </a:rPr>
              <a:t> </a:t>
            </a:r>
            <a:r>
              <a:rPr sz="2800" dirty="0">
                <a:latin typeface="Arial MT"/>
                <a:cs typeface="Arial MT"/>
              </a:rPr>
              <a:t>la</a:t>
            </a:r>
            <a:r>
              <a:rPr sz="2800" spc="-55" dirty="0">
                <a:latin typeface="Arial MT"/>
                <a:cs typeface="Arial MT"/>
              </a:rPr>
              <a:t> </a:t>
            </a:r>
            <a:r>
              <a:rPr sz="2800" b="1" dirty="0">
                <a:latin typeface="Arial"/>
                <a:cs typeface="Arial"/>
              </a:rPr>
              <a:t>entidad</a:t>
            </a:r>
            <a:r>
              <a:rPr sz="2800" b="1" spc="-60" dirty="0">
                <a:latin typeface="Arial"/>
                <a:cs typeface="Arial"/>
              </a:rPr>
              <a:t> </a:t>
            </a:r>
            <a:r>
              <a:rPr sz="2800" dirty="0">
                <a:latin typeface="Arial MT"/>
                <a:cs typeface="Arial MT"/>
              </a:rPr>
              <a:t>del</a:t>
            </a:r>
            <a:r>
              <a:rPr sz="2800" spc="-45" dirty="0">
                <a:latin typeface="Arial MT"/>
                <a:cs typeface="Arial MT"/>
              </a:rPr>
              <a:t> </a:t>
            </a:r>
            <a:r>
              <a:rPr sz="2800" b="1" dirty="0">
                <a:latin typeface="Arial"/>
                <a:cs typeface="Arial"/>
              </a:rPr>
              <a:t>nivel</a:t>
            </a:r>
            <a:r>
              <a:rPr sz="2800" b="1" spc="-55" dirty="0">
                <a:latin typeface="Arial"/>
                <a:cs typeface="Arial"/>
              </a:rPr>
              <a:t> </a:t>
            </a:r>
            <a:r>
              <a:rPr sz="2800" b="1" spc="-25" dirty="0">
                <a:latin typeface="Arial"/>
                <a:cs typeface="Arial"/>
              </a:rPr>
              <a:t>más 	</a:t>
            </a:r>
            <a:r>
              <a:rPr sz="2800" b="1" spc="-10" dirty="0">
                <a:latin typeface="Arial"/>
                <a:cs typeface="Arial"/>
              </a:rPr>
              <a:t>alto</a:t>
            </a:r>
            <a:r>
              <a:rPr sz="2800" spc="-10" dirty="0">
                <a:latin typeface="Arial MT"/>
                <a:cs typeface="Arial MT"/>
              </a:rPr>
              <a:t>.</a:t>
            </a:r>
            <a:endParaRPr sz="2800" dirty="0">
              <a:latin typeface="Arial MT"/>
              <a:cs typeface="Arial MT"/>
            </a:endParaRPr>
          </a:p>
          <a:p>
            <a:pPr>
              <a:lnSpc>
                <a:spcPct val="100000"/>
              </a:lnSpc>
              <a:spcBef>
                <a:spcPts val="155"/>
              </a:spcBef>
              <a:buFont typeface="Arial MT"/>
              <a:buChar char="•"/>
            </a:pPr>
            <a:endParaRPr sz="2800" dirty="0">
              <a:latin typeface="Arial MT"/>
              <a:cs typeface="Arial MT"/>
            </a:endParaRPr>
          </a:p>
          <a:p>
            <a:pPr marL="354330" indent="-341630">
              <a:lnSpc>
                <a:spcPts val="3025"/>
              </a:lnSpc>
              <a:spcBef>
                <a:spcPts val="5"/>
              </a:spcBef>
              <a:buChar char="•"/>
              <a:tabLst>
                <a:tab pos="354330" algn="l"/>
              </a:tabLst>
            </a:pPr>
            <a:r>
              <a:rPr sz="2800" dirty="0">
                <a:latin typeface="Arial MT"/>
                <a:cs typeface="Arial MT"/>
              </a:rPr>
              <a:t>Crear</a:t>
            </a:r>
            <a:r>
              <a:rPr sz="2800" spc="-55" dirty="0">
                <a:latin typeface="Arial MT"/>
                <a:cs typeface="Arial MT"/>
              </a:rPr>
              <a:t> </a:t>
            </a:r>
            <a:r>
              <a:rPr sz="2800" dirty="0">
                <a:latin typeface="Arial MT"/>
                <a:cs typeface="Arial MT"/>
              </a:rPr>
              <a:t>una</a:t>
            </a:r>
            <a:r>
              <a:rPr sz="2800" spc="-55" dirty="0">
                <a:latin typeface="Arial MT"/>
                <a:cs typeface="Arial MT"/>
              </a:rPr>
              <a:t> </a:t>
            </a:r>
            <a:r>
              <a:rPr sz="2800" b="1" dirty="0">
                <a:latin typeface="Arial"/>
                <a:cs typeface="Arial"/>
              </a:rPr>
              <a:t>tabla</a:t>
            </a:r>
            <a:r>
              <a:rPr sz="2800" b="1" spc="-55" dirty="0">
                <a:latin typeface="Arial"/>
                <a:cs typeface="Arial"/>
              </a:rPr>
              <a:t> </a:t>
            </a:r>
            <a:r>
              <a:rPr sz="2800" dirty="0">
                <a:latin typeface="Arial MT"/>
                <a:cs typeface="Arial MT"/>
              </a:rPr>
              <a:t>para</a:t>
            </a:r>
            <a:r>
              <a:rPr sz="2800" spc="-50" dirty="0">
                <a:latin typeface="Arial MT"/>
                <a:cs typeface="Arial MT"/>
              </a:rPr>
              <a:t> </a:t>
            </a:r>
            <a:r>
              <a:rPr sz="2800" dirty="0">
                <a:latin typeface="Arial MT"/>
                <a:cs typeface="Arial MT"/>
              </a:rPr>
              <a:t>cada</a:t>
            </a:r>
            <a:r>
              <a:rPr sz="2800" spc="-50" dirty="0">
                <a:latin typeface="Arial MT"/>
                <a:cs typeface="Arial MT"/>
              </a:rPr>
              <a:t> </a:t>
            </a:r>
            <a:r>
              <a:rPr sz="2800" dirty="0">
                <a:latin typeface="Arial MT"/>
                <a:cs typeface="Arial MT"/>
              </a:rPr>
              <a:t>entidad</a:t>
            </a:r>
            <a:r>
              <a:rPr sz="2800" spc="-55" dirty="0">
                <a:latin typeface="Arial MT"/>
                <a:cs typeface="Arial MT"/>
              </a:rPr>
              <a:t> </a:t>
            </a:r>
            <a:r>
              <a:rPr sz="2800" dirty="0">
                <a:latin typeface="Arial MT"/>
                <a:cs typeface="Arial MT"/>
              </a:rPr>
              <a:t>de</a:t>
            </a:r>
            <a:r>
              <a:rPr sz="2800" spc="-50" dirty="0">
                <a:latin typeface="Arial MT"/>
                <a:cs typeface="Arial MT"/>
              </a:rPr>
              <a:t> </a:t>
            </a:r>
            <a:r>
              <a:rPr sz="2800" dirty="0">
                <a:latin typeface="Arial MT"/>
                <a:cs typeface="Arial MT"/>
              </a:rPr>
              <a:t>nivel</a:t>
            </a:r>
            <a:r>
              <a:rPr sz="2800" spc="-60" dirty="0">
                <a:latin typeface="Arial MT"/>
                <a:cs typeface="Arial MT"/>
              </a:rPr>
              <a:t> </a:t>
            </a:r>
            <a:r>
              <a:rPr sz="2800" spc="-25" dirty="0">
                <a:latin typeface="Arial MT"/>
                <a:cs typeface="Arial MT"/>
              </a:rPr>
              <a:t>más</a:t>
            </a:r>
            <a:endParaRPr sz="2800" dirty="0">
              <a:latin typeface="Arial MT"/>
              <a:cs typeface="Arial MT"/>
            </a:endParaRPr>
          </a:p>
          <a:p>
            <a:pPr marL="355600">
              <a:lnSpc>
                <a:spcPts val="3025"/>
              </a:lnSpc>
            </a:pPr>
            <a:r>
              <a:rPr sz="2800" b="1" dirty="0">
                <a:latin typeface="Arial"/>
                <a:cs typeface="Arial"/>
              </a:rPr>
              <a:t>bajo</a:t>
            </a:r>
            <a:r>
              <a:rPr sz="2800" b="1" spc="-60" dirty="0">
                <a:latin typeface="Arial"/>
                <a:cs typeface="Arial"/>
              </a:rPr>
              <a:t> </a:t>
            </a:r>
            <a:r>
              <a:rPr sz="2800" dirty="0">
                <a:latin typeface="Arial MT"/>
                <a:cs typeface="Arial MT"/>
              </a:rPr>
              <a:t>que</a:t>
            </a:r>
            <a:r>
              <a:rPr sz="2800" spc="-40" dirty="0">
                <a:latin typeface="Arial MT"/>
                <a:cs typeface="Arial MT"/>
              </a:rPr>
              <a:t> </a:t>
            </a:r>
            <a:r>
              <a:rPr sz="2800" spc="-10" dirty="0">
                <a:latin typeface="Arial MT"/>
                <a:cs typeface="Arial MT"/>
              </a:rPr>
              <a:t>incluya:</a:t>
            </a:r>
            <a:endParaRPr sz="2800" dirty="0">
              <a:latin typeface="Arial MT"/>
              <a:cs typeface="Arial MT"/>
            </a:endParaRPr>
          </a:p>
          <a:p>
            <a:pPr marL="754380" lvl="1" indent="-285115">
              <a:lnSpc>
                <a:spcPct val="100000"/>
              </a:lnSpc>
              <a:spcBef>
                <a:spcPts val="1920"/>
              </a:spcBef>
              <a:buFont typeface="Arial MT"/>
              <a:buChar char="–"/>
              <a:tabLst>
                <a:tab pos="754380" algn="l"/>
              </a:tabLst>
            </a:pPr>
            <a:r>
              <a:rPr sz="2400" b="1" dirty="0">
                <a:latin typeface="Arial"/>
                <a:cs typeface="Arial"/>
              </a:rPr>
              <a:t>una</a:t>
            </a:r>
            <a:r>
              <a:rPr sz="2400" b="1" spc="-55" dirty="0">
                <a:latin typeface="Arial"/>
                <a:cs typeface="Arial"/>
              </a:rPr>
              <a:t> </a:t>
            </a:r>
            <a:r>
              <a:rPr sz="2400" b="1" dirty="0">
                <a:latin typeface="Arial"/>
                <a:cs typeface="Arial"/>
              </a:rPr>
              <a:t>columna</a:t>
            </a:r>
            <a:r>
              <a:rPr sz="2400" b="1" spc="-50" dirty="0">
                <a:latin typeface="Arial"/>
                <a:cs typeface="Arial"/>
              </a:rPr>
              <a:t> </a:t>
            </a:r>
            <a:r>
              <a:rPr sz="2400" dirty="0">
                <a:latin typeface="Arial MT"/>
                <a:cs typeface="Arial MT"/>
              </a:rPr>
              <a:t>por</a:t>
            </a:r>
            <a:r>
              <a:rPr sz="2400" spc="-50" dirty="0">
                <a:latin typeface="Arial MT"/>
                <a:cs typeface="Arial MT"/>
              </a:rPr>
              <a:t> </a:t>
            </a:r>
            <a:r>
              <a:rPr sz="2400" dirty="0">
                <a:latin typeface="Arial MT"/>
                <a:cs typeface="Arial MT"/>
              </a:rPr>
              <a:t>cada</a:t>
            </a:r>
            <a:r>
              <a:rPr sz="2400" spc="-50" dirty="0">
                <a:latin typeface="Arial MT"/>
                <a:cs typeface="Arial MT"/>
              </a:rPr>
              <a:t> </a:t>
            </a:r>
            <a:r>
              <a:rPr sz="2400" dirty="0">
                <a:latin typeface="Arial MT"/>
                <a:cs typeface="Arial MT"/>
              </a:rPr>
              <a:t>atributo</a:t>
            </a:r>
            <a:r>
              <a:rPr sz="2400" spc="-55" dirty="0">
                <a:latin typeface="Arial MT"/>
                <a:cs typeface="Arial MT"/>
              </a:rPr>
              <a:t> </a:t>
            </a:r>
            <a:r>
              <a:rPr sz="2400" dirty="0">
                <a:latin typeface="Arial MT"/>
                <a:cs typeface="Arial MT"/>
              </a:rPr>
              <a:t>de</a:t>
            </a:r>
            <a:r>
              <a:rPr sz="2400" spc="-50" dirty="0">
                <a:latin typeface="Arial MT"/>
                <a:cs typeface="Arial MT"/>
              </a:rPr>
              <a:t> </a:t>
            </a:r>
            <a:r>
              <a:rPr sz="2400" dirty="0">
                <a:latin typeface="Arial MT"/>
                <a:cs typeface="Arial MT"/>
              </a:rPr>
              <a:t>esa</a:t>
            </a:r>
            <a:r>
              <a:rPr sz="2400" spc="-55" dirty="0">
                <a:latin typeface="Arial MT"/>
                <a:cs typeface="Arial MT"/>
              </a:rPr>
              <a:t> </a:t>
            </a:r>
            <a:r>
              <a:rPr sz="2400" spc="-10" dirty="0">
                <a:latin typeface="Arial MT"/>
                <a:cs typeface="Arial MT"/>
              </a:rPr>
              <a:t>entidad</a:t>
            </a:r>
            <a:endParaRPr sz="2400" dirty="0">
              <a:latin typeface="Arial MT"/>
              <a:cs typeface="Arial MT"/>
            </a:endParaRPr>
          </a:p>
          <a:p>
            <a:pPr marL="754380" marR="427355" lvl="1" indent="-285115">
              <a:lnSpc>
                <a:spcPct val="80000"/>
              </a:lnSpc>
              <a:spcBef>
                <a:spcPts val="2500"/>
              </a:spcBef>
              <a:buFont typeface="Arial MT"/>
              <a:buChar char="–"/>
              <a:tabLst>
                <a:tab pos="756285" algn="l"/>
              </a:tabLst>
            </a:pPr>
            <a:r>
              <a:rPr sz="2400" b="1" dirty="0">
                <a:latin typeface="Arial"/>
                <a:cs typeface="Arial"/>
              </a:rPr>
              <a:t>más</a:t>
            </a:r>
            <a:r>
              <a:rPr sz="2400" b="1" spc="-50" dirty="0">
                <a:latin typeface="Arial"/>
                <a:cs typeface="Arial"/>
              </a:rPr>
              <a:t> </a:t>
            </a:r>
            <a:r>
              <a:rPr sz="2400" b="1" dirty="0">
                <a:latin typeface="Arial"/>
                <a:cs typeface="Arial"/>
              </a:rPr>
              <a:t>una</a:t>
            </a:r>
            <a:r>
              <a:rPr sz="2400" b="1" spc="-50" dirty="0">
                <a:latin typeface="Arial"/>
                <a:cs typeface="Arial"/>
              </a:rPr>
              <a:t> </a:t>
            </a:r>
            <a:r>
              <a:rPr sz="2400" b="1" dirty="0">
                <a:latin typeface="Arial"/>
                <a:cs typeface="Arial"/>
              </a:rPr>
              <a:t>columna</a:t>
            </a:r>
            <a:r>
              <a:rPr sz="2400" b="1" spc="-45" dirty="0">
                <a:latin typeface="Arial"/>
                <a:cs typeface="Arial"/>
              </a:rPr>
              <a:t> </a:t>
            </a:r>
            <a:r>
              <a:rPr sz="2400" dirty="0">
                <a:latin typeface="Arial MT"/>
                <a:cs typeface="Arial MT"/>
              </a:rPr>
              <a:t>para</a:t>
            </a:r>
            <a:r>
              <a:rPr sz="2400" spc="-50" dirty="0">
                <a:latin typeface="Arial MT"/>
                <a:cs typeface="Arial MT"/>
              </a:rPr>
              <a:t> </a:t>
            </a:r>
            <a:r>
              <a:rPr sz="2400" dirty="0">
                <a:latin typeface="Arial MT"/>
                <a:cs typeface="Arial MT"/>
              </a:rPr>
              <a:t>cada</a:t>
            </a:r>
            <a:r>
              <a:rPr sz="2400" spc="-45" dirty="0">
                <a:latin typeface="Arial MT"/>
                <a:cs typeface="Arial MT"/>
              </a:rPr>
              <a:t> </a:t>
            </a:r>
            <a:r>
              <a:rPr sz="2400" dirty="0">
                <a:latin typeface="Arial MT"/>
                <a:cs typeface="Arial MT"/>
              </a:rPr>
              <a:t>atributo</a:t>
            </a:r>
            <a:r>
              <a:rPr sz="2400" spc="-55" dirty="0">
                <a:latin typeface="Arial MT"/>
                <a:cs typeface="Arial MT"/>
              </a:rPr>
              <a:t> </a:t>
            </a:r>
            <a:r>
              <a:rPr sz="2400" b="1" dirty="0">
                <a:latin typeface="Arial"/>
                <a:cs typeface="Arial"/>
              </a:rPr>
              <a:t>de</a:t>
            </a:r>
            <a:r>
              <a:rPr sz="2400" b="1" spc="-50" dirty="0">
                <a:latin typeface="Arial"/>
                <a:cs typeface="Arial"/>
              </a:rPr>
              <a:t> </a:t>
            </a:r>
            <a:r>
              <a:rPr sz="2400" b="1" dirty="0">
                <a:latin typeface="Arial"/>
                <a:cs typeface="Arial"/>
              </a:rPr>
              <a:t>la</a:t>
            </a:r>
            <a:r>
              <a:rPr sz="2400" b="1" spc="-70" dirty="0">
                <a:latin typeface="Arial"/>
                <a:cs typeface="Arial"/>
              </a:rPr>
              <a:t> </a:t>
            </a:r>
            <a:r>
              <a:rPr sz="2400" b="1" spc="-10" dirty="0">
                <a:latin typeface="Arial"/>
                <a:cs typeface="Arial"/>
              </a:rPr>
              <a:t>clave 	</a:t>
            </a:r>
            <a:r>
              <a:rPr sz="2400" b="1" dirty="0">
                <a:latin typeface="Arial"/>
                <a:cs typeface="Arial"/>
              </a:rPr>
              <a:t>primaria</a:t>
            </a:r>
            <a:r>
              <a:rPr sz="2400" b="1" spc="-50" dirty="0">
                <a:latin typeface="Arial"/>
                <a:cs typeface="Arial"/>
              </a:rPr>
              <a:t> </a:t>
            </a:r>
            <a:r>
              <a:rPr sz="2400" dirty="0">
                <a:latin typeface="Arial MT"/>
                <a:cs typeface="Arial MT"/>
              </a:rPr>
              <a:t>de</a:t>
            </a:r>
            <a:r>
              <a:rPr sz="2400" spc="-50" dirty="0">
                <a:latin typeface="Arial MT"/>
                <a:cs typeface="Arial MT"/>
              </a:rPr>
              <a:t> </a:t>
            </a:r>
            <a:r>
              <a:rPr sz="2400" dirty="0">
                <a:latin typeface="Arial MT"/>
                <a:cs typeface="Arial MT"/>
              </a:rPr>
              <a:t>la</a:t>
            </a:r>
            <a:r>
              <a:rPr sz="2400" spc="-50" dirty="0">
                <a:latin typeface="Arial MT"/>
                <a:cs typeface="Arial MT"/>
              </a:rPr>
              <a:t> </a:t>
            </a:r>
            <a:r>
              <a:rPr sz="2400" dirty="0">
                <a:latin typeface="Arial MT"/>
                <a:cs typeface="Arial MT"/>
              </a:rPr>
              <a:t>entidad</a:t>
            </a:r>
            <a:r>
              <a:rPr sz="2400" spc="-50" dirty="0">
                <a:latin typeface="Arial MT"/>
                <a:cs typeface="Arial MT"/>
              </a:rPr>
              <a:t> </a:t>
            </a:r>
            <a:r>
              <a:rPr sz="2400" dirty="0">
                <a:latin typeface="Arial MT"/>
                <a:cs typeface="Arial MT"/>
              </a:rPr>
              <a:t>del</a:t>
            </a:r>
            <a:r>
              <a:rPr sz="2400" spc="-50" dirty="0">
                <a:latin typeface="Arial MT"/>
                <a:cs typeface="Arial MT"/>
              </a:rPr>
              <a:t> </a:t>
            </a:r>
            <a:r>
              <a:rPr sz="2400" dirty="0">
                <a:latin typeface="Arial MT"/>
                <a:cs typeface="Arial MT"/>
              </a:rPr>
              <a:t>nivel</a:t>
            </a:r>
            <a:r>
              <a:rPr sz="2400" spc="-55" dirty="0">
                <a:latin typeface="Arial MT"/>
                <a:cs typeface="Arial MT"/>
              </a:rPr>
              <a:t> </a:t>
            </a:r>
            <a:r>
              <a:rPr sz="2400" dirty="0">
                <a:latin typeface="Arial MT"/>
                <a:cs typeface="Arial MT"/>
              </a:rPr>
              <a:t>más</a:t>
            </a:r>
            <a:r>
              <a:rPr sz="2400" spc="-50" dirty="0">
                <a:latin typeface="Arial MT"/>
                <a:cs typeface="Arial MT"/>
              </a:rPr>
              <a:t> </a:t>
            </a:r>
            <a:r>
              <a:rPr sz="2400" spc="-10" dirty="0">
                <a:latin typeface="Arial MT"/>
                <a:cs typeface="Arial MT"/>
              </a:rPr>
              <a:t>alto.</a:t>
            </a:r>
            <a:endParaRPr sz="2400" dirty="0">
              <a:latin typeface="Arial MT"/>
              <a:cs typeface="Arial MT"/>
            </a:endParaRPr>
          </a:p>
        </p:txBody>
      </p:sp>
      <p:sp>
        <p:nvSpPr>
          <p:cNvPr id="3" name="object 3" descr="$PPTXTitle"/>
          <p:cNvSpPr txBox="1">
            <a:spLocks noGrp="1"/>
          </p:cNvSpPr>
          <p:nvPr>
            <p:ph type="title"/>
          </p:nvPr>
        </p:nvSpPr>
        <p:spPr>
          <a:xfrm>
            <a:off x="1282585" y="894079"/>
            <a:ext cx="7721715" cy="623312"/>
          </a:xfrm>
          <a:prstGeom prst="rect">
            <a:avLst/>
          </a:prstGeom>
        </p:spPr>
        <p:txBody>
          <a:bodyPr vert="horz" wrap="square" lIns="0" tIns="12700" rIns="0" bIns="0" rtlCol="0">
            <a:spAutoFit/>
          </a:bodyPr>
          <a:lstStyle/>
          <a:p>
            <a:pPr marL="12700">
              <a:lnSpc>
                <a:spcPct val="100000"/>
              </a:lnSpc>
              <a:spcBef>
                <a:spcPts val="100"/>
              </a:spcBef>
            </a:pPr>
            <a:r>
              <a:rPr dirty="0"/>
              <a:t>Representación</a:t>
            </a:r>
            <a:r>
              <a:rPr spc="-35" dirty="0"/>
              <a:t> </a:t>
            </a:r>
            <a:r>
              <a:rPr dirty="0"/>
              <a:t>en</a:t>
            </a:r>
            <a:r>
              <a:rPr spc="-35" dirty="0"/>
              <a:t> </a:t>
            </a:r>
            <a:r>
              <a:rPr spc="-10" dirty="0"/>
              <a:t>tablas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72671" y="4969636"/>
            <a:ext cx="4302629" cy="886781"/>
          </a:xfrm>
          <a:prstGeom prst="rect">
            <a:avLst/>
          </a:prstGeom>
        </p:spPr>
        <p:txBody>
          <a:bodyPr vert="horz" wrap="square" lIns="0" tIns="12065" rIns="0" bIns="0" rtlCol="0">
            <a:spAutoFit/>
          </a:bodyPr>
          <a:lstStyle/>
          <a:p>
            <a:pPr marL="12700">
              <a:lnSpc>
                <a:spcPct val="100000"/>
              </a:lnSpc>
              <a:spcBef>
                <a:spcPts val="95"/>
              </a:spcBef>
            </a:pPr>
            <a:r>
              <a:rPr sz="2800" dirty="0" smtClean="0">
                <a:latin typeface="Arial MT"/>
                <a:cs typeface="Arial MT"/>
              </a:rPr>
              <a:t>Se</a:t>
            </a:r>
            <a:r>
              <a:rPr sz="2800" spc="-55" dirty="0" smtClean="0">
                <a:latin typeface="Arial MT"/>
                <a:cs typeface="Arial MT"/>
              </a:rPr>
              <a:t> </a:t>
            </a:r>
            <a:r>
              <a:rPr sz="2800" dirty="0" err="1">
                <a:latin typeface="Arial MT"/>
                <a:cs typeface="Arial MT"/>
              </a:rPr>
              <a:t>originan</a:t>
            </a:r>
            <a:r>
              <a:rPr sz="2800" spc="-50" dirty="0">
                <a:latin typeface="Arial MT"/>
                <a:cs typeface="Arial MT"/>
              </a:rPr>
              <a:t> </a:t>
            </a:r>
            <a:r>
              <a:rPr sz="2800" spc="-20" dirty="0" err="1" smtClean="0">
                <a:latin typeface="Arial MT"/>
                <a:cs typeface="Arial MT"/>
              </a:rPr>
              <a:t>tres</a:t>
            </a:r>
            <a:r>
              <a:rPr lang="es-ES" sz="2800" spc="-20" dirty="0" smtClean="0">
                <a:latin typeface="Arial MT"/>
                <a:cs typeface="Arial MT"/>
              </a:rPr>
              <a:t> tablas:</a:t>
            </a:r>
          </a:p>
          <a:p>
            <a:pPr marL="12700">
              <a:lnSpc>
                <a:spcPct val="100000"/>
              </a:lnSpc>
              <a:spcBef>
                <a:spcPts val="95"/>
              </a:spcBef>
            </a:pPr>
            <a:endParaRPr sz="2800" dirty="0">
              <a:latin typeface="Arial MT"/>
              <a:cs typeface="Arial MT"/>
            </a:endParaRPr>
          </a:p>
        </p:txBody>
      </p:sp>
      <p:sp>
        <p:nvSpPr>
          <p:cNvPr id="3" name="object 3"/>
          <p:cNvSpPr txBox="1"/>
          <p:nvPr/>
        </p:nvSpPr>
        <p:spPr>
          <a:xfrm>
            <a:off x="1424329" y="5284722"/>
            <a:ext cx="7717790" cy="1748556"/>
          </a:xfrm>
          <a:prstGeom prst="rect">
            <a:avLst/>
          </a:prstGeom>
        </p:spPr>
        <p:txBody>
          <a:bodyPr vert="horz" wrap="square" lIns="0" tIns="12065" rIns="0" bIns="0" rtlCol="0">
            <a:spAutoFit/>
          </a:bodyPr>
          <a:lstStyle/>
          <a:p>
            <a:pPr marL="12700">
              <a:lnSpc>
                <a:spcPct val="100000"/>
              </a:lnSpc>
              <a:spcBef>
                <a:spcPts val="95"/>
              </a:spcBef>
            </a:pPr>
            <a:endParaRPr lang="es-ES" sz="2800" b="1" spc="-20" dirty="0" smtClean="0">
              <a:latin typeface="Arial"/>
              <a:cs typeface="Arial"/>
            </a:endParaRPr>
          </a:p>
          <a:p>
            <a:pPr marL="12700">
              <a:lnSpc>
                <a:spcPct val="100000"/>
              </a:lnSpc>
              <a:spcBef>
                <a:spcPts val="95"/>
              </a:spcBef>
            </a:pPr>
            <a:r>
              <a:rPr sz="2800" b="1" spc="-20" dirty="0" err="1" smtClean="0">
                <a:latin typeface="Arial"/>
                <a:cs typeface="Arial"/>
              </a:rPr>
              <a:t>Cuenta</a:t>
            </a:r>
            <a:r>
              <a:rPr sz="2800" spc="-20" dirty="0" smtClean="0">
                <a:latin typeface="Arial MT"/>
                <a:cs typeface="Arial MT"/>
              </a:rPr>
              <a:t>(</a:t>
            </a:r>
            <a:r>
              <a:rPr sz="2800" spc="-20" dirty="0" err="1" smtClean="0">
                <a:latin typeface="Arial MT"/>
                <a:cs typeface="Arial MT"/>
              </a:rPr>
              <a:t>número-</a:t>
            </a:r>
            <a:r>
              <a:rPr sz="2800" dirty="0" err="1" smtClean="0">
                <a:latin typeface="Arial MT"/>
                <a:cs typeface="Arial MT"/>
              </a:rPr>
              <a:t>cuenta</a:t>
            </a:r>
            <a:r>
              <a:rPr sz="2800" dirty="0">
                <a:latin typeface="Arial MT"/>
                <a:cs typeface="Arial MT"/>
              </a:rPr>
              <a:t>,</a:t>
            </a:r>
            <a:r>
              <a:rPr sz="2800" spc="40" dirty="0">
                <a:latin typeface="Arial MT"/>
                <a:cs typeface="Arial MT"/>
              </a:rPr>
              <a:t> </a:t>
            </a:r>
            <a:r>
              <a:rPr sz="2800" spc="-10" dirty="0">
                <a:latin typeface="Arial MT"/>
                <a:cs typeface="Arial MT"/>
              </a:rPr>
              <a:t>saldo)</a:t>
            </a:r>
            <a:endParaRPr sz="2800" dirty="0">
              <a:latin typeface="Arial MT"/>
              <a:cs typeface="Arial MT"/>
            </a:endParaRPr>
          </a:p>
          <a:p>
            <a:pPr marL="12700">
              <a:lnSpc>
                <a:spcPct val="100000"/>
              </a:lnSpc>
            </a:pPr>
            <a:r>
              <a:rPr sz="2800" b="1" spc="-20" dirty="0">
                <a:latin typeface="Arial"/>
                <a:cs typeface="Arial"/>
              </a:rPr>
              <a:t>Cuenta-ahorros</a:t>
            </a:r>
            <a:r>
              <a:rPr sz="2800" spc="-20" dirty="0">
                <a:latin typeface="Arial MT"/>
                <a:cs typeface="Arial MT"/>
              </a:rPr>
              <a:t>(número-</a:t>
            </a:r>
            <a:r>
              <a:rPr sz="2800" dirty="0">
                <a:latin typeface="Arial MT"/>
                <a:cs typeface="Arial MT"/>
              </a:rPr>
              <a:t>cuenta,</a:t>
            </a:r>
            <a:r>
              <a:rPr sz="2800" spc="145" dirty="0">
                <a:latin typeface="Arial MT"/>
                <a:cs typeface="Arial MT"/>
              </a:rPr>
              <a:t> </a:t>
            </a:r>
            <a:r>
              <a:rPr sz="2800" spc="-20" dirty="0">
                <a:latin typeface="Arial MT"/>
                <a:cs typeface="Arial MT"/>
              </a:rPr>
              <a:t>tasa-</a:t>
            </a:r>
            <a:r>
              <a:rPr sz="2800" spc="-10" dirty="0">
                <a:latin typeface="Arial MT"/>
                <a:cs typeface="Arial MT"/>
              </a:rPr>
              <a:t>interés)</a:t>
            </a:r>
            <a:endParaRPr sz="2800" dirty="0">
              <a:latin typeface="Arial MT"/>
              <a:cs typeface="Arial MT"/>
            </a:endParaRPr>
          </a:p>
          <a:p>
            <a:pPr marL="12700">
              <a:lnSpc>
                <a:spcPct val="100000"/>
              </a:lnSpc>
            </a:pPr>
            <a:r>
              <a:rPr sz="2800" b="1" spc="-20" dirty="0">
                <a:latin typeface="Arial"/>
                <a:cs typeface="Arial"/>
              </a:rPr>
              <a:t>Cuenta-cheques</a:t>
            </a:r>
            <a:r>
              <a:rPr sz="2800" spc="-20" dirty="0">
                <a:latin typeface="Arial MT"/>
                <a:cs typeface="Arial MT"/>
              </a:rPr>
              <a:t>(número-</a:t>
            </a:r>
            <a:r>
              <a:rPr sz="2800" dirty="0">
                <a:latin typeface="Arial MT"/>
                <a:cs typeface="Arial MT"/>
              </a:rPr>
              <a:t>cuenta,</a:t>
            </a:r>
            <a:r>
              <a:rPr sz="2800" spc="135" dirty="0">
                <a:latin typeface="Arial MT"/>
                <a:cs typeface="Arial MT"/>
              </a:rPr>
              <a:t> </a:t>
            </a:r>
            <a:r>
              <a:rPr sz="2800" spc="-20" dirty="0">
                <a:latin typeface="Arial MT"/>
                <a:cs typeface="Arial MT"/>
              </a:rPr>
              <a:t>saldo-</a:t>
            </a:r>
            <a:r>
              <a:rPr sz="2800" spc="-10" dirty="0">
                <a:latin typeface="Arial MT"/>
                <a:cs typeface="Arial MT"/>
              </a:rPr>
              <a:t>deudor)</a:t>
            </a:r>
            <a:endParaRPr sz="2800" dirty="0">
              <a:latin typeface="Arial MT"/>
              <a:cs typeface="Arial MT"/>
            </a:endParaRPr>
          </a:p>
        </p:txBody>
      </p:sp>
      <p:sp>
        <p:nvSpPr>
          <p:cNvPr id="4" name="object 4" descr="$PPTXTitle"/>
          <p:cNvSpPr txBox="1">
            <a:spLocks noGrp="1"/>
          </p:cNvSpPr>
          <p:nvPr>
            <p:ph type="title"/>
          </p:nvPr>
        </p:nvSpPr>
        <p:spPr>
          <a:xfrm>
            <a:off x="312246" y="301784"/>
            <a:ext cx="9149254" cy="961866"/>
          </a:xfrm>
          <a:prstGeom prst="rect">
            <a:avLst/>
          </a:prstGeom>
        </p:spPr>
        <p:txBody>
          <a:bodyPr vert="horz" wrap="square" lIns="0" tIns="347980" rIns="0" bIns="0" rtlCol="0">
            <a:spAutoFit/>
          </a:bodyPr>
          <a:lstStyle/>
          <a:p>
            <a:pPr marL="487680">
              <a:lnSpc>
                <a:spcPct val="100000"/>
              </a:lnSpc>
              <a:spcBef>
                <a:spcPts val="100"/>
              </a:spcBef>
            </a:pPr>
            <a:r>
              <a:rPr dirty="0"/>
              <a:t>Representación</a:t>
            </a:r>
            <a:r>
              <a:rPr spc="-45" dirty="0"/>
              <a:t> </a:t>
            </a:r>
            <a:r>
              <a:rPr dirty="0"/>
              <a:t>en</a:t>
            </a:r>
            <a:r>
              <a:rPr spc="-45" dirty="0"/>
              <a:t> </a:t>
            </a:r>
            <a:r>
              <a:rPr dirty="0"/>
              <a:t>tablas</a:t>
            </a:r>
            <a:r>
              <a:rPr spc="-50" dirty="0"/>
              <a:t> </a:t>
            </a:r>
            <a:r>
              <a:rPr sz="2800" dirty="0"/>
              <a:t>–</a:t>
            </a:r>
            <a:r>
              <a:rPr sz="2800" spc="-25" dirty="0"/>
              <a:t> </a:t>
            </a:r>
            <a:r>
              <a:rPr sz="2800" dirty="0"/>
              <a:t>Método</a:t>
            </a:r>
            <a:r>
              <a:rPr sz="2800" spc="-25" dirty="0"/>
              <a:t> </a:t>
            </a:r>
            <a:r>
              <a:rPr sz="2800" spc="-50" dirty="0"/>
              <a:t>1</a:t>
            </a:r>
            <a:endParaRPr sz="2800" dirty="0"/>
          </a:p>
        </p:txBody>
      </p:sp>
      <p:sp>
        <p:nvSpPr>
          <p:cNvPr id="5" name="object 5"/>
          <p:cNvSpPr txBox="1"/>
          <p:nvPr/>
        </p:nvSpPr>
        <p:spPr>
          <a:xfrm>
            <a:off x="1337953" y="3758183"/>
            <a:ext cx="1615440" cy="259079"/>
          </a:xfrm>
          <a:prstGeom prst="rect">
            <a:avLst/>
          </a:prstGeom>
          <a:solidFill>
            <a:srgbClr val="D7E4BC"/>
          </a:solidFill>
          <a:ln w="9524">
            <a:solidFill>
              <a:srgbClr val="000000"/>
            </a:solidFill>
          </a:ln>
        </p:spPr>
        <p:txBody>
          <a:bodyPr vert="horz" wrap="square" lIns="0" tIns="44450" rIns="0" bIns="0" rtlCol="0">
            <a:spAutoFit/>
          </a:bodyPr>
          <a:lstStyle/>
          <a:p>
            <a:pPr marL="95885">
              <a:lnSpc>
                <a:spcPct val="100000"/>
              </a:lnSpc>
              <a:spcBef>
                <a:spcPts val="350"/>
              </a:spcBef>
            </a:pPr>
            <a:r>
              <a:rPr sz="1400" b="1" spc="-10" dirty="0">
                <a:latin typeface="Arial"/>
                <a:cs typeface="Arial"/>
              </a:rPr>
              <a:t>Cuenta-ahorros</a:t>
            </a:r>
            <a:endParaRPr sz="1400">
              <a:latin typeface="Arial"/>
              <a:cs typeface="Arial"/>
            </a:endParaRPr>
          </a:p>
        </p:txBody>
      </p:sp>
      <p:sp>
        <p:nvSpPr>
          <p:cNvPr id="6" name="object 6"/>
          <p:cNvSpPr txBox="1"/>
          <p:nvPr/>
        </p:nvSpPr>
        <p:spPr>
          <a:xfrm>
            <a:off x="3626997" y="3758183"/>
            <a:ext cx="1614170" cy="259079"/>
          </a:xfrm>
          <a:prstGeom prst="rect">
            <a:avLst/>
          </a:prstGeom>
          <a:solidFill>
            <a:srgbClr val="D7E4BC"/>
          </a:solidFill>
          <a:ln w="9524">
            <a:solidFill>
              <a:srgbClr val="000000"/>
            </a:solidFill>
          </a:ln>
        </p:spPr>
        <p:txBody>
          <a:bodyPr vert="horz" wrap="square" lIns="0" tIns="44450" rIns="0" bIns="0" rtlCol="0">
            <a:spAutoFit/>
          </a:bodyPr>
          <a:lstStyle/>
          <a:p>
            <a:pPr marL="95885">
              <a:lnSpc>
                <a:spcPct val="100000"/>
              </a:lnSpc>
              <a:spcBef>
                <a:spcPts val="350"/>
              </a:spcBef>
            </a:pPr>
            <a:r>
              <a:rPr sz="1400" b="1" spc="-10" dirty="0">
                <a:latin typeface="Arial"/>
                <a:cs typeface="Arial"/>
              </a:rPr>
              <a:t>Cuenta-cheques</a:t>
            </a:r>
            <a:endParaRPr sz="1400">
              <a:latin typeface="Arial"/>
              <a:cs typeface="Arial"/>
            </a:endParaRPr>
          </a:p>
        </p:txBody>
      </p:sp>
      <p:grpSp>
        <p:nvGrpSpPr>
          <p:cNvPr id="7" name="object 7"/>
          <p:cNvGrpSpPr/>
          <p:nvPr/>
        </p:nvGrpSpPr>
        <p:grpSpPr>
          <a:xfrm>
            <a:off x="1197554" y="4356925"/>
            <a:ext cx="1760855" cy="354330"/>
            <a:chOff x="1197554" y="4356925"/>
            <a:chExt cx="1760855" cy="354330"/>
          </a:xfrm>
        </p:grpSpPr>
        <p:sp>
          <p:nvSpPr>
            <p:cNvPr id="8" name="object 8"/>
            <p:cNvSpPr/>
            <p:nvPr/>
          </p:nvSpPr>
          <p:spPr>
            <a:xfrm>
              <a:off x="1202317" y="4361688"/>
              <a:ext cx="1751330" cy="344805"/>
            </a:xfrm>
            <a:custGeom>
              <a:avLst/>
              <a:gdLst/>
              <a:ahLst/>
              <a:cxnLst/>
              <a:rect l="l" t="t" r="r" b="b"/>
              <a:pathLst>
                <a:path w="1751330" h="344804">
                  <a:moveTo>
                    <a:pt x="1751072" y="172211"/>
                  </a:moveTo>
                  <a:lnTo>
                    <a:pt x="1722961" y="128948"/>
                  </a:lnTo>
                  <a:lnTo>
                    <a:pt x="1675172" y="102209"/>
                  </a:lnTo>
                  <a:lnTo>
                    <a:pt x="1606598" y="77652"/>
                  </a:lnTo>
                  <a:lnTo>
                    <a:pt x="1565172" y="66325"/>
                  </a:lnTo>
                  <a:lnTo>
                    <a:pt x="1519338" y="55702"/>
                  </a:lnTo>
                  <a:lnTo>
                    <a:pt x="1469358" y="45839"/>
                  </a:lnTo>
                  <a:lnTo>
                    <a:pt x="1415494" y="36787"/>
                  </a:lnTo>
                  <a:lnTo>
                    <a:pt x="1358010" y="28600"/>
                  </a:lnTo>
                  <a:lnTo>
                    <a:pt x="1297167" y="21332"/>
                  </a:lnTo>
                  <a:lnTo>
                    <a:pt x="1233229" y="15036"/>
                  </a:lnTo>
                  <a:lnTo>
                    <a:pt x="1166458" y="9765"/>
                  </a:lnTo>
                  <a:lnTo>
                    <a:pt x="1097116" y="5573"/>
                  </a:lnTo>
                  <a:lnTo>
                    <a:pt x="1025467" y="2512"/>
                  </a:lnTo>
                  <a:lnTo>
                    <a:pt x="951773" y="637"/>
                  </a:lnTo>
                  <a:lnTo>
                    <a:pt x="876296" y="0"/>
                  </a:lnTo>
                  <a:lnTo>
                    <a:pt x="800592" y="637"/>
                  </a:lnTo>
                  <a:lnTo>
                    <a:pt x="726693" y="2512"/>
                  </a:lnTo>
                  <a:lnTo>
                    <a:pt x="654863" y="5573"/>
                  </a:lnTo>
                  <a:lnTo>
                    <a:pt x="585361" y="9765"/>
                  </a:lnTo>
                  <a:lnTo>
                    <a:pt x="518450" y="15036"/>
                  </a:lnTo>
                  <a:lnTo>
                    <a:pt x="454391" y="21332"/>
                  </a:lnTo>
                  <a:lnTo>
                    <a:pt x="393444" y="28600"/>
                  </a:lnTo>
                  <a:lnTo>
                    <a:pt x="335872" y="36787"/>
                  </a:lnTo>
                  <a:lnTo>
                    <a:pt x="281935" y="45839"/>
                  </a:lnTo>
                  <a:lnTo>
                    <a:pt x="231894" y="55702"/>
                  </a:lnTo>
                  <a:lnTo>
                    <a:pt x="186012" y="66325"/>
                  </a:lnTo>
                  <a:lnTo>
                    <a:pt x="144549" y="77652"/>
                  </a:lnTo>
                  <a:lnTo>
                    <a:pt x="107767" y="89632"/>
                  </a:lnTo>
                  <a:lnTo>
                    <a:pt x="49290" y="115333"/>
                  </a:lnTo>
                  <a:lnTo>
                    <a:pt x="12670" y="143002"/>
                  </a:lnTo>
                  <a:lnTo>
                    <a:pt x="0" y="172211"/>
                  </a:lnTo>
                  <a:lnTo>
                    <a:pt x="3211" y="187198"/>
                  </a:lnTo>
                  <a:lnTo>
                    <a:pt x="49290" y="229690"/>
                  </a:lnTo>
                  <a:lnTo>
                    <a:pt x="107767" y="255467"/>
                  </a:lnTo>
                  <a:lnTo>
                    <a:pt x="144549" y="267443"/>
                  </a:lnTo>
                  <a:lnTo>
                    <a:pt x="186012" y="278744"/>
                  </a:lnTo>
                  <a:lnTo>
                    <a:pt x="231894" y="289320"/>
                  </a:lnTo>
                  <a:lnTo>
                    <a:pt x="281935" y="299124"/>
                  </a:lnTo>
                  <a:lnTo>
                    <a:pt x="335872" y="308105"/>
                  </a:lnTo>
                  <a:lnTo>
                    <a:pt x="393444" y="316214"/>
                  </a:lnTo>
                  <a:lnTo>
                    <a:pt x="454391" y="323403"/>
                  </a:lnTo>
                  <a:lnTo>
                    <a:pt x="518450" y="329620"/>
                  </a:lnTo>
                  <a:lnTo>
                    <a:pt x="585361" y="334818"/>
                  </a:lnTo>
                  <a:lnTo>
                    <a:pt x="654863" y="338946"/>
                  </a:lnTo>
                  <a:lnTo>
                    <a:pt x="726693" y="341956"/>
                  </a:lnTo>
                  <a:lnTo>
                    <a:pt x="800592" y="343798"/>
                  </a:lnTo>
                  <a:lnTo>
                    <a:pt x="876296" y="344423"/>
                  </a:lnTo>
                  <a:lnTo>
                    <a:pt x="951773" y="343798"/>
                  </a:lnTo>
                  <a:lnTo>
                    <a:pt x="1025467" y="341956"/>
                  </a:lnTo>
                  <a:lnTo>
                    <a:pt x="1097116" y="338946"/>
                  </a:lnTo>
                  <a:lnTo>
                    <a:pt x="1166458" y="334818"/>
                  </a:lnTo>
                  <a:lnTo>
                    <a:pt x="1233229" y="329620"/>
                  </a:lnTo>
                  <a:lnTo>
                    <a:pt x="1297167" y="323403"/>
                  </a:lnTo>
                  <a:lnTo>
                    <a:pt x="1358010" y="316214"/>
                  </a:lnTo>
                  <a:lnTo>
                    <a:pt x="1415494" y="308105"/>
                  </a:lnTo>
                  <a:lnTo>
                    <a:pt x="1469358" y="299124"/>
                  </a:lnTo>
                  <a:lnTo>
                    <a:pt x="1519338" y="289320"/>
                  </a:lnTo>
                  <a:lnTo>
                    <a:pt x="1565172" y="278744"/>
                  </a:lnTo>
                  <a:lnTo>
                    <a:pt x="1606598" y="267443"/>
                  </a:lnTo>
                  <a:lnTo>
                    <a:pt x="1643352" y="255467"/>
                  </a:lnTo>
                  <a:lnTo>
                    <a:pt x="1701796" y="229690"/>
                  </a:lnTo>
                  <a:lnTo>
                    <a:pt x="1738403" y="201807"/>
                  </a:lnTo>
                  <a:lnTo>
                    <a:pt x="1751072" y="172211"/>
                  </a:lnTo>
                  <a:close/>
                </a:path>
              </a:pathLst>
            </a:custGeom>
            <a:solidFill>
              <a:srgbClr val="FFFFFF"/>
            </a:solidFill>
          </p:spPr>
          <p:txBody>
            <a:bodyPr wrap="square" lIns="0" tIns="0" rIns="0" bIns="0" rtlCol="0"/>
            <a:lstStyle/>
            <a:p>
              <a:endParaRPr/>
            </a:p>
          </p:txBody>
        </p:sp>
        <p:sp>
          <p:nvSpPr>
            <p:cNvPr id="9" name="object 9"/>
            <p:cNvSpPr/>
            <p:nvPr/>
          </p:nvSpPr>
          <p:spPr>
            <a:xfrm>
              <a:off x="1202317" y="4361688"/>
              <a:ext cx="1751330" cy="344805"/>
            </a:xfrm>
            <a:custGeom>
              <a:avLst/>
              <a:gdLst/>
              <a:ahLst/>
              <a:cxnLst/>
              <a:rect l="l" t="t" r="r" b="b"/>
              <a:pathLst>
                <a:path w="1751330" h="344804">
                  <a:moveTo>
                    <a:pt x="876296" y="0"/>
                  </a:moveTo>
                  <a:lnTo>
                    <a:pt x="800592" y="637"/>
                  </a:lnTo>
                  <a:lnTo>
                    <a:pt x="726693" y="2512"/>
                  </a:lnTo>
                  <a:lnTo>
                    <a:pt x="654863" y="5573"/>
                  </a:lnTo>
                  <a:lnTo>
                    <a:pt x="585361" y="9765"/>
                  </a:lnTo>
                  <a:lnTo>
                    <a:pt x="518450" y="15036"/>
                  </a:lnTo>
                  <a:lnTo>
                    <a:pt x="454391" y="21332"/>
                  </a:lnTo>
                  <a:lnTo>
                    <a:pt x="393444" y="28600"/>
                  </a:lnTo>
                  <a:lnTo>
                    <a:pt x="335872" y="36787"/>
                  </a:lnTo>
                  <a:lnTo>
                    <a:pt x="281935" y="45839"/>
                  </a:lnTo>
                  <a:lnTo>
                    <a:pt x="231894" y="55702"/>
                  </a:lnTo>
                  <a:lnTo>
                    <a:pt x="186012" y="66325"/>
                  </a:lnTo>
                  <a:lnTo>
                    <a:pt x="144549" y="77652"/>
                  </a:lnTo>
                  <a:lnTo>
                    <a:pt x="107767" y="89632"/>
                  </a:lnTo>
                  <a:lnTo>
                    <a:pt x="49290" y="115333"/>
                  </a:lnTo>
                  <a:lnTo>
                    <a:pt x="12670" y="143002"/>
                  </a:lnTo>
                  <a:lnTo>
                    <a:pt x="0" y="172211"/>
                  </a:lnTo>
                  <a:lnTo>
                    <a:pt x="3211" y="187198"/>
                  </a:lnTo>
                  <a:lnTo>
                    <a:pt x="49290" y="229690"/>
                  </a:lnTo>
                  <a:lnTo>
                    <a:pt x="107767" y="255467"/>
                  </a:lnTo>
                  <a:lnTo>
                    <a:pt x="144549" y="267443"/>
                  </a:lnTo>
                  <a:lnTo>
                    <a:pt x="186012" y="278744"/>
                  </a:lnTo>
                  <a:lnTo>
                    <a:pt x="231894" y="289320"/>
                  </a:lnTo>
                  <a:lnTo>
                    <a:pt x="281935" y="299124"/>
                  </a:lnTo>
                  <a:lnTo>
                    <a:pt x="335872" y="308105"/>
                  </a:lnTo>
                  <a:lnTo>
                    <a:pt x="393444" y="316214"/>
                  </a:lnTo>
                  <a:lnTo>
                    <a:pt x="454391" y="323403"/>
                  </a:lnTo>
                  <a:lnTo>
                    <a:pt x="518450" y="329620"/>
                  </a:lnTo>
                  <a:lnTo>
                    <a:pt x="585361" y="334818"/>
                  </a:lnTo>
                  <a:lnTo>
                    <a:pt x="654863" y="338946"/>
                  </a:lnTo>
                  <a:lnTo>
                    <a:pt x="726693" y="341956"/>
                  </a:lnTo>
                  <a:lnTo>
                    <a:pt x="800592" y="343798"/>
                  </a:lnTo>
                  <a:lnTo>
                    <a:pt x="876296" y="344423"/>
                  </a:lnTo>
                  <a:lnTo>
                    <a:pt x="951773" y="343798"/>
                  </a:lnTo>
                  <a:lnTo>
                    <a:pt x="1025467" y="341956"/>
                  </a:lnTo>
                  <a:lnTo>
                    <a:pt x="1097116" y="338946"/>
                  </a:lnTo>
                  <a:lnTo>
                    <a:pt x="1166458" y="334818"/>
                  </a:lnTo>
                  <a:lnTo>
                    <a:pt x="1233229" y="329620"/>
                  </a:lnTo>
                  <a:lnTo>
                    <a:pt x="1297167" y="323403"/>
                  </a:lnTo>
                  <a:lnTo>
                    <a:pt x="1358010" y="316214"/>
                  </a:lnTo>
                  <a:lnTo>
                    <a:pt x="1415494" y="308105"/>
                  </a:lnTo>
                  <a:lnTo>
                    <a:pt x="1469358" y="299124"/>
                  </a:lnTo>
                  <a:lnTo>
                    <a:pt x="1519338" y="289320"/>
                  </a:lnTo>
                  <a:lnTo>
                    <a:pt x="1565172" y="278744"/>
                  </a:lnTo>
                  <a:lnTo>
                    <a:pt x="1606598" y="267443"/>
                  </a:lnTo>
                  <a:lnTo>
                    <a:pt x="1643352" y="255467"/>
                  </a:lnTo>
                  <a:lnTo>
                    <a:pt x="1701796" y="229690"/>
                  </a:lnTo>
                  <a:lnTo>
                    <a:pt x="1738403" y="201807"/>
                  </a:lnTo>
                  <a:lnTo>
                    <a:pt x="1751072" y="172211"/>
                  </a:lnTo>
                  <a:lnTo>
                    <a:pt x="1747861" y="157441"/>
                  </a:lnTo>
                  <a:lnTo>
                    <a:pt x="1701796" y="115333"/>
                  </a:lnTo>
                  <a:lnTo>
                    <a:pt x="1643352" y="89632"/>
                  </a:lnTo>
                  <a:lnTo>
                    <a:pt x="1606598" y="77652"/>
                  </a:lnTo>
                  <a:lnTo>
                    <a:pt x="1565172" y="66325"/>
                  </a:lnTo>
                  <a:lnTo>
                    <a:pt x="1519338" y="55702"/>
                  </a:lnTo>
                  <a:lnTo>
                    <a:pt x="1469358" y="45839"/>
                  </a:lnTo>
                  <a:lnTo>
                    <a:pt x="1415494" y="36787"/>
                  </a:lnTo>
                  <a:lnTo>
                    <a:pt x="1358010" y="28600"/>
                  </a:lnTo>
                  <a:lnTo>
                    <a:pt x="1297167" y="21332"/>
                  </a:lnTo>
                  <a:lnTo>
                    <a:pt x="1233229" y="15036"/>
                  </a:lnTo>
                  <a:lnTo>
                    <a:pt x="1166458" y="9765"/>
                  </a:lnTo>
                  <a:lnTo>
                    <a:pt x="1097116" y="5573"/>
                  </a:lnTo>
                  <a:lnTo>
                    <a:pt x="1025467" y="2512"/>
                  </a:lnTo>
                  <a:lnTo>
                    <a:pt x="951773" y="637"/>
                  </a:lnTo>
                  <a:lnTo>
                    <a:pt x="876296" y="0"/>
                  </a:lnTo>
                  <a:close/>
                </a:path>
              </a:pathLst>
            </a:custGeom>
            <a:ln w="9524">
              <a:solidFill>
                <a:srgbClr val="000000"/>
              </a:solidFill>
            </a:ln>
          </p:spPr>
          <p:txBody>
            <a:bodyPr wrap="square" lIns="0" tIns="0" rIns="0" bIns="0" rtlCol="0"/>
            <a:lstStyle/>
            <a:p>
              <a:endParaRPr/>
            </a:p>
          </p:txBody>
        </p:sp>
      </p:grpSp>
      <p:sp>
        <p:nvSpPr>
          <p:cNvPr id="10" name="object 10"/>
          <p:cNvSpPr txBox="1"/>
          <p:nvPr/>
        </p:nvSpPr>
        <p:spPr>
          <a:xfrm>
            <a:off x="1368553" y="4438349"/>
            <a:ext cx="2329822" cy="227626"/>
          </a:xfrm>
          <a:prstGeom prst="rect">
            <a:avLst/>
          </a:prstGeom>
        </p:spPr>
        <p:txBody>
          <a:bodyPr vert="horz" wrap="square" lIns="0" tIns="12065" rIns="0" bIns="0" rtlCol="0">
            <a:spAutoFit/>
          </a:bodyPr>
          <a:lstStyle/>
          <a:p>
            <a:pPr marL="38100">
              <a:lnSpc>
                <a:spcPct val="100000"/>
              </a:lnSpc>
              <a:spcBef>
                <a:spcPts val="95"/>
              </a:spcBef>
            </a:pPr>
            <a:r>
              <a:rPr sz="1400" b="1" spc="-10" dirty="0" smtClean="0">
                <a:latin typeface="Arial"/>
                <a:cs typeface="Arial"/>
              </a:rPr>
              <a:t>T</a:t>
            </a:r>
            <a:r>
              <a:rPr lang="es-ES" sz="1400" b="1" spc="-5" dirty="0" smtClean="0">
                <a:latin typeface="Arial"/>
                <a:cs typeface="Arial"/>
              </a:rPr>
              <a:t>asa -</a:t>
            </a:r>
            <a:r>
              <a:rPr lang="es-ES" sz="1400" b="1" spc="-5" dirty="0" err="1" smtClean="0">
                <a:latin typeface="Arial"/>
                <a:cs typeface="Arial"/>
              </a:rPr>
              <a:t>Interes</a:t>
            </a:r>
            <a:endParaRPr sz="4200" baseline="-27777" dirty="0">
              <a:latin typeface="Arial MT"/>
              <a:cs typeface="Arial MT"/>
            </a:endParaRPr>
          </a:p>
        </p:txBody>
      </p:sp>
      <p:sp>
        <p:nvSpPr>
          <p:cNvPr id="11" name="object 11"/>
          <p:cNvSpPr/>
          <p:nvPr/>
        </p:nvSpPr>
        <p:spPr>
          <a:xfrm>
            <a:off x="3532509" y="4361688"/>
            <a:ext cx="1885314" cy="344805"/>
          </a:xfrm>
          <a:custGeom>
            <a:avLst/>
            <a:gdLst/>
            <a:ahLst/>
            <a:cxnLst/>
            <a:rect l="l" t="t" r="r" b="b"/>
            <a:pathLst>
              <a:path w="1885314" h="344804">
                <a:moveTo>
                  <a:pt x="943355" y="0"/>
                </a:moveTo>
                <a:lnTo>
                  <a:pt x="869606" y="522"/>
                </a:lnTo>
                <a:lnTo>
                  <a:pt x="797414" y="2062"/>
                </a:lnTo>
                <a:lnTo>
                  <a:pt x="726987" y="4580"/>
                </a:lnTo>
                <a:lnTo>
                  <a:pt x="658537" y="8038"/>
                </a:lnTo>
                <a:lnTo>
                  <a:pt x="592272" y="12395"/>
                </a:lnTo>
                <a:lnTo>
                  <a:pt x="528401" y="17612"/>
                </a:lnTo>
                <a:lnTo>
                  <a:pt x="467134" y="23650"/>
                </a:lnTo>
                <a:lnTo>
                  <a:pt x="408679" y="30468"/>
                </a:lnTo>
                <a:lnTo>
                  <a:pt x="353248" y="38028"/>
                </a:lnTo>
                <a:lnTo>
                  <a:pt x="301047" y="46291"/>
                </a:lnTo>
                <a:lnTo>
                  <a:pt x="252288" y="55215"/>
                </a:lnTo>
                <a:lnTo>
                  <a:pt x="207179" y="64763"/>
                </a:lnTo>
                <a:lnTo>
                  <a:pt x="165930" y="74894"/>
                </a:lnTo>
                <a:lnTo>
                  <a:pt x="128749" y="85569"/>
                </a:lnTo>
                <a:lnTo>
                  <a:pt x="67433" y="108394"/>
                </a:lnTo>
                <a:lnTo>
                  <a:pt x="24903" y="132921"/>
                </a:lnTo>
                <a:lnTo>
                  <a:pt x="0" y="172211"/>
                </a:lnTo>
                <a:lnTo>
                  <a:pt x="2836" y="185787"/>
                </a:lnTo>
                <a:lnTo>
                  <a:pt x="43715" y="224529"/>
                </a:lnTo>
                <a:lnTo>
                  <a:pt x="95847" y="248340"/>
                </a:lnTo>
                <a:lnTo>
                  <a:pt x="165930" y="270196"/>
                </a:lnTo>
                <a:lnTo>
                  <a:pt x="207179" y="280300"/>
                </a:lnTo>
                <a:lnTo>
                  <a:pt x="252288" y="289805"/>
                </a:lnTo>
                <a:lnTo>
                  <a:pt x="301047" y="298676"/>
                </a:lnTo>
                <a:lnTo>
                  <a:pt x="353248" y="306874"/>
                </a:lnTo>
                <a:lnTo>
                  <a:pt x="408679" y="314365"/>
                </a:lnTo>
                <a:lnTo>
                  <a:pt x="467134" y="321112"/>
                </a:lnTo>
                <a:lnTo>
                  <a:pt x="528401" y="327077"/>
                </a:lnTo>
                <a:lnTo>
                  <a:pt x="592272" y="332225"/>
                </a:lnTo>
                <a:lnTo>
                  <a:pt x="658537" y="336519"/>
                </a:lnTo>
                <a:lnTo>
                  <a:pt x="726987" y="339923"/>
                </a:lnTo>
                <a:lnTo>
                  <a:pt x="797414" y="342399"/>
                </a:lnTo>
                <a:lnTo>
                  <a:pt x="869606" y="343911"/>
                </a:lnTo>
                <a:lnTo>
                  <a:pt x="943355" y="344423"/>
                </a:lnTo>
                <a:lnTo>
                  <a:pt x="1016897" y="343911"/>
                </a:lnTo>
                <a:lnTo>
                  <a:pt x="1088902" y="342399"/>
                </a:lnTo>
                <a:lnTo>
                  <a:pt x="1159159" y="339923"/>
                </a:lnTo>
                <a:lnTo>
                  <a:pt x="1227458" y="336519"/>
                </a:lnTo>
                <a:lnTo>
                  <a:pt x="1293589" y="332225"/>
                </a:lnTo>
                <a:lnTo>
                  <a:pt x="1357341" y="327077"/>
                </a:lnTo>
                <a:lnTo>
                  <a:pt x="1418505" y="321112"/>
                </a:lnTo>
                <a:lnTo>
                  <a:pt x="1476869" y="314365"/>
                </a:lnTo>
                <a:lnTo>
                  <a:pt x="1532224" y="306874"/>
                </a:lnTo>
                <a:lnTo>
                  <a:pt x="1584359" y="298676"/>
                </a:lnTo>
                <a:lnTo>
                  <a:pt x="1633063" y="289805"/>
                </a:lnTo>
                <a:lnTo>
                  <a:pt x="1678128" y="280300"/>
                </a:lnTo>
                <a:lnTo>
                  <a:pt x="1719342" y="270196"/>
                </a:lnTo>
                <a:lnTo>
                  <a:pt x="1756494" y="259531"/>
                </a:lnTo>
                <a:lnTo>
                  <a:pt x="1817775" y="236661"/>
                </a:lnTo>
                <a:lnTo>
                  <a:pt x="1860288" y="211982"/>
                </a:lnTo>
                <a:lnTo>
                  <a:pt x="1885187" y="172211"/>
                </a:lnTo>
                <a:lnTo>
                  <a:pt x="1882351" y="158834"/>
                </a:lnTo>
                <a:lnTo>
                  <a:pt x="1841483" y="120464"/>
                </a:lnTo>
                <a:lnTo>
                  <a:pt x="1789375" y="96749"/>
                </a:lnTo>
                <a:lnTo>
                  <a:pt x="1719342" y="74894"/>
                </a:lnTo>
                <a:lnTo>
                  <a:pt x="1678128" y="64763"/>
                </a:lnTo>
                <a:lnTo>
                  <a:pt x="1633063" y="55215"/>
                </a:lnTo>
                <a:lnTo>
                  <a:pt x="1584359" y="46291"/>
                </a:lnTo>
                <a:lnTo>
                  <a:pt x="1532224" y="38028"/>
                </a:lnTo>
                <a:lnTo>
                  <a:pt x="1476869" y="30468"/>
                </a:lnTo>
                <a:lnTo>
                  <a:pt x="1418505" y="23650"/>
                </a:lnTo>
                <a:lnTo>
                  <a:pt x="1357341" y="17612"/>
                </a:lnTo>
                <a:lnTo>
                  <a:pt x="1293589" y="12395"/>
                </a:lnTo>
                <a:lnTo>
                  <a:pt x="1227458" y="8038"/>
                </a:lnTo>
                <a:lnTo>
                  <a:pt x="1159159" y="4580"/>
                </a:lnTo>
                <a:lnTo>
                  <a:pt x="1088902" y="2062"/>
                </a:lnTo>
                <a:lnTo>
                  <a:pt x="1016897" y="522"/>
                </a:lnTo>
                <a:lnTo>
                  <a:pt x="943355" y="0"/>
                </a:lnTo>
                <a:close/>
              </a:path>
            </a:pathLst>
          </a:custGeom>
          <a:ln w="9524">
            <a:solidFill>
              <a:srgbClr val="000000"/>
            </a:solidFill>
          </a:ln>
        </p:spPr>
        <p:txBody>
          <a:bodyPr wrap="square" lIns="0" tIns="0" rIns="0" bIns="0" rtlCol="0"/>
          <a:lstStyle/>
          <a:p>
            <a:endParaRPr/>
          </a:p>
        </p:txBody>
      </p:sp>
      <p:sp>
        <p:nvSpPr>
          <p:cNvPr id="12" name="object 12"/>
          <p:cNvSpPr txBox="1"/>
          <p:nvPr/>
        </p:nvSpPr>
        <p:spPr>
          <a:xfrm>
            <a:off x="3864240" y="4429758"/>
            <a:ext cx="1167765" cy="239395"/>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Saldo-deudor</a:t>
            </a:r>
            <a:endParaRPr sz="1400">
              <a:latin typeface="Arial"/>
              <a:cs typeface="Arial"/>
            </a:endParaRPr>
          </a:p>
        </p:txBody>
      </p:sp>
      <p:sp>
        <p:nvSpPr>
          <p:cNvPr id="13" name="object 13"/>
          <p:cNvSpPr txBox="1"/>
          <p:nvPr/>
        </p:nvSpPr>
        <p:spPr>
          <a:xfrm>
            <a:off x="2781178" y="2552700"/>
            <a:ext cx="1077595" cy="259079"/>
          </a:xfrm>
          <a:prstGeom prst="rect">
            <a:avLst/>
          </a:prstGeom>
          <a:solidFill>
            <a:srgbClr val="D7E4BC"/>
          </a:solidFill>
          <a:ln w="9524">
            <a:solidFill>
              <a:srgbClr val="000000"/>
            </a:solidFill>
          </a:ln>
        </p:spPr>
        <p:txBody>
          <a:bodyPr vert="horz" wrap="square" lIns="0" tIns="44450" rIns="0" bIns="0" rtlCol="0">
            <a:spAutoFit/>
          </a:bodyPr>
          <a:lstStyle/>
          <a:p>
            <a:pPr marL="237490">
              <a:lnSpc>
                <a:spcPct val="100000"/>
              </a:lnSpc>
              <a:spcBef>
                <a:spcPts val="350"/>
              </a:spcBef>
            </a:pPr>
            <a:r>
              <a:rPr sz="1400" b="1" spc="-10" dirty="0">
                <a:latin typeface="Arial"/>
                <a:cs typeface="Arial"/>
              </a:rPr>
              <a:t>Cuenta</a:t>
            </a:r>
            <a:endParaRPr sz="1400">
              <a:latin typeface="Arial"/>
              <a:cs typeface="Arial"/>
            </a:endParaRPr>
          </a:p>
        </p:txBody>
      </p:sp>
      <p:sp>
        <p:nvSpPr>
          <p:cNvPr id="14" name="object 14"/>
          <p:cNvSpPr/>
          <p:nvPr/>
        </p:nvSpPr>
        <p:spPr>
          <a:xfrm>
            <a:off x="1740286" y="1776983"/>
            <a:ext cx="1347470" cy="518159"/>
          </a:xfrm>
          <a:custGeom>
            <a:avLst/>
            <a:gdLst/>
            <a:ahLst/>
            <a:cxnLst/>
            <a:rect l="l" t="t" r="r" b="b"/>
            <a:pathLst>
              <a:path w="1347470" h="518160">
                <a:moveTo>
                  <a:pt x="673607" y="0"/>
                </a:moveTo>
                <a:lnTo>
                  <a:pt x="608761" y="1184"/>
                </a:lnTo>
                <a:lnTo>
                  <a:pt x="545652" y="4665"/>
                </a:lnTo>
                <a:lnTo>
                  <a:pt x="484565" y="10335"/>
                </a:lnTo>
                <a:lnTo>
                  <a:pt x="425782" y="18085"/>
                </a:lnTo>
                <a:lnTo>
                  <a:pt x="369586" y="27809"/>
                </a:lnTo>
                <a:lnTo>
                  <a:pt x="316260" y="39397"/>
                </a:lnTo>
                <a:lnTo>
                  <a:pt x="266087" y="52742"/>
                </a:lnTo>
                <a:lnTo>
                  <a:pt x="219349" y="67737"/>
                </a:lnTo>
                <a:lnTo>
                  <a:pt x="176331" y="84272"/>
                </a:lnTo>
                <a:lnTo>
                  <a:pt x="137313" y="102241"/>
                </a:lnTo>
                <a:lnTo>
                  <a:pt x="102581" y="121534"/>
                </a:lnTo>
                <a:lnTo>
                  <a:pt x="47100" y="163665"/>
                </a:lnTo>
                <a:lnTo>
                  <a:pt x="12152" y="209802"/>
                </a:lnTo>
                <a:lnTo>
                  <a:pt x="0" y="259079"/>
                </a:lnTo>
                <a:lnTo>
                  <a:pt x="3085" y="284057"/>
                </a:lnTo>
                <a:lnTo>
                  <a:pt x="26918" y="331872"/>
                </a:lnTo>
                <a:lnTo>
                  <a:pt x="72415" y="376114"/>
                </a:lnTo>
                <a:lnTo>
                  <a:pt x="137313" y="415918"/>
                </a:lnTo>
                <a:lnTo>
                  <a:pt x="176331" y="433887"/>
                </a:lnTo>
                <a:lnTo>
                  <a:pt x="219349" y="450422"/>
                </a:lnTo>
                <a:lnTo>
                  <a:pt x="266087" y="465417"/>
                </a:lnTo>
                <a:lnTo>
                  <a:pt x="316260" y="478762"/>
                </a:lnTo>
                <a:lnTo>
                  <a:pt x="369586" y="490350"/>
                </a:lnTo>
                <a:lnTo>
                  <a:pt x="425782" y="500074"/>
                </a:lnTo>
                <a:lnTo>
                  <a:pt x="484565" y="507824"/>
                </a:lnTo>
                <a:lnTo>
                  <a:pt x="545652" y="513494"/>
                </a:lnTo>
                <a:lnTo>
                  <a:pt x="608761" y="516975"/>
                </a:lnTo>
                <a:lnTo>
                  <a:pt x="673607" y="518159"/>
                </a:lnTo>
                <a:lnTo>
                  <a:pt x="738454" y="516975"/>
                </a:lnTo>
                <a:lnTo>
                  <a:pt x="801563" y="513494"/>
                </a:lnTo>
                <a:lnTo>
                  <a:pt x="862650" y="507824"/>
                </a:lnTo>
                <a:lnTo>
                  <a:pt x="921433" y="500074"/>
                </a:lnTo>
                <a:lnTo>
                  <a:pt x="977629" y="490350"/>
                </a:lnTo>
                <a:lnTo>
                  <a:pt x="1030955" y="478762"/>
                </a:lnTo>
                <a:lnTo>
                  <a:pt x="1081128" y="465417"/>
                </a:lnTo>
                <a:lnTo>
                  <a:pt x="1127866" y="450422"/>
                </a:lnTo>
                <a:lnTo>
                  <a:pt x="1170884" y="433887"/>
                </a:lnTo>
                <a:lnTo>
                  <a:pt x="1209902" y="415918"/>
                </a:lnTo>
                <a:lnTo>
                  <a:pt x="1244634" y="396625"/>
                </a:lnTo>
                <a:lnTo>
                  <a:pt x="1300115" y="354494"/>
                </a:lnTo>
                <a:lnTo>
                  <a:pt x="1335063" y="308357"/>
                </a:lnTo>
                <a:lnTo>
                  <a:pt x="1347215" y="259079"/>
                </a:lnTo>
                <a:lnTo>
                  <a:pt x="1344130" y="234102"/>
                </a:lnTo>
                <a:lnTo>
                  <a:pt x="1320297" y="186287"/>
                </a:lnTo>
                <a:lnTo>
                  <a:pt x="1274800" y="142045"/>
                </a:lnTo>
                <a:lnTo>
                  <a:pt x="1209902" y="102241"/>
                </a:lnTo>
                <a:lnTo>
                  <a:pt x="1170884" y="84272"/>
                </a:lnTo>
                <a:lnTo>
                  <a:pt x="1127866" y="67737"/>
                </a:lnTo>
                <a:lnTo>
                  <a:pt x="1081128" y="52742"/>
                </a:lnTo>
                <a:lnTo>
                  <a:pt x="1030955" y="39397"/>
                </a:lnTo>
                <a:lnTo>
                  <a:pt x="977629" y="27809"/>
                </a:lnTo>
                <a:lnTo>
                  <a:pt x="921433" y="18085"/>
                </a:lnTo>
                <a:lnTo>
                  <a:pt x="862650" y="10335"/>
                </a:lnTo>
                <a:lnTo>
                  <a:pt x="801563" y="4665"/>
                </a:lnTo>
                <a:lnTo>
                  <a:pt x="738454" y="1184"/>
                </a:lnTo>
                <a:lnTo>
                  <a:pt x="673607" y="0"/>
                </a:lnTo>
                <a:close/>
              </a:path>
            </a:pathLst>
          </a:custGeom>
          <a:ln w="9524">
            <a:solidFill>
              <a:srgbClr val="000000"/>
            </a:solidFill>
          </a:ln>
        </p:spPr>
        <p:txBody>
          <a:bodyPr wrap="square" lIns="0" tIns="0" rIns="0" bIns="0" rtlCol="0"/>
          <a:lstStyle/>
          <a:p>
            <a:endParaRPr/>
          </a:p>
        </p:txBody>
      </p:sp>
      <p:sp>
        <p:nvSpPr>
          <p:cNvPr id="15" name="object 15"/>
          <p:cNvSpPr txBox="1"/>
          <p:nvPr/>
        </p:nvSpPr>
        <p:spPr>
          <a:xfrm>
            <a:off x="1994292" y="1870963"/>
            <a:ext cx="757555" cy="452755"/>
          </a:xfrm>
          <a:prstGeom prst="rect">
            <a:avLst/>
          </a:prstGeom>
        </p:spPr>
        <p:txBody>
          <a:bodyPr vert="horz" wrap="square" lIns="0" tIns="12700" rIns="0" bIns="0" rtlCol="0">
            <a:spAutoFit/>
          </a:bodyPr>
          <a:lstStyle/>
          <a:p>
            <a:pPr marL="12700" marR="5080">
              <a:lnSpc>
                <a:spcPct val="100000"/>
              </a:lnSpc>
              <a:spcBef>
                <a:spcPts val="100"/>
              </a:spcBef>
            </a:pPr>
            <a:r>
              <a:rPr sz="1400" b="1" dirty="0">
                <a:latin typeface="Arial"/>
                <a:cs typeface="Arial"/>
              </a:rPr>
              <a:t>Número-</a:t>
            </a:r>
            <a:r>
              <a:rPr sz="1400" b="1" spc="-10" dirty="0">
                <a:latin typeface="Arial"/>
                <a:cs typeface="Arial"/>
              </a:rPr>
              <a:t>cuenta</a:t>
            </a:r>
            <a:endParaRPr sz="1400">
              <a:latin typeface="Arial"/>
              <a:cs typeface="Arial"/>
            </a:endParaRPr>
          </a:p>
        </p:txBody>
      </p:sp>
      <p:sp>
        <p:nvSpPr>
          <p:cNvPr id="16" name="object 16"/>
          <p:cNvSpPr/>
          <p:nvPr/>
        </p:nvSpPr>
        <p:spPr>
          <a:xfrm>
            <a:off x="3626997" y="1950719"/>
            <a:ext cx="1076325" cy="344805"/>
          </a:xfrm>
          <a:custGeom>
            <a:avLst/>
            <a:gdLst/>
            <a:ahLst/>
            <a:cxnLst/>
            <a:rect l="l" t="t" r="r" b="b"/>
            <a:pathLst>
              <a:path w="1076325" h="344805">
                <a:moveTo>
                  <a:pt x="537971" y="0"/>
                </a:moveTo>
                <a:lnTo>
                  <a:pt x="470476" y="1351"/>
                </a:lnTo>
                <a:lnTo>
                  <a:pt x="405487" y="5296"/>
                </a:lnTo>
                <a:lnTo>
                  <a:pt x="343506" y="11668"/>
                </a:lnTo>
                <a:lnTo>
                  <a:pt x="285039" y="20299"/>
                </a:lnTo>
                <a:lnTo>
                  <a:pt x="230588" y="31024"/>
                </a:lnTo>
                <a:lnTo>
                  <a:pt x="180656" y="43676"/>
                </a:lnTo>
                <a:lnTo>
                  <a:pt x="135749" y="58088"/>
                </a:lnTo>
                <a:lnTo>
                  <a:pt x="96368" y="74095"/>
                </a:lnTo>
                <a:lnTo>
                  <a:pt x="36203" y="110224"/>
                </a:lnTo>
                <a:lnTo>
                  <a:pt x="4190" y="150732"/>
                </a:lnTo>
                <a:lnTo>
                  <a:pt x="0" y="172211"/>
                </a:lnTo>
                <a:lnTo>
                  <a:pt x="4190" y="193691"/>
                </a:lnTo>
                <a:lnTo>
                  <a:pt x="36203" y="234199"/>
                </a:lnTo>
                <a:lnTo>
                  <a:pt x="96368" y="270328"/>
                </a:lnTo>
                <a:lnTo>
                  <a:pt x="135749" y="286335"/>
                </a:lnTo>
                <a:lnTo>
                  <a:pt x="180656" y="300747"/>
                </a:lnTo>
                <a:lnTo>
                  <a:pt x="230588" y="313399"/>
                </a:lnTo>
                <a:lnTo>
                  <a:pt x="285039" y="324124"/>
                </a:lnTo>
                <a:lnTo>
                  <a:pt x="343506" y="332755"/>
                </a:lnTo>
                <a:lnTo>
                  <a:pt x="405487" y="339127"/>
                </a:lnTo>
                <a:lnTo>
                  <a:pt x="470476" y="343072"/>
                </a:lnTo>
                <a:lnTo>
                  <a:pt x="537971" y="344423"/>
                </a:lnTo>
                <a:lnTo>
                  <a:pt x="605467" y="343072"/>
                </a:lnTo>
                <a:lnTo>
                  <a:pt x="670456" y="339127"/>
                </a:lnTo>
                <a:lnTo>
                  <a:pt x="732437" y="332755"/>
                </a:lnTo>
                <a:lnTo>
                  <a:pt x="790904" y="324124"/>
                </a:lnTo>
                <a:lnTo>
                  <a:pt x="845355" y="313399"/>
                </a:lnTo>
                <a:lnTo>
                  <a:pt x="895287" y="300747"/>
                </a:lnTo>
                <a:lnTo>
                  <a:pt x="940194" y="286335"/>
                </a:lnTo>
                <a:lnTo>
                  <a:pt x="979575" y="270328"/>
                </a:lnTo>
                <a:lnTo>
                  <a:pt x="1039740" y="234199"/>
                </a:lnTo>
                <a:lnTo>
                  <a:pt x="1071753" y="193691"/>
                </a:lnTo>
                <a:lnTo>
                  <a:pt x="1075943" y="172211"/>
                </a:lnTo>
                <a:lnTo>
                  <a:pt x="1071753" y="150732"/>
                </a:lnTo>
                <a:lnTo>
                  <a:pt x="1039740" y="110224"/>
                </a:lnTo>
                <a:lnTo>
                  <a:pt x="979575" y="74095"/>
                </a:lnTo>
                <a:lnTo>
                  <a:pt x="940194" y="58088"/>
                </a:lnTo>
                <a:lnTo>
                  <a:pt x="895287" y="43676"/>
                </a:lnTo>
                <a:lnTo>
                  <a:pt x="845355" y="31024"/>
                </a:lnTo>
                <a:lnTo>
                  <a:pt x="790904" y="20299"/>
                </a:lnTo>
                <a:lnTo>
                  <a:pt x="732437" y="11668"/>
                </a:lnTo>
                <a:lnTo>
                  <a:pt x="670456" y="5296"/>
                </a:lnTo>
                <a:lnTo>
                  <a:pt x="605467" y="1351"/>
                </a:lnTo>
                <a:lnTo>
                  <a:pt x="537971" y="0"/>
                </a:lnTo>
                <a:close/>
              </a:path>
            </a:pathLst>
          </a:custGeom>
          <a:ln w="9524">
            <a:solidFill>
              <a:srgbClr val="000000"/>
            </a:solidFill>
          </a:ln>
        </p:spPr>
        <p:txBody>
          <a:bodyPr wrap="square" lIns="0" tIns="0" rIns="0" bIns="0" rtlCol="0"/>
          <a:lstStyle/>
          <a:p>
            <a:endParaRPr/>
          </a:p>
        </p:txBody>
      </p:sp>
      <p:sp>
        <p:nvSpPr>
          <p:cNvPr id="17" name="object 17"/>
          <p:cNvSpPr txBox="1"/>
          <p:nvPr/>
        </p:nvSpPr>
        <p:spPr>
          <a:xfrm>
            <a:off x="3841380" y="2018791"/>
            <a:ext cx="511175" cy="239395"/>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Saldo</a:t>
            </a:r>
            <a:endParaRPr sz="1400">
              <a:latin typeface="Arial"/>
              <a:cs typeface="Arial"/>
            </a:endParaRPr>
          </a:p>
        </p:txBody>
      </p:sp>
      <p:sp>
        <p:nvSpPr>
          <p:cNvPr id="18" name="object 18"/>
          <p:cNvSpPr/>
          <p:nvPr/>
        </p:nvSpPr>
        <p:spPr>
          <a:xfrm>
            <a:off x="2413893" y="2295144"/>
            <a:ext cx="539750" cy="257810"/>
          </a:xfrm>
          <a:custGeom>
            <a:avLst/>
            <a:gdLst/>
            <a:ahLst/>
            <a:cxnLst/>
            <a:rect l="l" t="t" r="r" b="b"/>
            <a:pathLst>
              <a:path w="539750" h="257810">
                <a:moveTo>
                  <a:pt x="0" y="0"/>
                </a:moveTo>
                <a:lnTo>
                  <a:pt x="539495" y="257555"/>
                </a:lnTo>
              </a:path>
            </a:pathLst>
          </a:custGeom>
          <a:ln w="9524">
            <a:solidFill>
              <a:srgbClr val="000000"/>
            </a:solidFill>
          </a:ln>
        </p:spPr>
        <p:txBody>
          <a:bodyPr wrap="square" lIns="0" tIns="0" rIns="0" bIns="0" rtlCol="0"/>
          <a:lstStyle/>
          <a:p>
            <a:endParaRPr/>
          </a:p>
        </p:txBody>
      </p:sp>
      <p:sp>
        <p:nvSpPr>
          <p:cNvPr id="19" name="object 19"/>
          <p:cNvSpPr/>
          <p:nvPr/>
        </p:nvSpPr>
        <p:spPr>
          <a:xfrm>
            <a:off x="3491362" y="2295144"/>
            <a:ext cx="673735" cy="257810"/>
          </a:xfrm>
          <a:custGeom>
            <a:avLst/>
            <a:gdLst/>
            <a:ahLst/>
            <a:cxnLst/>
            <a:rect l="l" t="t" r="r" b="b"/>
            <a:pathLst>
              <a:path w="673735" h="257810">
                <a:moveTo>
                  <a:pt x="673607" y="0"/>
                </a:moveTo>
                <a:lnTo>
                  <a:pt x="0" y="257555"/>
                </a:lnTo>
              </a:path>
            </a:pathLst>
          </a:custGeom>
          <a:ln w="9524">
            <a:solidFill>
              <a:srgbClr val="000000"/>
            </a:solidFill>
          </a:ln>
        </p:spPr>
        <p:txBody>
          <a:bodyPr wrap="square" lIns="0" tIns="0" rIns="0" bIns="0" rtlCol="0"/>
          <a:lstStyle/>
          <a:p>
            <a:endParaRPr/>
          </a:p>
        </p:txBody>
      </p:sp>
      <p:sp>
        <p:nvSpPr>
          <p:cNvPr id="20" name="object 20"/>
          <p:cNvSpPr/>
          <p:nvPr/>
        </p:nvSpPr>
        <p:spPr>
          <a:xfrm>
            <a:off x="2145669" y="2811779"/>
            <a:ext cx="2345690" cy="946785"/>
          </a:xfrm>
          <a:custGeom>
            <a:avLst/>
            <a:gdLst/>
            <a:ahLst/>
            <a:cxnLst/>
            <a:rect l="l" t="t" r="r" b="b"/>
            <a:pathLst>
              <a:path w="2345690" h="946785">
                <a:moveTo>
                  <a:pt x="1184147" y="688847"/>
                </a:moveTo>
                <a:lnTo>
                  <a:pt x="1923287" y="172211"/>
                </a:lnTo>
                <a:lnTo>
                  <a:pt x="443483" y="172211"/>
                </a:lnTo>
                <a:lnTo>
                  <a:pt x="1184147" y="688847"/>
                </a:lnTo>
                <a:close/>
              </a:path>
              <a:path w="2345690" h="946785">
                <a:moveTo>
                  <a:pt x="1170431" y="0"/>
                </a:moveTo>
                <a:lnTo>
                  <a:pt x="1170431" y="172211"/>
                </a:lnTo>
              </a:path>
              <a:path w="2345690" h="946785">
                <a:moveTo>
                  <a:pt x="807719" y="431291"/>
                </a:moveTo>
                <a:lnTo>
                  <a:pt x="0" y="946403"/>
                </a:lnTo>
              </a:path>
              <a:path w="2345690" h="946785">
                <a:moveTo>
                  <a:pt x="1536191" y="431291"/>
                </a:moveTo>
                <a:lnTo>
                  <a:pt x="2345435" y="946403"/>
                </a:lnTo>
              </a:path>
            </a:pathLst>
          </a:custGeom>
          <a:ln w="9524">
            <a:solidFill>
              <a:srgbClr val="000000"/>
            </a:solidFill>
          </a:ln>
        </p:spPr>
        <p:txBody>
          <a:bodyPr wrap="square" lIns="0" tIns="0" rIns="0" bIns="0" rtlCol="0"/>
          <a:lstStyle/>
          <a:p>
            <a:endParaRPr/>
          </a:p>
        </p:txBody>
      </p:sp>
      <p:sp>
        <p:nvSpPr>
          <p:cNvPr id="21" name="object 21"/>
          <p:cNvSpPr/>
          <p:nvPr/>
        </p:nvSpPr>
        <p:spPr>
          <a:xfrm>
            <a:off x="2010034" y="4017264"/>
            <a:ext cx="0" cy="344805"/>
          </a:xfrm>
          <a:custGeom>
            <a:avLst/>
            <a:gdLst/>
            <a:ahLst/>
            <a:cxnLst/>
            <a:rect l="l" t="t" r="r" b="b"/>
            <a:pathLst>
              <a:path h="344804">
                <a:moveTo>
                  <a:pt x="0" y="0"/>
                </a:moveTo>
                <a:lnTo>
                  <a:pt x="0" y="344423"/>
                </a:lnTo>
              </a:path>
            </a:pathLst>
          </a:custGeom>
          <a:ln w="9524">
            <a:solidFill>
              <a:srgbClr val="000000"/>
            </a:solidFill>
          </a:ln>
        </p:spPr>
        <p:txBody>
          <a:bodyPr wrap="square" lIns="0" tIns="0" rIns="0" bIns="0" rtlCol="0"/>
          <a:lstStyle/>
          <a:p>
            <a:endParaRPr/>
          </a:p>
        </p:txBody>
      </p:sp>
      <p:sp>
        <p:nvSpPr>
          <p:cNvPr id="22" name="object 22"/>
          <p:cNvSpPr/>
          <p:nvPr/>
        </p:nvSpPr>
        <p:spPr>
          <a:xfrm>
            <a:off x="4433194" y="4017264"/>
            <a:ext cx="0" cy="344805"/>
          </a:xfrm>
          <a:custGeom>
            <a:avLst/>
            <a:gdLst/>
            <a:ahLst/>
            <a:cxnLst/>
            <a:rect l="l" t="t" r="r" b="b"/>
            <a:pathLst>
              <a:path h="344804">
                <a:moveTo>
                  <a:pt x="0" y="0"/>
                </a:moveTo>
                <a:lnTo>
                  <a:pt x="0" y="344423"/>
                </a:lnTo>
              </a:path>
            </a:pathLst>
          </a:custGeom>
          <a:ln w="9524">
            <a:solidFill>
              <a:srgbClr val="000000"/>
            </a:solidFill>
          </a:ln>
        </p:spPr>
        <p:txBody>
          <a:bodyPr wrap="square" lIns="0" tIns="0" rIns="0" bIns="0" rtlCol="0"/>
          <a:lstStyle/>
          <a:p>
            <a:endParaRPr/>
          </a:p>
        </p:txBody>
      </p:sp>
      <p:sp>
        <p:nvSpPr>
          <p:cNvPr id="23" name="object 23"/>
          <p:cNvSpPr txBox="1"/>
          <p:nvPr/>
        </p:nvSpPr>
        <p:spPr>
          <a:xfrm>
            <a:off x="3230256" y="3061206"/>
            <a:ext cx="424180" cy="239395"/>
          </a:xfrm>
          <a:prstGeom prst="rect">
            <a:avLst/>
          </a:prstGeom>
        </p:spPr>
        <p:txBody>
          <a:bodyPr vert="horz" wrap="square" lIns="0" tIns="12700" rIns="0" bIns="0" rtlCol="0">
            <a:spAutoFit/>
          </a:bodyPr>
          <a:lstStyle/>
          <a:p>
            <a:pPr marL="12700">
              <a:lnSpc>
                <a:spcPct val="100000"/>
              </a:lnSpc>
              <a:spcBef>
                <a:spcPts val="100"/>
              </a:spcBef>
            </a:pPr>
            <a:r>
              <a:rPr sz="1400" b="1" spc="-20" dirty="0">
                <a:latin typeface="Arial"/>
                <a:cs typeface="Arial"/>
              </a:rPr>
              <a:t>IS_A</a:t>
            </a:r>
            <a:endParaRPr sz="1400">
              <a:latin typeface="Arial"/>
              <a:cs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39324" y="1803907"/>
            <a:ext cx="8140700" cy="3747564"/>
          </a:xfrm>
          <a:prstGeom prst="rect">
            <a:avLst/>
          </a:prstGeom>
        </p:spPr>
        <p:txBody>
          <a:bodyPr vert="horz" wrap="square" lIns="0" tIns="12065" rIns="0" bIns="0" rtlCol="0">
            <a:spAutoFit/>
          </a:bodyPr>
          <a:lstStyle/>
          <a:p>
            <a:pPr marL="353695" marR="73660" indent="-340995">
              <a:lnSpc>
                <a:spcPct val="80000"/>
              </a:lnSpc>
              <a:buFont typeface="Arial MT"/>
              <a:buChar char="•"/>
              <a:tabLst>
                <a:tab pos="355600" algn="l"/>
              </a:tabLst>
            </a:pPr>
            <a:r>
              <a:rPr sz="2800" b="1" dirty="0" smtClean="0">
                <a:latin typeface="Arial"/>
                <a:cs typeface="Arial"/>
              </a:rPr>
              <a:t>No</a:t>
            </a:r>
            <a:r>
              <a:rPr sz="2800" b="1" spc="-60" dirty="0" smtClean="0">
                <a:latin typeface="Arial"/>
                <a:cs typeface="Arial"/>
              </a:rPr>
              <a:t> </a:t>
            </a:r>
            <a:r>
              <a:rPr sz="2800" b="1" dirty="0">
                <a:latin typeface="Arial"/>
                <a:cs typeface="Arial"/>
              </a:rPr>
              <a:t>crear</a:t>
            </a:r>
            <a:r>
              <a:rPr sz="2800" b="1" spc="-50" dirty="0">
                <a:latin typeface="Arial"/>
                <a:cs typeface="Arial"/>
              </a:rPr>
              <a:t> </a:t>
            </a:r>
            <a:r>
              <a:rPr sz="2800" dirty="0">
                <a:latin typeface="Arial MT"/>
                <a:cs typeface="Arial MT"/>
              </a:rPr>
              <a:t>una</a:t>
            </a:r>
            <a:r>
              <a:rPr sz="2800" spc="-45" dirty="0">
                <a:latin typeface="Arial MT"/>
                <a:cs typeface="Arial MT"/>
              </a:rPr>
              <a:t> </a:t>
            </a:r>
            <a:r>
              <a:rPr sz="2800" b="1" dirty="0">
                <a:latin typeface="Arial"/>
                <a:cs typeface="Arial"/>
              </a:rPr>
              <a:t>tabla</a:t>
            </a:r>
            <a:r>
              <a:rPr sz="2800" b="1" spc="-35" dirty="0">
                <a:latin typeface="Arial"/>
                <a:cs typeface="Arial"/>
              </a:rPr>
              <a:t> </a:t>
            </a:r>
            <a:r>
              <a:rPr sz="2800" dirty="0">
                <a:latin typeface="Arial MT"/>
                <a:cs typeface="Arial MT"/>
              </a:rPr>
              <a:t>para</a:t>
            </a:r>
            <a:r>
              <a:rPr sz="2800" spc="-45" dirty="0">
                <a:latin typeface="Arial MT"/>
                <a:cs typeface="Arial MT"/>
              </a:rPr>
              <a:t> </a:t>
            </a:r>
            <a:r>
              <a:rPr sz="2800" dirty="0">
                <a:latin typeface="Arial MT"/>
                <a:cs typeface="Arial MT"/>
              </a:rPr>
              <a:t>la</a:t>
            </a:r>
            <a:r>
              <a:rPr sz="2800" spc="-45" dirty="0">
                <a:latin typeface="Arial MT"/>
                <a:cs typeface="Arial MT"/>
              </a:rPr>
              <a:t> </a:t>
            </a:r>
            <a:r>
              <a:rPr sz="2800" dirty="0">
                <a:latin typeface="Arial MT"/>
                <a:cs typeface="Arial MT"/>
              </a:rPr>
              <a:t>entidad</a:t>
            </a:r>
            <a:r>
              <a:rPr sz="2800" spc="-45" dirty="0">
                <a:latin typeface="Arial MT"/>
                <a:cs typeface="Arial MT"/>
              </a:rPr>
              <a:t> </a:t>
            </a:r>
            <a:r>
              <a:rPr sz="2800" dirty="0">
                <a:latin typeface="Arial MT"/>
                <a:cs typeface="Arial MT"/>
              </a:rPr>
              <a:t>del</a:t>
            </a:r>
            <a:r>
              <a:rPr sz="2800" spc="-40" dirty="0">
                <a:latin typeface="Arial MT"/>
                <a:cs typeface="Arial MT"/>
              </a:rPr>
              <a:t> </a:t>
            </a:r>
            <a:r>
              <a:rPr sz="2800" dirty="0">
                <a:latin typeface="Arial MT"/>
                <a:cs typeface="Arial MT"/>
              </a:rPr>
              <a:t>nivel</a:t>
            </a:r>
            <a:r>
              <a:rPr sz="2800" spc="-50" dirty="0">
                <a:latin typeface="Arial MT"/>
                <a:cs typeface="Arial MT"/>
              </a:rPr>
              <a:t> </a:t>
            </a:r>
            <a:r>
              <a:rPr sz="2800" spc="-25" dirty="0">
                <a:latin typeface="Arial MT"/>
                <a:cs typeface="Arial MT"/>
              </a:rPr>
              <a:t>más 	</a:t>
            </a:r>
            <a:r>
              <a:rPr sz="2800" spc="-10" dirty="0">
                <a:latin typeface="Arial MT"/>
                <a:cs typeface="Arial MT"/>
              </a:rPr>
              <a:t>alto.</a:t>
            </a:r>
            <a:endParaRPr sz="2800" dirty="0">
              <a:latin typeface="Arial MT"/>
              <a:cs typeface="Arial MT"/>
            </a:endParaRPr>
          </a:p>
          <a:p>
            <a:pPr>
              <a:lnSpc>
                <a:spcPct val="100000"/>
              </a:lnSpc>
              <a:spcBef>
                <a:spcPts val="810"/>
              </a:spcBef>
              <a:buFont typeface="Arial MT"/>
              <a:buChar char="•"/>
            </a:pPr>
            <a:endParaRPr sz="2800" dirty="0">
              <a:latin typeface="Arial MT"/>
              <a:cs typeface="Arial MT"/>
            </a:endParaRPr>
          </a:p>
          <a:p>
            <a:pPr marL="353060" marR="231775" indent="-340995">
              <a:lnSpc>
                <a:spcPct val="80000"/>
              </a:lnSpc>
              <a:buFont typeface="Arial MT"/>
              <a:buChar char="•"/>
              <a:tabLst>
                <a:tab pos="354965" algn="l"/>
              </a:tabLst>
            </a:pPr>
            <a:r>
              <a:rPr sz="2800" b="1" dirty="0">
                <a:latin typeface="Arial"/>
                <a:cs typeface="Arial"/>
              </a:rPr>
              <a:t>Crear</a:t>
            </a:r>
            <a:r>
              <a:rPr sz="2800" b="1" spc="-55" dirty="0">
                <a:latin typeface="Arial"/>
                <a:cs typeface="Arial"/>
              </a:rPr>
              <a:t> </a:t>
            </a:r>
            <a:r>
              <a:rPr sz="2800" dirty="0">
                <a:latin typeface="Arial MT"/>
                <a:cs typeface="Arial MT"/>
              </a:rPr>
              <a:t>una</a:t>
            </a:r>
            <a:r>
              <a:rPr sz="2800" spc="-50" dirty="0">
                <a:latin typeface="Arial MT"/>
                <a:cs typeface="Arial MT"/>
              </a:rPr>
              <a:t> </a:t>
            </a:r>
            <a:r>
              <a:rPr sz="2800" dirty="0">
                <a:latin typeface="Arial MT"/>
                <a:cs typeface="Arial MT"/>
              </a:rPr>
              <a:t>tabla</a:t>
            </a:r>
            <a:r>
              <a:rPr sz="2800" spc="-50" dirty="0">
                <a:latin typeface="Arial MT"/>
                <a:cs typeface="Arial MT"/>
              </a:rPr>
              <a:t> </a:t>
            </a:r>
            <a:r>
              <a:rPr sz="2800" dirty="0">
                <a:latin typeface="Arial MT"/>
                <a:cs typeface="Arial MT"/>
              </a:rPr>
              <a:t>para</a:t>
            </a:r>
            <a:r>
              <a:rPr sz="2800" spc="-50" dirty="0">
                <a:latin typeface="Arial MT"/>
                <a:cs typeface="Arial MT"/>
              </a:rPr>
              <a:t> </a:t>
            </a:r>
            <a:r>
              <a:rPr sz="2800" dirty="0">
                <a:latin typeface="Arial MT"/>
                <a:cs typeface="Arial MT"/>
              </a:rPr>
              <a:t>cada</a:t>
            </a:r>
            <a:r>
              <a:rPr sz="2800" spc="-50" dirty="0">
                <a:latin typeface="Arial MT"/>
                <a:cs typeface="Arial MT"/>
              </a:rPr>
              <a:t> </a:t>
            </a:r>
            <a:r>
              <a:rPr sz="2800" dirty="0">
                <a:latin typeface="Arial MT"/>
                <a:cs typeface="Arial MT"/>
              </a:rPr>
              <a:t>entidad</a:t>
            </a:r>
            <a:r>
              <a:rPr sz="2800" spc="-50" dirty="0">
                <a:latin typeface="Arial MT"/>
                <a:cs typeface="Arial MT"/>
              </a:rPr>
              <a:t> </a:t>
            </a:r>
            <a:r>
              <a:rPr sz="2800" dirty="0">
                <a:latin typeface="Arial MT"/>
                <a:cs typeface="Arial MT"/>
              </a:rPr>
              <a:t>de</a:t>
            </a:r>
            <a:r>
              <a:rPr sz="2800" spc="-50" dirty="0">
                <a:latin typeface="Arial MT"/>
                <a:cs typeface="Arial MT"/>
              </a:rPr>
              <a:t> </a:t>
            </a:r>
            <a:r>
              <a:rPr sz="2800" dirty="0">
                <a:latin typeface="Arial MT"/>
                <a:cs typeface="Arial MT"/>
              </a:rPr>
              <a:t>nivel</a:t>
            </a:r>
            <a:r>
              <a:rPr sz="2800" spc="-55" dirty="0">
                <a:latin typeface="Arial MT"/>
                <a:cs typeface="Arial MT"/>
              </a:rPr>
              <a:t> </a:t>
            </a:r>
            <a:r>
              <a:rPr sz="2800" spc="-25" dirty="0">
                <a:latin typeface="Arial MT"/>
                <a:cs typeface="Arial MT"/>
              </a:rPr>
              <a:t>más 	</a:t>
            </a:r>
            <a:r>
              <a:rPr sz="2800" dirty="0">
                <a:latin typeface="Arial MT"/>
                <a:cs typeface="Arial MT"/>
              </a:rPr>
              <a:t>bajo</a:t>
            </a:r>
            <a:r>
              <a:rPr sz="2800" spc="-45" dirty="0">
                <a:latin typeface="Arial MT"/>
                <a:cs typeface="Arial MT"/>
              </a:rPr>
              <a:t> </a:t>
            </a:r>
            <a:r>
              <a:rPr sz="2800" dirty="0">
                <a:latin typeface="Arial MT"/>
                <a:cs typeface="Arial MT"/>
              </a:rPr>
              <a:t>que</a:t>
            </a:r>
            <a:r>
              <a:rPr sz="2800" spc="-45" dirty="0">
                <a:latin typeface="Arial MT"/>
                <a:cs typeface="Arial MT"/>
              </a:rPr>
              <a:t> </a:t>
            </a:r>
            <a:r>
              <a:rPr sz="2800" spc="-10" dirty="0">
                <a:latin typeface="Arial MT"/>
                <a:cs typeface="Arial MT"/>
              </a:rPr>
              <a:t>incluya:</a:t>
            </a:r>
            <a:endParaRPr sz="2800" dirty="0">
              <a:latin typeface="Arial MT"/>
              <a:cs typeface="Arial MT"/>
            </a:endParaRPr>
          </a:p>
          <a:p>
            <a:pPr marL="754380" marR="224154" lvl="1" indent="-285115">
              <a:lnSpc>
                <a:spcPct val="80000"/>
              </a:lnSpc>
              <a:spcBef>
                <a:spcPts val="2500"/>
              </a:spcBef>
              <a:buFont typeface="Arial MT"/>
              <a:buChar char="–"/>
              <a:tabLst>
                <a:tab pos="756285" algn="l"/>
              </a:tabLst>
            </a:pPr>
            <a:r>
              <a:rPr sz="2400" b="1" dirty="0">
                <a:latin typeface="Arial"/>
                <a:cs typeface="Arial"/>
              </a:rPr>
              <a:t>una</a:t>
            </a:r>
            <a:r>
              <a:rPr sz="2400" b="1" spc="-50" dirty="0">
                <a:latin typeface="Arial"/>
                <a:cs typeface="Arial"/>
              </a:rPr>
              <a:t> </a:t>
            </a:r>
            <a:r>
              <a:rPr sz="2400" b="1" dirty="0">
                <a:latin typeface="Arial"/>
                <a:cs typeface="Arial"/>
              </a:rPr>
              <a:t>columna</a:t>
            </a:r>
            <a:r>
              <a:rPr sz="2400" b="1" spc="-50" dirty="0">
                <a:latin typeface="Arial"/>
                <a:cs typeface="Arial"/>
              </a:rPr>
              <a:t> </a:t>
            </a:r>
            <a:r>
              <a:rPr sz="2400" dirty="0">
                <a:latin typeface="Arial MT"/>
                <a:cs typeface="Arial MT"/>
              </a:rPr>
              <a:t>para</a:t>
            </a:r>
            <a:r>
              <a:rPr sz="2400" spc="-50" dirty="0">
                <a:latin typeface="Arial MT"/>
                <a:cs typeface="Arial MT"/>
              </a:rPr>
              <a:t> </a:t>
            </a:r>
            <a:r>
              <a:rPr sz="2400" dirty="0">
                <a:latin typeface="Arial MT"/>
                <a:cs typeface="Arial MT"/>
              </a:rPr>
              <a:t>cada</a:t>
            </a:r>
            <a:r>
              <a:rPr sz="2400" spc="-50" dirty="0">
                <a:latin typeface="Arial MT"/>
                <a:cs typeface="Arial MT"/>
              </a:rPr>
              <a:t> </a:t>
            </a:r>
            <a:r>
              <a:rPr sz="2400" dirty="0">
                <a:latin typeface="Arial MT"/>
                <a:cs typeface="Arial MT"/>
              </a:rPr>
              <a:t>uno</a:t>
            </a:r>
            <a:r>
              <a:rPr sz="2400" spc="-45" dirty="0">
                <a:latin typeface="Arial MT"/>
                <a:cs typeface="Arial MT"/>
              </a:rPr>
              <a:t> </a:t>
            </a:r>
            <a:r>
              <a:rPr sz="2400" dirty="0">
                <a:latin typeface="Arial MT"/>
                <a:cs typeface="Arial MT"/>
              </a:rPr>
              <a:t>de</a:t>
            </a:r>
            <a:r>
              <a:rPr sz="2400" spc="-50" dirty="0">
                <a:latin typeface="Arial MT"/>
                <a:cs typeface="Arial MT"/>
              </a:rPr>
              <a:t> </a:t>
            </a:r>
            <a:r>
              <a:rPr sz="2400" dirty="0">
                <a:latin typeface="Arial MT"/>
                <a:cs typeface="Arial MT"/>
              </a:rPr>
              <a:t>los</a:t>
            </a:r>
            <a:r>
              <a:rPr sz="2400" spc="-50" dirty="0">
                <a:latin typeface="Arial MT"/>
                <a:cs typeface="Arial MT"/>
              </a:rPr>
              <a:t> </a:t>
            </a:r>
            <a:r>
              <a:rPr sz="2400" dirty="0">
                <a:latin typeface="Arial MT"/>
                <a:cs typeface="Arial MT"/>
              </a:rPr>
              <a:t>atributos</a:t>
            </a:r>
            <a:r>
              <a:rPr sz="2400" spc="-50" dirty="0">
                <a:latin typeface="Arial MT"/>
                <a:cs typeface="Arial MT"/>
              </a:rPr>
              <a:t> </a:t>
            </a:r>
            <a:r>
              <a:rPr sz="2400" dirty="0">
                <a:latin typeface="Arial MT"/>
                <a:cs typeface="Arial MT"/>
              </a:rPr>
              <a:t>de</a:t>
            </a:r>
            <a:r>
              <a:rPr sz="2400" spc="-45" dirty="0">
                <a:latin typeface="Arial MT"/>
                <a:cs typeface="Arial MT"/>
              </a:rPr>
              <a:t> </a:t>
            </a:r>
            <a:r>
              <a:rPr sz="2400" spc="-20" dirty="0">
                <a:latin typeface="Arial MT"/>
                <a:cs typeface="Arial MT"/>
              </a:rPr>
              <a:t>esta 	</a:t>
            </a:r>
            <a:r>
              <a:rPr sz="2400" spc="-10" dirty="0">
                <a:latin typeface="Arial MT"/>
                <a:cs typeface="Arial MT"/>
              </a:rPr>
              <a:t>entidad,</a:t>
            </a:r>
            <a:endParaRPr sz="2400" dirty="0">
              <a:latin typeface="Arial MT"/>
              <a:cs typeface="Arial MT"/>
            </a:endParaRPr>
          </a:p>
          <a:p>
            <a:pPr marL="754380" marR="5080" lvl="1" indent="-285115">
              <a:lnSpc>
                <a:spcPct val="79600"/>
              </a:lnSpc>
              <a:spcBef>
                <a:spcPts val="2510"/>
              </a:spcBef>
              <a:buFont typeface="Arial MT"/>
              <a:buChar char="–"/>
              <a:tabLst>
                <a:tab pos="756285" algn="l"/>
              </a:tabLst>
            </a:pPr>
            <a:r>
              <a:rPr sz="2400" b="1" dirty="0">
                <a:latin typeface="Arial"/>
                <a:cs typeface="Arial"/>
              </a:rPr>
              <a:t>más</a:t>
            </a:r>
            <a:r>
              <a:rPr sz="2400" b="1" spc="-60" dirty="0">
                <a:latin typeface="Arial"/>
                <a:cs typeface="Arial"/>
              </a:rPr>
              <a:t> </a:t>
            </a:r>
            <a:r>
              <a:rPr sz="2400" b="1" dirty="0">
                <a:latin typeface="Arial"/>
                <a:cs typeface="Arial"/>
              </a:rPr>
              <a:t>una</a:t>
            </a:r>
            <a:r>
              <a:rPr sz="2400" b="1" spc="-55" dirty="0">
                <a:latin typeface="Arial"/>
                <a:cs typeface="Arial"/>
              </a:rPr>
              <a:t> </a:t>
            </a:r>
            <a:r>
              <a:rPr sz="2400" b="1" dirty="0">
                <a:latin typeface="Arial"/>
                <a:cs typeface="Arial"/>
              </a:rPr>
              <a:t>columna</a:t>
            </a:r>
            <a:r>
              <a:rPr sz="2400" b="1" spc="-55" dirty="0">
                <a:latin typeface="Arial"/>
                <a:cs typeface="Arial"/>
              </a:rPr>
              <a:t> </a:t>
            </a:r>
            <a:r>
              <a:rPr sz="2400" dirty="0">
                <a:latin typeface="Arial MT"/>
                <a:cs typeface="Arial MT"/>
              </a:rPr>
              <a:t>para</a:t>
            </a:r>
            <a:r>
              <a:rPr sz="2400" spc="-55" dirty="0">
                <a:latin typeface="Arial MT"/>
                <a:cs typeface="Arial MT"/>
              </a:rPr>
              <a:t> </a:t>
            </a:r>
            <a:r>
              <a:rPr sz="2400" dirty="0">
                <a:latin typeface="Arial MT"/>
                <a:cs typeface="Arial MT"/>
              </a:rPr>
              <a:t>cada</a:t>
            </a:r>
            <a:r>
              <a:rPr sz="2400" spc="-55" dirty="0">
                <a:latin typeface="Arial MT"/>
                <a:cs typeface="Arial MT"/>
              </a:rPr>
              <a:t> </a:t>
            </a:r>
            <a:r>
              <a:rPr sz="2400" dirty="0">
                <a:latin typeface="Arial MT"/>
                <a:cs typeface="Arial MT"/>
              </a:rPr>
              <a:t>atributo</a:t>
            </a:r>
            <a:r>
              <a:rPr sz="2400" spc="-55" dirty="0">
                <a:latin typeface="Arial MT"/>
                <a:cs typeface="Arial MT"/>
              </a:rPr>
              <a:t> </a:t>
            </a:r>
            <a:r>
              <a:rPr sz="2400" dirty="0">
                <a:latin typeface="Arial MT"/>
                <a:cs typeface="Arial MT"/>
              </a:rPr>
              <a:t>de</a:t>
            </a:r>
            <a:r>
              <a:rPr sz="2400" spc="-60" dirty="0">
                <a:latin typeface="Arial MT"/>
                <a:cs typeface="Arial MT"/>
              </a:rPr>
              <a:t> </a:t>
            </a:r>
            <a:r>
              <a:rPr sz="2400" dirty="0">
                <a:latin typeface="Arial MT"/>
                <a:cs typeface="Arial MT"/>
              </a:rPr>
              <a:t>la</a:t>
            </a:r>
            <a:r>
              <a:rPr sz="2400" spc="-55" dirty="0">
                <a:latin typeface="Arial MT"/>
                <a:cs typeface="Arial MT"/>
              </a:rPr>
              <a:t> </a:t>
            </a:r>
            <a:r>
              <a:rPr sz="2400" dirty="0">
                <a:latin typeface="Arial MT"/>
                <a:cs typeface="Arial MT"/>
              </a:rPr>
              <a:t>entidad</a:t>
            </a:r>
            <a:r>
              <a:rPr sz="2400" spc="-55" dirty="0">
                <a:latin typeface="Arial MT"/>
                <a:cs typeface="Arial MT"/>
              </a:rPr>
              <a:t> </a:t>
            </a:r>
            <a:r>
              <a:rPr sz="2400" spc="-25" dirty="0">
                <a:latin typeface="Arial MT"/>
                <a:cs typeface="Arial MT"/>
              </a:rPr>
              <a:t>de 	</a:t>
            </a:r>
            <a:r>
              <a:rPr sz="2400" dirty="0">
                <a:latin typeface="Arial MT"/>
                <a:cs typeface="Arial MT"/>
              </a:rPr>
              <a:t>nivel</a:t>
            </a:r>
            <a:r>
              <a:rPr sz="2400" spc="-40" dirty="0">
                <a:latin typeface="Arial MT"/>
                <a:cs typeface="Arial MT"/>
              </a:rPr>
              <a:t> </a:t>
            </a:r>
            <a:r>
              <a:rPr sz="2400" dirty="0">
                <a:latin typeface="Arial MT"/>
                <a:cs typeface="Arial MT"/>
              </a:rPr>
              <a:t>más</a:t>
            </a:r>
            <a:r>
              <a:rPr sz="2400" spc="-35" dirty="0">
                <a:latin typeface="Arial MT"/>
                <a:cs typeface="Arial MT"/>
              </a:rPr>
              <a:t> </a:t>
            </a:r>
            <a:r>
              <a:rPr sz="2400" spc="-20" dirty="0">
                <a:latin typeface="Arial MT"/>
                <a:cs typeface="Arial MT"/>
              </a:rPr>
              <a:t>alto.</a:t>
            </a:r>
            <a:endParaRPr sz="2400" dirty="0">
              <a:latin typeface="Arial MT"/>
              <a:cs typeface="Arial MT"/>
            </a:endParaRPr>
          </a:p>
        </p:txBody>
      </p:sp>
      <p:sp>
        <p:nvSpPr>
          <p:cNvPr id="3" name="object 3" descr="$PPTXTitle"/>
          <p:cNvSpPr txBox="1">
            <a:spLocks noGrp="1"/>
          </p:cNvSpPr>
          <p:nvPr>
            <p:ph type="title"/>
          </p:nvPr>
        </p:nvSpPr>
        <p:spPr>
          <a:xfrm>
            <a:off x="0" y="391286"/>
            <a:ext cx="10223500" cy="974176"/>
          </a:xfrm>
          <a:prstGeom prst="rect">
            <a:avLst/>
          </a:prstGeom>
        </p:spPr>
        <p:txBody>
          <a:bodyPr vert="horz" wrap="square" lIns="0" tIns="360171" rIns="0" bIns="0" rtlCol="0">
            <a:spAutoFit/>
          </a:bodyPr>
          <a:lstStyle/>
          <a:p>
            <a:pPr marL="1594485">
              <a:lnSpc>
                <a:spcPct val="100000"/>
              </a:lnSpc>
              <a:spcBef>
                <a:spcPts val="100"/>
              </a:spcBef>
            </a:pPr>
            <a:r>
              <a:rPr dirty="0"/>
              <a:t>Representación </a:t>
            </a:r>
            <a:r>
              <a:rPr dirty="0" err="1"/>
              <a:t>en</a:t>
            </a:r>
            <a:r>
              <a:rPr dirty="0"/>
              <a:t> </a:t>
            </a:r>
            <a:r>
              <a:rPr dirty="0" err="1" smtClean="0"/>
              <a:t>tablas</a:t>
            </a:r>
            <a:r>
              <a:rPr lang="es-ES" dirty="0" smtClean="0"/>
              <a:t> </a:t>
            </a:r>
            <a:r>
              <a:rPr lang="en-US" sz="2800" dirty="0" err="1"/>
              <a:t>Método</a:t>
            </a:r>
            <a:r>
              <a:rPr lang="en-US" sz="2800" dirty="0"/>
              <a:t> 2</a:t>
            </a:r>
            <a:endParaRPr sz="2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36307" y="5014847"/>
            <a:ext cx="3904860" cy="443070"/>
          </a:xfrm>
          <a:prstGeom prst="rect">
            <a:avLst/>
          </a:prstGeom>
        </p:spPr>
        <p:txBody>
          <a:bodyPr vert="horz" wrap="square" lIns="0" tIns="12065" rIns="0" bIns="0" rtlCol="0">
            <a:spAutoFit/>
          </a:bodyPr>
          <a:lstStyle/>
          <a:p>
            <a:pPr marL="12700">
              <a:lnSpc>
                <a:spcPct val="100000"/>
              </a:lnSpc>
              <a:spcBef>
                <a:spcPts val="95"/>
              </a:spcBef>
            </a:pPr>
            <a:r>
              <a:rPr sz="2800" dirty="0">
                <a:latin typeface="Arial MT"/>
                <a:cs typeface="Arial MT"/>
              </a:rPr>
              <a:t>Se</a:t>
            </a:r>
            <a:r>
              <a:rPr sz="2800" spc="-55" dirty="0">
                <a:latin typeface="Arial MT"/>
                <a:cs typeface="Arial MT"/>
              </a:rPr>
              <a:t> </a:t>
            </a:r>
            <a:r>
              <a:rPr sz="2800" dirty="0" err="1">
                <a:latin typeface="Arial MT"/>
                <a:cs typeface="Arial MT"/>
              </a:rPr>
              <a:t>originan</a:t>
            </a:r>
            <a:r>
              <a:rPr sz="2800" spc="-50" dirty="0">
                <a:latin typeface="Arial MT"/>
                <a:cs typeface="Arial MT"/>
              </a:rPr>
              <a:t> </a:t>
            </a:r>
            <a:r>
              <a:rPr sz="2800" spc="-25" dirty="0" smtClean="0">
                <a:latin typeface="Arial MT"/>
                <a:cs typeface="Arial MT"/>
              </a:rPr>
              <a:t>dos</a:t>
            </a:r>
            <a:r>
              <a:rPr lang="es-ES" sz="2800" spc="-25" dirty="0" smtClean="0">
                <a:latin typeface="Arial MT"/>
                <a:cs typeface="Arial MT"/>
              </a:rPr>
              <a:t> tablas: </a:t>
            </a:r>
            <a:endParaRPr sz="2800" dirty="0">
              <a:latin typeface="Arial MT"/>
              <a:cs typeface="Arial MT"/>
            </a:endParaRPr>
          </a:p>
        </p:txBody>
      </p:sp>
      <p:sp>
        <p:nvSpPr>
          <p:cNvPr id="3" name="object 3"/>
          <p:cNvSpPr txBox="1"/>
          <p:nvPr/>
        </p:nvSpPr>
        <p:spPr>
          <a:xfrm>
            <a:off x="1424328" y="5499605"/>
            <a:ext cx="7795259" cy="1805305"/>
          </a:xfrm>
          <a:prstGeom prst="rect">
            <a:avLst/>
          </a:prstGeom>
        </p:spPr>
        <p:txBody>
          <a:bodyPr vert="horz" wrap="square" lIns="0" tIns="97155" rIns="0" bIns="0" rtlCol="0">
            <a:spAutoFit/>
          </a:bodyPr>
          <a:lstStyle/>
          <a:p>
            <a:pPr marL="354965" marR="347980" indent="-342900">
              <a:lnSpc>
                <a:spcPct val="80000"/>
              </a:lnSpc>
              <a:spcBef>
                <a:spcPts val="765"/>
              </a:spcBef>
            </a:pPr>
            <a:r>
              <a:rPr sz="2800" b="1" spc="-20" dirty="0">
                <a:latin typeface="Arial"/>
                <a:cs typeface="Arial"/>
              </a:rPr>
              <a:t>Cuenta-</a:t>
            </a:r>
            <a:r>
              <a:rPr sz="2800" b="1" dirty="0">
                <a:latin typeface="Arial"/>
                <a:cs typeface="Arial"/>
              </a:rPr>
              <a:t>ahorros </a:t>
            </a:r>
            <a:r>
              <a:rPr sz="2800" spc="-20" dirty="0">
                <a:latin typeface="Arial MT"/>
                <a:cs typeface="Arial MT"/>
              </a:rPr>
              <a:t>(número-</a:t>
            </a:r>
            <a:r>
              <a:rPr sz="2800" dirty="0">
                <a:latin typeface="Arial MT"/>
                <a:cs typeface="Arial MT"/>
              </a:rPr>
              <a:t>cuenta,</a:t>
            </a:r>
            <a:r>
              <a:rPr sz="2800" spc="-5" dirty="0">
                <a:latin typeface="Arial MT"/>
                <a:cs typeface="Arial MT"/>
              </a:rPr>
              <a:t> </a:t>
            </a:r>
            <a:r>
              <a:rPr sz="2800" spc="-20" dirty="0">
                <a:latin typeface="Arial MT"/>
                <a:cs typeface="Arial MT"/>
              </a:rPr>
              <a:t>tasa-</a:t>
            </a:r>
            <a:r>
              <a:rPr sz="2800" spc="-10" dirty="0">
                <a:latin typeface="Arial MT"/>
                <a:cs typeface="Arial MT"/>
              </a:rPr>
              <a:t>interés, saldo)</a:t>
            </a:r>
            <a:endParaRPr sz="2800">
              <a:latin typeface="Arial MT"/>
              <a:cs typeface="Arial MT"/>
            </a:endParaRPr>
          </a:p>
          <a:p>
            <a:pPr marL="354965" marR="5080" indent="-342900">
              <a:lnSpc>
                <a:spcPct val="80000"/>
              </a:lnSpc>
              <a:spcBef>
                <a:spcPts val="2595"/>
              </a:spcBef>
            </a:pPr>
            <a:r>
              <a:rPr sz="2800" b="1" spc="-20" dirty="0">
                <a:latin typeface="Arial"/>
                <a:cs typeface="Arial"/>
              </a:rPr>
              <a:t>Cuenta-</a:t>
            </a:r>
            <a:r>
              <a:rPr sz="2800" b="1" dirty="0">
                <a:latin typeface="Arial"/>
                <a:cs typeface="Arial"/>
              </a:rPr>
              <a:t>cheques</a:t>
            </a:r>
            <a:r>
              <a:rPr sz="2800" b="1" spc="-5" dirty="0">
                <a:latin typeface="Arial"/>
                <a:cs typeface="Arial"/>
              </a:rPr>
              <a:t> </a:t>
            </a:r>
            <a:r>
              <a:rPr sz="2800" spc="-20" dirty="0">
                <a:latin typeface="Arial MT"/>
                <a:cs typeface="Arial MT"/>
              </a:rPr>
              <a:t>(número-</a:t>
            </a:r>
            <a:r>
              <a:rPr sz="2800" dirty="0">
                <a:latin typeface="Arial MT"/>
                <a:cs typeface="Arial MT"/>
              </a:rPr>
              <a:t>cuenta,</a:t>
            </a:r>
            <a:r>
              <a:rPr sz="2800" spc="-10" dirty="0">
                <a:latin typeface="Arial MT"/>
                <a:cs typeface="Arial MT"/>
              </a:rPr>
              <a:t> </a:t>
            </a:r>
            <a:r>
              <a:rPr sz="2800" spc="-20" dirty="0">
                <a:latin typeface="Arial MT"/>
                <a:cs typeface="Arial MT"/>
              </a:rPr>
              <a:t>saldo-</a:t>
            </a:r>
            <a:r>
              <a:rPr sz="2800" spc="-10" dirty="0">
                <a:latin typeface="Arial MT"/>
                <a:cs typeface="Arial MT"/>
              </a:rPr>
              <a:t>deudor, saldo)</a:t>
            </a:r>
            <a:endParaRPr sz="2800">
              <a:latin typeface="Arial MT"/>
              <a:cs typeface="Arial MT"/>
            </a:endParaRPr>
          </a:p>
        </p:txBody>
      </p:sp>
      <p:sp>
        <p:nvSpPr>
          <p:cNvPr id="4" name="object 4" descr="$PPTXTitle"/>
          <p:cNvSpPr txBox="1">
            <a:spLocks noGrp="1"/>
          </p:cNvSpPr>
          <p:nvPr>
            <p:ph type="title"/>
          </p:nvPr>
        </p:nvSpPr>
        <p:spPr>
          <a:xfrm>
            <a:off x="546100" y="687677"/>
            <a:ext cx="9434407" cy="961866"/>
          </a:xfrm>
          <a:prstGeom prst="rect">
            <a:avLst/>
          </a:prstGeom>
        </p:spPr>
        <p:txBody>
          <a:bodyPr vert="horz" wrap="square" lIns="0" tIns="347980" rIns="0" bIns="0" rtlCol="0">
            <a:spAutoFit/>
          </a:bodyPr>
          <a:lstStyle/>
          <a:p>
            <a:pPr marL="487680">
              <a:lnSpc>
                <a:spcPct val="100000"/>
              </a:lnSpc>
              <a:spcBef>
                <a:spcPts val="100"/>
              </a:spcBef>
            </a:pPr>
            <a:r>
              <a:rPr dirty="0"/>
              <a:t>Representación</a:t>
            </a:r>
            <a:r>
              <a:rPr spc="-45" dirty="0"/>
              <a:t> </a:t>
            </a:r>
            <a:r>
              <a:rPr dirty="0"/>
              <a:t>en</a:t>
            </a:r>
            <a:r>
              <a:rPr spc="-45" dirty="0"/>
              <a:t> </a:t>
            </a:r>
            <a:r>
              <a:rPr dirty="0"/>
              <a:t>tablas</a:t>
            </a:r>
            <a:r>
              <a:rPr spc="-50" dirty="0"/>
              <a:t> </a:t>
            </a:r>
            <a:r>
              <a:rPr sz="2800" dirty="0"/>
              <a:t>–</a:t>
            </a:r>
            <a:r>
              <a:rPr sz="2800" spc="-25" dirty="0"/>
              <a:t> </a:t>
            </a:r>
            <a:r>
              <a:rPr sz="2800" dirty="0"/>
              <a:t>Método</a:t>
            </a:r>
            <a:r>
              <a:rPr sz="2800" spc="-25" dirty="0"/>
              <a:t> </a:t>
            </a:r>
            <a:r>
              <a:rPr sz="2800" spc="-50" dirty="0"/>
              <a:t>2</a:t>
            </a:r>
            <a:endParaRPr sz="2800" dirty="0"/>
          </a:p>
        </p:txBody>
      </p:sp>
      <p:sp>
        <p:nvSpPr>
          <p:cNvPr id="5" name="object 5"/>
          <p:cNvSpPr txBox="1"/>
          <p:nvPr/>
        </p:nvSpPr>
        <p:spPr>
          <a:xfrm>
            <a:off x="1337953" y="3758183"/>
            <a:ext cx="1615440" cy="259079"/>
          </a:xfrm>
          <a:prstGeom prst="rect">
            <a:avLst/>
          </a:prstGeom>
          <a:solidFill>
            <a:srgbClr val="D7E4BC"/>
          </a:solidFill>
          <a:ln w="9524">
            <a:solidFill>
              <a:srgbClr val="000000"/>
            </a:solidFill>
          </a:ln>
        </p:spPr>
        <p:txBody>
          <a:bodyPr vert="horz" wrap="square" lIns="0" tIns="44450" rIns="0" bIns="0" rtlCol="0">
            <a:spAutoFit/>
          </a:bodyPr>
          <a:lstStyle/>
          <a:p>
            <a:pPr marL="95885">
              <a:lnSpc>
                <a:spcPct val="100000"/>
              </a:lnSpc>
              <a:spcBef>
                <a:spcPts val="350"/>
              </a:spcBef>
            </a:pPr>
            <a:r>
              <a:rPr sz="1400" b="1" spc="-10" dirty="0">
                <a:latin typeface="Arial"/>
                <a:cs typeface="Arial"/>
              </a:rPr>
              <a:t>Cuenta-ahorros</a:t>
            </a:r>
            <a:endParaRPr sz="1400">
              <a:latin typeface="Arial"/>
              <a:cs typeface="Arial"/>
            </a:endParaRPr>
          </a:p>
        </p:txBody>
      </p:sp>
      <p:sp>
        <p:nvSpPr>
          <p:cNvPr id="6" name="object 6"/>
          <p:cNvSpPr txBox="1"/>
          <p:nvPr/>
        </p:nvSpPr>
        <p:spPr>
          <a:xfrm>
            <a:off x="3626997" y="3758183"/>
            <a:ext cx="1614170" cy="259079"/>
          </a:xfrm>
          <a:prstGeom prst="rect">
            <a:avLst/>
          </a:prstGeom>
          <a:solidFill>
            <a:srgbClr val="D7E4BC"/>
          </a:solidFill>
          <a:ln w="9524">
            <a:solidFill>
              <a:srgbClr val="000000"/>
            </a:solidFill>
          </a:ln>
        </p:spPr>
        <p:txBody>
          <a:bodyPr vert="horz" wrap="square" lIns="0" tIns="44450" rIns="0" bIns="0" rtlCol="0">
            <a:spAutoFit/>
          </a:bodyPr>
          <a:lstStyle/>
          <a:p>
            <a:pPr marL="95885">
              <a:lnSpc>
                <a:spcPct val="100000"/>
              </a:lnSpc>
              <a:spcBef>
                <a:spcPts val="350"/>
              </a:spcBef>
            </a:pPr>
            <a:r>
              <a:rPr sz="1400" b="1" spc="-10" dirty="0">
                <a:latin typeface="Arial"/>
                <a:cs typeface="Arial"/>
              </a:rPr>
              <a:t>Cuenta-cheques</a:t>
            </a:r>
            <a:endParaRPr sz="1400">
              <a:latin typeface="Arial"/>
              <a:cs typeface="Arial"/>
            </a:endParaRPr>
          </a:p>
        </p:txBody>
      </p:sp>
      <p:grpSp>
        <p:nvGrpSpPr>
          <p:cNvPr id="7" name="object 7"/>
          <p:cNvGrpSpPr/>
          <p:nvPr/>
        </p:nvGrpSpPr>
        <p:grpSpPr>
          <a:xfrm>
            <a:off x="1197554" y="4356925"/>
            <a:ext cx="1760855" cy="354330"/>
            <a:chOff x="1197554" y="4356925"/>
            <a:chExt cx="1760855" cy="354330"/>
          </a:xfrm>
        </p:grpSpPr>
        <p:sp>
          <p:nvSpPr>
            <p:cNvPr id="8" name="object 8"/>
            <p:cNvSpPr/>
            <p:nvPr/>
          </p:nvSpPr>
          <p:spPr>
            <a:xfrm>
              <a:off x="1202317" y="4361688"/>
              <a:ext cx="1751330" cy="344805"/>
            </a:xfrm>
            <a:custGeom>
              <a:avLst/>
              <a:gdLst/>
              <a:ahLst/>
              <a:cxnLst/>
              <a:rect l="l" t="t" r="r" b="b"/>
              <a:pathLst>
                <a:path w="1751330" h="344804">
                  <a:moveTo>
                    <a:pt x="1751072" y="172211"/>
                  </a:moveTo>
                  <a:lnTo>
                    <a:pt x="1722961" y="128948"/>
                  </a:lnTo>
                  <a:lnTo>
                    <a:pt x="1675172" y="102209"/>
                  </a:lnTo>
                  <a:lnTo>
                    <a:pt x="1606598" y="77652"/>
                  </a:lnTo>
                  <a:lnTo>
                    <a:pt x="1565172" y="66325"/>
                  </a:lnTo>
                  <a:lnTo>
                    <a:pt x="1519338" y="55702"/>
                  </a:lnTo>
                  <a:lnTo>
                    <a:pt x="1469358" y="45839"/>
                  </a:lnTo>
                  <a:lnTo>
                    <a:pt x="1415494" y="36787"/>
                  </a:lnTo>
                  <a:lnTo>
                    <a:pt x="1358010" y="28600"/>
                  </a:lnTo>
                  <a:lnTo>
                    <a:pt x="1297167" y="21332"/>
                  </a:lnTo>
                  <a:lnTo>
                    <a:pt x="1233229" y="15036"/>
                  </a:lnTo>
                  <a:lnTo>
                    <a:pt x="1166458" y="9765"/>
                  </a:lnTo>
                  <a:lnTo>
                    <a:pt x="1097116" y="5573"/>
                  </a:lnTo>
                  <a:lnTo>
                    <a:pt x="1025467" y="2512"/>
                  </a:lnTo>
                  <a:lnTo>
                    <a:pt x="951773" y="637"/>
                  </a:lnTo>
                  <a:lnTo>
                    <a:pt x="876296" y="0"/>
                  </a:lnTo>
                  <a:lnTo>
                    <a:pt x="800592" y="637"/>
                  </a:lnTo>
                  <a:lnTo>
                    <a:pt x="726693" y="2512"/>
                  </a:lnTo>
                  <a:lnTo>
                    <a:pt x="654863" y="5573"/>
                  </a:lnTo>
                  <a:lnTo>
                    <a:pt x="585361" y="9765"/>
                  </a:lnTo>
                  <a:lnTo>
                    <a:pt x="518450" y="15036"/>
                  </a:lnTo>
                  <a:lnTo>
                    <a:pt x="454391" y="21332"/>
                  </a:lnTo>
                  <a:lnTo>
                    <a:pt x="393444" y="28600"/>
                  </a:lnTo>
                  <a:lnTo>
                    <a:pt x="335872" y="36787"/>
                  </a:lnTo>
                  <a:lnTo>
                    <a:pt x="281935" y="45839"/>
                  </a:lnTo>
                  <a:lnTo>
                    <a:pt x="231894" y="55702"/>
                  </a:lnTo>
                  <a:lnTo>
                    <a:pt x="186012" y="66325"/>
                  </a:lnTo>
                  <a:lnTo>
                    <a:pt x="144549" y="77652"/>
                  </a:lnTo>
                  <a:lnTo>
                    <a:pt x="107767" y="89632"/>
                  </a:lnTo>
                  <a:lnTo>
                    <a:pt x="49290" y="115333"/>
                  </a:lnTo>
                  <a:lnTo>
                    <a:pt x="12670" y="143002"/>
                  </a:lnTo>
                  <a:lnTo>
                    <a:pt x="0" y="172211"/>
                  </a:lnTo>
                  <a:lnTo>
                    <a:pt x="3211" y="187198"/>
                  </a:lnTo>
                  <a:lnTo>
                    <a:pt x="49290" y="229690"/>
                  </a:lnTo>
                  <a:lnTo>
                    <a:pt x="107767" y="255467"/>
                  </a:lnTo>
                  <a:lnTo>
                    <a:pt x="144549" y="267443"/>
                  </a:lnTo>
                  <a:lnTo>
                    <a:pt x="186012" y="278744"/>
                  </a:lnTo>
                  <a:lnTo>
                    <a:pt x="231894" y="289320"/>
                  </a:lnTo>
                  <a:lnTo>
                    <a:pt x="281935" y="299124"/>
                  </a:lnTo>
                  <a:lnTo>
                    <a:pt x="335872" y="308105"/>
                  </a:lnTo>
                  <a:lnTo>
                    <a:pt x="393444" y="316214"/>
                  </a:lnTo>
                  <a:lnTo>
                    <a:pt x="454391" y="323403"/>
                  </a:lnTo>
                  <a:lnTo>
                    <a:pt x="518450" y="329620"/>
                  </a:lnTo>
                  <a:lnTo>
                    <a:pt x="585361" y="334818"/>
                  </a:lnTo>
                  <a:lnTo>
                    <a:pt x="654863" y="338946"/>
                  </a:lnTo>
                  <a:lnTo>
                    <a:pt x="726693" y="341956"/>
                  </a:lnTo>
                  <a:lnTo>
                    <a:pt x="800592" y="343798"/>
                  </a:lnTo>
                  <a:lnTo>
                    <a:pt x="876296" y="344423"/>
                  </a:lnTo>
                  <a:lnTo>
                    <a:pt x="951773" y="343798"/>
                  </a:lnTo>
                  <a:lnTo>
                    <a:pt x="1025467" y="341956"/>
                  </a:lnTo>
                  <a:lnTo>
                    <a:pt x="1097116" y="338946"/>
                  </a:lnTo>
                  <a:lnTo>
                    <a:pt x="1166458" y="334818"/>
                  </a:lnTo>
                  <a:lnTo>
                    <a:pt x="1233229" y="329620"/>
                  </a:lnTo>
                  <a:lnTo>
                    <a:pt x="1297167" y="323403"/>
                  </a:lnTo>
                  <a:lnTo>
                    <a:pt x="1358010" y="316214"/>
                  </a:lnTo>
                  <a:lnTo>
                    <a:pt x="1415494" y="308105"/>
                  </a:lnTo>
                  <a:lnTo>
                    <a:pt x="1469358" y="299124"/>
                  </a:lnTo>
                  <a:lnTo>
                    <a:pt x="1519338" y="289320"/>
                  </a:lnTo>
                  <a:lnTo>
                    <a:pt x="1565172" y="278744"/>
                  </a:lnTo>
                  <a:lnTo>
                    <a:pt x="1606598" y="267443"/>
                  </a:lnTo>
                  <a:lnTo>
                    <a:pt x="1643352" y="255467"/>
                  </a:lnTo>
                  <a:lnTo>
                    <a:pt x="1701796" y="229690"/>
                  </a:lnTo>
                  <a:lnTo>
                    <a:pt x="1738403" y="201807"/>
                  </a:lnTo>
                  <a:lnTo>
                    <a:pt x="1751072" y="172211"/>
                  </a:lnTo>
                  <a:close/>
                </a:path>
              </a:pathLst>
            </a:custGeom>
            <a:solidFill>
              <a:srgbClr val="FFFFFF"/>
            </a:solidFill>
          </p:spPr>
          <p:txBody>
            <a:bodyPr wrap="square" lIns="0" tIns="0" rIns="0" bIns="0" rtlCol="0"/>
            <a:lstStyle/>
            <a:p>
              <a:endParaRPr/>
            </a:p>
          </p:txBody>
        </p:sp>
        <p:sp>
          <p:nvSpPr>
            <p:cNvPr id="9" name="object 9"/>
            <p:cNvSpPr/>
            <p:nvPr/>
          </p:nvSpPr>
          <p:spPr>
            <a:xfrm>
              <a:off x="1202317" y="4361688"/>
              <a:ext cx="1751330" cy="344805"/>
            </a:xfrm>
            <a:custGeom>
              <a:avLst/>
              <a:gdLst/>
              <a:ahLst/>
              <a:cxnLst/>
              <a:rect l="l" t="t" r="r" b="b"/>
              <a:pathLst>
                <a:path w="1751330" h="344804">
                  <a:moveTo>
                    <a:pt x="876296" y="0"/>
                  </a:moveTo>
                  <a:lnTo>
                    <a:pt x="800592" y="637"/>
                  </a:lnTo>
                  <a:lnTo>
                    <a:pt x="726693" y="2512"/>
                  </a:lnTo>
                  <a:lnTo>
                    <a:pt x="654863" y="5573"/>
                  </a:lnTo>
                  <a:lnTo>
                    <a:pt x="585361" y="9765"/>
                  </a:lnTo>
                  <a:lnTo>
                    <a:pt x="518450" y="15036"/>
                  </a:lnTo>
                  <a:lnTo>
                    <a:pt x="454391" y="21332"/>
                  </a:lnTo>
                  <a:lnTo>
                    <a:pt x="393444" y="28600"/>
                  </a:lnTo>
                  <a:lnTo>
                    <a:pt x="335872" y="36787"/>
                  </a:lnTo>
                  <a:lnTo>
                    <a:pt x="281935" y="45839"/>
                  </a:lnTo>
                  <a:lnTo>
                    <a:pt x="231894" y="55702"/>
                  </a:lnTo>
                  <a:lnTo>
                    <a:pt x="186012" y="66325"/>
                  </a:lnTo>
                  <a:lnTo>
                    <a:pt x="144549" y="77652"/>
                  </a:lnTo>
                  <a:lnTo>
                    <a:pt x="107767" y="89632"/>
                  </a:lnTo>
                  <a:lnTo>
                    <a:pt x="49290" y="115333"/>
                  </a:lnTo>
                  <a:lnTo>
                    <a:pt x="12670" y="143002"/>
                  </a:lnTo>
                  <a:lnTo>
                    <a:pt x="0" y="172211"/>
                  </a:lnTo>
                  <a:lnTo>
                    <a:pt x="3211" y="187198"/>
                  </a:lnTo>
                  <a:lnTo>
                    <a:pt x="49290" y="229690"/>
                  </a:lnTo>
                  <a:lnTo>
                    <a:pt x="107767" y="255467"/>
                  </a:lnTo>
                  <a:lnTo>
                    <a:pt x="144549" y="267443"/>
                  </a:lnTo>
                  <a:lnTo>
                    <a:pt x="186012" y="278744"/>
                  </a:lnTo>
                  <a:lnTo>
                    <a:pt x="231894" y="289320"/>
                  </a:lnTo>
                  <a:lnTo>
                    <a:pt x="281935" y="299124"/>
                  </a:lnTo>
                  <a:lnTo>
                    <a:pt x="335872" y="308105"/>
                  </a:lnTo>
                  <a:lnTo>
                    <a:pt x="393444" y="316214"/>
                  </a:lnTo>
                  <a:lnTo>
                    <a:pt x="454391" y="323403"/>
                  </a:lnTo>
                  <a:lnTo>
                    <a:pt x="518450" y="329620"/>
                  </a:lnTo>
                  <a:lnTo>
                    <a:pt x="585361" y="334818"/>
                  </a:lnTo>
                  <a:lnTo>
                    <a:pt x="654863" y="338946"/>
                  </a:lnTo>
                  <a:lnTo>
                    <a:pt x="726693" y="341956"/>
                  </a:lnTo>
                  <a:lnTo>
                    <a:pt x="800592" y="343798"/>
                  </a:lnTo>
                  <a:lnTo>
                    <a:pt x="876296" y="344423"/>
                  </a:lnTo>
                  <a:lnTo>
                    <a:pt x="951773" y="343798"/>
                  </a:lnTo>
                  <a:lnTo>
                    <a:pt x="1025467" y="341956"/>
                  </a:lnTo>
                  <a:lnTo>
                    <a:pt x="1097116" y="338946"/>
                  </a:lnTo>
                  <a:lnTo>
                    <a:pt x="1166458" y="334818"/>
                  </a:lnTo>
                  <a:lnTo>
                    <a:pt x="1233229" y="329620"/>
                  </a:lnTo>
                  <a:lnTo>
                    <a:pt x="1297167" y="323403"/>
                  </a:lnTo>
                  <a:lnTo>
                    <a:pt x="1358010" y="316214"/>
                  </a:lnTo>
                  <a:lnTo>
                    <a:pt x="1415494" y="308105"/>
                  </a:lnTo>
                  <a:lnTo>
                    <a:pt x="1469358" y="299124"/>
                  </a:lnTo>
                  <a:lnTo>
                    <a:pt x="1519338" y="289320"/>
                  </a:lnTo>
                  <a:lnTo>
                    <a:pt x="1565172" y="278744"/>
                  </a:lnTo>
                  <a:lnTo>
                    <a:pt x="1606598" y="267443"/>
                  </a:lnTo>
                  <a:lnTo>
                    <a:pt x="1643352" y="255467"/>
                  </a:lnTo>
                  <a:lnTo>
                    <a:pt x="1701796" y="229690"/>
                  </a:lnTo>
                  <a:lnTo>
                    <a:pt x="1738403" y="201807"/>
                  </a:lnTo>
                  <a:lnTo>
                    <a:pt x="1751072" y="172211"/>
                  </a:lnTo>
                  <a:lnTo>
                    <a:pt x="1747861" y="157441"/>
                  </a:lnTo>
                  <a:lnTo>
                    <a:pt x="1701796" y="115333"/>
                  </a:lnTo>
                  <a:lnTo>
                    <a:pt x="1643352" y="89632"/>
                  </a:lnTo>
                  <a:lnTo>
                    <a:pt x="1606598" y="77652"/>
                  </a:lnTo>
                  <a:lnTo>
                    <a:pt x="1565172" y="66325"/>
                  </a:lnTo>
                  <a:lnTo>
                    <a:pt x="1519338" y="55702"/>
                  </a:lnTo>
                  <a:lnTo>
                    <a:pt x="1469358" y="45839"/>
                  </a:lnTo>
                  <a:lnTo>
                    <a:pt x="1415494" y="36787"/>
                  </a:lnTo>
                  <a:lnTo>
                    <a:pt x="1358010" y="28600"/>
                  </a:lnTo>
                  <a:lnTo>
                    <a:pt x="1297167" y="21332"/>
                  </a:lnTo>
                  <a:lnTo>
                    <a:pt x="1233229" y="15036"/>
                  </a:lnTo>
                  <a:lnTo>
                    <a:pt x="1166458" y="9765"/>
                  </a:lnTo>
                  <a:lnTo>
                    <a:pt x="1097116" y="5573"/>
                  </a:lnTo>
                  <a:lnTo>
                    <a:pt x="1025467" y="2512"/>
                  </a:lnTo>
                  <a:lnTo>
                    <a:pt x="951773" y="637"/>
                  </a:lnTo>
                  <a:lnTo>
                    <a:pt x="876296" y="0"/>
                  </a:lnTo>
                  <a:close/>
                </a:path>
              </a:pathLst>
            </a:custGeom>
            <a:ln w="9524">
              <a:solidFill>
                <a:srgbClr val="000000"/>
              </a:solidFill>
            </a:ln>
          </p:spPr>
          <p:txBody>
            <a:bodyPr wrap="square" lIns="0" tIns="0" rIns="0" bIns="0" rtlCol="0"/>
            <a:lstStyle/>
            <a:p>
              <a:endParaRPr/>
            </a:p>
          </p:txBody>
        </p:sp>
      </p:grpSp>
      <p:sp>
        <p:nvSpPr>
          <p:cNvPr id="10" name="object 10"/>
          <p:cNvSpPr txBox="1"/>
          <p:nvPr/>
        </p:nvSpPr>
        <p:spPr>
          <a:xfrm>
            <a:off x="1515757" y="4429758"/>
            <a:ext cx="1327150" cy="66675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Tasa-interés</a:t>
            </a:r>
            <a:endParaRPr sz="1400" dirty="0">
              <a:latin typeface="Arial"/>
              <a:cs typeface="Arial"/>
            </a:endParaRPr>
          </a:p>
          <a:p>
            <a:pPr marL="264160">
              <a:lnSpc>
                <a:spcPct val="100000"/>
              </a:lnSpc>
              <a:spcBef>
                <a:spcPts val="5"/>
              </a:spcBef>
            </a:pPr>
            <a:endParaRPr sz="2800" dirty="0">
              <a:latin typeface="Arial MT"/>
              <a:cs typeface="Arial MT"/>
            </a:endParaRPr>
          </a:p>
        </p:txBody>
      </p:sp>
      <p:sp>
        <p:nvSpPr>
          <p:cNvPr id="11" name="object 11"/>
          <p:cNvSpPr/>
          <p:nvPr/>
        </p:nvSpPr>
        <p:spPr>
          <a:xfrm>
            <a:off x="3532509" y="4361688"/>
            <a:ext cx="1885314" cy="344805"/>
          </a:xfrm>
          <a:custGeom>
            <a:avLst/>
            <a:gdLst/>
            <a:ahLst/>
            <a:cxnLst/>
            <a:rect l="l" t="t" r="r" b="b"/>
            <a:pathLst>
              <a:path w="1885314" h="344804">
                <a:moveTo>
                  <a:pt x="943355" y="0"/>
                </a:moveTo>
                <a:lnTo>
                  <a:pt x="869606" y="522"/>
                </a:lnTo>
                <a:lnTo>
                  <a:pt x="797414" y="2062"/>
                </a:lnTo>
                <a:lnTo>
                  <a:pt x="726987" y="4580"/>
                </a:lnTo>
                <a:lnTo>
                  <a:pt x="658537" y="8038"/>
                </a:lnTo>
                <a:lnTo>
                  <a:pt x="592272" y="12395"/>
                </a:lnTo>
                <a:lnTo>
                  <a:pt x="528401" y="17612"/>
                </a:lnTo>
                <a:lnTo>
                  <a:pt x="467134" y="23650"/>
                </a:lnTo>
                <a:lnTo>
                  <a:pt x="408679" y="30468"/>
                </a:lnTo>
                <a:lnTo>
                  <a:pt x="353248" y="38028"/>
                </a:lnTo>
                <a:lnTo>
                  <a:pt x="301047" y="46291"/>
                </a:lnTo>
                <a:lnTo>
                  <a:pt x="252288" y="55215"/>
                </a:lnTo>
                <a:lnTo>
                  <a:pt x="207179" y="64763"/>
                </a:lnTo>
                <a:lnTo>
                  <a:pt x="165930" y="74894"/>
                </a:lnTo>
                <a:lnTo>
                  <a:pt x="128749" y="85569"/>
                </a:lnTo>
                <a:lnTo>
                  <a:pt x="67433" y="108394"/>
                </a:lnTo>
                <a:lnTo>
                  <a:pt x="24903" y="132921"/>
                </a:lnTo>
                <a:lnTo>
                  <a:pt x="0" y="172211"/>
                </a:lnTo>
                <a:lnTo>
                  <a:pt x="2836" y="185787"/>
                </a:lnTo>
                <a:lnTo>
                  <a:pt x="43715" y="224529"/>
                </a:lnTo>
                <a:lnTo>
                  <a:pt x="95847" y="248340"/>
                </a:lnTo>
                <a:lnTo>
                  <a:pt x="165930" y="270196"/>
                </a:lnTo>
                <a:lnTo>
                  <a:pt x="207179" y="280300"/>
                </a:lnTo>
                <a:lnTo>
                  <a:pt x="252288" y="289805"/>
                </a:lnTo>
                <a:lnTo>
                  <a:pt x="301047" y="298676"/>
                </a:lnTo>
                <a:lnTo>
                  <a:pt x="353248" y="306874"/>
                </a:lnTo>
                <a:lnTo>
                  <a:pt x="408679" y="314365"/>
                </a:lnTo>
                <a:lnTo>
                  <a:pt x="467134" y="321112"/>
                </a:lnTo>
                <a:lnTo>
                  <a:pt x="528401" y="327077"/>
                </a:lnTo>
                <a:lnTo>
                  <a:pt x="592272" y="332225"/>
                </a:lnTo>
                <a:lnTo>
                  <a:pt x="658537" y="336519"/>
                </a:lnTo>
                <a:lnTo>
                  <a:pt x="726987" y="339923"/>
                </a:lnTo>
                <a:lnTo>
                  <a:pt x="797414" y="342399"/>
                </a:lnTo>
                <a:lnTo>
                  <a:pt x="869606" y="343911"/>
                </a:lnTo>
                <a:lnTo>
                  <a:pt x="943355" y="344423"/>
                </a:lnTo>
                <a:lnTo>
                  <a:pt x="1016897" y="343911"/>
                </a:lnTo>
                <a:lnTo>
                  <a:pt x="1088902" y="342399"/>
                </a:lnTo>
                <a:lnTo>
                  <a:pt x="1159159" y="339923"/>
                </a:lnTo>
                <a:lnTo>
                  <a:pt x="1227458" y="336519"/>
                </a:lnTo>
                <a:lnTo>
                  <a:pt x="1293589" y="332225"/>
                </a:lnTo>
                <a:lnTo>
                  <a:pt x="1357341" y="327077"/>
                </a:lnTo>
                <a:lnTo>
                  <a:pt x="1418505" y="321112"/>
                </a:lnTo>
                <a:lnTo>
                  <a:pt x="1476869" y="314365"/>
                </a:lnTo>
                <a:lnTo>
                  <a:pt x="1532224" y="306874"/>
                </a:lnTo>
                <a:lnTo>
                  <a:pt x="1584359" y="298676"/>
                </a:lnTo>
                <a:lnTo>
                  <a:pt x="1633063" y="289805"/>
                </a:lnTo>
                <a:lnTo>
                  <a:pt x="1678128" y="280300"/>
                </a:lnTo>
                <a:lnTo>
                  <a:pt x="1719342" y="270196"/>
                </a:lnTo>
                <a:lnTo>
                  <a:pt x="1756494" y="259531"/>
                </a:lnTo>
                <a:lnTo>
                  <a:pt x="1817775" y="236661"/>
                </a:lnTo>
                <a:lnTo>
                  <a:pt x="1860288" y="211982"/>
                </a:lnTo>
                <a:lnTo>
                  <a:pt x="1885187" y="172211"/>
                </a:lnTo>
                <a:lnTo>
                  <a:pt x="1882351" y="158834"/>
                </a:lnTo>
                <a:lnTo>
                  <a:pt x="1841483" y="120464"/>
                </a:lnTo>
                <a:lnTo>
                  <a:pt x="1789375" y="96749"/>
                </a:lnTo>
                <a:lnTo>
                  <a:pt x="1719342" y="74894"/>
                </a:lnTo>
                <a:lnTo>
                  <a:pt x="1678128" y="64763"/>
                </a:lnTo>
                <a:lnTo>
                  <a:pt x="1633063" y="55215"/>
                </a:lnTo>
                <a:lnTo>
                  <a:pt x="1584359" y="46291"/>
                </a:lnTo>
                <a:lnTo>
                  <a:pt x="1532224" y="38028"/>
                </a:lnTo>
                <a:lnTo>
                  <a:pt x="1476869" y="30468"/>
                </a:lnTo>
                <a:lnTo>
                  <a:pt x="1418505" y="23650"/>
                </a:lnTo>
                <a:lnTo>
                  <a:pt x="1357341" y="17612"/>
                </a:lnTo>
                <a:lnTo>
                  <a:pt x="1293589" y="12395"/>
                </a:lnTo>
                <a:lnTo>
                  <a:pt x="1227458" y="8038"/>
                </a:lnTo>
                <a:lnTo>
                  <a:pt x="1159159" y="4580"/>
                </a:lnTo>
                <a:lnTo>
                  <a:pt x="1088902" y="2062"/>
                </a:lnTo>
                <a:lnTo>
                  <a:pt x="1016897" y="522"/>
                </a:lnTo>
                <a:lnTo>
                  <a:pt x="943355" y="0"/>
                </a:lnTo>
                <a:close/>
              </a:path>
            </a:pathLst>
          </a:custGeom>
          <a:ln w="9524">
            <a:solidFill>
              <a:srgbClr val="000000"/>
            </a:solidFill>
          </a:ln>
        </p:spPr>
        <p:txBody>
          <a:bodyPr wrap="square" lIns="0" tIns="0" rIns="0" bIns="0" rtlCol="0"/>
          <a:lstStyle/>
          <a:p>
            <a:endParaRPr/>
          </a:p>
        </p:txBody>
      </p:sp>
      <p:sp>
        <p:nvSpPr>
          <p:cNvPr id="12" name="object 12"/>
          <p:cNvSpPr txBox="1"/>
          <p:nvPr/>
        </p:nvSpPr>
        <p:spPr>
          <a:xfrm>
            <a:off x="3864240" y="4429758"/>
            <a:ext cx="1167765" cy="239395"/>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Saldo-deudor</a:t>
            </a:r>
            <a:endParaRPr sz="1400">
              <a:latin typeface="Arial"/>
              <a:cs typeface="Arial"/>
            </a:endParaRPr>
          </a:p>
        </p:txBody>
      </p:sp>
      <p:sp>
        <p:nvSpPr>
          <p:cNvPr id="13" name="object 13"/>
          <p:cNvSpPr txBox="1"/>
          <p:nvPr/>
        </p:nvSpPr>
        <p:spPr>
          <a:xfrm>
            <a:off x="2781178" y="2552700"/>
            <a:ext cx="1077595" cy="259079"/>
          </a:xfrm>
          <a:prstGeom prst="rect">
            <a:avLst/>
          </a:prstGeom>
          <a:ln w="9524">
            <a:solidFill>
              <a:srgbClr val="000000"/>
            </a:solidFill>
          </a:ln>
        </p:spPr>
        <p:txBody>
          <a:bodyPr vert="horz" wrap="square" lIns="0" tIns="44450" rIns="0" bIns="0" rtlCol="0">
            <a:spAutoFit/>
          </a:bodyPr>
          <a:lstStyle/>
          <a:p>
            <a:pPr marL="237490">
              <a:lnSpc>
                <a:spcPct val="100000"/>
              </a:lnSpc>
              <a:spcBef>
                <a:spcPts val="350"/>
              </a:spcBef>
            </a:pPr>
            <a:r>
              <a:rPr sz="1400" b="1" spc="-10" dirty="0">
                <a:latin typeface="Arial"/>
                <a:cs typeface="Arial"/>
              </a:rPr>
              <a:t>Cuenta</a:t>
            </a:r>
            <a:endParaRPr sz="1400">
              <a:latin typeface="Arial"/>
              <a:cs typeface="Arial"/>
            </a:endParaRPr>
          </a:p>
        </p:txBody>
      </p:sp>
      <p:sp>
        <p:nvSpPr>
          <p:cNvPr id="14" name="object 14"/>
          <p:cNvSpPr/>
          <p:nvPr/>
        </p:nvSpPr>
        <p:spPr>
          <a:xfrm>
            <a:off x="1740286" y="1776983"/>
            <a:ext cx="1347470" cy="518159"/>
          </a:xfrm>
          <a:custGeom>
            <a:avLst/>
            <a:gdLst/>
            <a:ahLst/>
            <a:cxnLst/>
            <a:rect l="l" t="t" r="r" b="b"/>
            <a:pathLst>
              <a:path w="1347470" h="518160">
                <a:moveTo>
                  <a:pt x="673607" y="0"/>
                </a:moveTo>
                <a:lnTo>
                  <a:pt x="608761" y="1184"/>
                </a:lnTo>
                <a:lnTo>
                  <a:pt x="545652" y="4665"/>
                </a:lnTo>
                <a:lnTo>
                  <a:pt x="484565" y="10335"/>
                </a:lnTo>
                <a:lnTo>
                  <a:pt x="425782" y="18085"/>
                </a:lnTo>
                <a:lnTo>
                  <a:pt x="369586" y="27809"/>
                </a:lnTo>
                <a:lnTo>
                  <a:pt x="316260" y="39397"/>
                </a:lnTo>
                <a:lnTo>
                  <a:pt x="266087" y="52742"/>
                </a:lnTo>
                <a:lnTo>
                  <a:pt x="219349" y="67737"/>
                </a:lnTo>
                <a:lnTo>
                  <a:pt x="176331" y="84272"/>
                </a:lnTo>
                <a:lnTo>
                  <a:pt x="137313" y="102241"/>
                </a:lnTo>
                <a:lnTo>
                  <a:pt x="102581" y="121534"/>
                </a:lnTo>
                <a:lnTo>
                  <a:pt x="47100" y="163665"/>
                </a:lnTo>
                <a:lnTo>
                  <a:pt x="12152" y="209802"/>
                </a:lnTo>
                <a:lnTo>
                  <a:pt x="0" y="259079"/>
                </a:lnTo>
                <a:lnTo>
                  <a:pt x="3085" y="284057"/>
                </a:lnTo>
                <a:lnTo>
                  <a:pt x="26918" y="331872"/>
                </a:lnTo>
                <a:lnTo>
                  <a:pt x="72415" y="376114"/>
                </a:lnTo>
                <a:lnTo>
                  <a:pt x="137313" y="415918"/>
                </a:lnTo>
                <a:lnTo>
                  <a:pt x="176331" y="433887"/>
                </a:lnTo>
                <a:lnTo>
                  <a:pt x="219349" y="450422"/>
                </a:lnTo>
                <a:lnTo>
                  <a:pt x="266087" y="465417"/>
                </a:lnTo>
                <a:lnTo>
                  <a:pt x="316260" y="478762"/>
                </a:lnTo>
                <a:lnTo>
                  <a:pt x="369586" y="490350"/>
                </a:lnTo>
                <a:lnTo>
                  <a:pt x="425782" y="500074"/>
                </a:lnTo>
                <a:lnTo>
                  <a:pt x="484565" y="507824"/>
                </a:lnTo>
                <a:lnTo>
                  <a:pt x="545652" y="513494"/>
                </a:lnTo>
                <a:lnTo>
                  <a:pt x="608761" y="516975"/>
                </a:lnTo>
                <a:lnTo>
                  <a:pt x="673607" y="518159"/>
                </a:lnTo>
                <a:lnTo>
                  <a:pt x="738454" y="516975"/>
                </a:lnTo>
                <a:lnTo>
                  <a:pt x="801563" y="513494"/>
                </a:lnTo>
                <a:lnTo>
                  <a:pt x="862650" y="507824"/>
                </a:lnTo>
                <a:lnTo>
                  <a:pt x="921433" y="500074"/>
                </a:lnTo>
                <a:lnTo>
                  <a:pt x="977629" y="490350"/>
                </a:lnTo>
                <a:lnTo>
                  <a:pt x="1030955" y="478762"/>
                </a:lnTo>
                <a:lnTo>
                  <a:pt x="1081128" y="465417"/>
                </a:lnTo>
                <a:lnTo>
                  <a:pt x="1127866" y="450422"/>
                </a:lnTo>
                <a:lnTo>
                  <a:pt x="1170884" y="433887"/>
                </a:lnTo>
                <a:lnTo>
                  <a:pt x="1209902" y="415918"/>
                </a:lnTo>
                <a:lnTo>
                  <a:pt x="1244634" y="396625"/>
                </a:lnTo>
                <a:lnTo>
                  <a:pt x="1300115" y="354494"/>
                </a:lnTo>
                <a:lnTo>
                  <a:pt x="1335063" y="308357"/>
                </a:lnTo>
                <a:lnTo>
                  <a:pt x="1347215" y="259079"/>
                </a:lnTo>
                <a:lnTo>
                  <a:pt x="1344130" y="234102"/>
                </a:lnTo>
                <a:lnTo>
                  <a:pt x="1320297" y="186287"/>
                </a:lnTo>
                <a:lnTo>
                  <a:pt x="1274800" y="142045"/>
                </a:lnTo>
                <a:lnTo>
                  <a:pt x="1209902" y="102241"/>
                </a:lnTo>
                <a:lnTo>
                  <a:pt x="1170884" y="84272"/>
                </a:lnTo>
                <a:lnTo>
                  <a:pt x="1127866" y="67737"/>
                </a:lnTo>
                <a:lnTo>
                  <a:pt x="1081128" y="52742"/>
                </a:lnTo>
                <a:lnTo>
                  <a:pt x="1030955" y="39397"/>
                </a:lnTo>
                <a:lnTo>
                  <a:pt x="977629" y="27809"/>
                </a:lnTo>
                <a:lnTo>
                  <a:pt x="921433" y="18085"/>
                </a:lnTo>
                <a:lnTo>
                  <a:pt x="862650" y="10335"/>
                </a:lnTo>
                <a:lnTo>
                  <a:pt x="801563" y="4665"/>
                </a:lnTo>
                <a:lnTo>
                  <a:pt x="738454" y="1184"/>
                </a:lnTo>
                <a:lnTo>
                  <a:pt x="673607" y="0"/>
                </a:lnTo>
                <a:close/>
              </a:path>
            </a:pathLst>
          </a:custGeom>
          <a:ln w="9524">
            <a:solidFill>
              <a:srgbClr val="000000"/>
            </a:solidFill>
          </a:ln>
        </p:spPr>
        <p:txBody>
          <a:bodyPr wrap="square" lIns="0" tIns="0" rIns="0" bIns="0" rtlCol="0"/>
          <a:lstStyle/>
          <a:p>
            <a:endParaRPr/>
          </a:p>
        </p:txBody>
      </p:sp>
      <p:sp>
        <p:nvSpPr>
          <p:cNvPr id="15" name="object 15"/>
          <p:cNvSpPr txBox="1"/>
          <p:nvPr/>
        </p:nvSpPr>
        <p:spPr>
          <a:xfrm>
            <a:off x="1994292" y="1870963"/>
            <a:ext cx="757555" cy="452755"/>
          </a:xfrm>
          <a:prstGeom prst="rect">
            <a:avLst/>
          </a:prstGeom>
        </p:spPr>
        <p:txBody>
          <a:bodyPr vert="horz" wrap="square" lIns="0" tIns="12700" rIns="0" bIns="0" rtlCol="0">
            <a:spAutoFit/>
          </a:bodyPr>
          <a:lstStyle/>
          <a:p>
            <a:pPr marL="12700" marR="5080">
              <a:lnSpc>
                <a:spcPct val="100000"/>
              </a:lnSpc>
              <a:spcBef>
                <a:spcPts val="100"/>
              </a:spcBef>
            </a:pPr>
            <a:r>
              <a:rPr sz="1400" b="1" dirty="0">
                <a:latin typeface="Arial"/>
                <a:cs typeface="Arial"/>
              </a:rPr>
              <a:t>Número-</a:t>
            </a:r>
            <a:r>
              <a:rPr sz="1400" b="1" spc="-10" dirty="0">
                <a:latin typeface="Arial"/>
                <a:cs typeface="Arial"/>
              </a:rPr>
              <a:t>cuenta</a:t>
            </a:r>
            <a:endParaRPr sz="1400">
              <a:latin typeface="Arial"/>
              <a:cs typeface="Arial"/>
            </a:endParaRPr>
          </a:p>
        </p:txBody>
      </p:sp>
      <p:sp>
        <p:nvSpPr>
          <p:cNvPr id="16" name="object 16"/>
          <p:cNvSpPr/>
          <p:nvPr/>
        </p:nvSpPr>
        <p:spPr>
          <a:xfrm>
            <a:off x="3626997" y="1950719"/>
            <a:ext cx="1076325" cy="344805"/>
          </a:xfrm>
          <a:custGeom>
            <a:avLst/>
            <a:gdLst/>
            <a:ahLst/>
            <a:cxnLst/>
            <a:rect l="l" t="t" r="r" b="b"/>
            <a:pathLst>
              <a:path w="1076325" h="344805">
                <a:moveTo>
                  <a:pt x="537971" y="0"/>
                </a:moveTo>
                <a:lnTo>
                  <a:pt x="470476" y="1351"/>
                </a:lnTo>
                <a:lnTo>
                  <a:pt x="405487" y="5296"/>
                </a:lnTo>
                <a:lnTo>
                  <a:pt x="343506" y="11668"/>
                </a:lnTo>
                <a:lnTo>
                  <a:pt x="285039" y="20299"/>
                </a:lnTo>
                <a:lnTo>
                  <a:pt x="230588" y="31024"/>
                </a:lnTo>
                <a:lnTo>
                  <a:pt x="180656" y="43676"/>
                </a:lnTo>
                <a:lnTo>
                  <a:pt x="135749" y="58088"/>
                </a:lnTo>
                <a:lnTo>
                  <a:pt x="96368" y="74095"/>
                </a:lnTo>
                <a:lnTo>
                  <a:pt x="36203" y="110224"/>
                </a:lnTo>
                <a:lnTo>
                  <a:pt x="4190" y="150732"/>
                </a:lnTo>
                <a:lnTo>
                  <a:pt x="0" y="172211"/>
                </a:lnTo>
                <a:lnTo>
                  <a:pt x="4190" y="193691"/>
                </a:lnTo>
                <a:lnTo>
                  <a:pt x="36203" y="234199"/>
                </a:lnTo>
                <a:lnTo>
                  <a:pt x="96368" y="270328"/>
                </a:lnTo>
                <a:lnTo>
                  <a:pt x="135749" y="286335"/>
                </a:lnTo>
                <a:lnTo>
                  <a:pt x="180656" y="300747"/>
                </a:lnTo>
                <a:lnTo>
                  <a:pt x="230588" y="313399"/>
                </a:lnTo>
                <a:lnTo>
                  <a:pt x="285039" y="324124"/>
                </a:lnTo>
                <a:lnTo>
                  <a:pt x="343506" y="332755"/>
                </a:lnTo>
                <a:lnTo>
                  <a:pt x="405487" y="339127"/>
                </a:lnTo>
                <a:lnTo>
                  <a:pt x="470476" y="343072"/>
                </a:lnTo>
                <a:lnTo>
                  <a:pt x="537971" y="344423"/>
                </a:lnTo>
                <a:lnTo>
                  <a:pt x="605467" y="343072"/>
                </a:lnTo>
                <a:lnTo>
                  <a:pt x="670456" y="339127"/>
                </a:lnTo>
                <a:lnTo>
                  <a:pt x="732437" y="332755"/>
                </a:lnTo>
                <a:lnTo>
                  <a:pt x="790904" y="324124"/>
                </a:lnTo>
                <a:lnTo>
                  <a:pt x="845355" y="313399"/>
                </a:lnTo>
                <a:lnTo>
                  <a:pt x="895287" y="300747"/>
                </a:lnTo>
                <a:lnTo>
                  <a:pt x="940194" y="286335"/>
                </a:lnTo>
                <a:lnTo>
                  <a:pt x="979575" y="270328"/>
                </a:lnTo>
                <a:lnTo>
                  <a:pt x="1039740" y="234199"/>
                </a:lnTo>
                <a:lnTo>
                  <a:pt x="1071753" y="193691"/>
                </a:lnTo>
                <a:lnTo>
                  <a:pt x="1075943" y="172211"/>
                </a:lnTo>
                <a:lnTo>
                  <a:pt x="1071753" y="150732"/>
                </a:lnTo>
                <a:lnTo>
                  <a:pt x="1039740" y="110224"/>
                </a:lnTo>
                <a:lnTo>
                  <a:pt x="979575" y="74095"/>
                </a:lnTo>
                <a:lnTo>
                  <a:pt x="940194" y="58088"/>
                </a:lnTo>
                <a:lnTo>
                  <a:pt x="895287" y="43676"/>
                </a:lnTo>
                <a:lnTo>
                  <a:pt x="845355" y="31024"/>
                </a:lnTo>
                <a:lnTo>
                  <a:pt x="790904" y="20299"/>
                </a:lnTo>
                <a:lnTo>
                  <a:pt x="732437" y="11668"/>
                </a:lnTo>
                <a:lnTo>
                  <a:pt x="670456" y="5296"/>
                </a:lnTo>
                <a:lnTo>
                  <a:pt x="605467" y="1351"/>
                </a:lnTo>
                <a:lnTo>
                  <a:pt x="537971" y="0"/>
                </a:lnTo>
                <a:close/>
              </a:path>
            </a:pathLst>
          </a:custGeom>
          <a:ln w="9524">
            <a:solidFill>
              <a:srgbClr val="000000"/>
            </a:solidFill>
          </a:ln>
        </p:spPr>
        <p:txBody>
          <a:bodyPr wrap="square" lIns="0" tIns="0" rIns="0" bIns="0" rtlCol="0"/>
          <a:lstStyle/>
          <a:p>
            <a:endParaRPr/>
          </a:p>
        </p:txBody>
      </p:sp>
      <p:sp>
        <p:nvSpPr>
          <p:cNvPr id="17" name="object 17"/>
          <p:cNvSpPr txBox="1"/>
          <p:nvPr/>
        </p:nvSpPr>
        <p:spPr>
          <a:xfrm>
            <a:off x="3841380" y="2018791"/>
            <a:ext cx="511175" cy="239395"/>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Saldo</a:t>
            </a:r>
            <a:endParaRPr sz="1400">
              <a:latin typeface="Arial"/>
              <a:cs typeface="Arial"/>
            </a:endParaRPr>
          </a:p>
        </p:txBody>
      </p:sp>
      <p:sp>
        <p:nvSpPr>
          <p:cNvPr id="18" name="object 18"/>
          <p:cNvSpPr/>
          <p:nvPr/>
        </p:nvSpPr>
        <p:spPr>
          <a:xfrm>
            <a:off x="2413893" y="2295144"/>
            <a:ext cx="539750" cy="257810"/>
          </a:xfrm>
          <a:custGeom>
            <a:avLst/>
            <a:gdLst/>
            <a:ahLst/>
            <a:cxnLst/>
            <a:rect l="l" t="t" r="r" b="b"/>
            <a:pathLst>
              <a:path w="539750" h="257810">
                <a:moveTo>
                  <a:pt x="0" y="0"/>
                </a:moveTo>
                <a:lnTo>
                  <a:pt x="539495" y="257555"/>
                </a:lnTo>
              </a:path>
            </a:pathLst>
          </a:custGeom>
          <a:ln w="9524">
            <a:solidFill>
              <a:srgbClr val="000000"/>
            </a:solidFill>
          </a:ln>
        </p:spPr>
        <p:txBody>
          <a:bodyPr wrap="square" lIns="0" tIns="0" rIns="0" bIns="0" rtlCol="0"/>
          <a:lstStyle/>
          <a:p>
            <a:endParaRPr/>
          </a:p>
        </p:txBody>
      </p:sp>
      <p:sp>
        <p:nvSpPr>
          <p:cNvPr id="19" name="object 19"/>
          <p:cNvSpPr/>
          <p:nvPr/>
        </p:nvSpPr>
        <p:spPr>
          <a:xfrm>
            <a:off x="3491362" y="2295144"/>
            <a:ext cx="673735" cy="257810"/>
          </a:xfrm>
          <a:custGeom>
            <a:avLst/>
            <a:gdLst/>
            <a:ahLst/>
            <a:cxnLst/>
            <a:rect l="l" t="t" r="r" b="b"/>
            <a:pathLst>
              <a:path w="673735" h="257810">
                <a:moveTo>
                  <a:pt x="673607" y="0"/>
                </a:moveTo>
                <a:lnTo>
                  <a:pt x="0" y="257555"/>
                </a:lnTo>
              </a:path>
            </a:pathLst>
          </a:custGeom>
          <a:ln w="9524">
            <a:solidFill>
              <a:srgbClr val="000000"/>
            </a:solidFill>
          </a:ln>
        </p:spPr>
        <p:txBody>
          <a:bodyPr wrap="square" lIns="0" tIns="0" rIns="0" bIns="0" rtlCol="0"/>
          <a:lstStyle/>
          <a:p>
            <a:endParaRPr/>
          </a:p>
        </p:txBody>
      </p:sp>
      <p:sp>
        <p:nvSpPr>
          <p:cNvPr id="20" name="object 20"/>
          <p:cNvSpPr/>
          <p:nvPr/>
        </p:nvSpPr>
        <p:spPr>
          <a:xfrm>
            <a:off x="2145669" y="2811779"/>
            <a:ext cx="2345690" cy="946785"/>
          </a:xfrm>
          <a:custGeom>
            <a:avLst/>
            <a:gdLst/>
            <a:ahLst/>
            <a:cxnLst/>
            <a:rect l="l" t="t" r="r" b="b"/>
            <a:pathLst>
              <a:path w="2345690" h="946785">
                <a:moveTo>
                  <a:pt x="1184147" y="688847"/>
                </a:moveTo>
                <a:lnTo>
                  <a:pt x="1923287" y="172211"/>
                </a:lnTo>
                <a:lnTo>
                  <a:pt x="443483" y="172211"/>
                </a:lnTo>
                <a:lnTo>
                  <a:pt x="1184147" y="688847"/>
                </a:lnTo>
                <a:close/>
              </a:path>
              <a:path w="2345690" h="946785">
                <a:moveTo>
                  <a:pt x="1170431" y="0"/>
                </a:moveTo>
                <a:lnTo>
                  <a:pt x="1170431" y="172211"/>
                </a:lnTo>
              </a:path>
              <a:path w="2345690" h="946785">
                <a:moveTo>
                  <a:pt x="807719" y="431291"/>
                </a:moveTo>
                <a:lnTo>
                  <a:pt x="0" y="946403"/>
                </a:lnTo>
              </a:path>
              <a:path w="2345690" h="946785">
                <a:moveTo>
                  <a:pt x="1536191" y="431291"/>
                </a:moveTo>
                <a:lnTo>
                  <a:pt x="2345435" y="946403"/>
                </a:lnTo>
              </a:path>
            </a:pathLst>
          </a:custGeom>
          <a:ln w="9524">
            <a:solidFill>
              <a:srgbClr val="000000"/>
            </a:solidFill>
          </a:ln>
        </p:spPr>
        <p:txBody>
          <a:bodyPr wrap="square" lIns="0" tIns="0" rIns="0" bIns="0" rtlCol="0"/>
          <a:lstStyle/>
          <a:p>
            <a:endParaRPr/>
          </a:p>
        </p:txBody>
      </p:sp>
      <p:sp>
        <p:nvSpPr>
          <p:cNvPr id="21" name="object 21"/>
          <p:cNvSpPr/>
          <p:nvPr/>
        </p:nvSpPr>
        <p:spPr>
          <a:xfrm>
            <a:off x="2010034" y="4017264"/>
            <a:ext cx="0" cy="344805"/>
          </a:xfrm>
          <a:custGeom>
            <a:avLst/>
            <a:gdLst/>
            <a:ahLst/>
            <a:cxnLst/>
            <a:rect l="l" t="t" r="r" b="b"/>
            <a:pathLst>
              <a:path h="344804">
                <a:moveTo>
                  <a:pt x="0" y="0"/>
                </a:moveTo>
                <a:lnTo>
                  <a:pt x="0" y="344423"/>
                </a:lnTo>
              </a:path>
            </a:pathLst>
          </a:custGeom>
          <a:ln w="9524">
            <a:solidFill>
              <a:srgbClr val="000000"/>
            </a:solidFill>
          </a:ln>
        </p:spPr>
        <p:txBody>
          <a:bodyPr wrap="square" lIns="0" tIns="0" rIns="0" bIns="0" rtlCol="0"/>
          <a:lstStyle/>
          <a:p>
            <a:endParaRPr/>
          </a:p>
        </p:txBody>
      </p:sp>
      <p:sp>
        <p:nvSpPr>
          <p:cNvPr id="22" name="object 22"/>
          <p:cNvSpPr/>
          <p:nvPr/>
        </p:nvSpPr>
        <p:spPr>
          <a:xfrm>
            <a:off x="4433194" y="4017264"/>
            <a:ext cx="0" cy="344805"/>
          </a:xfrm>
          <a:custGeom>
            <a:avLst/>
            <a:gdLst/>
            <a:ahLst/>
            <a:cxnLst/>
            <a:rect l="l" t="t" r="r" b="b"/>
            <a:pathLst>
              <a:path h="344804">
                <a:moveTo>
                  <a:pt x="0" y="0"/>
                </a:moveTo>
                <a:lnTo>
                  <a:pt x="0" y="344423"/>
                </a:lnTo>
              </a:path>
            </a:pathLst>
          </a:custGeom>
          <a:ln w="9524">
            <a:solidFill>
              <a:srgbClr val="000000"/>
            </a:solidFill>
          </a:ln>
        </p:spPr>
        <p:txBody>
          <a:bodyPr wrap="square" lIns="0" tIns="0" rIns="0" bIns="0" rtlCol="0"/>
          <a:lstStyle/>
          <a:p>
            <a:endParaRPr/>
          </a:p>
        </p:txBody>
      </p:sp>
      <p:sp>
        <p:nvSpPr>
          <p:cNvPr id="23" name="object 23"/>
          <p:cNvSpPr txBox="1"/>
          <p:nvPr/>
        </p:nvSpPr>
        <p:spPr>
          <a:xfrm>
            <a:off x="3230256" y="3061206"/>
            <a:ext cx="424180" cy="239395"/>
          </a:xfrm>
          <a:prstGeom prst="rect">
            <a:avLst/>
          </a:prstGeom>
        </p:spPr>
        <p:txBody>
          <a:bodyPr vert="horz" wrap="square" lIns="0" tIns="12700" rIns="0" bIns="0" rtlCol="0">
            <a:spAutoFit/>
          </a:bodyPr>
          <a:lstStyle/>
          <a:p>
            <a:pPr marL="12700">
              <a:lnSpc>
                <a:spcPct val="100000"/>
              </a:lnSpc>
              <a:spcBef>
                <a:spcPts val="100"/>
              </a:spcBef>
            </a:pPr>
            <a:r>
              <a:rPr sz="1400" b="1" spc="-20" dirty="0">
                <a:latin typeface="Arial"/>
                <a:cs typeface="Arial"/>
              </a:rPr>
              <a:t>IS_A</a:t>
            </a:r>
            <a:endParaRPr sz="1400">
              <a:latin typeface="Arial"/>
              <a:cs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60500" y="589279"/>
            <a:ext cx="7396363" cy="635000"/>
          </a:xfrm>
          <a:prstGeom prst="rect">
            <a:avLst/>
          </a:prstGeom>
        </p:spPr>
        <p:txBody>
          <a:bodyPr vert="horz" wrap="square" lIns="0" tIns="12065" rIns="0" bIns="0" rtlCol="0">
            <a:spAutoFit/>
          </a:bodyPr>
          <a:lstStyle/>
          <a:p>
            <a:pPr marL="12700">
              <a:lnSpc>
                <a:spcPct val="100000"/>
              </a:lnSpc>
              <a:spcBef>
                <a:spcPts val="95"/>
              </a:spcBef>
            </a:pPr>
            <a:r>
              <a:rPr sz="4000" dirty="0"/>
              <a:t>Diseño</a:t>
            </a:r>
            <a:r>
              <a:rPr sz="4000" spc="-90" dirty="0"/>
              <a:t> </a:t>
            </a:r>
            <a:r>
              <a:rPr sz="4000" dirty="0"/>
              <a:t>de</a:t>
            </a:r>
            <a:r>
              <a:rPr sz="4000" spc="-85" dirty="0"/>
              <a:t> </a:t>
            </a:r>
            <a:r>
              <a:rPr sz="4000" dirty="0"/>
              <a:t>un</a:t>
            </a:r>
            <a:r>
              <a:rPr sz="4000" spc="-85" dirty="0"/>
              <a:t> </a:t>
            </a:r>
            <a:r>
              <a:rPr sz="4000" dirty="0"/>
              <a:t>esquema</a:t>
            </a:r>
            <a:r>
              <a:rPr sz="4000" spc="-85" dirty="0"/>
              <a:t> </a:t>
            </a:r>
            <a:r>
              <a:rPr sz="4000" dirty="0"/>
              <a:t>de</a:t>
            </a:r>
            <a:r>
              <a:rPr sz="4000" spc="-85" dirty="0"/>
              <a:t> </a:t>
            </a:r>
            <a:r>
              <a:rPr sz="4000" spc="-25" dirty="0"/>
              <a:t>BD</a:t>
            </a:r>
            <a:endParaRPr sz="4000" dirty="0"/>
          </a:p>
        </p:txBody>
      </p:sp>
      <p:sp>
        <p:nvSpPr>
          <p:cNvPr id="3" name="object 3"/>
          <p:cNvSpPr txBox="1"/>
          <p:nvPr/>
        </p:nvSpPr>
        <p:spPr>
          <a:xfrm>
            <a:off x="1310017" y="953600"/>
            <a:ext cx="8040370" cy="5984972"/>
          </a:xfrm>
          <a:prstGeom prst="rect">
            <a:avLst/>
          </a:prstGeom>
        </p:spPr>
        <p:txBody>
          <a:bodyPr vert="horz" wrap="square" lIns="0" tIns="257810" rIns="0" bIns="0" rtlCol="0">
            <a:spAutoFit/>
          </a:bodyPr>
          <a:lstStyle/>
          <a:p>
            <a:pPr marL="246379" algn="ctr">
              <a:lnSpc>
                <a:spcPct val="100000"/>
              </a:lnSpc>
              <a:spcBef>
                <a:spcPts val="2030"/>
              </a:spcBef>
            </a:pPr>
            <a:r>
              <a:rPr sz="3600" b="1" dirty="0">
                <a:latin typeface="Arial"/>
                <a:cs typeface="Arial"/>
              </a:rPr>
              <a:t>Comentarios</a:t>
            </a:r>
            <a:r>
              <a:rPr sz="3600" b="1" spc="-45" dirty="0">
                <a:latin typeface="Arial"/>
                <a:cs typeface="Arial"/>
              </a:rPr>
              <a:t> </a:t>
            </a:r>
            <a:r>
              <a:rPr sz="3600" b="1" spc="-10" dirty="0">
                <a:latin typeface="Arial"/>
                <a:cs typeface="Arial"/>
              </a:rPr>
              <a:t>generales</a:t>
            </a:r>
            <a:endParaRPr sz="3600" dirty="0">
              <a:latin typeface="Arial"/>
              <a:cs typeface="Arial"/>
            </a:endParaRPr>
          </a:p>
          <a:p>
            <a:pPr marL="354330" indent="-341630">
              <a:lnSpc>
                <a:spcPct val="100000"/>
              </a:lnSpc>
              <a:spcBef>
                <a:spcPts val="1495"/>
              </a:spcBef>
              <a:buChar char="•"/>
              <a:tabLst>
                <a:tab pos="354330" algn="l"/>
              </a:tabLst>
            </a:pPr>
            <a:r>
              <a:rPr sz="2800" dirty="0">
                <a:latin typeface="Arial MT"/>
                <a:cs typeface="Arial MT"/>
              </a:rPr>
              <a:t>Existe</a:t>
            </a:r>
            <a:r>
              <a:rPr sz="2800" spc="-65" dirty="0">
                <a:latin typeface="Arial MT"/>
                <a:cs typeface="Arial MT"/>
              </a:rPr>
              <a:t> </a:t>
            </a:r>
            <a:r>
              <a:rPr sz="2800" dirty="0">
                <a:latin typeface="Arial MT"/>
                <a:cs typeface="Arial MT"/>
              </a:rPr>
              <a:t>una</a:t>
            </a:r>
            <a:r>
              <a:rPr sz="2800" spc="-60" dirty="0">
                <a:latin typeface="Arial MT"/>
                <a:cs typeface="Arial MT"/>
              </a:rPr>
              <a:t> </a:t>
            </a:r>
            <a:r>
              <a:rPr sz="2800" dirty="0">
                <a:latin typeface="Arial MT"/>
                <a:cs typeface="Arial MT"/>
              </a:rPr>
              <a:t>amplia</a:t>
            </a:r>
            <a:r>
              <a:rPr sz="2800" spc="-50" dirty="0">
                <a:latin typeface="Arial MT"/>
                <a:cs typeface="Arial MT"/>
              </a:rPr>
              <a:t> </a:t>
            </a:r>
            <a:r>
              <a:rPr sz="2800" dirty="0">
                <a:latin typeface="Arial MT"/>
                <a:cs typeface="Arial MT"/>
              </a:rPr>
              <a:t>variedad</a:t>
            </a:r>
            <a:r>
              <a:rPr sz="2800" spc="-60" dirty="0">
                <a:latin typeface="Arial MT"/>
                <a:cs typeface="Arial MT"/>
              </a:rPr>
              <a:t> </a:t>
            </a:r>
            <a:r>
              <a:rPr sz="2800" dirty="0">
                <a:latin typeface="Arial MT"/>
                <a:cs typeface="Arial MT"/>
              </a:rPr>
              <a:t>de</a:t>
            </a:r>
            <a:r>
              <a:rPr sz="2800" spc="-60" dirty="0">
                <a:latin typeface="Arial MT"/>
                <a:cs typeface="Arial MT"/>
              </a:rPr>
              <a:t> </a:t>
            </a:r>
            <a:r>
              <a:rPr sz="2800" spc="-10" dirty="0">
                <a:latin typeface="Arial MT"/>
                <a:cs typeface="Arial MT"/>
              </a:rPr>
              <a:t>alternativas.</a:t>
            </a:r>
            <a:endParaRPr sz="2800" dirty="0">
              <a:latin typeface="Arial MT"/>
              <a:cs typeface="Arial MT"/>
            </a:endParaRPr>
          </a:p>
          <a:p>
            <a:pPr>
              <a:lnSpc>
                <a:spcPct val="100000"/>
              </a:lnSpc>
              <a:spcBef>
                <a:spcPts val="1210"/>
              </a:spcBef>
              <a:buFont typeface="Arial MT"/>
              <a:buChar char="•"/>
            </a:pPr>
            <a:endParaRPr sz="2800" dirty="0">
              <a:latin typeface="Arial MT"/>
              <a:cs typeface="Arial MT"/>
            </a:endParaRPr>
          </a:p>
          <a:p>
            <a:pPr marL="354965" marR="898525" indent="-342900">
              <a:lnSpc>
                <a:spcPts val="3020"/>
              </a:lnSpc>
            </a:pPr>
            <a:r>
              <a:rPr sz="2800" dirty="0">
                <a:latin typeface="Arial MT"/>
                <a:cs typeface="Arial MT"/>
              </a:rPr>
              <a:t>El</a:t>
            </a:r>
            <a:r>
              <a:rPr sz="2800" spc="-90" dirty="0">
                <a:latin typeface="Arial MT"/>
                <a:cs typeface="Arial MT"/>
              </a:rPr>
              <a:t> </a:t>
            </a:r>
            <a:r>
              <a:rPr sz="2800" b="1" dirty="0">
                <a:latin typeface="Arial"/>
                <a:cs typeface="Arial"/>
              </a:rPr>
              <a:t>diseñador</a:t>
            </a:r>
            <a:r>
              <a:rPr sz="2800" b="1" spc="-85" dirty="0">
                <a:latin typeface="Arial"/>
                <a:cs typeface="Arial"/>
              </a:rPr>
              <a:t> </a:t>
            </a:r>
            <a:r>
              <a:rPr sz="2800" b="1" dirty="0">
                <a:latin typeface="Arial"/>
                <a:cs typeface="Arial"/>
              </a:rPr>
              <a:t>deberá</a:t>
            </a:r>
            <a:r>
              <a:rPr sz="2800" b="1" spc="-80" dirty="0">
                <a:latin typeface="Arial"/>
                <a:cs typeface="Arial"/>
              </a:rPr>
              <a:t> </a:t>
            </a:r>
            <a:r>
              <a:rPr sz="2800" b="1" dirty="0">
                <a:latin typeface="Arial"/>
                <a:cs typeface="Arial"/>
              </a:rPr>
              <a:t>tomar</a:t>
            </a:r>
            <a:r>
              <a:rPr sz="2800" b="1" spc="-85" dirty="0">
                <a:latin typeface="Arial"/>
                <a:cs typeface="Arial"/>
              </a:rPr>
              <a:t> </a:t>
            </a:r>
            <a:r>
              <a:rPr sz="2800" b="1" dirty="0">
                <a:latin typeface="Arial"/>
                <a:cs typeface="Arial"/>
              </a:rPr>
              <a:t>decisiones</a:t>
            </a:r>
            <a:r>
              <a:rPr sz="2800" dirty="0">
                <a:latin typeface="Arial MT"/>
                <a:cs typeface="Arial MT"/>
              </a:rPr>
              <a:t>,</a:t>
            </a:r>
            <a:r>
              <a:rPr sz="2800" spc="-85" dirty="0">
                <a:latin typeface="Arial MT"/>
                <a:cs typeface="Arial MT"/>
              </a:rPr>
              <a:t> </a:t>
            </a:r>
            <a:r>
              <a:rPr sz="2800" spc="-25" dirty="0">
                <a:latin typeface="Arial MT"/>
                <a:cs typeface="Arial MT"/>
              </a:rPr>
              <a:t>por </a:t>
            </a:r>
            <a:r>
              <a:rPr sz="2800" spc="-10" dirty="0">
                <a:latin typeface="Arial MT"/>
                <a:cs typeface="Arial MT"/>
              </a:rPr>
              <a:t>ejemplo:</a:t>
            </a:r>
            <a:endParaRPr sz="2800" dirty="0">
              <a:latin typeface="Arial MT"/>
              <a:cs typeface="Arial MT"/>
            </a:endParaRPr>
          </a:p>
          <a:p>
            <a:pPr>
              <a:lnSpc>
                <a:spcPct val="100000"/>
              </a:lnSpc>
              <a:spcBef>
                <a:spcPts val="715"/>
              </a:spcBef>
            </a:pPr>
            <a:endParaRPr sz="2800" dirty="0">
              <a:latin typeface="Arial MT"/>
              <a:cs typeface="Arial MT"/>
            </a:endParaRPr>
          </a:p>
          <a:p>
            <a:pPr marL="754380" lvl="1" indent="-285115">
              <a:lnSpc>
                <a:spcPct val="100000"/>
              </a:lnSpc>
              <a:buChar char="–"/>
              <a:tabLst>
                <a:tab pos="754380" algn="l"/>
              </a:tabLst>
            </a:pPr>
            <a:r>
              <a:rPr sz="2400" dirty="0">
                <a:latin typeface="Arial MT"/>
                <a:cs typeface="Arial MT"/>
              </a:rPr>
              <a:t>Uso</a:t>
            </a:r>
            <a:r>
              <a:rPr sz="2400" spc="-40" dirty="0">
                <a:latin typeface="Arial MT"/>
                <a:cs typeface="Arial MT"/>
              </a:rPr>
              <a:t> </a:t>
            </a:r>
            <a:r>
              <a:rPr sz="2400" dirty="0">
                <a:latin typeface="Arial MT"/>
                <a:cs typeface="Arial MT"/>
              </a:rPr>
              <a:t>de</a:t>
            </a:r>
            <a:r>
              <a:rPr sz="2400" spc="-40" dirty="0">
                <a:latin typeface="Arial MT"/>
                <a:cs typeface="Arial MT"/>
              </a:rPr>
              <a:t> </a:t>
            </a:r>
            <a:r>
              <a:rPr sz="2400" dirty="0">
                <a:latin typeface="Arial MT"/>
                <a:cs typeface="Arial MT"/>
              </a:rPr>
              <a:t>una</a:t>
            </a:r>
            <a:r>
              <a:rPr sz="2400" spc="-40" dirty="0">
                <a:latin typeface="Arial MT"/>
                <a:cs typeface="Arial MT"/>
              </a:rPr>
              <a:t> </a:t>
            </a:r>
            <a:r>
              <a:rPr sz="2400" b="1" dirty="0">
                <a:latin typeface="Arial"/>
                <a:cs typeface="Arial"/>
              </a:rPr>
              <a:t>relación</a:t>
            </a:r>
            <a:r>
              <a:rPr sz="2400" b="1" spc="-55" dirty="0">
                <a:latin typeface="Arial"/>
                <a:cs typeface="Arial"/>
              </a:rPr>
              <a:t> </a:t>
            </a:r>
            <a:r>
              <a:rPr sz="2400" b="1" dirty="0">
                <a:latin typeface="Arial"/>
                <a:cs typeface="Arial"/>
              </a:rPr>
              <a:t>ternaria</a:t>
            </a:r>
            <a:r>
              <a:rPr sz="2400" b="1" spc="-35" dirty="0">
                <a:latin typeface="Arial"/>
                <a:cs typeface="Arial"/>
              </a:rPr>
              <a:t> </a:t>
            </a:r>
            <a:r>
              <a:rPr sz="2400" dirty="0">
                <a:latin typeface="Arial MT"/>
                <a:cs typeface="Arial MT"/>
              </a:rPr>
              <a:t>ó</a:t>
            </a:r>
            <a:r>
              <a:rPr sz="2400" spc="-55" dirty="0">
                <a:latin typeface="Arial MT"/>
                <a:cs typeface="Arial MT"/>
              </a:rPr>
              <a:t> </a:t>
            </a:r>
            <a:r>
              <a:rPr sz="2400" b="1" dirty="0">
                <a:latin typeface="Arial"/>
                <a:cs typeface="Arial"/>
              </a:rPr>
              <a:t>un</a:t>
            </a:r>
            <a:r>
              <a:rPr sz="2400" b="1" spc="-35" dirty="0">
                <a:latin typeface="Arial"/>
                <a:cs typeface="Arial"/>
              </a:rPr>
              <a:t> </a:t>
            </a:r>
            <a:r>
              <a:rPr sz="2400" b="1" dirty="0">
                <a:latin typeface="Arial"/>
                <a:cs typeface="Arial"/>
              </a:rPr>
              <a:t>par</a:t>
            </a:r>
            <a:r>
              <a:rPr sz="2400" b="1" spc="-50" dirty="0">
                <a:latin typeface="Arial"/>
                <a:cs typeface="Arial"/>
              </a:rPr>
              <a:t> </a:t>
            </a:r>
            <a:r>
              <a:rPr sz="2400" b="1" dirty="0">
                <a:latin typeface="Arial"/>
                <a:cs typeface="Arial"/>
              </a:rPr>
              <a:t>de</a:t>
            </a:r>
            <a:r>
              <a:rPr sz="2400" b="1" spc="-50" dirty="0">
                <a:latin typeface="Arial"/>
                <a:cs typeface="Arial"/>
              </a:rPr>
              <a:t> </a:t>
            </a:r>
            <a:r>
              <a:rPr sz="2400" b="1" spc="-10" dirty="0">
                <a:latin typeface="Arial"/>
                <a:cs typeface="Arial"/>
              </a:rPr>
              <a:t>binarias</a:t>
            </a:r>
            <a:endParaRPr sz="2400" dirty="0">
              <a:latin typeface="Arial"/>
              <a:cs typeface="Arial"/>
            </a:endParaRPr>
          </a:p>
          <a:p>
            <a:pPr marL="754380" marR="5080" lvl="1" indent="-285115">
              <a:lnSpc>
                <a:spcPts val="2590"/>
              </a:lnSpc>
              <a:spcBef>
                <a:spcPts val="605"/>
              </a:spcBef>
              <a:buChar char="–"/>
              <a:tabLst>
                <a:tab pos="756285" algn="l"/>
              </a:tabLst>
            </a:pPr>
            <a:r>
              <a:rPr sz="2400" dirty="0">
                <a:latin typeface="Arial MT"/>
                <a:cs typeface="Arial MT"/>
              </a:rPr>
              <a:t>Un</a:t>
            </a:r>
            <a:r>
              <a:rPr sz="2400" spc="-60" dirty="0">
                <a:latin typeface="Arial MT"/>
                <a:cs typeface="Arial MT"/>
              </a:rPr>
              <a:t> </a:t>
            </a:r>
            <a:r>
              <a:rPr sz="2400" dirty="0">
                <a:latin typeface="Arial MT"/>
                <a:cs typeface="Arial MT"/>
              </a:rPr>
              <a:t>concepto</a:t>
            </a:r>
            <a:r>
              <a:rPr sz="2400" spc="-55" dirty="0">
                <a:latin typeface="Arial MT"/>
                <a:cs typeface="Arial MT"/>
              </a:rPr>
              <a:t> </a:t>
            </a:r>
            <a:r>
              <a:rPr sz="2400" dirty="0">
                <a:latin typeface="Arial MT"/>
                <a:cs typeface="Arial MT"/>
              </a:rPr>
              <a:t>se</a:t>
            </a:r>
            <a:r>
              <a:rPr sz="2400" spc="-55" dirty="0">
                <a:latin typeface="Arial MT"/>
                <a:cs typeface="Arial MT"/>
              </a:rPr>
              <a:t> </a:t>
            </a:r>
            <a:r>
              <a:rPr sz="2400" dirty="0">
                <a:latin typeface="Arial MT"/>
                <a:cs typeface="Arial MT"/>
              </a:rPr>
              <a:t>expresa</a:t>
            </a:r>
            <a:r>
              <a:rPr sz="2400" spc="-60" dirty="0">
                <a:latin typeface="Arial MT"/>
                <a:cs typeface="Arial MT"/>
              </a:rPr>
              <a:t> </a:t>
            </a:r>
            <a:r>
              <a:rPr sz="2400" dirty="0">
                <a:latin typeface="Arial MT"/>
                <a:cs typeface="Arial MT"/>
              </a:rPr>
              <a:t>mejor</a:t>
            </a:r>
            <a:r>
              <a:rPr sz="2400" spc="-50" dirty="0">
                <a:latin typeface="Arial MT"/>
                <a:cs typeface="Arial MT"/>
              </a:rPr>
              <a:t> </a:t>
            </a:r>
            <a:r>
              <a:rPr sz="2400" dirty="0">
                <a:latin typeface="Arial MT"/>
                <a:cs typeface="Arial MT"/>
              </a:rPr>
              <a:t>mediante</a:t>
            </a:r>
            <a:r>
              <a:rPr sz="2400" spc="-60" dirty="0">
                <a:latin typeface="Arial MT"/>
                <a:cs typeface="Arial MT"/>
              </a:rPr>
              <a:t> </a:t>
            </a:r>
            <a:r>
              <a:rPr sz="2400" dirty="0">
                <a:latin typeface="Arial MT"/>
                <a:cs typeface="Arial MT"/>
              </a:rPr>
              <a:t>un</a:t>
            </a:r>
            <a:r>
              <a:rPr sz="2400" spc="-60" dirty="0">
                <a:latin typeface="Arial MT"/>
                <a:cs typeface="Arial MT"/>
              </a:rPr>
              <a:t> </a:t>
            </a:r>
            <a:r>
              <a:rPr sz="2400" b="1" spc="-10" dirty="0">
                <a:latin typeface="Arial"/>
                <a:cs typeface="Arial"/>
              </a:rPr>
              <a:t>conjunto 	</a:t>
            </a:r>
            <a:r>
              <a:rPr sz="2400" b="1" dirty="0">
                <a:latin typeface="Arial"/>
                <a:cs typeface="Arial"/>
              </a:rPr>
              <a:t>de</a:t>
            </a:r>
            <a:r>
              <a:rPr sz="2400" b="1" spc="-40" dirty="0">
                <a:latin typeface="Arial"/>
                <a:cs typeface="Arial"/>
              </a:rPr>
              <a:t> </a:t>
            </a:r>
            <a:r>
              <a:rPr sz="2400" b="1" dirty="0">
                <a:latin typeface="Arial"/>
                <a:cs typeface="Arial"/>
              </a:rPr>
              <a:t>entidades</a:t>
            </a:r>
            <a:r>
              <a:rPr sz="2400" b="1" spc="-35" dirty="0">
                <a:latin typeface="Arial"/>
                <a:cs typeface="Arial"/>
              </a:rPr>
              <a:t> </a:t>
            </a:r>
            <a:r>
              <a:rPr sz="2400" b="1" dirty="0">
                <a:latin typeface="Arial"/>
                <a:cs typeface="Arial"/>
              </a:rPr>
              <a:t>ó</a:t>
            </a:r>
            <a:r>
              <a:rPr sz="2400" b="1" spc="-35" dirty="0">
                <a:latin typeface="Arial"/>
                <a:cs typeface="Arial"/>
              </a:rPr>
              <a:t> </a:t>
            </a:r>
            <a:r>
              <a:rPr sz="2400" b="1" dirty="0">
                <a:latin typeface="Arial"/>
                <a:cs typeface="Arial"/>
              </a:rPr>
              <a:t>de</a:t>
            </a:r>
            <a:r>
              <a:rPr sz="2400" b="1" spc="-35" dirty="0">
                <a:latin typeface="Arial"/>
                <a:cs typeface="Arial"/>
              </a:rPr>
              <a:t> </a:t>
            </a:r>
            <a:r>
              <a:rPr sz="2400" b="1" spc="-10" dirty="0">
                <a:latin typeface="Arial"/>
                <a:cs typeface="Arial"/>
              </a:rPr>
              <a:t>relaciones</a:t>
            </a:r>
            <a:endParaRPr sz="2400" dirty="0">
              <a:latin typeface="Arial"/>
              <a:cs typeface="Arial"/>
            </a:endParaRPr>
          </a:p>
          <a:p>
            <a:pPr marL="754380" marR="1283970" lvl="1" indent="-285115">
              <a:lnSpc>
                <a:spcPts val="2580"/>
              </a:lnSpc>
              <a:spcBef>
                <a:spcPts val="585"/>
              </a:spcBef>
              <a:buChar char="–"/>
              <a:tabLst>
                <a:tab pos="756285" algn="l"/>
              </a:tabLst>
            </a:pPr>
            <a:r>
              <a:rPr sz="2400" dirty="0">
                <a:latin typeface="Arial MT"/>
                <a:cs typeface="Arial MT"/>
              </a:rPr>
              <a:t>Utilización</a:t>
            </a:r>
            <a:r>
              <a:rPr sz="2400" spc="-45" dirty="0">
                <a:latin typeface="Arial MT"/>
                <a:cs typeface="Arial MT"/>
              </a:rPr>
              <a:t> </a:t>
            </a:r>
            <a:r>
              <a:rPr sz="2400" dirty="0">
                <a:latin typeface="Arial MT"/>
                <a:cs typeface="Arial MT"/>
              </a:rPr>
              <a:t>de</a:t>
            </a:r>
            <a:r>
              <a:rPr sz="2400" spc="-45" dirty="0">
                <a:latin typeface="Arial MT"/>
                <a:cs typeface="Arial MT"/>
              </a:rPr>
              <a:t> </a:t>
            </a:r>
            <a:r>
              <a:rPr sz="2400" dirty="0">
                <a:latin typeface="Arial MT"/>
                <a:cs typeface="Arial MT"/>
              </a:rPr>
              <a:t>un</a:t>
            </a:r>
            <a:r>
              <a:rPr sz="2400" spc="-50" dirty="0">
                <a:latin typeface="Arial MT"/>
                <a:cs typeface="Arial MT"/>
              </a:rPr>
              <a:t> </a:t>
            </a:r>
            <a:r>
              <a:rPr sz="2400" b="1" dirty="0">
                <a:latin typeface="Arial"/>
                <a:cs typeface="Arial"/>
              </a:rPr>
              <a:t>atributo</a:t>
            </a:r>
            <a:r>
              <a:rPr sz="2400" b="1" spc="-60" dirty="0">
                <a:latin typeface="Arial"/>
                <a:cs typeface="Arial"/>
              </a:rPr>
              <a:t> </a:t>
            </a:r>
            <a:r>
              <a:rPr sz="2400" b="1" dirty="0">
                <a:latin typeface="Arial"/>
                <a:cs typeface="Arial"/>
              </a:rPr>
              <a:t>ó</a:t>
            </a:r>
            <a:r>
              <a:rPr sz="2400" b="1" spc="-45" dirty="0">
                <a:latin typeface="Arial"/>
                <a:cs typeface="Arial"/>
              </a:rPr>
              <a:t> </a:t>
            </a:r>
            <a:r>
              <a:rPr sz="2400" b="1" dirty="0">
                <a:latin typeface="Arial"/>
                <a:cs typeface="Arial"/>
              </a:rPr>
              <a:t>un</a:t>
            </a:r>
            <a:r>
              <a:rPr sz="2400" b="1" spc="-40" dirty="0">
                <a:latin typeface="Arial"/>
                <a:cs typeface="Arial"/>
              </a:rPr>
              <a:t> </a:t>
            </a:r>
            <a:r>
              <a:rPr sz="2400" b="1" dirty="0">
                <a:latin typeface="Arial"/>
                <a:cs typeface="Arial"/>
              </a:rPr>
              <a:t>conjunto</a:t>
            </a:r>
            <a:r>
              <a:rPr sz="2400" b="1" spc="-60" dirty="0">
                <a:latin typeface="Arial"/>
                <a:cs typeface="Arial"/>
              </a:rPr>
              <a:t> </a:t>
            </a:r>
            <a:r>
              <a:rPr sz="2400" b="1" spc="-25" dirty="0">
                <a:latin typeface="Arial"/>
                <a:cs typeface="Arial"/>
              </a:rPr>
              <a:t>de 	</a:t>
            </a:r>
            <a:r>
              <a:rPr sz="2400" b="1" spc="-10" dirty="0">
                <a:latin typeface="Arial"/>
                <a:cs typeface="Arial"/>
              </a:rPr>
              <a:t>entidades</a:t>
            </a:r>
            <a:endParaRPr sz="2400" dirty="0">
              <a:latin typeface="Arial"/>
              <a:cs typeface="Arial"/>
            </a:endParaRPr>
          </a:p>
          <a:p>
            <a:pPr marL="755015" lvl="1" indent="-285115">
              <a:lnSpc>
                <a:spcPct val="100000"/>
              </a:lnSpc>
              <a:spcBef>
                <a:spcPts val="254"/>
              </a:spcBef>
              <a:buChar char="–"/>
              <a:tabLst>
                <a:tab pos="755015" algn="l"/>
              </a:tabLst>
            </a:pPr>
            <a:r>
              <a:rPr sz="2400" dirty="0">
                <a:latin typeface="Arial MT"/>
                <a:cs typeface="Arial MT"/>
              </a:rPr>
              <a:t>Uso</a:t>
            </a:r>
            <a:r>
              <a:rPr sz="2400" spc="-45" dirty="0">
                <a:latin typeface="Arial MT"/>
                <a:cs typeface="Arial MT"/>
              </a:rPr>
              <a:t> </a:t>
            </a:r>
            <a:r>
              <a:rPr sz="2400" dirty="0">
                <a:latin typeface="Arial MT"/>
                <a:cs typeface="Arial MT"/>
              </a:rPr>
              <a:t>de</a:t>
            </a:r>
            <a:r>
              <a:rPr sz="2400" spc="-45" dirty="0">
                <a:latin typeface="Arial MT"/>
                <a:cs typeface="Arial MT"/>
              </a:rPr>
              <a:t> </a:t>
            </a:r>
            <a:r>
              <a:rPr sz="2400" dirty="0">
                <a:latin typeface="Arial MT"/>
                <a:cs typeface="Arial MT"/>
              </a:rPr>
              <a:t>un</a:t>
            </a:r>
            <a:r>
              <a:rPr sz="2400" spc="-30" dirty="0">
                <a:latin typeface="Arial MT"/>
                <a:cs typeface="Arial MT"/>
              </a:rPr>
              <a:t> </a:t>
            </a:r>
            <a:r>
              <a:rPr sz="2400" b="1" dirty="0">
                <a:latin typeface="Arial"/>
                <a:cs typeface="Arial"/>
              </a:rPr>
              <a:t>conjunto</a:t>
            </a:r>
            <a:r>
              <a:rPr sz="2400" b="1" spc="-60" dirty="0">
                <a:latin typeface="Arial"/>
                <a:cs typeface="Arial"/>
              </a:rPr>
              <a:t> </a:t>
            </a:r>
            <a:r>
              <a:rPr sz="2400" b="1" dirty="0">
                <a:latin typeface="Arial"/>
                <a:cs typeface="Arial"/>
              </a:rPr>
              <a:t>de</a:t>
            </a:r>
            <a:r>
              <a:rPr sz="2400" b="1" spc="-40" dirty="0">
                <a:latin typeface="Arial"/>
                <a:cs typeface="Arial"/>
              </a:rPr>
              <a:t> </a:t>
            </a:r>
            <a:r>
              <a:rPr sz="2400" b="1" dirty="0">
                <a:latin typeface="Arial"/>
                <a:cs typeface="Arial"/>
              </a:rPr>
              <a:t>entidades</a:t>
            </a:r>
            <a:r>
              <a:rPr sz="2400" b="1" spc="-45" dirty="0">
                <a:latin typeface="Arial"/>
                <a:cs typeface="Arial"/>
              </a:rPr>
              <a:t> </a:t>
            </a:r>
            <a:r>
              <a:rPr sz="2400" b="1" dirty="0">
                <a:latin typeface="Arial"/>
                <a:cs typeface="Arial"/>
              </a:rPr>
              <a:t>fuerte</a:t>
            </a:r>
            <a:r>
              <a:rPr sz="2400" b="1" spc="-45" dirty="0">
                <a:latin typeface="Arial"/>
                <a:cs typeface="Arial"/>
              </a:rPr>
              <a:t> </a:t>
            </a:r>
            <a:r>
              <a:rPr sz="2400" b="1" dirty="0">
                <a:latin typeface="Arial"/>
                <a:cs typeface="Arial"/>
              </a:rPr>
              <a:t>ó</a:t>
            </a:r>
            <a:r>
              <a:rPr sz="2400" b="1" spc="-65" dirty="0">
                <a:latin typeface="Arial"/>
                <a:cs typeface="Arial"/>
              </a:rPr>
              <a:t> </a:t>
            </a:r>
            <a:r>
              <a:rPr sz="2400" b="1" spc="-10" dirty="0">
                <a:latin typeface="Arial"/>
                <a:cs typeface="Arial"/>
              </a:rPr>
              <a:t>débil</a:t>
            </a:r>
            <a:endParaRPr sz="2400" dirty="0">
              <a:latin typeface="Arial"/>
              <a:cs typeface="Arial"/>
            </a:endParaRPr>
          </a:p>
          <a:p>
            <a:pPr marL="755015" lvl="1" indent="-285115">
              <a:lnSpc>
                <a:spcPct val="100000"/>
              </a:lnSpc>
              <a:spcBef>
                <a:spcPts val="275"/>
              </a:spcBef>
              <a:buChar char="–"/>
              <a:tabLst>
                <a:tab pos="755015" algn="l"/>
              </a:tabLst>
            </a:pPr>
            <a:r>
              <a:rPr sz="2400" dirty="0">
                <a:latin typeface="Arial MT"/>
                <a:cs typeface="Arial MT"/>
              </a:rPr>
              <a:t>Uso</a:t>
            </a:r>
            <a:r>
              <a:rPr sz="2400" spc="-40" dirty="0">
                <a:latin typeface="Arial MT"/>
                <a:cs typeface="Arial MT"/>
              </a:rPr>
              <a:t> </a:t>
            </a:r>
            <a:r>
              <a:rPr sz="2400" dirty="0">
                <a:latin typeface="Arial MT"/>
                <a:cs typeface="Arial MT"/>
              </a:rPr>
              <a:t>de</a:t>
            </a:r>
            <a:r>
              <a:rPr sz="2400" spc="-40" dirty="0">
                <a:latin typeface="Arial MT"/>
                <a:cs typeface="Arial MT"/>
              </a:rPr>
              <a:t> </a:t>
            </a:r>
            <a:r>
              <a:rPr sz="2400" b="1" spc="-10" dirty="0" err="1">
                <a:latin typeface="Arial"/>
                <a:cs typeface="Arial"/>
              </a:rPr>
              <a:t>generalización</a:t>
            </a:r>
            <a:r>
              <a:rPr sz="2400" spc="-10" dirty="0" smtClean="0">
                <a:latin typeface="Arial MT"/>
                <a:cs typeface="Arial MT"/>
              </a:rPr>
              <a:t>.</a:t>
            </a:r>
            <a:endParaRPr sz="2400" dirty="0">
              <a:latin typeface="Arial MT"/>
              <a:cs typeface="Arial MT"/>
            </a:endParaRPr>
          </a:p>
        </p:txBody>
      </p:sp>
    </p:spTree>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364</TotalTime>
  <Words>2494</Words>
  <Application>Microsoft Office PowerPoint</Application>
  <PresentationFormat>Personalizado</PresentationFormat>
  <Paragraphs>726</Paragraphs>
  <Slides>68</Slides>
  <Notes>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68</vt:i4>
      </vt:variant>
    </vt:vector>
  </HeadingPairs>
  <TitlesOfParts>
    <vt:vector size="77" baseType="lpstr">
      <vt:lpstr>Arial</vt:lpstr>
      <vt:lpstr>Arial MT</vt:lpstr>
      <vt:lpstr>Calibri</vt:lpstr>
      <vt:lpstr>Century Gothic</vt:lpstr>
      <vt:lpstr>Symbol</vt:lpstr>
      <vt:lpstr>Times New Roman</vt:lpstr>
      <vt:lpstr>Wingdings</vt:lpstr>
      <vt:lpstr>Wingdings 3</vt:lpstr>
      <vt:lpstr>Espiral</vt:lpstr>
      <vt:lpstr>  Diagrama Entidad Relación/ Modelo Entidad Relación</vt:lpstr>
      <vt:lpstr>Modelos de datos</vt:lpstr>
      <vt:lpstr>Modelos de datos</vt:lpstr>
      <vt:lpstr>Presentación de PowerPoint</vt:lpstr>
      <vt:lpstr>Presentación de PowerPoint</vt:lpstr>
      <vt:lpstr>Entidades</vt:lpstr>
      <vt:lpstr>Atributos</vt:lpstr>
      <vt:lpstr>Atributos</vt:lpstr>
      <vt:lpstr>Tipos de atributos</vt:lpstr>
      <vt:lpstr>Tipos de atributos</vt:lpstr>
      <vt:lpstr>Tipos de atributos</vt:lpstr>
      <vt:lpstr>Ejemplos de entidades</vt:lpstr>
      <vt:lpstr>Relaciones</vt:lpstr>
      <vt:lpstr>Entidades Cliente y Cuenta</vt:lpstr>
      <vt:lpstr>Relación CtaCli : muestra la asociación entre clientes y cuentas</vt:lpstr>
      <vt:lpstr>Relaciones</vt:lpstr>
      <vt:lpstr>Presentación de PowerPoint</vt:lpstr>
      <vt:lpstr>Relaciones</vt:lpstr>
      <vt:lpstr>¿Atributo o Entidad?</vt:lpstr>
      <vt:lpstr>Caso 1 vs. Caso 2</vt:lpstr>
      <vt:lpstr>¿Atributo o Entidad?</vt:lpstr>
      <vt:lpstr>Restricciones de asignación (mapping)</vt:lpstr>
      <vt:lpstr>Ejemplo de esquema DER con cardinalidad</vt:lpstr>
      <vt:lpstr>Restricciones de asignación (mapping)</vt:lpstr>
      <vt:lpstr>Restricciones de asignación (mapping)</vt:lpstr>
      <vt:lpstr>Restricciones de asignación (mapping)</vt:lpstr>
      <vt:lpstr>Restricciones de asignación (mapping)</vt:lpstr>
      <vt:lpstr>Restricciones de asignación (mapping)</vt:lpstr>
      <vt:lpstr>Dependencias de existencia</vt:lpstr>
      <vt:lpstr>Claves en entidades</vt:lpstr>
      <vt:lpstr>Claves en entidades</vt:lpstr>
      <vt:lpstr>Claves en entidades</vt:lpstr>
      <vt:lpstr>Claves en entidades</vt:lpstr>
      <vt:lpstr>Claves en entidades</vt:lpstr>
      <vt:lpstr>Claves en entidades</vt:lpstr>
      <vt:lpstr>Claves en relaciones</vt:lpstr>
      <vt:lpstr>Claves en relaciones</vt:lpstr>
      <vt:lpstr>Claves en relaciones</vt:lpstr>
      <vt:lpstr>Claves en relaciones</vt:lpstr>
      <vt:lpstr>Diagrama entidad-relación. Elementos</vt:lpstr>
      <vt:lpstr>Ejemplo: Sistema bancario de BD que consta de los clientes y sus cuentas.</vt:lpstr>
      <vt:lpstr>Diagrama entidad-relación</vt:lpstr>
      <vt:lpstr>Diagrama entidad-relación</vt:lpstr>
      <vt:lpstr>Análisis de cardinalidad</vt:lpstr>
      <vt:lpstr>Ejemplo</vt:lpstr>
      <vt:lpstr>Presentación de PowerPoint</vt:lpstr>
      <vt:lpstr>Presentación de PowerPoint</vt:lpstr>
      <vt:lpstr>Presentación de PowerPoint</vt:lpstr>
      <vt:lpstr>Clase 2 -MR</vt:lpstr>
      <vt:lpstr>Reducción  de DER  a tablas (mapa canónico)</vt:lpstr>
      <vt:lpstr>Ejemplo: tabla cuenta</vt:lpstr>
      <vt:lpstr>Tabla cuenta</vt:lpstr>
      <vt:lpstr>Tabla proveniente de una entidad</vt:lpstr>
      <vt:lpstr>Tabla cliente</vt:lpstr>
      <vt:lpstr>Representación de entidades débiles</vt:lpstr>
      <vt:lpstr>Tabla transacción</vt:lpstr>
      <vt:lpstr>Representación de relaciones</vt:lpstr>
      <vt:lpstr>Tabla CtaCli</vt:lpstr>
      <vt:lpstr>Representación de relaciones entre entidades fuertes y débiles</vt:lpstr>
      <vt:lpstr>Tabla Registro (bitácora)</vt:lpstr>
      <vt:lpstr>Algunas extensiones al DER: Generalización y Especialización</vt:lpstr>
      <vt:lpstr>Presentación de PowerPoint</vt:lpstr>
      <vt:lpstr>Generalización y Especialización</vt:lpstr>
      <vt:lpstr>Representación en tablas</vt:lpstr>
      <vt:lpstr>Representación en tablas – Método 1</vt:lpstr>
      <vt:lpstr>Representación en tablas Método 2</vt:lpstr>
      <vt:lpstr>Representación en tablas – Método 2</vt:lpstr>
      <vt:lpstr>Diseño de un esquema de BD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ModeloEntidadRelacion</dc:title>
  <dc:creator>Usuario</dc:creator>
  <cp:lastModifiedBy>Dani</cp:lastModifiedBy>
  <cp:revision>92</cp:revision>
  <dcterms:created xsi:type="dcterms:W3CDTF">2026-08-07T12:57:53Z</dcterms:created>
  <dcterms:modified xsi:type="dcterms:W3CDTF">2026-08-07T19:02:41Z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2012-08-14T00:00:00Z</vt:filetime>
  </property>
  <property fmtid="{D5CDD505-2E9C-101B-9397-08002B2CF9AE}" pid="4" name="Creator">
    <vt:lpwstr>PDFCreator Version 1.4.3</vt:lpwstr>
  </property>
  <property fmtid="{D5CDD505-2E9C-101B-9397-08002B2CF9AE}" pid="5" name="LastSaved">
    <vt:filetime>2026-08-07T00:00:00Z</vt:filetime>
  </property>
  <property fmtid="{D5CDD505-2E9C-101B-9397-08002B2CF9AE}" pid="6" name="Producer">
    <vt:lpwstr>GPL Ghostscript 9.05</vt:lpwstr>
  </property>
</Properties>
</file>